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B6A6"/>
    <a:srgbClr val="0F1A20"/>
    <a:srgbClr val="E97A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7548" autoAdjust="0"/>
  </p:normalViewPr>
  <p:slideViewPr>
    <p:cSldViewPr snapToGrid="0" snapToObjects="1">
      <p:cViewPr varScale="1">
        <p:scale>
          <a:sx n="81" d="100"/>
          <a:sy n="81" d="100"/>
        </p:scale>
        <p:origin x="80"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corr</c:v>
                </c:pt>
              </c:strCache>
            </c:strRef>
          </c:tx>
          <c:spPr>
            <a:solidFill>
              <a:srgbClr val="E97A60">
                <a:alpha val="100000"/>
              </a:srgbClr>
            </a:solidFill>
            <a:effectLst/>
          </c:spPr>
          <c:invertIfNegative val="0"/>
          <c:dPt>
            <c:idx val="0"/>
            <c:invertIfNegative val="0"/>
            <c:bubble3D val="0"/>
            <c:spPr>
              <a:solidFill>
                <a:srgbClr val="E97A60"/>
              </a:solidFill>
              <a:effectLst/>
            </c:spPr>
            <c:extLst>
              <c:ext xmlns:c16="http://schemas.microsoft.com/office/drawing/2014/chart" uri="{C3380CC4-5D6E-409C-BE32-E72D297353CC}">
                <c16:uniqueId val="{00000001-0622-4B6A-9C08-9D002926643B}"/>
              </c:ext>
            </c:extLst>
          </c:dPt>
          <c:dPt>
            <c:idx val="1"/>
            <c:invertIfNegative val="0"/>
            <c:bubble3D val="0"/>
            <c:spPr>
              <a:solidFill>
                <a:srgbClr val="E97A60"/>
              </a:solidFill>
              <a:effectLst/>
            </c:spPr>
            <c:extLst>
              <c:ext xmlns:c16="http://schemas.microsoft.com/office/drawing/2014/chart" uri="{C3380CC4-5D6E-409C-BE32-E72D297353CC}">
                <c16:uniqueId val="{00000003-0622-4B6A-9C08-9D002926643B}"/>
              </c:ext>
            </c:extLst>
          </c:dPt>
          <c:dPt>
            <c:idx val="2"/>
            <c:invertIfNegative val="0"/>
            <c:bubble3D val="0"/>
            <c:spPr>
              <a:solidFill>
                <a:srgbClr val="E97A60"/>
              </a:solidFill>
              <a:effectLst/>
            </c:spPr>
            <c:extLst>
              <c:ext xmlns:c16="http://schemas.microsoft.com/office/drawing/2014/chart" uri="{C3380CC4-5D6E-409C-BE32-E72D297353CC}">
                <c16:uniqueId val="{00000005-0622-4B6A-9C08-9D002926643B}"/>
              </c:ext>
            </c:extLst>
          </c:dPt>
          <c:dPt>
            <c:idx val="3"/>
            <c:invertIfNegative val="0"/>
            <c:bubble3D val="0"/>
            <c:spPr>
              <a:solidFill>
                <a:srgbClr val="E97A60"/>
              </a:solidFill>
              <a:effectLst/>
            </c:spPr>
            <c:extLst>
              <c:ext xmlns:c16="http://schemas.microsoft.com/office/drawing/2014/chart" uri="{C3380CC4-5D6E-409C-BE32-E72D297353CC}">
                <c16:uniqueId val="{00000007-0622-4B6A-9C08-9D002926643B}"/>
              </c:ext>
            </c:extLst>
          </c:dPt>
          <c:dPt>
            <c:idx val="4"/>
            <c:invertIfNegative val="0"/>
            <c:bubble3D val="0"/>
            <c:spPr>
              <a:solidFill>
                <a:srgbClr val="3CB6A6"/>
              </a:solidFill>
              <a:effectLst/>
            </c:spPr>
            <c:extLst>
              <c:ext xmlns:c16="http://schemas.microsoft.com/office/drawing/2014/chart" uri="{C3380CC4-5D6E-409C-BE32-E72D297353CC}">
                <c16:uniqueId val="{00000009-0622-4B6A-9C08-9D002926643B}"/>
              </c:ext>
            </c:extLst>
          </c:dPt>
          <c:dPt>
            <c:idx val="5"/>
            <c:invertIfNegative val="0"/>
            <c:bubble3D val="0"/>
            <c:spPr>
              <a:solidFill>
                <a:srgbClr val="E97A60"/>
              </a:solidFill>
              <a:effectLst/>
            </c:spPr>
            <c:extLst>
              <c:ext xmlns:c16="http://schemas.microsoft.com/office/drawing/2014/chart" uri="{C3380CC4-5D6E-409C-BE32-E72D297353CC}">
                <c16:uniqueId val="{0000000B-0622-4B6A-9C08-9D002926643B}"/>
              </c:ext>
            </c:extLst>
          </c:dPt>
          <c:dLbls>
            <c:numFmt formatCode="0.00" sourceLinked="0"/>
            <c:spPr>
              <a:noFill/>
              <a:ln>
                <a:noFill/>
              </a:ln>
              <a:effectLst/>
            </c:spPr>
            <c:txPr>
              <a:bodyPr/>
              <a:lstStyle/>
              <a:p>
                <a:pPr>
                  <a:defRPr sz="11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email length</c:v>
                </c:pt>
                <c:pt idx="1">
                  <c:v>word count</c:v>
                </c:pt>
                <c:pt idx="2">
                  <c:v>digit ratio</c:v>
                </c:pt>
                <c:pt idx="3">
                  <c:v>avg word len</c:v>
                </c:pt>
                <c:pt idx="4">
                  <c:v>uppercase</c:v>
                </c:pt>
                <c:pt idx="5">
                  <c:v>non-ASCII</c:v>
                </c:pt>
              </c:strCache>
            </c:strRef>
          </c:cat>
          <c:val>
            <c:numRef>
              <c:f>Sheet1!$B$2:$B$7</c:f>
              <c:numCache>
                <c:formatCode>General</c:formatCode>
                <c:ptCount val="6"/>
                <c:pt idx="0">
                  <c:v>-0.56999999999999995</c:v>
                </c:pt>
                <c:pt idx="1">
                  <c:v>-0.53</c:v>
                </c:pt>
                <c:pt idx="2">
                  <c:v>-0.27</c:v>
                </c:pt>
                <c:pt idx="3">
                  <c:v>-0.11</c:v>
                </c:pt>
                <c:pt idx="4">
                  <c:v>0.15</c:v>
                </c:pt>
                <c:pt idx="5">
                  <c:v>-0.05</c:v>
                </c:pt>
              </c:numCache>
            </c:numRef>
          </c:val>
          <c:extLst>
            <c:ext xmlns:c16="http://schemas.microsoft.com/office/drawing/2014/chart" uri="{C3380CC4-5D6E-409C-BE32-E72D297353CC}">
              <c16:uniqueId val="{0000000C-0622-4B6A-9C08-9D002926643B}"/>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0.3"/>
          <c:min val="-0.7"/>
        </c:scaling>
        <c:delete val="0"/>
        <c:axPos val="b"/>
        <c:majorGridlines>
          <c:spPr>
            <a:ln w="6350" cap="flat">
              <a:solidFill>
                <a:srgbClr val="26363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vif</c:v>
                </c:pt>
              </c:strCache>
            </c:strRef>
          </c:tx>
          <c:spPr>
            <a:solidFill>
              <a:srgbClr val="E97A60">
                <a:alpha val="100000"/>
              </a:srgbClr>
            </a:solidFill>
            <a:effectLst/>
          </c:spPr>
          <c:invertIfNegative val="0"/>
          <c:dPt>
            <c:idx val="0"/>
            <c:invertIfNegative val="0"/>
            <c:bubble3D val="0"/>
            <c:spPr>
              <a:solidFill>
                <a:srgbClr val="E97A60"/>
              </a:solidFill>
              <a:effectLst/>
            </c:spPr>
            <c:extLst>
              <c:ext xmlns:c16="http://schemas.microsoft.com/office/drawing/2014/chart" uri="{C3380CC4-5D6E-409C-BE32-E72D297353CC}">
                <c16:uniqueId val="{00000001-3420-4745-A7E3-5F6A676273C1}"/>
              </c:ext>
            </c:extLst>
          </c:dPt>
          <c:dPt>
            <c:idx val="1"/>
            <c:invertIfNegative val="0"/>
            <c:bubble3D val="0"/>
            <c:spPr>
              <a:solidFill>
                <a:srgbClr val="E97A60"/>
              </a:solidFill>
              <a:effectLst/>
            </c:spPr>
            <c:extLst>
              <c:ext xmlns:c16="http://schemas.microsoft.com/office/drawing/2014/chart" uri="{C3380CC4-5D6E-409C-BE32-E72D297353CC}">
                <c16:uniqueId val="{00000003-3420-4745-A7E3-5F6A676273C1}"/>
              </c:ext>
            </c:extLst>
          </c:dPt>
          <c:dPt>
            <c:idx val="2"/>
            <c:invertIfNegative val="0"/>
            <c:bubble3D val="0"/>
            <c:spPr>
              <a:solidFill>
                <a:srgbClr val="7D919B"/>
              </a:solidFill>
              <a:effectLst/>
            </c:spPr>
            <c:extLst>
              <c:ext xmlns:c16="http://schemas.microsoft.com/office/drawing/2014/chart" uri="{C3380CC4-5D6E-409C-BE32-E72D297353CC}">
                <c16:uniqueId val="{00000005-3420-4745-A7E3-5F6A676273C1}"/>
              </c:ext>
            </c:extLst>
          </c:dPt>
          <c:dPt>
            <c:idx val="3"/>
            <c:invertIfNegative val="0"/>
            <c:bubble3D val="0"/>
            <c:spPr>
              <a:solidFill>
                <a:srgbClr val="7D919B"/>
              </a:solidFill>
              <a:effectLst/>
            </c:spPr>
            <c:extLst>
              <c:ext xmlns:c16="http://schemas.microsoft.com/office/drawing/2014/chart" uri="{C3380CC4-5D6E-409C-BE32-E72D297353CC}">
                <c16:uniqueId val="{00000007-3420-4745-A7E3-5F6A676273C1}"/>
              </c:ext>
            </c:extLst>
          </c:dPt>
          <c:dPt>
            <c:idx val="4"/>
            <c:invertIfNegative val="0"/>
            <c:bubble3D val="0"/>
            <c:spPr>
              <a:solidFill>
                <a:srgbClr val="7D919B"/>
              </a:solidFill>
              <a:effectLst/>
            </c:spPr>
            <c:extLst>
              <c:ext xmlns:c16="http://schemas.microsoft.com/office/drawing/2014/chart" uri="{C3380CC4-5D6E-409C-BE32-E72D297353CC}">
                <c16:uniqueId val="{00000009-3420-4745-A7E3-5F6A676273C1}"/>
              </c:ext>
            </c:extLst>
          </c:dPt>
          <c:dPt>
            <c:idx val="5"/>
            <c:invertIfNegative val="0"/>
            <c:bubble3D val="0"/>
            <c:spPr>
              <a:solidFill>
                <a:srgbClr val="7D919B"/>
              </a:solidFill>
              <a:effectLst/>
            </c:spPr>
            <c:extLst>
              <c:ext xmlns:c16="http://schemas.microsoft.com/office/drawing/2014/chart" uri="{C3380CC4-5D6E-409C-BE32-E72D297353CC}">
                <c16:uniqueId val="{0000000B-3420-4745-A7E3-5F6A676273C1}"/>
              </c:ext>
            </c:extLst>
          </c:dPt>
          <c:dLbls>
            <c:numFmt formatCode="0.0" sourceLinked="0"/>
            <c:spPr>
              <a:noFill/>
              <a:ln>
                <a:noFill/>
              </a:ln>
              <a:effectLst/>
            </c:spPr>
            <c:txPr>
              <a:bodyPr/>
              <a:lstStyle/>
              <a:p>
                <a:pPr>
                  <a:defRPr sz="11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email length</c:v>
                </c:pt>
                <c:pt idx="1">
                  <c:v>word count</c:v>
                </c:pt>
                <c:pt idx="2">
                  <c:v>avg word len</c:v>
                </c:pt>
                <c:pt idx="3">
                  <c:v>digit ratio</c:v>
                </c:pt>
                <c:pt idx="4">
                  <c:v>uppercase</c:v>
                </c:pt>
                <c:pt idx="5">
                  <c:v>non-ASCII</c:v>
                </c:pt>
              </c:strCache>
            </c:strRef>
          </c:cat>
          <c:val>
            <c:numRef>
              <c:f>Sheet1!$B$2:$B$7</c:f>
              <c:numCache>
                <c:formatCode>General</c:formatCode>
                <c:ptCount val="6"/>
                <c:pt idx="0">
                  <c:v>21.4</c:v>
                </c:pt>
                <c:pt idx="1">
                  <c:v>21.7</c:v>
                </c:pt>
                <c:pt idx="2">
                  <c:v>1.3</c:v>
                </c:pt>
                <c:pt idx="3">
                  <c:v>1.1000000000000001</c:v>
                </c:pt>
                <c:pt idx="4">
                  <c:v>1.1000000000000001</c:v>
                </c:pt>
                <c:pt idx="5">
                  <c:v>1</c:v>
                </c:pt>
              </c:numCache>
            </c:numRef>
          </c:val>
          <c:extLst>
            <c:ext xmlns:c16="http://schemas.microsoft.com/office/drawing/2014/chart" uri="{C3380CC4-5D6E-409C-BE32-E72D297353CC}">
              <c16:uniqueId val="{0000000C-3420-4745-A7E3-5F6A676273C1}"/>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25"/>
        </c:scaling>
        <c:delete val="0"/>
        <c:axPos val="b"/>
        <c:majorGridlines>
          <c:spPr>
            <a:ln w="6350" cap="flat">
              <a:solidFill>
                <a:srgbClr val="26363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F1</c:v>
                </c:pt>
              </c:strCache>
            </c:strRef>
          </c:tx>
          <c:spPr>
            <a:solidFill>
              <a:srgbClr val="6E7F87">
                <a:alpha val="100000"/>
              </a:srgbClr>
            </a:solidFill>
            <a:effectLst/>
          </c:spPr>
          <c:invertIfNegative val="0"/>
          <c:dPt>
            <c:idx val="0"/>
            <c:invertIfNegative val="0"/>
            <c:bubble3D val="0"/>
            <c:spPr>
              <a:solidFill>
                <a:srgbClr val="6E7F87"/>
              </a:solidFill>
              <a:effectLst/>
            </c:spPr>
            <c:extLst>
              <c:ext xmlns:c16="http://schemas.microsoft.com/office/drawing/2014/chart" uri="{C3380CC4-5D6E-409C-BE32-E72D297353CC}">
                <c16:uniqueId val="{00000001-1E41-4735-9629-0D704C55FC3B}"/>
              </c:ext>
            </c:extLst>
          </c:dPt>
          <c:dPt>
            <c:idx val="1"/>
            <c:invertIfNegative val="0"/>
            <c:bubble3D val="0"/>
            <c:spPr>
              <a:solidFill>
                <a:srgbClr val="6E7F87"/>
              </a:solidFill>
              <a:effectLst/>
            </c:spPr>
            <c:extLst>
              <c:ext xmlns:c16="http://schemas.microsoft.com/office/drawing/2014/chart" uri="{C3380CC4-5D6E-409C-BE32-E72D297353CC}">
                <c16:uniqueId val="{00000003-1E41-4735-9629-0D704C55FC3B}"/>
              </c:ext>
            </c:extLst>
          </c:dPt>
          <c:dPt>
            <c:idx val="2"/>
            <c:invertIfNegative val="0"/>
            <c:bubble3D val="0"/>
            <c:spPr>
              <a:solidFill>
                <a:srgbClr val="7D919B"/>
              </a:solidFill>
              <a:effectLst/>
            </c:spPr>
            <c:extLst>
              <c:ext xmlns:c16="http://schemas.microsoft.com/office/drawing/2014/chart" uri="{C3380CC4-5D6E-409C-BE32-E72D297353CC}">
                <c16:uniqueId val="{00000005-1E41-4735-9629-0D704C55FC3B}"/>
              </c:ext>
            </c:extLst>
          </c:dPt>
          <c:dPt>
            <c:idx val="3"/>
            <c:invertIfNegative val="0"/>
            <c:bubble3D val="0"/>
            <c:spPr>
              <a:solidFill>
                <a:srgbClr val="7D919B"/>
              </a:solidFill>
              <a:effectLst/>
            </c:spPr>
            <c:extLst>
              <c:ext xmlns:c16="http://schemas.microsoft.com/office/drawing/2014/chart" uri="{C3380CC4-5D6E-409C-BE32-E72D297353CC}">
                <c16:uniqueId val="{00000007-1E41-4735-9629-0D704C55FC3B}"/>
              </c:ext>
            </c:extLst>
          </c:dPt>
          <c:dPt>
            <c:idx val="4"/>
            <c:invertIfNegative val="0"/>
            <c:bubble3D val="0"/>
            <c:spPr>
              <a:solidFill>
                <a:srgbClr val="7D919B"/>
              </a:solidFill>
              <a:effectLst/>
            </c:spPr>
            <c:extLst>
              <c:ext xmlns:c16="http://schemas.microsoft.com/office/drawing/2014/chart" uri="{C3380CC4-5D6E-409C-BE32-E72D297353CC}">
                <c16:uniqueId val="{00000009-1E41-4735-9629-0D704C55FC3B}"/>
              </c:ext>
            </c:extLst>
          </c:dPt>
          <c:dPt>
            <c:idx val="5"/>
            <c:invertIfNegative val="0"/>
            <c:bubble3D val="0"/>
            <c:spPr>
              <a:solidFill>
                <a:srgbClr val="3CB6A6"/>
              </a:solidFill>
              <a:effectLst/>
            </c:spPr>
            <c:extLst>
              <c:ext xmlns:c16="http://schemas.microsoft.com/office/drawing/2014/chart" uri="{C3380CC4-5D6E-409C-BE32-E72D297353CC}">
                <c16:uniqueId val="{0000000B-1E41-4735-9629-0D704C55FC3B}"/>
              </c:ext>
            </c:extLst>
          </c:dPt>
          <c:dLbls>
            <c:numFmt formatCode="0.00" sourceLinked="0"/>
            <c:spPr>
              <a:noFill/>
              <a:ln>
                <a:noFill/>
              </a:ln>
              <a:effectLst/>
            </c:spPr>
            <c:txPr>
              <a:bodyPr/>
              <a:lstStyle/>
              <a:p>
                <a:pPr>
                  <a:defRPr sz="12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Majority</c:v>
                </c:pt>
                <c:pt idx="1">
                  <c:v>Keyword list</c:v>
                </c:pt>
                <c:pt idx="2">
                  <c:v>Naive Bayes</c:v>
                </c:pt>
                <c:pt idx="3">
                  <c:v>Complement NB</c:v>
                </c:pt>
                <c:pt idx="4">
                  <c:v>DistilBERT</c:v>
                </c:pt>
                <c:pt idx="5">
                  <c:v>Logistic Reg.</c:v>
                </c:pt>
              </c:strCache>
            </c:strRef>
          </c:cat>
          <c:val>
            <c:numRef>
              <c:f>Sheet1!$B$2:$B$7</c:f>
              <c:numCache>
                <c:formatCode>General</c:formatCode>
                <c:ptCount val="6"/>
                <c:pt idx="0">
                  <c:v>0</c:v>
                </c:pt>
                <c:pt idx="1">
                  <c:v>0.25</c:v>
                </c:pt>
                <c:pt idx="2">
                  <c:v>0.97</c:v>
                </c:pt>
                <c:pt idx="3">
                  <c:v>0.98</c:v>
                </c:pt>
                <c:pt idx="4">
                  <c:v>0.98</c:v>
                </c:pt>
                <c:pt idx="5">
                  <c:v>0.998</c:v>
                </c:pt>
              </c:numCache>
            </c:numRef>
          </c:val>
          <c:extLst>
            <c:ext xmlns:c16="http://schemas.microsoft.com/office/drawing/2014/chart" uri="{C3380CC4-5D6E-409C-BE32-E72D297353CC}">
              <c16:uniqueId val="{0000000C-1E41-4735-9629-0D704C55FC3B}"/>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recall</c:v>
                </c:pt>
              </c:strCache>
            </c:strRef>
          </c:tx>
          <c:spPr>
            <a:solidFill>
              <a:srgbClr val="3CB6A6">
                <a:alpha val="100000"/>
              </a:srgbClr>
            </a:solidFill>
            <a:effectLst/>
          </c:spPr>
          <c:invertIfNegative val="0"/>
          <c:dPt>
            <c:idx val="0"/>
            <c:invertIfNegative val="0"/>
            <c:bubble3D val="0"/>
            <c:spPr>
              <a:solidFill>
                <a:srgbClr val="3CB6A6"/>
              </a:solidFill>
              <a:effectLst/>
            </c:spPr>
            <c:extLst>
              <c:ext xmlns:c16="http://schemas.microsoft.com/office/drawing/2014/chart" uri="{C3380CC4-5D6E-409C-BE32-E72D297353CC}">
                <c16:uniqueId val="{00000001-85BD-473B-B1E3-FDB636A45281}"/>
              </c:ext>
            </c:extLst>
          </c:dPt>
          <c:dPt>
            <c:idx val="1"/>
            <c:invertIfNegative val="0"/>
            <c:bubble3D val="0"/>
            <c:spPr>
              <a:solidFill>
                <a:srgbClr val="E97A60"/>
              </a:solidFill>
              <a:effectLst/>
            </c:spPr>
            <c:extLst>
              <c:ext xmlns:c16="http://schemas.microsoft.com/office/drawing/2014/chart" uri="{C3380CC4-5D6E-409C-BE32-E72D297353CC}">
                <c16:uniqueId val="{00000003-85BD-473B-B1E3-FDB636A45281}"/>
              </c:ext>
            </c:extLst>
          </c:dPt>
          <c:dLbls>
            <c:numFmt formatCode="0.00" sourceLinked="0"/>
            <c:spPr>
              <a:noFill/>
              <a:ln>
                <a:noFill/>
              </a:ln>
              <a:effectLst/>
            </c:spPr>
            <c:txPr>
              <a:bodyPr/>
              <a:lstStyle/>
              <a:p>
                <a:pPr>
                  <a:defRPr sz="16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clean</c:v>
                </c:pt>
                <c:pt idx="1">
                  <c:v>homoglyph attack</c:v>
                </c:pt>
              </c:strCache>
            </c:strRef>
          </c:cat>
          <c:val>
            <c:numRef>
              <c:f>Sheet1!$B$2:$B$3</c:f>
              <c:numCache>
                <c:formatCode>General</c:formatCode>
                <c:ptCount val="2"/>
                <c:pt idx="0">
                  <c:v>0.99</c:v>
                </c:pt>
                <c:pt idx="1">
                  <c:v>0.71</c:v>
                </c:pt>
              </c:numCache>
            </c:numRef>
          </c:val>
          <c:extLst>
            <c:ext xmlns:c16="http://schemas.microsoft.com/office/drawing/2014/chart" uri="{C3380CC4-5D6E-409C-BE32-E72D297353CC}">
              <c16:uniqueId val="{00000004-85BD-473B-B1E3-FDB636A4528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undefended</c:v>
                </c:pt>
              </c:strCache>
            </c:strRef>
          </c:tx>
          <c:spPr>
            <a:solidFill>
              <a:srgbClr val="6E7F87">
                <a:alpha val="100000"/>
              </a:srgbClr>
            </a:solidFill>
            <a:effectLst/>
          </c:spPr>
          <c:invertIfNegative val="0"/>
          <c:dLbls>
            <c:numFmt formatCode="0.00" sourceLinked="0"/>
            <c:spPr>
              <a:noFill/>
              <a:ln>
                <a:noFill/>
              </a:ln>
              <a:effectLst/>
            </c:spPr>
            <c:txPr>
              <a:bodyPr/>
              <a:lstStyle/>
              <a:p>
                <a:pPr>
                  <a:defRPr sz="9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homoglyph (seen)</c:v>
                </c:pt>
                <c:pt idx="1">
                  <c:v>full-width (unseen)</c:v>
                </c:pt>
                <c:pt idx="2">
                  <c:v>adaptive</c:v>
                </c:pt>
              </c:strCache>
            </c:strRef>
          </c:cat>
          <c:val>
            <c:numRef>
              <c:f>Sheet1!$B$2:$B$4</c:f>
              <c:numCache>
                <c:formatCode>General</c:formatCode>
                <c:ptCount val="3"/>
                <c:pt idx="0">
                  <c:v>0.71</c:v>
                </c:pt>
                <c:pt idx="1">
                  <c:v>0.68</c:v>
                </c:pt>
                <c:pt idx="2">
                  <c:v>0.89</c:v>
                </c:pt>
              </c:numCache>
            </c:numRef>
          </c:val>
          <c:extLst>
            <c:ext xmlns:c16="http://schemas.microsoft.com/office/drawing/2014/chart" uri="{C3380CC4-5D6E-409C-BE32-E72D297353CC}">
              <c16:uniqueId val="{00000000-70E2-4D84-9243-061287DF3D5C}"/>
            </c:ext>
          </c:extLst>
        </c:ser>
        <c:ser>
          <c:idx val="1"/>
          <c:order val="1"/>
          <c:tx>
            <c:strRef>
              <c:f>Sheet1!$C$1</c:f>
              <c:strCache>
                <c:ptCount val="1"/>
                <c:pt idx="0">
                  <c:v>normalisation</c:v>
                </c:pt>
              </c:strCache>
            </c:strRef>
          </c:tx>
          <c:spPr>
            <a:solidFill>
              <a:srgbClr val="3CB6A6">
                <a:alpha val="100000"/>
              </a:srgbClr>
            </a:solidFill>
            <a:effectLst/>
          </c:spPr>
          <c:invertIfNegative val="0"/>
          <c:dLbls>
            <c:numFmt formatCode="0.00" sourceLinked="0"/>
            <c:spPr>
              <a:noFill/>
              <a:ln>
                <a:noFill/>
              </a:ln>
              <a:effectLst/>
            </c:spPr>
            <c:txPr>
              <a:bodyPr/>
              <a:lstStyle/>
              <a:p>
                <a:pPr>
                  <a:defRPr sz="9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homoglyph (seen)</c:v>
                </c:pt>
                <c:pt idx="1">
                  <c:v>full-width (unseen)</c:v>
                </c:pt>
                <c:pt idx="2">
                  <c:v>adaptive</c:v>
                </c:pt>
              </c:strCache>
            </c:strRef>
          </c:cat>
          <c:val>
            <c:numRef>
              <c:f>Sheet1!$C$2:$C$4</c:f>
              <c:numCache>
                <c:formatCode>General</c:formatCode>
                <c:ptCount val="3"/>
                <c:pt idx="0">
                  <c:v>0.99</c:v>
                </c:pt>
                <c:pt idx="1">
                  <c:v>0.99</c:v>
                </c:pt>
                <c:pt idx="2">
                  <c:v>0.96</c:v>
                </c:pt>
              </c:numCache>
            </c:numRef>
          </c:val>
          <c:extLst>
            <c:ext xmlns:c16="http://schemas.microsoft.com/office/drawing/2014/chart" uri="{C3380CC4-5D6E-409C-BE32-E72D297353CC}">
              <c16:uniqueId val="{00000001-70E2-4D84-9243-061287DF3D5C}"/>
            </c:ext>
          </c:extLst>
        </c:ser>
        <c:ser>
          <c:idx val="2"/>
          <c:order val="2"/>
          <c:tx>
            <c:strRef>
              <c:f>Sheet1!$D$1</c:f>
              <c:strCache>
                <c:ptCount val="1"/>
                <c:pt idx="0">
                  <c:v>adversarial training</c:v>
                </c:pt>
              </c:strCache>
            </c:strRef>
          </c:tx>
          <c:spPr>
            <a:solidFill>
              <a:srgbClr val="D4AB4E">
                <a:alpha val="100000"/>
              </a:srgbClr>
            </a:solidFill>
            <a:effectLst/>
          </c:spPr>
          <c:invertIfNegative val="0"/>
          <c:dLbls>
            <c:numFmt formatCode="0.00" sourceLinked="0"/>
            <c:spPr>
              <a:noFill/>
              <a:ln>
                <a:noFill/>
              </a:ln>
              <a:effectLst/>
            </c:spPr>
            <c:txPr>
              <a:bodyPr/>
              <a:lstStyle/>
              <a:p>
                <a:pPr>
                  <a:defRPr sz="9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homoglyph (seen)</c:v>
                </c:pt>
                <c:pt idx="1">
                  <c:v>full-width (unseen)</c:v>
                </c:pt>
                <c:pt idx="2">
                  <c:v>adaptive</c:v>
                </c:pt>
              </c:strCache>
            </c:strRef>
          </c:cat>
          <c:val>
            <c:numRef>
              <c:f>Sheet1!$D$2:$D$4</c:f>
              <c:numCache>
                <c:formatCode>General</c:formatCode>
                <c:ptCount val="3"/>
                <c:pt idx="0">
                  <c:v>1</c:v>
                </c:pt>
                <c:pt idx="1">
                  <c:v>0.78</c:v>
                </c:pt>
                <c:pt idx="2">
                  <c:v>0.94</c:v>
                </c:pt>
              </c:numCache>
            </c:numRef>
          </c:val>
          <c:extLst>
            <c:ext xmlns:c16="http://schemas.microsoft.com/office/drawing/2014/chart" uri="{C3380CC4-5D6E-409C-BE32-E72D297353CC}">
              <c16:uniqueId val="{00000002-70E2-4D84-9243-061287DF3D5C}"/>
            </c:ext>
          </c:extLst>
        </c:ser>
        <c:dLbls>
          <c:showLegendKey val="0"/>
          <c:showVal val="1"/>
          <c:showCatName val="0"/>
          <c:showSerName val="0"/>
          <c:showPercent val="0"/>
          <c:showBubbleSize val="0"/>
        </c:dLbls>
        <c:gapWidth val="2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95A6AD"/>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recall</c:v>
                </c:pt>
              </c:strCache>
            </c:strRef>
          </c:tx>
          <c:spPr>
            <a:solidFill>
              <a:srgbClr val="7D919B">
                <a:alpha val="100000"/>
              </a:srgbClr>
            </a:solidFill>
            <a:effectLst/>
          </c:spPr>
          <c:invertIfNegative val="0"/>
          <c:dPt>
            <c:idx val="0"/>
            <c:invertIfNegative val="0"/>
            <c:bubble3D val="0"/>
            <c:spPr>
              <a:solidFill>
                <a:srgbClr val="7D919B"/>
              </a:solidFill>
              <a:effectLst/>
            </c:spPr>
            <c:extLst>
              <c:ext xmlns:c16="http://schemas.microsoft.com/office/drawing/2014/chart" uri="{C3380CC4-5D6E-409C-BE32-E72D297353CC}">
                <c16:uniqueId val="{00000001-9298-4D52-ACBA-DAF81D972D16}"/>
              </c:ext>
            </c:extLst>
          </c:dPt>
          <c:dPt>
            <c:idx val="1"/>
            <c:invertIfNegative val="0"/>
            <c:bubble3D val="0"/>
            <c:spPr>
              <a:solidFill>
                <a:srgbClr val="E97A60"/>
              </a:solidFill>
              <a:effectLst/>
            </c:spPr>
            <c:extLst>
              <c:ext xmlns:c16="http://schemas.microsoft.com/office/drawing/2014/chart" uri="{C3380CC4-5D6E-409C-BE32-E72D297353CC}">
                <c16:uniqueId val="{00000003-9298-4D52-ACBA-DAF81D972D16}"/>
              </c:ext>
            </c:extLst>
          </c:dPt>
          <c:dLbls>
            <c:numFmt formatCode="0.00" sourceLinked="0"/>
            <c:spPr>
              <a:noFill/>
              <a:ln>
                <a:noFill/>
              </a:ln>
              <a:effectLst/>
            </c:spPr>
            <c:txPr>
              <a:bodyPr/>
              <a:lstStyle/>
              <a:p>
                <a:pPr>
                  <a:defRPr sz="16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8 random edits</c:v>
                </c:pt>
                <c:pt idx="1">
                  <c:v>8 targeted edits</c:v>
                </c:pt>
              </c:strCache>
            </c:strRef>
          </c:cat>
          <c:val>
            <c:numRef>
              <c:f>Sheet1!$B$2:$B$3</c:f>
              <c:numCache>
                <c:formatCode>General</c:formatCode>
                <c:ptCount val="2"/>
                <c:pt idx="0">
                  <c:v>0.98</c:v>
                </c:pt>
                <c:pt idx="1">
                  <c:v>0.74</c:v>
                </c:pt>
              </c:numCache>
            </c:numRef>
          </c:val>
          <c:extLst>
            <c:ext xmlns:c16="http://schemas.microsoft.com/office/drawing/2014/chart" uri="{C3380CC4-5D6E-409C-BE32-E72D297353CC}">
              <c16:uniqueId val="{00000004-9298-4D52-ACBA-DAF81D972D16}"/>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recall</c:v>
                </c:pt>
              </c:strCache>
            </c:strRef>
          </c:tx>
          <c:spPr>
            <a:solidFill>
              <a:srgbClr val="E97A60">
                <a:alpha val="100000"/>
              </a:srgbClr>
            </a:solidFill>
            <a:effectLst/>
          </c:spPr>
          <c:invertIfNegative val="0"/>
          <c:dPt>
            <c:idx val="0"/>
            <c:invertIfNegative val="0"/>
            <c:bubble3D val="0"/>
            <c:spPr>
              <a:solidFill>
                <a:srgbClr val="E97A60"/>
              </a:solidFill>
              <a:effectLst/>
            </c:spPr>
            <c:extLst>
              <c:ext xmlns:c16="http://schemas.microsoft.com/office/drawing/2014/chart" uri="{C3380CC4-5D6E-409C-BE32-E72D297353CC}">
                <c16:uniqueId val="{00000001-EE4B-422D-A874-27EA47890E5D}"/>
              </c:ext>
            </c:extLst>
          </c:dPt>
          <c:dPt>
            <c:idx val="1"/>
            <c:invertIfNegative val="0"/>
            <c:bubble3D val="0"/>
            <c:spPr>
              <a:solidFill>
                <a:srgbClr val="3CB6A6"/>
              </a:solidFill>
              <a:effectLst/>
            </c:spPr>
            <c:extLst>
              <c:ext xmlns:c16="http://schemas.microsoft.com/office/drawing/2014/chart" uri="{C3380CC4-5D6E-409C-BE32-E72D297353CC}">
                <c16:uniqueId val="{00000003-EE4B-422D-A874-27EA47890E5D}"/>
              </c:ext>
            </c:extLst>
          </c:dPt>
          <c:dLbls>
            <c:numFmt formatCode="0.00" sourceLinked="0"/>
            <c:spPr>
              <a:noFill/>
              <a:ln>
                <a:noFill/>
              </a:ln>
              <a:effectLst/>
            </c:spPr>
            <c:txPr>
              <a:bodyPr/>
              <a:lstStyle/>
              <a:p>
                <a:pPr>
                  <a:defRPr sz="15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hand-made list</c:v>
                </c:pt>
                <c:pt idx="1">
                  <c:v>full official list (UTS-39)</c:v>
                </c:pt>
              </c:strCache>
            </c:strRef>
          </c:cat>
          <c:val>
            <c:numRef>
              <c:f>Sheet1!$B$2:$B$3</c:f>
              <c:numCache>
                <c:formatCode>General</c:formatCode>
                <c:ptCount val="2"/>
                <c:pt idx="0">
                  <c:v>0.88</c:v>
                </c:pt>
                <c:pt idx="1">
                  <c:v>0.998</c:v>
                </c:pt>
              </c:numCache>
            </c:numRef>
          </c:val>
          <c:extLst>
            <c:ext xmlns:c16="http://schemas.microsoft.com/office/drawing/2014/chart" uri="{C3380CC4-5D6E-409C-BE32-E72D297353CC}">
              <c16:uniqueId val="{00000004-EE4B-422D-A874-27EA47890E5D}"/>
            </c:ext>
          </c:extLst>
        </c:ser>
        <c:dLbls>
          <c:showLegendKey val="0"/>
          <c:showVal val="1"/>
          <c:showCatName val="0"/>
          <c:showSerName val="0"/>
          <c:showPercent val="0"/>
          <c:showBubbleSize val="0"/>
        </c:dLbls>
        <c:gapWidth val="6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standard model</c:v>
                </c:pt>
              </c:strCache>
            </c:strRef>
          </c:tx>
          <c:spPr>
            <a:ln w="31750" cap="flat">
              <a:solidFill>
                <a:srgbClr val="E97A60"/>
              </a:solidFill>
              <a:prstDash val="solid"/>
              <a:round/>
            </a:ln>
            <a:effectLst/>
          </c:spPr>
          <c:marker>
            <c:symbol val="circle"/>
            <c:size val="6"/>
            <c:spPr>
              <a:solidFill>
                <a:srgbClr val="E97A60"/>
              </a:solidFill>
              <a:ln w="9525" cap="flat">
                <a:solidFill>
                  <a:srgbClr val="E97A60"/>
                </a:solidFill>
                <a:prstDash val="solid"/>
                <a:round/>
              </a:ln>
              <a:effectLst/>
            </c:spPr>
          </c:marker>
          <c:cat>
            <c:strRef>
              <c:f>Sheet1!$A$2:$A$5</c:f>
              <c:strCache>
                <c:ptCount val="4"/>
                <c:pt idx="0">
                  <c:v>+0</c:v>
                </c:pt>
                <c:pt idx="1">
                  <c:v>+10</c:v>
                </c:pt>
                <c:pt idx="2">
                  <c:v>+20</c:v>
                </c:pt>
                <c:pt idx="3">
                  <c:v>+40</c:v>
                </c:pt>
              </c:strCache>
            </c:strRef>
          </c:cat>
          <c:val>
            <c:numRef>
              <c:f>Sheet1!$B$2:$B$5</c:f>
              <c:numCache>
                <c:formatCode>General</c:formatCode>
                <c:ptCount val="4"/>
                <c:pt idx="0">
                  <c:v>0.998</c:v>
                </c:pt>
                <c:pt idx="1">
                  <c:v>0.63200000000000001</c:v>
                </c:pt>
                <c:pt idx="2">
                  <c:v>0.36499999999999999</c:v>
                </c:pt>
                <c:pt idx="3">
                  <c:v>0.129</c:v>
                </c:pt>
              </c:numCache>
            </c:numRef>
          </c:val>
          <c:smooth val="0"/>
          <c:extLst>
            <c:ext xmlns:c16="http://schemas.microsoft.com/office/drawing/2014/chart" uri="{C3380CC4-5D6E-409C-BE32-E72D297353CC}">
              <c16:uniqueId val="{00000000-4A92-4063-BAC8-9E84B3D1CED6}"/>
            </c:ext>
          </c:extLst>
        </c:ser>
        <c:ser>
          <c:idx val="1"/>
          <c:order val="1"/>
          <c:tx>
            <c:strRef>
              <c:f>Sheet1!$C$1</c:f>
              <c:strCache>
                <c:ptCount val="1"/>
                <c:pt idx="0">
                  <c:v>one-way (monotone) model</c:v>
                </c:pt>
              </c:strCache>
            </c:strRef>
          </c:tx>
          <c:spPr>
            <a:ln w="31750" cap="flat">
              <a:solidFill>
                <a:srgbClr val="3CB6A6"/>
              </a:solidFill>
              <a:prstDash val="solid"/>
              <a:round/>
            </a:ln>
            <a:effectLst/>
          </c:spPr>
          <c:marker>
            <c:symbol val="circle"/>
            <c:size val="6"/>
            <c:spPr>
              <a:solidFill>
                <a:srgbClr val="3CB6A6"/>
              </a:solidFill>
              <a:ln w="9525" cap="flat">
                <a:solidFill>
                  <a:srgbClr val="3CB6A6"/>
                </a:solidFill>
                <a:prstDash val="solid"/>
                <a:round/>
              </a:ln>
              <a:effectLst/>
            </c:spPr>
          </c:marker>
          <c:cat>
            <c:strRef>
              <c:f>Sheet1!$A$2:$A$5</c:f>
              <c:strCache>
                <c:ptCount val="4"/>
                <c:pt idx="0">
                  <c:v>+0</c:v>
                </c:pt>
                <c:pt idx="1">
                  <c:v>+10</c:v>
                </c:pt>
                <c:pt idx="2">
                  <c:v>+20</c:v>
                </c:pt>
                <c:pt idx="3">
                  <c:v>+40</c:v>
                </c:pt>
              </c:strCache>
            </c:strRef>
          </c:cat>
          <c:val>
            <c:numRef>
              <c:f>Sheet1!$C$2:$C$5</c:f>
              <c:numCache>
                <c:formatCode>General</c:formatCode>
                <c:ptCount val="4"/>
                <c:pt idx="0">
                  <c:v>0.86899999999999999</c:v>
                </c:pt>
                <c:pt idx="1">
                  <c:v>0.86899999999999999</c:v>
                </c:pt>
                <c:pt idx="2">
                  <c:v>0.86899999999999999</c:v>
                </c:pt>
                <c:pt idx="3">
                  <c:v>0.86599999999999999</c:v>
                </c:pt>
              </c:numCache>
            </c:numRef>
          </c:val>
          <c:smooth val="0"/>
          <c:extLst>
            <c:ext xmlns:c16="http://schemas.microsoft.com/office/drawing/2014/chart" uri="{C3380CC4-5D6E-409C-BE32-E72D297353CC}">
              <c16:uniqueId val="{00000001-4A92-4063-BAC8-9E84B3D1CED6}"/>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95A6AD"/>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recall / F1</c:v>
                </c:pt>
              </c:strCache>
            </c:strRef>
          </c:tx>
          <c:spPr>
            <a:solidFill>
              <a:srgbClr val="E97A60">
                <a:alpha val="100000"/>
              </a:srgbClr>
            </a:solidFill>
            <a:effectLst/>
          </c:spPr>
          <c:invertIfNegative val="0"/>
          <c:dPt>
            <c:idx val="0"/>
            <c:invertIfNegative val="0"/>
            <c:bubble3D val="0"/>
            <c:spPr>
              <a:solidFill>
                <a:srgbClr val="E97A60"/>
              </a:solidFill>
              <a:effectLst/>
            </c:spPr>
            <c:extLst>
              <c:ext xmlns:c16="http://schemas.microsoft.com/office/drawing/2014/chart" uri="{C3380CC4-5D6E-409C-BE32-E72D297353CC}">
                <c16:uniqueId val="{00000001-BB7A-4A17-818A-64A409CD1E23}"/>
              </c:ext>
            </c:extLst>
          </c:dPt>
          <c:dPt>
            <c:idx val="1"/>
            <c:invertIfNegative val="0"/>
            <c:bubble3D val="0"/>
            <c:spPr>
              <a:solidFill>
                <a:srgbClr val="3CB6A6"/>
              </a:solidFill>
              <a:effectLst/>
            </c:spPr>
            <c:extLst>
              <c:ext xmlns:c16="http://schemas.microsoft.com/office/drawing/2014/chart" uri="{C3380CC4-5D6E-409C-BE32-E72D297353CC}">
                <c16:uniqueId val="{00000003-BB7A-4A17-818A-64A409CD1E23}"/>
              </c:ext>
            </c:extLst>
          </c:dPt>
          <c:dPt>
            <c:idx val="2"/>
            <c:invertIfNegative val="0"/>
            <c:bubble3D val="0"/>
            <c:spPr>
              <a:solidFill>
                <a:srgbClr val="D4AB4E"/>
              </a:solidFill>
              <a:effectLst/>
            </c:spPr>
            <c:extLst>
              <c:ext xmlns:c16="http://schemas.microsoft.com/office/drawing/2014/chart" uri="{C3380CC4-5D6E-409C-BE32-E72D297353CC}">
                <c16:uniqueId val="{00000005-BB7A-4A17-818A-64A409CD1E23}"/>
              </c:ext>
            </c:extLst>
          </c:dPt>
          <c:dLbls>
            <c:numFmt formatCode="0.00" sourceLinked="0"/>
            <c:spPr>
              <a:noFill/>
              <a:ln>
                <a:noFill/>
              </a:ln>
              <a:effectLst/>
            </c:spPr>
            <c:txPr>
              <a:bodyPr/>
              <a:lstStyle/>
              <a:p>
                <a:pPr>
                  <a:defRPr sz="15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standard diluted</c:v>
                </c:pt>
                <c:pt idx="1">
                  <c:v>one-way diluted</c:v>
                </c:pt>
                <c:pt idx="2">
                  <c:v>one-way clean F1</c:v>
                </c:pt>
              </c:strCache>
            </c:strRef>
          </c:cat>
          <c:val>
            <c:numRef>
              <c:f>Sheet1!$B$2:$B$4</c:f>
              <c:numCache>
                <c:formatCode>General</c:formatCode>
                <c:ptCount val="3"/>
                <c:pt idx="0">
                  <c:v>0.13</c:v>
                </c:pt>
                <c:pt idx="1">
                  <c:v>0.87</c:v>
                </c:pt>
                <c:pt idx="2">
                  <c:v>0.91</c:v>
                </c:pt>
              </c:numCache>
            </c:numRef>
          </c:val>
          <c:extLst>
            <c:ext xmlns:c16="http://schemas.microsoft.com/office/drawing/2014/chart" uri="{C3380CC4-5D6E-409C-BE32-E72D297353CC}">
              <c16:uniqueId val="{00000006-BB7A-4A17-818A-64A409CD1E2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recall</c:v>
                </c:pt>
              </c:strCache>
            </c:strRef>
          </c:tx>
          <c:spPr>
            <a:ln w="31750" cap="flat">
              <a:solidFill>
                <a:srgbClr val="7D919B"/>
              </a:solidFill>
              <a:prstDash val="solid"/>
              <a:round/>
            </a:ln>
            <a:effectLst/>
          </c:spPr>
          <c:marker>
            <c:symbol val="circle"/>
            <c:size val="8"/>
            <c:spPr>
              <a:solidFill>
                <a:srgbClr val="7D919B"/>
              </a:solidFill>
              <a:ln w="9525" cap="flat">
                <a:solidFill>
                  <a:srgbClr val="7D919B"/>
                </a:solidFill>
                <a:prstDash val="solid"/>
                <a:round/>
              </a:ln>
              <a:effectLst/>
            </c:spPr>
          </c:marker>
          <c:dLbls>
            <c:numFmt formatCode="0.00" sourceLinked="0"/>
            <c:spPr>
              <a:noFill/>
              <a:ln>
                <a:noFill/>
              </a:ln>
              <a:effectLst/>
            </c:spPr>
            <c:txPr>
              <a:bodyPr/>
              <a:lstStyle/>
              <a:p>
                <a:pPr>
                  <a:defRPr sz="1200" b="0" i="0" u="none" strike="noStrike">
                    <a:solidFill>
                      <a:srgbClr val="EAF0F1"/>
                    </a:solidFill>
                    <a:latin typeface="Calibri"/>
                  </a:defRPr>
                </a:pPr>
                <a:endParaRPr lang="en-IL"/>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clean</c:v>
                </c:pt>
                <c:pt idx="1">
                  <c:v>homoglyph</c:v>
                </c:pt>
                <c:pt idx="2">
                  <c:v>+normalise</c:v>
                </c:pt>
                <c:pt idx="3">
                  <c:v>targeted</c:v>
                </c:pt>
                <c:pt idx="4">
                  <c:v>UTS-39</c:v>
                </c:pt>
                <c:pt idx="5">
                  <c:v>dilution</c:v>
                </c:pt>
                <c:pt idx="6">
                  <c:v>monotone</c:v>
                </c:pt>
              </c:strCache>
            </c:strRef>
          </c:cat>
          <c:val>
            <c:numRef>
              <c:f>Sheet1!$B$2:$B$8</c:f>
              <c:numCache>
                <c:formatCode>General</c:formatCode>
                <c:ptCount val="7"/>
                <c:pt idx="0">
                  <c:v>1</c:v>
                </c:pt>
                <c:pt idx="1">
                  <c:v>0.93</c:v>
                </c:pt>
                <c:pt idx="2">
                  <c:v>1</c:v>
                </c:pt>
                <c:pt idx="3">
                  <c:v>0.88</c:v>
                </c:pt>
                <c:pt idx="4">
                  <c:v>1</c:v>
                </c:pt>
                <c:pt idx="5">
                  <c:v>0.13</c:v>
                </c:pt>
                <c:pt idx="6">
                  <c:v>0.99</c:v>
                </c:pt>
              </c:numCache>
            </c:numRef>
          </c:val>
          <c:smooth val="0"/>
          <c:extLst>
            <c:ext xmlns:c16="http://schemas.microsoft.com/office/drawing/2014/chart" uri="{C3380CC4-5D6E-409C-BE32-E72D297353CC}">
              <c16:uniqueId val="{00000000-2D65-4DAE-83A0-14C1DED7F87E}"/>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08"/>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F1</c:v>
                </c:pt>
              </c:strCache>
            </c:strRef>
          </c:tx>
          <c:spPr>
            <a:solidFill>
              <a:srgbClr val="3CB6A6">
                <a:alpha val="100000"/>
              </a:srgbClr>
            </a:solidFill>
            <a:effectLst/>
          </c:spPr>
          <c:invertIfNegative val="0"/>
          <c:dPt>
            <c:idx val="0"/>
            <c:invertIfNegative val="0"/>
            <c:bubble3D val="0"/>
            <c:spPr>
              <a:solidFill>
                <a:srgbClr val="3CB6A6"/>
              </a:solidFill>
              <a:effectLst/>
            </c:spPr>
            <c:extLst>
              <c:ext xmlns:c16="http://schemas.microsoft.com/office/drawing/2014/chart" uri="{C3380CC4-5D6E-409C-BE32-E72D297353CC}">
                <c16:uniqueId val="{00000001-1B89-4BFD-B880-299683EAC8BC}"/>
              </c:ext>
            </c:extLst>
          </c:dPt>
          <c:dPt>
            <c:idx val="1"/>
            <c:invertIfNegative val="0"/>
            <c:bubble3D val="0"/>
            <c:spPr>
              <a:solidFill>
                <a:srgbClr val="E97A60"/>
              </a:solidFill>
              <a:effectLst/>
            </c:spPr>
            <c:extLst>
              <c:ext xmlns:c16="http://schemas.microsoft.com/office/drawing/2014/chart" uri="{C3380CC4-5D6E-409C-BE32-E72D297353CC}">
                <c16:uniqueId val="{00000003-1B89-4BFD-B880-299683EAC8BC}"/>
              </c:ext>
            </c:extLst>
          </c:dPt>
          <c:dPt>
            <c:idx val="2"/>
            <c:invertIfNegative val="0"/>
            <c:bubble3D val="0"/>
            <c:spPr>
              <a:solidFill>
                <a:srgbClr val="D4AB4E"/>
              </a:solidFill>
              <a:effectLst/>
            </c:spPr>
            <c:extLst>
              <c:ext xmlns:c16="http://schemas.microsoft.com/office/drawing/2014/chart" uri="{C3380CC4-5D6E-409C-BE32-E72D297353CC}">
                <c16:uniqueId val="{00000005-1B89-4BFD-B880-299683EAC8BC}"/>
              </c:ext>
            </c:extLst>
          </c:dPt>
          <c:dLbls>
            <c:numFmt formatCode="0.00" sourceLinked="0"/>
            <c:spPr>
              <a:noFill/>
              <a:ln>
                <a:noFill/>
              </a:ln>
              <a:effectLst/>
            </c:spPr>
            <c:txPr>
              <a:bodyPr/>
              <a:lstStyle/>
              <a:p>
                <a:pPr>
                  <a:defRPr sz="14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same source (CEAS)</c:v>
                </c:pt>
                <c:pt idx="1">
                  <c:v>different sources</c:v>
                </c:pt>
                <c:pt idx="2">
                  <c:v>+ re-threshold</c:v>
                </c:pt>
              </c:strCache>
            </c:strRef>
          </c:cat>
          <c:val>
            <c:numRef>
              <c:f>Sheet1!$B$2:$B$4</c:f>
              <c:numCache>
                <c:formatCode>General</c:formatCode>
                <c:ptCount val="3"/>
                <c:pt idx="0">
                  <c:v>0.998</c:v>
                </c:pt>
                <c:pt idx="1">
                  <c:v>0.37</c:v>
                </c:pt>
                <c:pt idx="2">
                  <c:v>0.75</c:v>
                </c:pt>
              </c:numCache>
            </c:numRef>
          </c:val>
          <c:extLst>
            <c:ext xmlns:c16="http://schemas.microsoft.com/office/drawing/2014/chart" uri="{C3380CC4-5D6E-409C-BE32-E72D297353CC}">
              <c16:uniqueId val="{00000006-1B89-4BFD-B880-299683EAC8BC}"/>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05"/>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modern scams</c:v>
                </c:pt>
              </c:strCache>
            </c:strRef>
          </c:tx>
          <c:spPr>
            <a:solidFill>
              <a:srgbClr val="3CB6A6">
                <a:alpha val="100000"/>
              </a:srgbClr>
            </a:solidFill>
            <a:effectLst/>
          </c:spPr>
          <c:invertIfNegative val="0"/>
          <c:dLbls>
            <c:numFmt formatCode="0.00" sourceLinked="0"/>
            <c:spPr>
              <a:noFill/>
              <a:ln>
                <a:noFill/>
              </a:ln>
              <a:effectLst/>
            </c:spPr>
            <c:txPr>
              <a:bodyPr/>
              <a:lstStyle/>
              <a:p>
                <a:pPr>
                  <a:defRPr sz="13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2008 model</c:v>
                </c:pt>
                <c:pt idx="1">
                  <c:v>evolved</c:v>
                </c:pt>
              </c:strCache>
            </c:strRef>
          </c:cat>
          <c:val>
            <c:numRef>
              <c:f>Sheet1!$B$2:$B$3</c:f>
              <c:numCache>
                <c:formatCode>General</c:formatCode>
                <c:ptCount val="2"/>
                <c:pt idx="0">
                  <c:v>0.15</c:v>
                </c:pt>
                <c:pt idx="1">
                  <c:v>0.98</c:v>
                </c:pt>
              </c:numCache>
            </c:numRef>
          </c:val>
          <c:extLst>
            <c:ext xmlns:c16="http://schemas.microsoft.com/office/drawing/2014/chart" uri="{C3380CC4-5D6E-409C-BE32-E72D297353CC}">
              <c16:uniqueId val="{00000000-D742-401D-9CA3-6ACF51B9DB5D}"/>
            </c:ext>
          </c:extLst>
        </c:ser>
        <c:ser>
          <c:idx val="1"/>
          <c:order val="1"/>
          <c:tx>
            <c:strRef>
              <c:f>Sheet1!$C$1</c:f>
              <c:strCache>
                <c:ptCount val="1"/>
                <c:pt idx="0">
                  <c:v>old scams (forgetting?)</c:v>
                </c:pt>
              </c:strCache>
            </c:strRef>
          </c:tx>
          <c:spPr>
            <a:solidFill>
              <a:srgbClr val="7D919B">
                <a:alpha val="100000"/>
              </a:srgbClr>
            </a:solidFill>
            <a:effectLst/>
          </c:spPr>
          <c:invertIfNegative val="0"/>
          <c:dLbls>
            <c:numFmt formatCode="0.00" sourceLinked="0"/>
            <c:spPr>
              <a:noFill/>
              <a:ln>
                <a:noFill/>
              </a:ln>
              <a:effectLst/>
            </c:spPr>
            <c:txPr>
              <a:bodyPr/>
              <a:lstStyle/>
              <a:p>
                <a:pPr>
                  <a:defRPr sz="13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2008 model</c:v>
                </c:pt>
                <c:pt idx="1">
                  <c:v>evolved</c:v>
                </c:pt>
              </c:strCache>
            </c:strRef>
          </c:cat>
          <c:val>
            <c:numRef>
              <c:f>Sheet1!$C$2:$C$3</c:f>
              <c:numCache>
                <c:formatCode>General</c:formatCode>
                <c:ptCount val="2"/>
                <c:pt idx="0">
                  <c:v>1</c:v>
                </c:pt>
                <c:pt idx="1">
                  <c:v>1</c:v>
                </c:pt>
              </c:numCache>
            </c:numRef>
          </c:val>
          <c:extLst>
            <c:ext xmlns:c16="http://schemas.microsoft.com/office/drawing/2014/chart" uri="{C3380CC4-5D6E-409C-BE32-E72D297353CC}">
              <c16:uniqueId val="{00000001-D742-401D-9CA3-6ACF51B9DB5D}"/>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1200000000000001"/>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95A6AD"/>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recall</c:v>
                </c:pt>
              </c:strCache>
            </c:strRef>
          </c:tx>
          <c:spPr>
            <a:solidFill>
              <a:srgbClr val="6E7F87">
                <a:alpha val="100000"/>
              </a:srgbClr>
            </a:solidFill>
            <a:effectLst/>
          </c:spPr>
          <c:invertIfNegative val="0"/>
          <c:dPt>
            <c:idx val="0"/>
            <c:invertIfNegative val="0"/>
            <c:bubble3D val="0"/>
            <c:spPr>
              <a:solidFill>
                <a:srgbClr val="6E7F87"/>
              </a:solidFill>
              <a:effectLst/>
            </c:spPr>
            <c:extLst>
              <c:ext xmlns:c16="http://schemas.microsoft.com/office/drawing/2014/chart" uri="{C3380CC4-5D6E-409C-BE32-E72D297353CC}">
                <c16:uniqueId val="{00000001-B63D-440F-BC08-8B448D5AF794}"/>
              </c:ext>
            </c:extLst>
          </c:dPt>
          <c:dPt>
            <c:idx val="1"/>
            <c:invertIfNegative val="0"/>
            <c:bubble3D val="0"/>
            <c:spPr>
              <a:solidFill>
                <a:srgbClr val="3CB6A6"/>
              </a:solidFill>
              <a:effectLst/>
            </c:spPr>
            <c:extLst>
              <c:ext xmlns:c16="http://schemas.microsoft.com/office/drawing/2014/chart" uri="{C3380CC4-5D6E-409C-BE32-E72D297353CC}">
                <c16:uniqueId val="{00000003-B63D-440F-BC08-8B448D5AF794}"/>
              </c:ext>
            </c:extLst>
          </c:dPt>
          <c:dPt>
            <c:idx val="2"/>
            <c:invertIfNegative val="0"/>
            <c:bubble3D val="0"/>
            <c:spPr>
              <a:solidFill>
                <a:srgbClr val="7D919B"/>
              </a:solidFill>
              <a:effectLst/>
            </c:spPr>
            <c:extLst>
              <c:ext xmlns:c16="http://schemas.microsoft.com/office/drawing/2014/chart" uri="{C3380CC4-5D6E-409C-BE32-E72D297353CC}">
                <c16:uniqueId val="{00000005-B63D-440F-BC08-8B448D5AF794}"/>
              </c:ext>
            </c:extLst>
          </c:dPt>
          <c:dLbls>
            <c:numFmt formatCode="0.00" sourceLinked="0"/>
            <c:spPr>
              <a:noFill/>
              <a:ln>
                <a:noFill/>
              </a:ln>
              <a:effectLst/>
            </c:spPr>
            <c:txPr>
              <a:bodyPr/>
              <a:lstStyle/>
              <a:p>
                <a:pPr>
                  <a:defRPr sz="1400" b="0" i="0" u="none" strike="noStrike">
                    <a:solidFill>
                      <a:srgbClr val="EAF0F1"/>
                    </a:solidFill>
                    <a:latin typeface="Calibri"/>
                  </a:defRPr>
                </a:pPr>
                <a:endParaRPr lang="en-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no report</c:v>
                </c:pt>
                <c:pt idx="1">
                  <c:v>same-campaign report</c:v>
                </c:pt>
                <c:pt idx="2">
                  <c:v>other reports (blind)</c:v>
                </c:pt>
              </c:strCache>
            </c:strRef>
          </c:cat>
          <c:val>
            <c:numRef>
              <c:f>Sheet1!$B$2:$B$4</c:f>
              <c:numCache>
                <c:formatCode>General</c:formatCode>
                <c:ptCount val="3"/>
                <c:pt idx="0">
                  <c:v>0.15</c:v>
                </c:pt>
                <c:pt idx="1">
                  <c:v>1</c:v>
                </c:pt>
                <c:pt idx="2">
                  <c:v>0.33</c:v>
                </c:pt>
              </c:numCache>
            </c:numRef>
          </c:val>
          <c:extLst>
            <c:ext xmlns:c16="http://schemas.microsoft.com/office/drawing/2014/chart" uri="{C3380CC4-5D6E-409C-BE32-E72D297353CC}">
              <c16:uniqueId val="{00000006-B63D-440F-BC08-8B448D5AF794}"/>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95A6AD"/>
                </a:solidFill>
                <a:latin typeface="Calibri"/>
              </a:defRPr>
            </a:pPr>
            <a:endParaRPr lang="en-US"/>
          </a:p>
        </c:txPr>
        <c:crossAx val="2094734552"/>
        <c:crosses val="autoZero"/>
        <c:auto val="1"/>
        <c:lblAlgn val="ctr"/>
        <c:lblOffset val="100"/>
        <c:noMultiLvlLbl val="1"/>
      </c:catAx>
      <c:valAx>
        <c:axId val="2094734552"/>
        <c:scaling>
          <c:orientation val="minMax"/>
          <c:max val="1.1200000000000001"/>
          <c:min val="0"/>
        </c:scaling>
        <c:delete val="0"/>
        <c:axPos val="l"/>
        <c:majorGridlines>
          <c:spPr>
            <a:ln w="6350" cap="flat">
              <a:solidFill>
                <a:srgbClr val="26363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5A6AD"/>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8683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Hi everyone, I'm Lia. This is PhishFusion, and I built one half of it — the content detector. In simple words: it's a model that reads only the words of an email, the subject and the body, and decides whether it's phishing or a legitimate email. Just so we share the same definition: phishing is when an attacker pretends to be someone you trust — your bank, your IT department — to get you to click a link or hand over a password. My partner Gilad built the other half, which reads the links and the sender address. The thing I care about most in this project is this: getting a high score on clean data is easy. The real question is whether the model survives a real attacker who tries to fool it on purpose. So most of this talk is me attacking my own model and then fixing it — until some of the defences are mathematically guaranteed, not just 'it worked on my tests.'
— — —  עברית  — — —
שלום לכולם, אני ליה. זה הפרויקט PhishFusion, </a:t>
            </a:r>
            <a:r>
              <a:rPr lang="en-US" dirty="0" err="1"/>
              <a:t>במילים</a:t>
            </a:r>
            <a:r>
              <a:rPr lang="en-US" dirty="0"/>
              <a:t> פשוטות: זה מודל שקורא רק את הטקסט של המייל, הנושא והגוף, ומחליט אם זה פישינג או מייל לגיטימי. רק שיהיה לנו אותו מושג: פישינג זה כשתוקף מתחזה למישהו שאתם סומכים עליו — הבנק, מחלקת המחשוב — כדי שתלחצו על קישור או תמסרו סיסמה. השותף שלי גלעד בנה את החצי השני, שקורא את הקישורים ואת כתובת השולח. הדבר שהכי חשוב לי בפרויקט: לקבל ציון גבוה על דאטה נקי זה קל. השאלה האמיתית היא אם המודל שורד תוקף אמיתי שמנסה לרמות אותו בכוונה. אז רוב ההרצאה היא שאני תוקפת את המודל שלי ואז מתקנת אותו — עד שחלק מההגנות מובטחות מתמטית, ולא רק 'זה עבד לי בבדיקות'.</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So why can a model that only reads text catch phishing at all? Because phishing is what we call social engineering — it attacks the human, not the computer. It works by pushing emotional buttons, and those buttons live in the language. There are a few classic ones, and you can see them on the slide: authority — pretending to be your IT team; urgency — 'your account will be closed in 30 minutes'; reward — 'you won a prize'; and social proof — 'everyone else already did it.' Because the trick is in the words, a language model — that's what NLP means, a model that processes natural human text — can learn to spot it. But the same fact means the attacker can fight back by messing with the text. Look at the bottom: 'verify' written normally, and 'verify' where the 'e' is actually a Cyrillic letter from the Russian alphabet that looks identical. To us it's the same word; to a model that matches exact words, it's a brand-new word it has never seen. That's called a homoglyph, and it comes back as my very first attack.
— — —  עברית  — — —
אז למה מודל שקורא רק טקסט בכלל מסוגל לתפוס פישינג? כי פישינג הוא מה שנקרא הנדסה חברתית (social engineering) — הוא תוקף את האדם, לא את המחשב. הוא עובד על ידי לחיצה על כפתורים רגשיים, והכפתורים האלה נמצאים בשפה. יש כמה קלאסיים, ורואים אותם על השקף: סמכות — התחזות למחלקת המחשוב; דחיפות — 'החשבון שלך ייסגר בעוד 30 דקות'; פרס — 'זכית'; והוכחה חברתית — 'כולם כבר עשו את זה'. בגלל שהתרמית נמצאת במילים, מודל שפה — זה מה שאומר NLP, מודל שמעבד טקסט אנושי טבעי — יכול ללמוד לזהות אותה. אבל אותה עובדה אומרת שהתוקף יכול להילחם בחזרה דרך הטקסט. תראו למטה: 'verify' רגיל, ו-'verify' שבו האות e היא בעצם אות קירילית מהאלפבית הרוסי שנראית זהה. לנו זו אותה מילה; למודל שמשווה מילים מדויקות, זו מילה חדשה לגמרי שהוא לא ראה מעולם. זה נקרא הומוגליף (homoglyph), וזה חוזר בתור המתקפה הראשונה שלי.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picture of how my part fits in. The full system has two separate detectors. Mine, on the left, reads only the words — the subject and the body. Gilad's reads the links and the sender's address. At the end we combine the two — that's the 'fusion' in PhishFusion. The reason we built it as two independent parts is simple: if an attacker manages to fool one of them, the other one still fires. One choice I want to point out: I deliberately remove the URLs, the web links, from my text before the model sees it. Otherwise my model could 'cheat' by just looking at the suspicious link — but the link is Gilad's job, not mine. So everything I show you today is content-only, words only. The fusion itself we submit together; today is just my half.
— — —  עברית  — — —
תמונה מהירה של איך החלק שלי משתלב. המערכת המלאה מורכבת משני גלאים נפרדים. שלי, משמאל, קורא רק את המילים — הנושא והגוף. של גלעד קורא את הקישורים ואת כתובת השולח. בסוף אנחנו משלבים בין השניים — זה ה-'fusion' שבשם PhishFusion. הסיבה שבנינו את זה כשני חלקים עצמאיים פשוטה: אם תוקף מצליח לרמות אחד מהם, השני עדיין מתריע. בחירה אחת שאני רוצה להדגיש: אני מסירה בכוונה את ה-URL, הקישורים, מהטקסט לפני שהמודל רואה אותו. אחרת המודל שלי היה יכול 'לרמות' פשוט על ידי הסתכלות על הקישור החשוד — אבל הקישור זה התפקיד של גלעד, לא שלי. אז כל מה שאני מראה היום זה תוכן בלבד, מילים בלבד. את השילוב עצמו אנחנו מגישים ביחד; היום זה רק החצי שלי.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This slide is how I actually worked — and honestly it's the real contribution, more than any single number. Four steps in a loop. One, build: a strong model with a clean, careful pipeline. Two, study: I read academic papers to learn the known ways people attack text models — I didn't invent the attacks from scratch. Three, adapt: I take those ideas and aim them specifically at the weak spots of my own model — an attacker who studies the target is called an adaptive or adversarial attacker; 'adversarial' just means an opponent who actively fights back instead of random noise. Four, defend: I fix each weakness, and then I attack the fix again. And I loop. The important message: every broken version you're about to see is not a failure or a mistake. Finding the holes and closing them IS the method. A near-perfect score means nothing until someone has genuinely tried to break it.
— — —  עברית  — — —
השקף הזה הוא איך שבאמת עבדתי — ובכנות זו התרומה האמיתית, יותר מכל מספר בודד. ארבעה שלבים בלולאה. אחת, לבנות: מודל חזק עם pipeline נקי ומסודר. שתיים, ללמוד: קראתי מאמרים אקדמיים כדי להכיר את הדרכים הידועות שבהן תוקפים מודלים של טקסט — לא המצאתי את המתקפות מאפס. שלוש, להתאים: לקחת את הרעיונות האלה ולכוון אותם ספציפית לנקודות החולשה של המודל שלי — תוקף שלומד את המטרה נקרא תוקף אדפטיבי או יריב (adversarial); 'adversarial' פשוט אומר יריב שנלחם בחזרה באופן פעיל, לא רעש אקראי. ארבע, להגן: לתקן כל חולשה, ואז לתקוף שוב את התיקון. וללולאה. המסר החשוב: כל גרסה שבורה שאתם עומדים לראות היא לא כישלון ולא טעות. למצוא את החורים ולסגור אותם — זו השיטה. ציון כמעט מושלם לא שווה כלום עד שמישהו באמת ניסה לשבור אותו.</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This is how one email becomes a decision, in five steps, and I'll explain the two method names on the box. First I take the subject and body and clean the text. Then the key step: TF-IDF. A model can't read words, only numbers, so TF-IDF turns each email into numbers. The idea is simple — for every word it asks two things: how often does this word appear in THIS email (that's the TF, term frequency), and how rare is it across ALL emails (that's the IDF). A word like 'the' appears everywhere, so it gets a low weight; a word like 'suspended' is rarer and more informative, so it gets a high weight. That's the formula at the top. I do this twice — over whole words, and over small chunks of letters called character n-grams, for example 3 to 5 letters at a time. Whole words are readable; character chunks are the robustness trick, because even if someone writes 'cl1ck' with a one, it still shares the chunks 'lic' and 'ick' with the real 'click'. I join both into one big list of numbers — a feature vector — and feed it to Logistic Regression. That just means: multiply each word's weight by how much the model trusts it, add it all up, and squash the total into a probability between 0 and 1 — that's the second formula. I chose it because it's linear and therefore explainable — I can point to the exact words that flagged an email.
— — —  עברית  — — —
ככה מייל אחד הופך להחלטה, בחמישה שלבים, ואסביר את שני שמות השיטות שעל הקופסה. קודם אני לוקחת את הנושא והגוף ומנקה את הטקסט. אחר כך השלב המרכזי: TF-IDF. מודל לא יודע לקרוא מילים, רק מספרים, אז TF-IDF הופך כל מייל למספרים. הרעיון פשוט — לכל מילה הוא שואל שני דברים: כמה פעמים המילה הזאת מופיעה במייל הזה (זה ה-TF, תדירות המילה), וכמה היא נדירה בכל המיילים (זה ה-IDF). מילה כמו 'the' מופיעה בכל מקום, אז היא מקבלת משקל נמוך; מילה כמו 'suspended' נדירה יותר ואינפורמטיבית יותר, אז היא מקבלת משקל גבוה. זו הנוסחה למעלה. אני עושה את זה פעמיים — על מילים שלמות, ועל מקטעים קטנים של אותיות שנקראים character n-grams, למשל 3 עד 5 אותיות כל פעם. מילים שלמות ניתנות לקריאה; מקטעי האותיות הם הטריק לחוסן, כי גם אם מישהו כותב 'cl1ck' עם הספרה אחת, זה עדיין חולק את המקטעים 'lic' ו-'ick' עם ה-'click' האמיתי. אני מחברת את שניהם לרשימה אחת גדולה של מספרים — feature vector — ומזינה אותה ל-Logistic Regression (רגרסיה לוגיסטית). זה פשוט אומר: להכפיל את המשקל של כל מילה בכמה שהמודל סומך עליה, לחבר הכל, ולדחוס את הסכום להסתברות בין 0 ל-1 — זו הנוסחה השנייה. בחרתי בה כי היא לינארית ולכן ניתנת להסבר — אני יכולה להצביע על המילים המדויקות שסימנו מייל.</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a:r>
              <a:rPr lang="en-US" dirty="0"/>
              <a:t>Now the data and the cleaning — I want to be very clear about this part, because good data decisions are half the project. My main dataset is CEAS_08: about 27,000 emails that contain both phishing AND normal mail, and importantly all from one source. I also keep other collections aside only for testing fairness, plus real phishing from 2023 to 2025 and recent normal mail to test whether the model ages, and SpamAssassin to double-check. On the right is exactly how I cleaned it, in order: strip the web links, tidy the spacing, cut emails that are way too long, remove duplicates BEFORE I split the data, balance to a realistic 35% phishing — because real inboxes are mostly legitimate — then split into training, validation and test sets 60/20/20 using a fixed seed. A seed is just a fixed starting number so the random split comes out the same every time and anyone can reproduce my results; and I hash the data — a hash is like a fingerprint of the file — so I can prove the numbers came from exactly this data. The gold box is my single most important choice: I ran a quick test and found you can guess which SOURCE an email came from 99% of the time. So if I mixed phishing from one source with normal mail from another, the model would 'cheat' — it would learn to recognise the source instead of the scam. That's why I train on one mixed source. And two quick checks at the bottom: normal mail is almost all plain text, which becomes the clean baseline my letter-attack later breaks; and the dates are clean — no fake '1970' dates, which is what you get when a missing date is filled with a zero.
— — —  עברית  — — —
עכשיו הדאטה והניקוי — אני רוצה להיות מאוד ברורה בחלק הזה, כי החלטות טובות על הדאטה הן חצי מהפרויקט. הדאטהסט הראשי שלי הוא CEAS_08: בערך 27,000 מיילים שמכילים גם פישינג וגם דואר רגיל, וחשוב — הכל ממקור אחד. אני גם שומרת בצד אוספים אחרים רק לבדיקת הוגנות, בתוספת פישינג אמיתי מ-2023 עד 2025 ודואר רגיל עדכני כדי לבדוק אם המודל מתיישן, ו-SpamAssassin לבדיקה כפולה. מימין זה בדיוק איך שניקיתי, לפי הסדר: להסיר את הקישורים, לסדר רווחים, לחתוך מיילים ארוכים מדי, להסיר כפילויות לפני שאני מפצלת את הדאטה, לאזן ל-35% פישינג ריאליסטי — כי תיבות דואר אמיתיות הן ברובן לגיטימיות — ואז לפצל לאימון, ולידציה ומבחן ביחס 60/20/20 עם seed קבוע. seed זה פשוט מספר התחלה קבוע כדי שהפיצול האקראי ייצא זהה בכל פעם וכל אחד יוכל לשחזר את התוצאות שלי; ואני עושה hash לדאטה — hash זה כמו טביעת אצבע של הקובץ — כדי שאוכל להוכיח שהמספרים באו בדיוק מהדאטה הזה. הקופסה הזהובה היא הבחירה הכי חשובה שלי: הרצתי בדיקה מהירה וגיליתי שאפשר לנחש מאיזה מקור מייל הגיע ב-99% מהמקרים. אז אם הייתי מערבבת פישינג ממקור אחד עם דואר רגיל ממקור אחר, המודל היה 'מרמה' — הוא היה לומד לזהות את המקור במקום את ההונאה. לכן אני מאמנת על מקור מעורב אחד. ושתי בדיקות מהירות למטה: דואר רגיל הוא כמעט כולו טקסט פשוט, וזה הופך לבסיס הנקי שמתקפת האותיות שלי שוברת בהמשך; והתאריכים נקיים — אין תאריכי '1970' מזויפים, שזה מה שמקבלים כשתאריך חסר מתמלא באפס.</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Before I build anything, I do EDA — exploratory data analysis. That just means getting to know the data first: looking at a few simple, human-understandable properties of each email, like its length, the number of words, how many digits it has, and how many unusual characters. This colourful grid is a correlation heatmap. Correlation measures how much two things move together: dark means they rise and fall together, pale means they don't really relate. Specifically I use Spearman rank correlation — 'rank' means I compare the ORDER of the values, not the raw values, which is safer when the data is lopsided or has a few extreme outliers, because one weird huge email can't distort it. Two things to read off it: length and word-count are almost the same thing — obviously, a longer email has more words, so they carry one signal, not two; and length is the property most connected to the phishing label, because phishing emails tend to be short and urgent while legitimate ones are often longer. One honest note: these simple features are just for understanding the data. The model's real power comes from the actual words, not these.
— — —  עברית  — — —
לפני שאני בונה משהו, אני עושה EDA — ניתוח נתונים חוקר. זה פשוט אומר להכיר קודם את הדאטה: להסתכל על כמה תכונות פשוטות שאדם יכול להבין של כל מייל, כמו האורך שלו, מספר המילים, כמה ספרות יש בו, וכמה תווים חריגים. הרשת הצבעונית הזאת היא מפת חום של קורלציה. קורלציה מודדת כמה שני דברים נעים יחד: כהה אומר שהם עולים ויורדים ביחד, בהיר אומר שהם לא ממש קשורים. ספציפית אני משתמשת בקורלציית דירוג של ספירמן (Spearman) — 'דירוג' אומר שאני משווה את הסדר של הערכים, לא את הערכים הגולמיים, וזה בטוח יותר כשהדאטה עקום או יש בו כמה חריגים קיצוניים, כי מייל ענק ומוזר אחד לא יכול לעוות אותו. שני דברים לקרוא מזה: אורך ומספר מילים הם כמעט אותו דבר — מובן מאליו, מייל ארוך יותר מכיל יותר מילים, אז הם נושאים אות אחד, לא שניים; והאורך הוא התכונה הכי קשורה לתווית הפישינג, כי מיילים של פישינג נוטים להיות קצרים ודחופים בעוד לגיטימיים לרוב ארוכים יותר. הערה כנה: התכונות הפשוטות האלה הן רק להבנת הדאטה. הכוח האמיתי של המודל מגיע מהמילים עצמן, לא מאלה.</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Two proper results here, not just eyeballing. The left chart shows how strongly each simple feature is linked to being phishing. Length and word-count stick out, and they're negative — the minus sign means: more length, less likely phishing. In other words phishing is shorter. But I didn't want to just say 'it looks shorter' — I ran a real statistical test called Mann–Whitney. All it does is check whether two groups — phishing versus legitimate — genuinely differ in length, or whether it could just be luck. It gives a p-value, which is the probability the difference is just chance; my p is far below 0.001, meaning less than a tenth of a percent chance it's a fluke, so the difference is real. The right chart is a redundancy check called VIF — variance inflation factor. It flags when two features basically say the same thing. Anything above 10 is a red flag; length and word-count both score around 21, confirming they're duplicates. So I keep them only as notes and I don't feed both into the model. The takeaway: this is textbook EDA done properly — rank statistics, a real hypothesis test, and a redundancy check.
— — —  עברית  — — —
שתי תוצאות אמיתיות כאן, לא רק הסתכלות בעין. הגרף השמאלי מראה כמה כל תכונה פשוטה קשורה לפישינג. אורך ומספר מילים בולטים, והם שליליים — סימן המינוס אומר: יותר אורך, פחות סיכוי לפישינג. במילים אחרות, פישינג קצר יותר. אבל לא רציתי רק לומר 'זה נראה קצר יותר' — הרצתי מבחן סטטיסטי אמיתי שנקרא מאן-וויטני (Mann–Whitney). כל מה שהוא עושה זה לבדוק אם שתי קבוצות — פישינג מול לגיטימי — באמת נבדלות באורך, או שזה יכול להיות סתם מזל. הוא נותן p-value, שזו ההסתברות שההבדל הוא רק מקרי; ה-p שלי הרבה מתחת ל-0.001, כלומר פחות מעשירית האחוז סיכוי שזה צירוף מקרים, אז ההבדל אמיתי. הגרף הימני הוא בדיקת יתירות שנקראת VIF. הוא מסמן כשתי תכונות בעצם אומרות אותו דבר. כל ערך מעל 10 הוא דגל אדום; אורך ומספר מילים שניהם בסביבות 21, מה שמאשר שהם כפילויות. אז אני שומרת אותם רק כהערות ולא מזינה את שניהם למודל. השורה התחתונה: זה EDA לפי הספר — סטטיסטיקת דירוג, מבחן השערה אמיתי, ובדיקת יתירות.</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I didn't just pick a fancy model — I compared several and let the results decide. Start on the left with two 'baselines', which are deliberately dumb models I use as a floor to beat. The first always guesses 'legitimate'. It sounds silly, but it exposes something important called the accuracy paradox: because most email is legitimate, this do-nothing model is about 65% 'accurate' — yet it catches ZERO phishing. That's exactly why accuracy is a misleading score and I don't rely on it. The second baseline is a simple keyword list. Then the real models: Naive Bayes — a classic simple text classifier — DistilBERT, which is a small modern neural language model, and finally Logistic Regression, my choice, which wins with an F1 of 0.998. F1 is the score I trust instead of accuracy — I'll define it on the next slide, but for now: high F1 means it catches the phishing without crying wolf on normal mail. I checked its lead is statistically real, not luck. I pick Logistic Regression because it's near-perfect, very fast, and — crucial for the rest of this talk — explainable. DistilBERT I keep only as a comparison baseline.
— — —  עברית  — — —
לא סתם בחרתי מודל מפואר — השוויתי כמה ונתתי לתוצאות להחליט. מתחילים משמאל עם שני 'בסיסים' (baselines), שהם מודלים טיפשיים בכוונה שאני משתמשת בהם כרצפה לנצח. הראשון תמיד מנחש 'לגיטימי'. זה נשמע מטופש, אבל זה חושף משהו חשוב שנקרא פרדוקס הדיוק (accuracy paradox): מכיוון שרוב הדואר לגיטימי, המודל הזה שלא עושה כלום מגיע לדיוק של בערך 65% — ובכל זאת תופס אפס פישינג. בדיוק בגלל זה דיוק הוא ציון מטעה ואני לא נשענת עליו. הבסיס השני הוא רשימת מילות מפתח פשוטה. אחר כך המודלים האמיתיים: Naive Bayes — מסווג טקסט קלאסי ופשוט — DistilBERT, שהוא מודל שפה נוירוני מודרני קטן, ולבסוף Logistic Regression, הבחירה שלי, שמנצחת עם F1 של 0.998. F1 הוא הציון שאני סומכת עליו במקום דיוק — אגדיר אותו בשקף הבא, אבל בינתיים: F1 גבוה אומר שהוא תופס את הפישינג בלי להתריע לשווא על דואר רגיל. בדקתי שהיתרון שלה אמיתי סטטיסטית, לא מזל. בחרתי ב-Logistic Regression כי היא כמעט מושלמת, מהירה מאוד, ו — קריטי להמשך ההרצאה — ניתנת להסבר. את DistilBERT אני שומרת רק כבסיס להשוואה.</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Here are the results on the clean test set, and the numbers are almost perfect. Let me quickly define them since I'll use them all talk. Recall is the share of real phishing the model catches. Precision is, out of everything it flagged, how much was truly phishing. F1 combines those two into one number — the formula's at the bottom — and 0.998 out of 1 is basically perfect. MCC, 0.997, is another combined score that's honest even when one class is much bigger than the other; it runs from minus 1 to plus 1, where 1 is perfect. AUC of 1.00 means if you hand it one phishing and one legit email, it ranks them correctly essentially every time. The grid on the right is a confusion matrix — it just splits every decision into four boxes: correctly caught, correctly passed, false alarms, and missed. Only 8 mistakes out of over five thousand emails. Now the most important sentence of the whole talk: this is a WARNING, not a victory. A near-perfect score on clean, single-source data does not prove the detector works in the real world. So from here on, I deliberately attack my own model — obfuscation, a smart attacker, a different inbox, and the passage of time.
— — —  עברית  — — —
הנה התוצאות על סט המבחן הנקי, והמספרים כמעט מושלמים. אגדיר אותם מהר כי אשתמש בהם לאורך כל ההרצאה. Recall (היזכרות) זה החלק מהפישינג האמיתי שהמודל תופס. Precision (דיוק) זה, מכל מה שהוא סימן, כמה באמת היה פישינג. F1 משלב את שניהם למספר אחד — הנוסחה למטה — ו-0.998 מתוך 1 זה בעצם מושלם. MCC, 0.997, הוא ציון משולב נוסף שכן ומאוזן גם כשמחלקה אחת הרבה יותר גדולה מהשנייה; הוא נע ממינוס 1 עד פלוס 1, כש-1 זה מושלם. AUC של 1.00 אומר שאם תיתן לו מייל פישינג אחד ומייל לגיטימי אחד, הוא ידרג אותם נכון כמעט תמיד. הרשת מימין היא מטריצת בלבול (confusion matrix) — היא פשוט מחלקת כל החלטה לארבע קופסאות: נתפס נכון, עבר נכון, אזעקות שווא, ופספוסים. רק 8 טעויות מתוך יותר מחמשת אלפים מיילים. עכשיו המשפט הכי חשוב בכל ההרצאה: זו אזהרה, לא ניצחון. ציון כמעט מושלם על דאטה נקי ממקור יחיד לא מוכיח שהגלאי עובד בעולם האמיתי. אז מכאן והלאה, אני תוקפת בכוונה את המודל שלי — ערפול, תוקף חכם, תיבת דואר אחרת, וחלוף הזמן.</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turning point of the talk, so I pause here for a second. Everything up to now built a detector that looks near-perfect. From here I switch sides: I become the attacker and try to fool my own model the way a real criminal would, and then I fix each hole and attack the fix again. So for the next several slides, watch for the same three-part structure every single time: THE ATTACK — what the trick is; THE FIX — what I did about it; and THE RESULT — the numbers before and after. And please keep in mind: the broken versions I'm about to show are not failures. Finding them and closing them is exactly the point of the project.
— — —  עברית  — — —
זו נקודת המפנה של ההרצאה, אז אני עוצרת כאן לרגע. כל מה שעד עכשיו בנה גלאי שנראה כמעט מושלם. מכאן אני מחליפה צד: אני הופכת לתוקפת ומנסה לרמות את המודל שלי כמו שפושע אמיתי היה עושה, ואז מתקנת כל חור ותוקפת שוב את התיקון. אז בשקפים הבאים, שימו לב לאותו מבנה תלת-חלקי כל פעם מחדש: THE ATTACK — מה הטריק; THE FIX — מה עשיתי בנוגע אליו; ו-THE RESULT — המספרים לפני ואחרי. וזכרו בבקשה: הגרסאות השבורות שאני עומדת להראות הן לא כישלונות. למצוא אותן ולסגור אותן זו בדיוק מטרת הפרויקט.</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My first attack, and what makes it scary is that it's almost free for the attacker. THE ATTACK: I take the phishing words and swap ordinary Latin letters for Cyrillic look-alikes — letters from the Russian alphabet that are drawn identically. You can see it: 'Verify your account', but the coloured letters are secretly Cyrillic. This is called a homoglyph attack. To a human it reads exactly the same. But remember my model matches words as exact strings of characters — so to it, this is a brand-new word it has never seen. The technical term is a 'token', which just means a unit the model counts, usually a word. The phishing words effectively vanish. THE RESULT: on the word-only model, recall — again, the share of phishing it catches — falls from 0.99 all the way to 0.71. So almost a third of phishing now slips through, from a change you literally cannot see. This is exactly the 'imperceptible' attack that papers by Eger and Boucher warn about.
— — —  עברית  — — —
המתקפה הראשונה שלי, ומה שמפחיד בה זה שהיא כמעט חינם לתוקף. THE ATTACK: אני לוקחת את מילות הפישינג ומחליפה אותיות לטיניות רגילות בכפילות קיריליות — אותיות מהאלפבית הרוסי שמצוירות בדיוק אותו דבר. אתם רואים: 'Verify your account', אבל האותיות הצבעוניות הן בסתר קיריליות. זה נקרא מתקפת הומוגליף (homoglyph). לאדם זה נקרא בדיוק אותו דבר. אבל תזכרו שהמודל שלי משווה מילים כמחרוזות תווים מדויקות — אז מבחינתו זו מילה חדשה לגמרי שהוא לא ראה מעולם. המונח הטכני הוא 'token', שפשוט אומר יחידה שהמודל סופר, בדרך כלל מילה. מילות הפישינג בעצם נעלמות. THE RESULT: במודל שמבוסס-מילים בלבד, ה-recall — שוב, החלק מהפישינג שהוא תופס — יורד מ-0.99 עד ל-0.71. כלומר כמעט שליש מהפישינג עכשיו חומק, משינוי שממש אי אפשר לראות. זו בדיוק המתקפה ה'בלתי-נראית' שמאמרים של אגר ובושה מזהירים ממנה.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compares two defences against the letter attack, and I want to explain the three bar-groups, especially the last one, 'adaptive'. The first group, 'homoglyph (seen)', is the exact attack the model already knows. The second, 'full-width (unseen)', is a related attack it was NOT trained on — a fairness test. The third, 'adaptive', means an attacker who KNOWS my defence exists and deliberately adapts to get around it — for example using look-alike characters my cleaner doesn't cover, or mixing several tricks together. That's why its numbers are a bit lower than the others: it's the hardest case, an opponent actively fighting the defence rather than a fixed attack. THE FIX, in teal, is normalisation — folding look-alike letters back to plain ones before classifying — and even against the adaptive attacker it still holds around 0.96. The amber bars are adversarial training, which memorises the attack it was shown but is weaker on the unseen one, only 0.78. THE LESSON: a principled defence generalises to new attacks; a memorised one only knows what it saw. Used together they cover every family.</a:t>
            </a:r>
          </a:p>
          <a:p/>
          <a:p>
            <a:r>
              <a:t>— — —  עברית  — — —</a:t>
            </a:r>
          </a:p>
          <a:p/>
          <a:p>
            <a:r>
              <a:t>השקף הזה משווה שתי הגנות מול מתקפת האותיות, ואני רוצה להסביר את שלוש קבוצות העמודות, במיוחד את האחרונה, 'adaptive'. הקבוצה הראשונה, 'homoglyph (seen)', היא המתקפה המדויקת שהמודל כבר מכיר. השנייה, 'full-width (unseen)', היא מתקפה קרובה שהוא לא אומן עליה — מבחן הוגנות. השלישית, 'adaptive' (אדפטיבית), אומרת תוקף שיודע שההגנה שלי קיימת ומתאים את עצמו בכוונה כדי לעקוף אותה — למשל תווי-כפילות שהמנקה שלי לא מכסה, או ערבוב של כמה טריקים יחד. לכן המספרים שלה קצת נמוכים יותר מהשאר: זה המקרה הכי קשה, יריב שנלחם באופן פעיל בהגנה ולא מתקפה קבועה. THE FIX, בטורקיז, היא נורמליזציה — החזרת אותיות דומות לאותיות רגילות לפני הסיווג — וגם מול התוקף האדפטיבי היא עדיין מחזיקה בסביבות 0.96. העמודות בענבר הן אימון יריב, שמשנן את המתקפה שהראו לו אבל חלש יותר על זו שלא ראה, רק 0.78. THE LESSON: הגנה עקרונית מתכללת למתקפות חדשות; הגנה משוננת יודעת רק את מה שראתה. יחד הן מכסות כל משפחה.</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make the attacker smarter, because a real criminal wouldn't attack randomly. THE ATTACK: instead of changing random letters, the attacker first works out which words my model relies on most — the highest-weight words — and only disguises those. This is called an importance-guided or adaptive attack, and it's a known family with names like DeepWordBug and TextBugger. It also uses look-alike characters that my hand-made cleaning list happened to miss — because my list was incomplete. THE RESULT: with the exact same budget, 8 edits, aiming them cleverly drops recall to 0.74, versus 0.98 when the same 8 edits are random. A typical email flips from 'phishing' to 'safe' after only 9 invisible edits — about a quarter of its letters. And even my fully-defended model gets pulled down to 0.88. This is the honest 'there is no silver bullet' moment: a capable, thoughtful attacker found the gap. Which sets up the next slide, where I close it for good.
— — —  עברית  — — —
עכשיו אני הופכת את התוקף לחכם יותר, כי פושע אמיתי לא היה תוקף באקראי. THE ATTACK: במקום לשנות אותיות אקראיות, התוקף קודם מגלה על אילו מילים המודל שלי הכי נשען — המילים עם המשקל הגבוה ביותר — ומחפש רק אותן. זה נקרא מתקפה מונחית-חשיבות או אדפטיבית, וזו משפחה מוכרת עם שמות כמו DeepWordBug ו-TextBugger. היא גם משתמשת בתווי כפילות שהרשימה הידנית שלי פספסה — כי הרשימה שלי לא הייתה שלמה. THE RESULT: עם אותו תקציב בדיוק, 8 שינויים, כיוון חכם שלהם מוריד את ה-recall ל-0.74, לעומת 0.98 כשאותם 8 שינויים אקראיים. מייל טיפוסי מתהפך מ'פישינג' ל'בטוח' אחרי רק 9 שינויים בלתי-נראים — בערך רבע מהאותיות שלו. ואפילו המודל המוגן לגמרי שלי נמשך למטה ל-0.88. זה הרגע הכן של 'אין פתרון קסם': תוקף מוכשר וחושב מצא את הפרצה. וזה מכין את השקף הבא, שבו אני סוגרת אותה סופית.</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fix, and it comes with a mathematical guarantee. THE FIX: my earlier hand-made list of look-alike letters was incomplete, so I replace it with the FULL official list — a published standard called Unicode UTS #39, the same list browsers use to catch fake website addresses. Every letter the attacker sneaked through is on it. THE RESULT: recall against the smart attacker goes right back to 0.998. And the big 100% is a certificate — a proof, not just 'it worked on my tests': I can prove that after cleaning, the attacked email turns back into exactly the original text for 100% of phishing, so the decision cannot change. One thing I want to be crystal clear about, because people ask: this whole attack is still at the CHARACTER level — swapping or disguising letters, like 'ver1fy' or the Cyrillic look-alikes. It is NOT replacing a word with a synonym. Word-level attacks come later — the dilution attack that pads with extra words, and the LLM paraphrase that rewrites the wording. So this certificate specifically guarantees safety against letter tricks.</a:t>
            </a:r>
          </a:p>
          <a:p/>
          <a:p>
            <a:r>
              <a:t>— — —  עברית  — — —</a:t>
            </a:r>
          </a:p>
          <a:p/>
          <a:p>
            <a:r>
              <a:t>הנה התיקון, והוא מגיע עם הבטחה מתמטית. THE FIX: הרשימה הידנית הקודמת שלי של אותיות דומות הייתה חלקית, אז אני מחליפה אותה ברשימה הרשמית המלאה — תקן מפורסם שנקרא Unicode UTS #39, אותה רשימה שדפדפנים משתמשים בה כדי לתפוס כתובות אתרים מזויפות. כל אות שהתוקף הבריח נמצאת בה. THE RESULT: ה-recall מול התוקף החכם חוזר ישר ל-0.998. וה-100% הגדול הוא תעודה — הוכחה, לא רק 'זה עבד לי בבדיקות': אני יכולה להוכיח שאחרי הניקוי המייל המותקף חוזר להיות בדיוק הטקסט המקורי עבור 100% מהפישינג, אז ההחלטה לא יכולה להשתנות. דבר אחד שאני רוצה להבהיר לגמרי, כי שואלים: כל המתקפה הזאת היא עדיין ברמת התו — החלפה או הסוואה של אותיות, כמו 'ver1fy' או הכפילויות הקיריליות. זו לא החלפה של מילה במילה נרדפת. מתקפות ברמת המילה מגיעות בהמשך — מתקפת הדילול שמוסיפה מילים, ומתקפת הפרפרזה של ה-LLM שכותבת מחדש את הניסוח. אז התעודה הזאת מבטיחה ספציפית חסינות מפני טריקי-אותיות.</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Since I closed the letter tricks with a proof, the attacker changes strategy — from letters to whole words. THE ATTACK is the classic 'good-word attack', or dilution (Lowd &amp; Meek 2005): take the phishing email and pad it with lots of innocent, normal-sounding words. It works because my model is a 'bag-of-words' — it basically adds up evidence word by word and ignores order — so enough innocent words out-vote the few scam words and the total tips to 'safe'. THE RESULT, the red line: as I add filler, recall collapses from 0.998 down to 0.13, and my letter-cleaner does nothing here because it's a totally different kind of attack. The teal line, which barely moves, is my fix — the one-way, or 'monotone', model. Quick definition, since the word appears here: monotone just means the model is built so every word can only ADD suspicion, never subtract it. So adding text can only push the score up, and padding can't lower it below the line. That's why the teal line stays flat while the red one falls. I explain how I build it on the next slide.</a:t>
            </a:r>
          </a:p>
          <a:p/>
          <a:p>
            <a:r>
              <a:t>— — —  עברית  — — —</a:t>
            </a:r>
          </a:p>
          <a:p/>
          <a:p>
            <a:r>
              <a:t>מכיוון שסגרתי את טריקי-האותיות בהוכחה, התוקף משנה אסטרטגיה — מאותיות למילים שלמות. THE ATTACK היא 'מתקפת המילים הטובות' הקלאסית, או דילול (Lowd &amp; Meek 2005): לוקחים את מייל הפישינג וממלאים אותו בהמון מילים תמימות ונורמליות. זה עובד כי המודל שלי הוא 'שק של מילים' (bag-of-words) — הוא בעצם מחבר ראיות מילה-מילה ומתעלם מהסדר — אז מספיק מילים תמימות גוברות על מעט מילות ההונאה והסך הכל נוטה ל'בטוח'. THE RESULT, הקו האדום: ככל שאני מוסיפה מילוי, ה-recall קורס מ-0.998 ל-0.13, ומנקה-האותיות שלי לא עוזר כאן כי זו מתקפה מסוג אחר לגמרי. הקו הטורקיז, שכמעט לא זז, הוא התיקון שלי — המודל החד-כיווני, או 'מונוטוני' (monotone). הגדרה מהירה, כי המילה מופיעה כאן: מונוטוני פשוט אומר שהמודל בנוי כך שכל מילה יכולה רק להוסיף חשד, לעולם לא להחסיר. אז הוספת טקסט יכולה רק לדחוף את הציון למעלה, ומילוי לא יכול להוריד אותו מתחת לקו. לכן הקו הטורקיז נשאר שטוח בזמן שהאדום נופל. אני מסבירה איך אני בונה אותו בשקף הבא.</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 is my second guarantee, and the idea is quite elegant. THE FIX: I build a special version of the model that is 'one-way', or monotone. Normally, some words push the score toward phishing and some words push it toward safe. In the one-way model, I force every word's weight to be zero or positive — meaning a word can only ADD suspicion, it can never subtract it. The consequence is powerful: if adding text can only push the score up, then no amount of innocent filler can ever push it down below the line. So padding provably cannot un-flag a scam. THE RESULT: I tested it directly — zero cases where the score dropped, and 100% of flagged phishing stayed flagged even after adding 40, 100, even 300 words. But I'm honest about the price: on clean data this one-way model scores 0.91 instead of 0.998, because it lost the ability to use 'innocent' evidence — it can only look for guilt, never for innocence. So I don't replace my main model with it; I run it alongside as a guaranteed safety net. And that now makes two whole classes of attack — letter tricks and word-padding — closed by proof, not just by a better score.
— — —  עברית  — — —
התיקון הוא ההבטחה השנייה שלי, והרעיון די אלגנטי. THE FIX: אני בונה גרסה מיוחדת של המודל שהיא 'חד-כיוונית', או מונוטונית (monotone). בדרך כלל, חלק מהמילים דוחפות את הציון לכיוון פישינג וחלק דוחפות לכיוון בטוח. במודל החד-כיווני, אני מכריחה את המשקל של כל מילה להיות אפס או חיובי — כלומר מילה יכולה רק להוסיף חשד, לעולם לא להחסיר. התוצאה חזקה: אם הוספת טקסט יכולה רק לדחוף את הציון למעלה, אז שום כמות של מילוי תמים לא יכולה לדחוף אותו מתחת לקו. אז דילול מוכח שלא יכול לבטל סימון של הונאה. THE RESULT: בדקתי את זה ישירות — אפס מקרים שבהם הציון ירד, ו-100% מהפישינג המסומן נשאר מסומן גם אחרי הוספת 40, 100, ואפילו 300 מילים. אבל אני כנה לגבי המחיר: על דאטה נקי המודל החד-כיווני הזה מקבל 0.91 במקום 0.998, כי הוא איבד את היכולת להשתמש בראיות 'תמימות' — הוא יכול לחפש רק אשמה, לעולם לא חפות. אז אני לא מחליפה בו את המודל הראשי; אני מריצה אותו לצד, כרשת ביטחון מובטחת. וזה עכשיו הופך שתי מחלקות שלמות של מתקפות — טריקי-אותיות ומילוי-מילים — לסגורות בהוכחה, לא רק בציון טוב יותר.</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single line is the whole story of the project in one picture, so I take my time on it. Reading left to right, each point is recall: clean, the model is perfect; then the homoglyph letter-attack drops it; normalisation brings it back up; then the smart targeted attacker drops it again; the full official UTS-39 list brings it back, this time with a proof; then the word-dilution attack crushes it down to 0.13; and finally the one-way monotone model lifts it back up, with a second proof. So every dip is the attacker getting smarter, and every recovery is a defence I built. The key point: two of those recoveries — the ones marked as certificates — are not just 'it measured well', they are mathematically guaranteed. The one frontier still open on the far right is a full meaning-preserving rewrite of the email, and that's honestly why the content detector needs to be fused with Gilad's second signal.
— — —  עברית  — — —
הקו הבודד הזה הוא כל הסיפור של הפרויקט בתמונה אחת, אז אני לוקחת את הזמן עליו. קוראים משמאל לימין, כל נקודה היא recall: נקי, המודל מושלם; אז מתקפת האותיות הומוגליף מורידה אותו; נורמליזציה מחזירה אותו למעלה; אז התוקף החכם והממוקד מוריד אותו שוב; הרשימה הרשמית המלאה UTS-39 מחזירה אותו, הפעם עם הוכחה; אז מתקפת דילול-המילים מרסקת אותו ל-0.13; ולבסוף המודל החד-כיווני המונוטוני מרים אותו בחזרה, עם הוכחה שנייה. אז כל ירידה היא התוקף שנעשה חכם יותר, וכל התאוששות היא הגנה שבניתי. הנקודה המרכזית: שתיים מההתאוששויות האלה — אלה המסומנות כתעודות — הן לא רק 'זה נמדד טוב', הן מובטחות מתמטית. החזית האחת שעדיין פתוחה בקצה הימני היא כתיבה מחדש של המייל תוך שמירה על המשמעות, וזו בכנות הסיבה שגלאי התוכן צריך להתמזג עם האות השני של גלעד.</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story as the line before, but as a table you can read row by row — it's the one-glance summary of all my attacks and defences. Row one, Homoglyph, the invisible letter swap: recall fell 0.99 to 0.71, and normalisation plus character n-grams brought it back to 0.99. Row two, the Targeted adaptive attacker that aims at the most important words: it dragged even my defended model down to 0.88, and the full UTS-39 list brought it back to 0.998 — and that one is certified, proven. Row three, Dilution, padding the scam with innocent words: recall collapsed 0.998 to 0.13, and the one-way monotone model puts a guaranteed floor under it at 0.87. The line I most want you to take away is at the bottom: two of the three defences are guarantees, not just better numbers. Look-alike letters and word-padding provably cannot flip a decision. That's the real difference — between saying 'it scored well against the attacks I happened to try' and saying 'this entire class of attack is ruled out by design.'
— — —  עברית  — — —
זה אותו סיפור כמו הקו הקודם, אבל כטבלה שאפשר לקרוא שורה-שורה — זו התמצית במבט אחד של כל המתקפות וההגנות שלי. שורה ראשונה, הומוגליף, החלפת האותיות הבלתי-נראית: ה-recall ירד מ-0.99 ל-0.71, ונורמליזציה יחד עם character n-grams החזירו אותו ל-0.99. שורה שנייה, התוקף האדפטיבי הממוקד שמכוון למילים הכי חשובות: הוא גרר אפילו את המודל המוגן שלי ל-0.88, והרשימה המלאה UTS-39 החזירה אותו ל-0.998 — וזה מאושר בתעודה, מוכח. שורה שלישית, דילול, מילוי ההונאה במילים תמימות: ה-recall קרס מ-0.998 ל-0.13, והמודל החד-כיווני המונוטוני שם רצפה מובטחת מתחתיו ב-0.87. השורה שהכי חשוב לי שתיקחו נמצאת למטה: שתיים משלוש ההגנות הן הבטחות, לא רק מספרים טובים יותר. אותיות דומות ומילוי-מילים מוכחים שלא יכולים להפוך החלטה. זה ההבדל האמיתי — בין להגיד 'זה קיבל ציון טוב מול המתקפות שבמקרה ניסיתי' לבין 'כל המחלקה הזאת של מתקפות נשללת בתכנון'.</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two reality checks, because a lab score can be misleading. This first one is about SPACE — a different inbox. Up to now I trained and tested on the same dataset. Here I train on my dataset but test on completely different email collections, and F1 falls hard, from 0.998 to 0.37. I want to be very clear what 'different sources' means, because it's easy to misread: it means other email DATASETS — Nazario, Enron, Ling, SpamAssassin — not a different attack. These are ordinary, clean, un-attacked emails; the only thing that changed is which collection they came from. That gap is called distribution shift, or out-of-distribution — the new data just doesn't look like what the model learned from. And 0.37 is the honest number for the messy real world, not the flattering 0.998 from the lab. But I diagnose it rather than just report it: the AUC ranking score is still 0.78 on the new data, so the model isn't broken, just set to the wrong sensitivity — re-tuning that one threshold recovers F1 to 0.75. What genuinely remains is a vocabulary gap: the share of words the model has never seen jumps from 7% to 20%. So the scary 0.37 overstates the damage, but a real gap remains — which is the argument for retraining on fresh mail and for fusing with Gilad.</a:t>
            </a:r>
          </a:p>
          <a:p/>
          <a:p>
            <a:r>
              <a:t>— — —  עברית  — — —</a:t>
            </a:r>
          </a:p>
          <a:p/>
          <a:p>
            <a:r>
              <a:t>עכשיו שתי בדיקות מציאות, כי ציון מעבדה יכול להטעות. הראשונה היא על מרחב — תיבת דואר אחרת. עד עכשיו אימנתי ובדקתי על אותו דאטהסט. כאן אני מאמנת על הדאטהסט שלי אבל בודקת על אוספי מיילים שונים לגמרי, וה-F1 יורד חזק, מ-0.998 ל-0.37. אני רוצה להיות מאוד ברורה מה זה 'מקורות שונים', כי קל לטעות בזה: זה אומר דאטהסטים אחרים של מיילים — Nazario, Enron, Ling, SpamAssassin — לא מתקפה אחרת. אלה מיילים רגילים, נקיים, לא-מותקפים; הדבר היחיד שהשתנה הוא מאיזה אוסף הם הגיעו. הפער הזה נקרא הסחת התפלגות (distribution shift), או out-of-distribution — הדאטה החדש פשוט לא נראה כמו מה שהמודל למד ממנו. ו-0.37 הוא המספר הכן לעולם האמיתי הבלגני, לא ה-0.998 המחמיא מהמעבדה. אבל אני מאבחנת אותו ולא רק מדווחת: ציון הדירוג AUC עדיין 0.78 על הדאטה החדש, אז המודל לא שבור, רק מכוון לרגישות הלא נכונה — כיוונון מחדש של הסף האחד הזה מחזיר את ה-F1 ל-0.75. מה שבאמת נשאר זה פער אוצר-מילים: החלק של המילים שהמודל לא ראה מעולם קופץ מ-7% ל-20%. אז ה-0.37 המפחיד מגזים בנזק, אבל פער אמיתי נשאר — וזה הטיעון לאימון מחדש על דואר טרי ולמיזוג עם גלעד.</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The second reality check is about time. My model was trained on emails from 2008. Here I test it on real phishing from 2023 to 2025 — and it catches only 14% of it. That drop over time has a name: concept drift. It just means the thing you're trying to detect changes over the years — scammers use new words, new brands, new tricks — so a model frozen in the past slowly goes blind. And here's a nice supporting fact: the obfuscation tricks I spent this whole talk defending against are basically absent in 2008 phishing — near 0% — but show up in 1.8% and 4% of modern phishing. Those are things like mixed alphabets and zero-width characters, which are invisible characters hidden inside the text. So my robustness study isn't a made-up threat, it's an emerging real one. The lesson: a lab number has a shelf life, and a frozen detector goes blind. The very next slide shows the fix.
— — —  עברית  — — —
בדיקת המציאות השנייה היא על זמן. המודל שלי אומן על מיילים מ-2008. כאן אני בודקת אותו על פישינג אמיתי מ-2023 עד 2025 — והוא תופס רק 14% ממנו. לירידה הזאת לאורך זמן יש שם: הסחת מושג (concept drift). זה פשוט אומר שהדבר שאתה מנסה לזהות משתנה עם השנים — נוכלים משתמשים במילים חדשות, מותגים חדשים, טריקים חדשים — אז מודל שקפוא בעבר לאט לאט מתעוור. והנה עובדה תומכת יפה: טריקי הערפול שהקדשתי להם את כל ההרצאה הזאת כמעט לא קיימים בפישינג של 2008 — קרוב ל-0% — אבל מופיעים ב-1.8% וב-4% מהפישינג המודרני. אלה דברים כמו אלפביתים מעורבים ותווים ברוחב-אפס, שהם תווים בלתי-נראים שמוסתרים בתוך הטקסט. אז מחקר החוסן שלי הוא לא איום מומצא, הוא איום אמיתי ומתפתח. השיעור: לציון מעבדה יש תוקף מוגבל, וגלאי קפוא מתעוור. השקף הבא ממש מראה את התיקון.</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The good news is that the ageing problem is fixable, and simply. When I add some modern scam examples and retrain the model, its recall on modern scams jumps from 15% to 98%. And two things I checked carefully. First, it doesn't forget — a real risk in machine learning called catastrophic forgetting, where learning new things wipes out the old. Here it stays perfect on the old scams too. Second, false alarms don't go up — they stay under 1%, so it doesn't start bothering people about legitimate mail. I also did it honestly: I kept the normal-mail source unchanged during retraining, so the model can't cheat by learning 'old source versus new source' instead of actually learning the new scams. The message is simple: a detector that's kept current keeps working; a frozen one goes blind.
— — —  עברית  — — —
החדשות הטובות הן שבעיית ההתיישנות ניתנת לתיקון, ובפשטות. כשאני מוסיפה כמה דוגמאות של הונאות מודרניות ומאמנת מחדש את המודל, ה-recall שלו על הונאות מודרניות קופץ מ-15% ל-98%. ושני דברים שבדקתי בקפידה. ראשית, הוא לא שוכח — סיכון אמיתי בלמידת מכונה שנקרא שכחה קטסטרופלית (catastrophic forgetting), שבה למידת דברים חדשים מוחקת את הישנים. כאן הוא נשאר מושלם גם על ההונאות הישנות. שנית, אזעקות השווא לא עולות — הן נשארות מתחת ל-1%, אז הוא לא מתחיל להטריד אנשים על דואר לגיטימי. גם עשיתי את זה בכנות: שמרתי את מקור הדואר-הרגיל ללא שינוי במהלך האימון מחדש, כדי שהמודל לא יוכל לרמות על ידי לימוד 'מקור ישן מול מקור חדש' במקום באמת ללמוד את ההונאות החדשות. המסר פשוט: גלאי שנשמר עדכני ממשיך לעבוד; קפוא מתעוור.</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Here's a practical idea, because a detector in a real company sits next to people. Imagine one employee spots a scam and reports it. Can we use that one report to protect everyone else? A phishing campaign is usually the same email blasted to hundreds of inboxes with tiny changes. So the system takes the reported email and compares it to every other inbox, looking for near-duplicates — emails that are almost the same. When it finds them, it blocks them. The result: recall on the rest of that campaign goes from 15% to 100%, with no extra false alarms. I stay honest about the numbers — the genuine effect of matching the campaign is the 1.0 versus 0.33 gap; some of the lift is just 'having a fresh example helps'. And the gold box is a point worth stressing: attackers now often hijack a REAL, trusted account and send the phishing from a legitimate address. A filter that trusts the sender gets completely fooled by that — but a filter that reads the actual words still notices something is wrong. Content is the signal that survives a stolen account. One caveat: this whole thing only works if I normalise the look-alike letters first, so that certified defence from earlier is a requirement here, not optional.
— — —  עברית  — — —
הנה רעיון פרקטי, כי גלאי בחברה אמיתית יושב ליד אנשים. תארו לעצמכם שעובד אחד מזהה הונאה ומדווח עליה. האם נוכל להשתמש בדיווח האחד הזה כדי להגן על כל השאר? קמפיין פישינג הוא בדרך כלל אותו מייל שנשלח למאות תיבות עם שינויים זעירים. אז המערכת לוקחת את המייל שדווח ומשווה אותו לכל תיבה אחרת, מחפשת כפילויות-קרובות — מיילים כמעט זהים. כשהיא מוצאת אותם, היא חוסמת אותם. התוצאה: ה-recall על שאר הקמפיין עולה מ-15% ל-100%, בלי אזעקות שווא נוספות. אני נשארת כנה לגבי המספרים — האפקט האמיתי של התאמת הקמפיין הוא הפער 1.0 מול 0.33; חלק מהעלייה זה פשוט 'דוגמה טרייה עוזרת'. והקופסה הזהובה היא נקודה ששווה להדגיש: תוקפים היום לעיתים קרובות חוטפים חשבון אמיתי ומהימן ושולחים את הפישינג מכתובת לגיטימית. מסנן שסומך על השולח מרומה לגמרי מזה — אבל מסנן שקורא את המילים עצמן עדיין שם לב שמשהו לא בסדר. תוכן הוא האות ששורד חשבון גנוב. הסתייגות אחת: כל הדבר הזה עובד רק אם אני מנרמלת קודם את האותיות הדומות, אז ההגנה המאושרת מקודם היא דרישה כאן, לא רשות.</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extra idea I explored, and it probes the one attack that's still open. The attack: instead of tricking letters or padding words, I ask an LLM — a large language model like ChatGPT — to rewrite the whole scam in fresh words while keeping the same meaning. That's a paraphrase attack. But there's a catch: a rewrite might accidentally stop being a scam, and then it wouldn't be fair to call it an evasion. So I use a second, independent LLM as a judge to check that each rewrite is still genuinely phishing before I count it. That technique is called 'LLM-as-a-judge', and it kept 24 of the 30 rewrites. The result: my main model shrugs it off — recall stays 1.0 — because it has lots of overlapping word and character clues, so changing the wording doesn't remove all of them. My one-way safety-net model gives a little ground, 0.75 to 0.71, which is the honest downside of its guarantee, since it deliberately ignores 'innocent' evidence. I'm upfront about the caveats: the sample is small, the attacker and the judge are from the same AI family, and I froze the outputs so the experiment reproduces.
— — —  עברית  — — —
זה רעיון נוסף שחקרתי, והוא בוחן את המתקפה האחת שעדיין פתוחה. המתקפה: במקום לרמות אותיות או למלא מילים, אני מבקשת ממודל שפה גדול — LLM כמו ChatGPT — לכתוב מחדש את כל ההונאה במילים חדשות תוך שמירה על אותה משמעות. זו מתקפת פרפרזה (paraphrase). אבל יש מלכוד: כתיבה מחדש עלולה בטעות להפסיק להיות הונאה, ואז לא הוגן לקרוא לזה התחמקות. אז אני משתמשת ב-LLM שני ועצמאי כשופט כדי לבדוק שכל כתיבה מחדש עדיין באמת פישינג לפני שאני סופרת אותה. הטכניקה הזאת נקראת 'LLM-as-a-judge', והיא שמרה 24 מתוך 30 הכתיבות מחדש. התוצאה: המודל הראשי שלי לא מתרגש — ה-recall נשאר 1.0 — כי יש לו הרבה רמזי מילים ותווים חופפים, אז שינוי הניסוח לא מסיר את כולם. מודל רשת-הביטחון החד-כיווני שלי מוותר קצת, 0.75 ל-0.71, וזה החיסרון הכן של ההבטחה שלו, כי הוא בכוונה מתעלם מראיות 'תמימות'. אני שקופה לגבי ההסתייגויות: המדגם קטן, התוקף והשופט הם מאותה משפחת AI, והקפאתי את הפלטים כדי שהניסוי ישתחזר.</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One more idea, and it ties the whole talk together: instead of a model frozen in time, imagine a living, self-updating process. A new attack shows up — maybe from a user report, maybe from a monitor that notices drift, maybe from a honeypot, which is a fake inbox set up as bait to collect fresh scams. The system validates that it really is an attack, stores it in a growing database, and folds it into a retrain — which, remember, takes only about 30 seconds — and then it's ready for the next one. I like this because it's grounded in results I already showed, not hand-waving: the evolve slide proved retraining lifts recall from 0.15 to 0.98, and retraining is cheap. The hard part is trust. If you learn from an untrusted stream, an attacker can feed you bad data on purpose to corrupt the model — that's called a poisoning attack. So every new entry has to be validated, by the LLM judge or a human, before the model is allowed to learn from it.
— — —  עברית  — — —
עוד רעיון אחד, והוא קושר את כל ההרצאה יחד: במקום מודל קפוא בזמן, דמיינו תהליך חי שמעדכן את עצמו. מתקפה חדשה מופיעה — אולי מדיווח משתמש, אולי ממוניטור שמבחין בדריפט, אולי מ-honeypot, שזו תיבת דואר מזויפת שמוקמת כפיתיון כדי לאסוף הונאות טריות. המערכת מאמתת שזו באמת מתקפה, שומרת אותה במסד נתונים גדל, ומשלבת אותה באימון מחדש — שכזכור לוקח רק בערך 30 שניות — ואז היא מוכנה לבאה. אני אוהבת את זה כי זה מבוסס על תוצאות שכבר הראיתי, לא דיבורים בעלמא: שקף האבולוציה הוכיח שאימון מחדש מרים את ה-recall מ-0.15 ל-0.98, ואימון מחדש זול. החלק הקשה הוא אמון. אם לומדים מזרם לא מהימן, תוקף יכול להזין לך דאטה רע בכוונה כדי לקלקל את המודל — זה נקרא מתקפת הרעלה (poisoning). אז כל רשומה חדשה חייבת לעבור אימות, על ידי שופט ה-LLM או אדם, לפני שמותר למודל ללמוד ממנה.</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A quick word on the practical side — could this actually run somewhere, and these numbers I measured, I didn't guess. It classifies one email in about 3 milliseconds, so basically instant. The whole model is under 3 megabytes, smaller than a photo. It handles hundreds of emails per second on a single processor core, and a full retrain takes about 25 seconds. Because it's so small and fast, it can run on the phone or mail app itself — which means the email content never has to be sent to a server, and that's good for privacy. And I always frame it honestly as one layer of many: it deliberately ignores the sender and the links, so in a real deployment it would sit inside a stack with things like sender authentication, link reputation, sandboxing, and of course Gilad's detector. Honest about scope: I work on already-extracted text — parsing real email formats, HTML and attachments, isn't handled yet.
— — —  עברית  — — —
מילה מהירה על הצד המעשי — האם זה באמת יכול לרוץ איפשהו, והמספרים האלה שמדדתי, לא ניחשתי. הוא מסווג מייל אחד בערך ב-3 מילישניות, כלומר בעצם מיידי. כל המודל הוא מתחת ל-3 מגה-בייט, קטן יותר מתמונה. הוא מטפל במאות מיילים בשנייה על ליבת מעבד אחת, ואימון מחדש מלא לוקח בערך 25 שניות. כי הוא כל כך קטן ומהיר, הוא יכול לרוץ על הטלפון או אפליקציית המייל עצמה — מה שאומר שתוכן המייל אף פעם לא צריך להישלח לשרת, וזה טוב לפרטיות. ואני תמיד ממסגרת אותו בכנות כשכבה אחת מיני רבות: הוא בכוונה מתעלם מהשולח ומהקישורים, אז בפריסה אמיתית הוא היה יושב בתוך מערך עם דברים כמו אימות שולח, מוניטין קישורים, ארגז חול, וכמובן הגלאי של גלעד. כנה לגבי ההיקף: אני עובדת על טקסט שכבר חולץ — פירוק פורמטים אמיתיים של מייל, HTML וקבצים מצורפים, עדיין לא מטופל.</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only one slide, make it this one — it's the core of the whole project in three points. One: it works, and honestly. Near-perfect on clean data, but I tested every claim against an attacker who fights back, not just on easy examples. Two: two entire classes of attack — letter tricks and word-padding — are shut with a mathematical proof, not just a better score. Three: it knows its own limits. Reading words alone can't catch everything, and instead of hiding that, I lean into it — it's exactly why the content detector is fused with Gilad's link-and-sender detector. The one line I want to leave you with: a near-perfect score is not the same as a safe detector. The real value of this project is knowing precisely where it fails, and proving where it cannot.
— — —  עברית  — — —
אם תזכרו רק שקף אחד, שיהיה זה — זה הליבה של כל הפרויקט בשלוש נקודות. אחת: הוא עובד, ובכנות. כמעט מושלם על דאטה נקי, אבל בדקתי כל טענה מול תוקף שנלחם בחזרה, לא רק על דוגמאות קלות. שתיים: שתי מחלקות שלמות של מתקפות — טריקי-אותיות ומילוי-מילים — סגורות בהוכחה מתמטית, לא רק בציון טוב יותר. שלוש: הוא מכיר את המגבלות של עצמו. קריאת מילים לבד לא יכולה לתפוס הכל, ובמקום להסתיר את זה, אני נשענת על זה — זו בדיוק הסיבה שגלאי התוכן ממוזג עם גלאי הקישורים-והשולח של גלעד. השורה האחת שאני רוצה להשאיר אתכם איתה: ציון כמעט מושלם הוא לא אותו דבר כמו גלאי בטוח. הערך האמיתי של הפרויקט הוא לדעת בדיוק איפה הוא נכשל, ולהוכיח איפה הוא לא יכול.</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I want to show my project isn't random — it follows the exact general pipeline we were taught in the course: start with data and EDA, then clustering, then temporal analysis, then NLP, then models, then improvement. My project is a deep dive into the last three — NLP, models, and improvement, the gold boxes — but I still touch every earlier stage along the way: I did the statistics and correlation for EDA, I looked at phishing campaigns as clusters, and I studied drift over fifteen years, which is the temporal part. The one box I deliberately leave open is 'combining separate components' — and that's exactly the fusion with Gilad, which we submit together. So the talk maps one-to-one onto the course pipeline.
— — —  עברית  — — —
אני רוצה להראות שהפרויקט שלי לא אקראי — הוא עוקב בדיוק אחרי ה-pipeline הכללי שלמדנו בקורס: מתחילים בדאטה ו-EDA, אחר כך clustering (אשכולות), אחר כך ניתוח טמפורלי, אחר כך NLP, אחר כך מודלים, אחר כך שיפור. הפרויקט שלי הוא צלילה עמוקה לשלושת האחרונים — NLP, מודלים, ושיפור, הקופסאות הזהובות — אבל אני עדיין נוגעת בכל שלב מוקדם יותר בדרך: עשיתי את הסטטיסטיקה והקורלציה ל-EDA, הסתכלתי על קמפיינים של פישינג כאשכולות, וחקרתי דריפט לאורך חמש-עשרה שנים, שזה החלק הטמפורלי. הקופסה האחת שאני משאירה בכוונה פתוחה היא 'שילוב רכיבים נפרדים' — וזה בדיוק המיזוג עם גלעד, שאותו אנחנו מגישים ביחד. אז ההרצאה ממופה אחד-לאחד על ה-pipeline של הקורס.</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This slide shows the course material actually used, not just mentioned. Top-left, metrics: the lecture warned that high accuracy can hide zero phishing caught, so I report better scores — F2, MCC, AUC — and I keep that useless majority baseline in the deck as a live example of the trap. Top-right, avoiding leakage: leakage means the model accidentally sees test answers during training and looks better than it really is. I prevent it with a stratified split — stratified just means each split keeps the same phishing-to-legit ratio — a fixed seed, removing duplicates before splitting, fitting the text processor on training data only, and the 'no email from the future' rule. Bottom-left, the statistics: rank correlations, skew and kurtosis which measure the shape of the data, robust averages, the Mann–Whitney test, and the VIF check. Bottom-right, explainability at three levels — the whole model, each feature, and a single email's decision — all delivered, and the trust-versus-performance trade-off is my fourth research question.
— — —  עברית  — — —
השקף הזה מראה את חומר הקורס שבאמת השתמשתי בו, לא רק הזכרתי. שמאל-למעלה, מדדים: ההרצאה הזהירה שדיוק גבוה יכול להסתיר אפס פישינג שנתפס, אז אני מדווחת ציונים טובים יותר — F2, MCC, AUC — ואני שומרת את בסיס-הרוב חסר-התועלת בדק כדוגמה חיה של המלכודת. ימין-למעלה, מניעת דליפה: דליפה (leakage) אומרת שהמודל בטעות רואה את תשובות המבחן במהלך האימון ונראה טוב יותר ממה שהוא באמת. אני מונעת אותה עם פיצול שכבתי — stratified פשוט אומר שכל פיצול שומר על אותו יחס פישינג-ללגיטימי — seed קבוע, הסרת כפילויות לפני הפיצול, התאמת מעבד הטקסט על נתוני האימון בלבד, וכלל 'אין מייל מהעתיד'. שמאל-למטה, הסטטיסטיקה: קורלציות דירוג, skew ו-kurtosis שמודדים את צורת הדאטה, ממוצעים חסינים, מבחן מאן-וויטני, ובדיקת VIF. ימין-למטה, הסברתיות בשלוש רמות — כל המודל, כל תכונה, וההחלטה של מייל בודד — הכל מסופק, והטרייד-אוף בין אמון לביצועים הוא שאלת המחקר הרביעית שלי.</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that the attacks and defences aren't things I invented — they come straight from the course's own taxonomy, the framework we were taught for organising adversarial machine learning. Let me walk through it box by box. Top-left, the attack taxonomy: attacks are grouped by WHEN and HOW they strike. Evasion means fooling the model at test time, once it's already trained. Poisoning means corrupting the training data itself. White-box versus black-box is about how much the attacker can see inside the model. And targeted versus transfer is whether the attack is aimed at one specific model, or built on one model and reused on another. In my project this maps perfectly: the homoglyph letter-swaps are evasion; the importance-guided attack is a targeted grey-box evasion, because it uses partial knowledge of my model's weights; the fake user reports are poisoning; and testing on DistilBERT is the transfer case. Top-right, character and tokenization attacks: the NLP-security lecture literally used examples like 'Get r1ch qu1ck' and a Cyrillic 'paypal', and explained how sub-word tokenizers — the way models like BERT chop words into pieces — break when you perturb the characters. That is exactly my attack and exactly my point about DistilBERT. Bottom-left, the defences: the lectures name two standard countermeasures — canonicalising, meaning normalising look-alikes back to plain letters, and adversarial training. I built both and measured them against each tier of attack. Bottom-right, anomaly detection: Isolation Forest, One-Class SVM and Mahalanobis distance from the abnormality lecture — methods that learn what 'normal' looks like and flag anything that doesn't fit — are my named next step, a separate detector that spots obfuscated mail as anomalous. And even my framing for the whole drift story comes from this course: my 2008 model is Taleb's turkey — fed every single day, and therefore totally confident, right up until Thanksgiving, when the assumption that the past predicts the future suddenly fails. That is the exact inductive trap the abnormality lecture warned about.</a:t>
            </a:r>
          </a:p>
          <a:p/>
          <a:p>
            <a:r>
              <a:t>— — —  עברית  — — —</a:t>
            </a:r>
          </a:p>
          <a:p/>
          <a:p>
            <a:r>
              <a:t>השקף הזה מראה שהמתקפות וההגנות הן לא דברים שהמצאתי — הם מגיעים ישירות מהטקסונומיה של הקורס עצמו, המסגרת שלימדו אותנו כדי לארגן למידת-מכונה יריבה. בואו נעבור עליו קופסה-קופסה. שמאל למעלה, טקסונומיית המתקפות: מתקפות מסווגות לפי מתי ואיך הן פוגעות. התחמקות (evasion) אומרת לרמות את המודל בזמן הבדיקה, אחרי שהוא כבר אומן. הרעלה (poisoning) אומרת לקלקל את נתוני האימון עצמם. קופסה-לבנה מול קופסה-שחורה זה כמה התוקף רואה בתוך המודל. וממוקד מול העברה (transfer) זה האם המתקפה מכוונת למודל ספציפי אחד, או נבנתה על מודל אחד ומשמשת שוב על אחר. בפרויקט שלי זה מתמפה בול: החלפות האותיות הומוגליף הן evasion; המתקפה מונחית-החשיבות היא evasion ממוקדת מסוג grey-box, כי היא משתמשת בידע חלקי על המשקלים של המודל שלי; הדיווחים המזויפים הם poisoning; והבדיקה על DistilBERT היא מקרה ה-transfer. ימין למעלה, מתקפות תווים וטוקניזציה: הרצאת אבטחת ה-NLP ממש השתמשה בדוגמאות כמו 'Get r1ch qu1ck' ו-'paypal' קירילי, והסבירה איך טוקנייזרים ברמת תת-מילה — האופן שבו מודלים כמו BERT מפרקים מילים לחתיכות — נשברים כשמשבשים את התווים. זו בדיוק המתקפה שלי ובדיוק הנקודה שלי לגבי DistilBERT. שמאל למטה, ההגנות: ההרצאות מנקבות בשם שתי הגנות סטנדרטיות — קנוניקליזציה, כלומר החזרת כפילויות לאותיות רגילות, ואימון יריב. בניתי את שתיהן ומדדתי אותן מול כל דרג של מתקפה. ימין למטה, זיהוי חריגות: Isolation Forest, One-Class SVM ומרחק מהלנוביס מהרצאת החריגוּת — שיטות שלומדות איך 'נורמלי' נראה ומסמנות כל דבר שלא מתאים — הן הצעד הבא שנקבתי בשמו, גלאי נפרד שמזהה דואר מעורפל כחריג. ואפילו המסגור של כל סיפור הדריפט מגיע מהקורס הזה: מודל 2008 שלי הוא תרנגול-ההודו של טאלב — מאכילים אותו כל יום, ולכן הוא בטוח לגמרי, עד יום ההודיה, כשההנחה שהעבר מנבא את העתיד נכשלת פתאום. זו בדיוק מלכודת ההיסק שהרצאת החריגוּת הזהירה מפניה.</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en-US" dirty="0"/>
              <a:t>For future work I didn't want to just list wishes, so each direction is grounded in a specific paper from my report, and I phrase them as possibilities, not promises — 'according to this paper, it may be possible to...'. One: my dilution defence costs me nine points of clean F1; Fleshman's 2018 paper on non-negative networks, and the multiple-instance view of the good-word attack, suggest it may be possible to keep the guarantee without paying that price. Two: my paraphrase attack was small and rule-based; Li's 2019 TextBugger and DeepWordBug show that a proper learned, neural attacker could push that frontier much harder — so I'd want to test against a stronger opponent. Three: Pruthi's 2019 paper puts a robust word-recognition stage in front of the model, which could extend my certificate from look-alike letters to ordinary typos and misspellings. Four: the anomaly-detection methods from class — Isolation Forest, One-Class SVM — plus my own finding that obfuscation is rare in normal mail, point to a separate detector that flags weird, obfuscated emails as anomalies. And above all of these, the big one: actually fusing with Gilad's detector. The last loose end is running DistilBERT on a GPU with the full dataset to find its true ceiling.
— — —  עברית  — — —
לעבודה עתידית לא רציתי סתם לרשום משאלות, אז כל כיוון מבוסס על מאמר ספציפי מהדוח שלי, ואני מנסחת אותם כאפשרויות, לא הבטחות — 'לפי המאמר הזה, ייתכן שאפשר...'. אחת: הגנת הדילול שלי עולה לי תשע נקודות של F1 נקי; המאמר של פלשמן מ-2018 על רשתות אי-שליליות, והמבט של למידה מרובת-מופעים על מתקפת המילים-הטובות, מרמזים שייתכן שאפשר לשמור על ההבטחה בלי לשלם את המחיר הזה. שתיים: מתקפת הפרפרזה שלי הייתה קטנה ומבוססת-כללים; TextBugger ו-DeepWordBug של לי מ-2019 מראים שתוקף נוירוני נלמד אמיתי יכול לדחוף את החזית הזאת הרבה יותר חזק — אז הייתי רוצה לבדוק מול יריב חזק יותר. שלוש: המאמר של פרות'י מ-2019 שם שלב זיהוי-מילים חסין לפני המודל, שיכול להרחיב את התעודה שלי מאותיות-דומות לשגיאות כתיב רגילות. ארבע: שיטות זיהוי-החריגות מהשיעור — Isolation Forest, One-Class SVM — יחד עם הממצא שלי שערפול נדיר בדואר רגיל, מצביעות על גלאי נפרד שמסמן מיילים מוזרים ומעורפלים כחריגים. ומעל כל אלה, הגדול: באמת למזג עם הגלאי של גלעד. הקצה הפתוח האחרון הוא להריץ את DistilBERT על GPU עם כל הדאטהסט כדי למצוא את התקרה האמיתית שלו.</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one sentence I want to leave you with: the real contribution of this project isn't the 0.998 score. It's showing exactly where a near-perfect detector breaks, and then hardening it until two whole classes of attack are provably, mathematically shut. And it's honest about what a content-only model simply cannot do on its own — which is the whole reason it's built to fuse with Gilad's second detector. Thank you so much for listening, and I'm happy to take any questions.
— — —  עברית  — — —
לסיום, המשפט האחד שאני רוצה להשאיר אתכם איתו: התרומה האמיתית של הפרויקט הזה היא לא הציון 0.998. היא להראות בדיוק איפה גלאי כמעט-מושלם נשבר, ואז לחזק אותו עד ששתי מחלקות שלמות של מתקפות סגורות בהוכחה, מתמטית. והוא כן לגבי מה שמודל מבוסס-תוכן בלבד פשוט לא יכול לעשות לבד — וזו כל הסיבה שהוא בנוי להתמזג עם הגלאי השני של גלעד. תודה רבה שהקשבתם, ואשמח לענות על כל שאלה.</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chart" Target="../charts/chart1.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chart" Target="../charts/char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hart" Target="../charts/char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hart" Target="../charts/char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chart" Target="../charts/char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hart" Target="../charts/char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chart" Target="../charts/char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chart" Target="../charts/char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0"/>
        </a:solidFill>
        <a:effectLst/>
      </p:bgPr>
    </p:bg>
    <p:spTree>
      <p:nvGrpSpPr>
        <p:cNvPr id="1" name=""/>
        <p:cNvGrpSpPr/>
        <p:nvPr/>
      </p:nvGrpSpPr>
      <p:grpSpPr>
        <a:xfrm>
          <a:off x="0" y="0"/>
          <a:ext cx="0" cy="0"/>
          <a:chOff x="0" y="0"/>
          <a:chExt cx="0" cy="0"/>
        </a:xfrm>
      </p:grpSpPr>
      <p:sp>
        <p:nvSpPr>
          <p:cNvPr id="2" name="Shape 0"/>
          <p:cNvSpPr/>
          <p:nvPr/>
        </p:nvSpPr>
        <p:spPr>
          <a:xfrm>
            <a:off x="0" y="6172200"/>
            <a:ext cx="12191695" cy="685800"/>
          </a:xfrm>
          <a:prstGeom prst="rect">
            <a:avLst/>
          </a:prstGeom>
          <a:solidFill>
            <a:srgbClr val="0E1922"/>
          </a:solidFill>
          <a:ln/>
        </p:spPr>
        <p:txBody>
          <a:bodyPr/>
          <a:lstStyle/>
          <a:p>
            <a:endParaRPr lang="en-IL"/>
          </a:p>
        </p:txBody>
      </p:sp>
      <p:sp>
        <p:nvSpPr>
          <p:cNvPr id="3" name="Text 1"/>
          <p:cNvSpPr/>
          <p:nvPr/>
        </p:nvSpPr>
        <p:spPr>
          <a:xfrm>
            <a:off x="566928" y="1554480"/>
            <a:ext cx="10058400" cy="365760"/>
          </a:xfrm>
          <a:prstGeom prst="rect">
            <a:avLst/>
          </a:prstGeom>
          <a:noFill/>
          <a:ln/>
        </p:spPr>
        <p:txBody>
          <a:bodyPr wrap="square" rtlCol="0" anchor="ctr"/>
          <a:lstStyle/>
          <a:p>
            <a:pPr marL="0" indent="0">
              <a:buNone/>
            </a:pPr>
            <a:r>
              <a:rPr lang="en-US" sz="1300" b="1" kern="0" spc="300" dirty="0">
                <a:solidFill>
                  <a:srgbClr val="3CB6A6"/>
                </a:solidFill>
                <a:latin typeface="Calibri" pitchFamily="34" charset="0"/>
                <a:ea typeface="Calibri" pitchFamily="34" charset="-122"/>
                <a:cs typeface="Calibri" pitchFamily="34" charset="-120"/>
              </a:rPr>
              <a:t>DATA SCIENCE &amp; CYBER · FINAL PROJECT</a:t>
            </a:r>
            <a:endParaRPr lang="en-US" sz="1300" dirty="0"/>
          </a:p>
        </p:txBody>
      </p:sp>
      <p:sp>
        <p:nvSpPr>
          <p:cNvPr id="4" name="Text 2"/>
          <p:cNvSpPr/>
          <p:nvPr/>
        </p:nvSpPr>
        <p:spPr>
          <a:xfrm>
            <a:off x="566928" y="2011680"/>
            <a:ext cx="10972800" cy="109728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Email Phishing Detection</a:t>
            </a:r>
            <a:endParaRPr lang="en-US" sz="6000" dirty="0"/>
          </a:p>
        </p:txBody>
      </p:sp>
      <p:sp>
        <p:nvSpPr>
          <p:cNvPr id="5" name="Text 3"/>
          <p:cNvSpPr/>
          <p:nvPr/>
        </p:nvSpPr>
        <p:spPr>
          <a:xfrm>
            <a:off x="566928" y="3246120"/>
            <a:ext cx="9601200" cy="822960"/>
          </a:xfrm>
          <a:prstGeom prst="rect">
            <a:avLst/>
          </a:prstGeom>
          <a:noFill/>
          <a:ln/>
        </p:spPr>
        <p:txBody>
          <a:bodyPr wrap="square" rtlCol="0" anchor="ctr"/>
          <a:lstStyle/>
          <a:p>
            <a:pPr marL="0" indent="0">
              <a:buNone/>
            </a:pPr>
            <a:r>
              <a:rPr lang="en-US" sz="2000" dirty="0">
                <a:solidFill>
                  <a:srgbClr val="C7D3D9"/>
                </a:solidFill>
                <a:latin typeface="Calibri" pitchFamily="34" charset="0"/>
                <a:ea typeface="Calibri" pitchFamily="34" charset="-122"/>
                <a:cs typeface="Calibri" pitchFamily="34" charset="-120"/>
              </a:rPr>
              <a:t>A content-based email phishing detector — and an honest study of how robust it really is.</a:t>
            </a:r>
            <a:endParaRPr lang="en-US" sz="2000" dirty="0"/>
          </a:p>
        </p:txBody>
      </p:sp>
      <p:sp>
        <p:nvSpPr>
          <p:cNvPr id="6" name="Shape 4"/>
          <p:cNvSpPr/>
          <p:nvPr/>
        </p:nvSpPr>
        <p:spPr>
          <a:xfrm>
            <a:off x="566928" y="4251960"/>
            <a:ext cx="2011680" cy="45720"/>
          </a:xfrm>
          <a:prstGeom prst="rect">
            <a:avLst/>
          </a:prstGeom>
          <a:solidFill>
            <a:srgbClr val="D4AB4E"/>
          </a:solidFill>
          <a:ln/>
        </p:spPr>
        <p:txBody>
          <a:bodyPr/>
          <a:lstStyle/>
          <a:p>
            <a:endParaRPr lang="en-IL"/>
          </a:p>
        </p:txBody>
      </p:sp>
      <p:sp>
        <p:nvSpPr>
          <p:cNvPr id="7" name="Text 5"/>
          <p:cNvSpPr/>
          <p:nvPr/>
        </p:nvSpPr>
        <p:spPr>
          <a:xfrm>
            <a:off x="566928" y="4526280"/>
            <a:ext cx="9144000" cy="9144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Lia Bercovitz</a:t>
            </a:r>
            <a:endParaRPr lang="en-US" sz="2200" dirty="0"/>
          </a:p>
          <a:p>
            <a:pPr marL="0" indent="0">
              <a:buNone/>
            </a:pPr>
            <a:r>
              <a:rPr lang="en-US" sz="1400" dirty="0">
                <a:solidFill>
                  <a:srgbClr val="9FB2BB"/>
                </a:solidFill>
                <a:latin typeface="Calibri" pitchFamily="34" charset="0"/>
                <a:ea typeface="Calibri" pitchFamily="34" charset="-122"/>
                <a:cs typeface="Calibri" pitchFamily="34" charset="-120"/>
              </a:rPr>
              <a:t>Student A · the content / NLP detector</a:t>
            </a:r>
            <a:endParaRPr lang="en-US" sz="22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Phishing as a language-based attack.</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a:t>
            </a:r>
            <a:endParaRPr lang="en-US" sz="1100" dirty="0"/>
          </a:p>
        </p:txBody>
      </p:sp>
      <p:sp>
        <p:nvSpPr>
          <p:cNvPr id="6" name="Text 4"/>
          <p:cNvSpPr/>
          <p:nvPr/>
        </p:nvSpPr>
        <p:spPr>
          <a:xfrm>
            <a:off x="566928" y="1600200"/>
            <a:ext cx="11057839" cy="640080"/>
          </a:xfrm>
          <a:prstGeom prst="rect">
            <a:avLst/>
          </a:prstGeom>
          <a:noFill/>
          <a:ln/>
        </p:spPr>
        <p:txBody>
          <a:bodyPr wrap="square" rtlCol="0" anchor="t"/>
          <a:lstStyle/>
          <a:p>
            <a:pPr marL="0" indent="0">
              <a:buNone/>
            </a:pPr>
            <a:r>
              <a:rPr lang="en-US" sz="1500" dirty="0">
                <a:solidFill>
                  <a:srgbClr val="95A6AD"/>
                </a:solidFill>
                <a:latin typeface="Calibri" pitchFamily="34" charset="0"/>
                <a:ea typeface="Calibri" pitchFamily="34" charset="-122"/>
                <a:cs typeface="Calibri" pitchFamily="34" charset="-120"/>
              </a:rPr>
              <a:t>Phishing is social engineering — it works on human trust, not code. The manipulation lives in the language, so a detector that reads only the text is reading the attack itself.</a:t>
            </a:r>
            <a:endParaRPr lang="en-US" sz="1500" dirty="0"/>
          </a:p>
        </p:txBody>
      </p:sp>
      <p:sp>
        <p:nvSpPr>
          <p:cNvPr id="7" name="Shape 5"/>
          <p:cNvSpPr/>
          <p:nvPr/>
        </p:nvSpPr>
        <p:spPr>
          <a:xfrm>
            <a:off x="566928" y="2377440"/>
            <a:ext cx="2615184" cy="1600200"/>
          </a:xfrm>
          <a:prstGeom prst="roundRect">
            <a:avLst>
              <a:gd name="adj" fmla="val 4571"/>
            </a:avLst>
          </a:prstGeom>
          <a:solidFill>
            <a:srgbClr val="34231D"/>
          </a:solidFill>
          <a:ln/>
        </p:spPr>
        <p:txBody>
          <a:bodyPr/>
          <a:lstStyle/>
          <a:p>
            <a:endParaRPr lang="en-IL"/>
          </a:p>
        </p:txBody>
      </p:sp>
      <p:sp>
        <p:nvSpPr>
          <p:cNvPr id="8" name="Shape 6"/>
          <p:cNvSpPr/>
          <p:nvPr/>
        </p:nvSpPr>
        <p:spPr>
          <a:xfrm>
            <a:off x="566928" y="2505456"/>
            <a:ext cx="54864" cy="1344168"/>
          </a:xfrm>
          <a:prstGeom prst="rect">
            <a:avLst/>
          </a:prstGeom>
          <a:solidFill>
            <a:srgbClr val="E97A60"/>
          </a:solidFill>
          <a:ln/>
        </p:spPr>
        <p:txBody>
          <a:bodyPr/>
          <a:lstStyle/>
          <a:p>
            <a:endParaRPr lang="en-IL"/>
          </a:p>
        </p:txBody>
      </p:sp>
      <p:sp>
        <p:nvSpPr>
          <p:cNvPr id="9" name="Text 7"/>
          <p:cNvSpPr/>
          <p:nvPr/>
        </p:nvSpPr>
        <p:spPr>
          <a:xfrm>
            <a:off x="786384" y="2505456"/>
            <a:ext cx="2249424" cy="320040"/>
          </a:xfrm>
          <a:prstGeom prst="rect">
            <a:avLst/>
          </a:prstGeom>
          <a:noFill/>
          <a:ln/>
        </p:spPr>
        <p:txBody>
          <a:bodyPr wrap="square" rtlCol="0" anchor="ctr"/>
          <a:lstStyle/>
          <a:p>
            <a:pPr marL="0" indent="0">
              <a:buNone/>
            </a:pPr>
            <a:r>
              <a:rPr lang="en-US" sz="1100" b="1" kern="0" spc="100" dirty="0">
                <a:solidFill>
                  <a:srgbClr val="E97A60"/>
                </a:solidFill>
                <a:latin typeface="Calibri" pitchFamily="34" charset="0"/>
                <a:ea typeface="Calibri" pitchFamily="34" charset="-122"/>
                <a:cs typeface="Calibri" pitchFamily="34" charset="-120"/>
              </a:rPr>
              <a:t>AUTHORITY - </a:t>
            </a:r>
            <a:r>
              <a:rPr lang="he-IL" sz="1100" b="1" kern="0" spc="100" dirty="0">
                <a:solidFill>
                  <a:srgbClr val="E97A60"/>
                </a:solidFill>
                <a:latin typeface="Calibri" pitchFamily="34" charset="0"/>
                <a:ea typeface="Calibri" pitchFamily="34" charset="-122"/>
                <a:cs typeface="Calibri" pitchFamily="34" charset="-120"/>
              </a:rPr>
              <a:t>סמכות</a:t>
            </a:r>
            <a:endParaRPr lang="en-US" sz="1100" dirty="0"/>
          </a:p>
        </p:txBody>
      </p:sp>
      <p:sp>
        <p:nvSpPr>
          <p:cNvPr id="10" name="Text 8"/>
          <p:cNvSpPr/>
          <p:nvPr/>
        </p:nvSpPr>
        <p:spPr>
          <a:xfrm>
            <a:off x="786384" y="2852928"/>
            <a:ext cx="2212848" cy="1005840"/>
          </a:xfrm>
          <a:prstGeom prst="rect">
            <a:avLst/>
          </a:prstGeom>
          <a:noFill/>
          <a:ln/>
        </p:spPr>
        <p:txBody>
          <a:bodyPr wrap="square" rtlCol="0" anchor="t"/>
          <a:lstStyle/>
          <a:p>
            <a:pPr marL="0" indent="0">
              <a:lnSpc>
                <a:spcPct val="110000"/>
              </a:lnSpc>
              <a:buNone/>
            </a:pPr>
            <a:r>
              <a:rPr lang="en-US" sz="1500" i="1" dirty="0">
                <a:solidFill>
                  <a:srgbClr val="EAF0F1"/>
                </a:solidFill>
                <a:latin typeface="Cambria" pitchFamily="34" charset="0"/>
                <a:ea typeface="Cambria" pitchFamily="34" charset="-122"/>
                <a:cs typeface="Cambria" pitchFamily="34" charset="-120"/>
              </a:rPr>
              <a:t>“This is IT — reset your password now.”</a:t>
            </a:r>
            <a:endParaRPr lang="en-US" sz="1500" dirty="0"/>
          </a:p>
        </p:txBody>
      </p:sp>
      <p:sp>
        <p:nvSpPr>
          <p:cNvPr id="11" name="Shape 9"/>
          <p:cNvSpPr/>
          <p:nvPr/>
        </p:nvSpPr>
        <p:spPr>
          <a:xfrm>
            <a:off x="3401568" y="2377440"/>
            <a:ext cx="2615184" cy="1600200"/>
          </a:xfrm>
          <a:prstGeom prst="roundRect">
            <a:avLst>
              <a:gd name="adj" fmla="val 4571"/>
            </a:avLst>
          </a:prstGeom>
          <a:solidFill>
            <a:srgbClr val="34231D"/>
          </a:solidFill>
          <a:ln/>
        </p:spPr>
        <p:txBody>
          <a:bodyPr/>
          <a:lstStyle/>
          <a:p>
            <a:endParaRPr lang="en-IL"/>
          </a:p>
        </p:txBody>
      </p:sp>
      <p:sp>
        <p:nvSpPr>
          <p:cNvPr id="12" name="Shape 10"/>
          <p:cNvSpPr/>
          <p:nvPr/>
        </p:nvSpPr>
        <p:spPr>
          <a:xfrm>
            <a:off x="3401568" y="2505456"/>
            <a:ext cx="54864" cy="1344168"/>
          </a:xfrm>
          <a:prstGeom prst="rect">
            <a:avLst/>
          </a:prstGeom>
          <a:solidFill>
            <a:srgbClr val="E97A60"/>
          </a:solidFill>
          <a:ln/>
        </p:spPr>
        <p:txBody>
          <a:bodyPr/>
          <a:lstStyle/>
          <a:p>
            <a:endParaRPr lang="en-IL"/>
          </a:p>
        </p:txBody>
      </p:sp>
      <p:sp>
        <p:nvSpPr>
          <p:cNvPr id="13" name="Text 11"/>
          <p:cNvSpPr/>
          <p:nvPr/>
        </p:nvSpPr>
        <p:spPr>
          <a:xfrm>
            <a:off x="3621024" y="2505456"/>
            <a:ext cx="2249424" cy="320040"/>
          </a:xfrm>
          <a:prstGeom prst="rect">
            <a:avLst/>
          </a:prstGeom>
          <a:noFill/>
          <a:ln/>
        </p:spPr>
        <p:txBody>
          <a:bodyPr wrap="square" rtlCol="0" anchor="ctr"/>
          <a:lstStyle/>
          <a:p>
            <a:pPr marL="0" indent="0">
              <a:buNone/>
            </a:pPr>
            <a:r>
              <a:rPr lang="en-US" sz="1100" b="1" kern="0" spc="100" dirty="0">
                <a:solidFill>
                  <a:srgbClr val="E97A60"/>
                </a:solidFill>
                <a:latin typeface="Calibri" pitchFamily="34" charset="0"/>
                <a:ea typeface="Calibri" pitchFamily="34" charset="-122"/>
                <a:cs typeface="Calibri" pitchFamily="34" charset="-120"/>
              </a:rPr>
              <a:t>URGENCY</a:t>
            </a:r>
            <a:r>
              <a:rPr lang="he-IL" sz="1100" b="1" kern="0" spc="100" dirty="0">
                <a:solidFill>
                  <a:srgbClr val="E97A60"/>
                </a:solidFill>
                <a:latin typeface="Calibri" pitchFamily="34" charset="0"/>
                <a:ea typeface="Calibri" pitchFamily="34" charset="-122"/>
                <a:cs typeface="Calibri" pitchFamily="34" charset="-120"/>
              </a:rPr>
              <a:t> </a:t>
            </a:r>
            <a:r>
              <a:rPr lang="en-US" sz="1100" b="1" kern="0" spc="100" dirty="0">
                <a:solidFill>
                  <a:srgbClr val="E97A60"/>
                </a:solidFill>
                <a:latin typeface="Calibri" pitchFamily="34" charset="0"/>
                <a:ea typeface="Calibri" pitchFamily="34" charset="-122"/>
                <a:cs typeface="Calibri" pitchFamily="34" charset="-120"/>
              </a:rPr>
              <a:t>- </a:t>
            </a:r>
            <a:r>
              <a:rPr lang="he-IL" sz="1100" b="1" kern="0" spc="100" dirty="0">
                <a:solidFill>
                  <a:srgbClr val="E97A60"/>
                </a:solidFill>
                <a:latin typeface="Calibri" pitchFamily="34" charset="0"/>
                <a:ea typeface="Calibri" pitchFamily="34" charset="-122"/>
                <a:cs typeface="Calibri" pitchFamily="34" charset="-120"/>
              </a:rPr>
              <a:t>דחיפות</a:t>
            </a:r>
            <a:endParaRPr lang="en-US" sz="1100" dirty="0"/>
          </a:p>
        </p:txBody>
      </p:sp>
      <p:sp>
        <p:nvSpPr>
          <p:cNvPr id="14" name="Text 12"/>
          <p:cNvSpPr/>
          <p:nvPr/>
        </p:nvSpPr>
        <p:spPr>
          <a:xfrm>
            <a:off x="3621024" y="2852928"/>
            <a:ext cx="2212848" cy="1005840"/>
          </a:xfrm>
          <a:prstGeom prst="rect">
            <a:avLst/>
          </a:prstGeom>
          <a:noFill/>
          <a:ln/>
        </p:spPr>
        <p:txBody>
          <a:bodyPr wrap="square" rtlCol="0" anchor="t"/>
          <a:lstStyle/>
          <a:p>
            <a:pPr marL="0" indent="0">
              <a:lnSpc>
                <a:spcPct val="110000"/>
              </a:lnSpc>
              <a:buNone/>
            </a:pPr>
            <a:r>
              <a:rPr lang="en-US" sz="1500" i="1" dirty="0">
                <a:solidFill>
                  <a:srgbClr val="EAF0F1"/>
                </a:solidFill>
                <a:latin typeface="Cambria" pitchFamily="34" charset="0"/>
                <a:ea typeface="Cambria" pitchFamily="34" charset="-122"/>
                <a:cs typeface="Cambria" pitchFamily="34" charset="-120"/>
              </a:rPr>
              <a:t>“Your account will be suspended in 30 minutes.”</a:t>
            </a:r>
            <a:endParaRPr lang="en-US" sz="1500" dirty="0"/>
          </a:p>
        </p:txBody>
      </p:sp>
      <p:sp>
        <p:nvSpPr>
          <p:cNvPr id="15" name="Shape 13"/>
          <p:cNvSpPr/>
          <p:nvPr/>
        </p:nvSpPr>
        <p:spPr>
          <a:xfrm>
            <a:off x="6236208" y="2377440"/>
            <a:ext cx="2615184" cy="1600200"/>
          </a:xfrm>
          <a:prstGeom prst="roundRect">
            <a:avLst>
              <a:gd name="adj" fmla="val 4571"/>
            </a:avLst>
          </a:prstGeom>
          <a:solidFill>
            <a:srgbClr val="34231D"/>
          </a:solidFill>
          <a:ln/>
        </p:spPr>
        <p:txBody>
          <a:bodyPr/>
          <a:lstStyle/>
          <a:p>
            <a:endParaRPr lang="en-IL"/>
          </a:p>
        </p:txBody>
      </p:sp>
      <p:sp>
        <p:nvSpPr>
          <p:cNvPr id="16" name="Shape 14"/>
          <p:cNvSpPr/>
          <p:nvPr/>
        </p:nvSpPr>
        <p:spPr>
          <a:xfrm>
            <a:off x="6236208" y="2505456"/>
            <a:ext cx="54864" cy="1344168"/>
          </a:xfrm>
          <a:prstGeom prst="rect">
            <a:avLst/>
          </a:prstGeom>
          <a:solidFill>
            <a:srgbClr val="E97A60"/>
          </a:solidFill>
          <a:ln/>
        </p:spPr>
        <p:txBody>
          <a:bodyPr/>
          <a:lstStyle/>
          <a:p>
            <a:endParaRPr lang="en-IL"/>
          </a:p>
        </p:txBody>
      </p:sp>
      <p:sp>
        <p:nvSpPr>
          <p:cNvPr id="17" name="Text 15"/>
          <p:cNvSpPr/>
          <p:nvPr/>
        </p:nvSpPr>
        <p:spPr>
          <a:xfrm>
            <a:off x="6455664" y="2505456"/>
            <a:ext cx="2249424" cy="320040"/>
          </a:xfrm>
          <a:prstGeom prst="rect">
            <a:avLst/>
          </a:prstGeom>
          <a:noFill/>
          <a:ln/>
        </p:spPr>
        <p:txBody>
          <a:bodyPr wrap="square" rtlCol="0" anchor="ctr"/>
          <a:lstStyle/>
          <a:p>
            <a:pPr marL="0" indent="0">
              <a:buNone/>
            </a:pPr>
            <a:r>
              <a:rPr lang="en-US" sz="1100" b="1" kern="0" spc="100" dirty="0">
                <a:solidFill>
                  <a:srgbClr val="E97A60"/>
                </a:solidFill>
                <a:latin typeface="Calibri" pitchFamily="34" charset="0"/>
                <a:ea typeface="Calibri" pitchFamily="34" charset="-122"/>
                <a:cs typeface="Calibri" pitchFamily="34" charset="-120"/>
              </a:rPr>
              <a:t>REWARD - </a:t>
            </a:r>
            <a:r>
              <a:rPr lang="he-IL" sz="1100" b="1" kern="0" spc="100" dirty="0">
                <a:solidFill>
                  <a:srgbClr val="E97A60"/>
                </a:solidFill>
                <a:latin typeface="Calibri" pitchFamily="34" charset="0"/>
                <a:ea typeface="Calibri" pitchFamily="34" charset="-122"/>
                <a:cs typeface="Calibri" pitchFamily="34" charset="-120"/>
              </a:rPr>
              <a:t>פרס</a:t>
            </a:r>
            <a:endParaRPr lang="en-US" sz="1100" dirty="0"/>
          </a:p>
        </p:txBody>
      </p:sp>
      <p:sp>
        <p:nvSpPr>
          <p:cNvPr id="18" name="Text 16"/>
          <p:cNvSpPr/>
          <p:nvPr/>
        </p:nvSpPr>
        <p:spPr>
          <a:xfrm>
            <a:off x="6455664" y="2852928"/>
            <a:ext cx="2212848" cy="1005840"/>
          </a:xfrm>
          <a:prstGeom prst="rect">
            <a:avLst/>
          </a:prstGeom>
          <a:noFill/>
          <a:ln/>
        </p:spPr>
        <p:txBody>
          <a:bodyPr wrap="square" rtlCol="0" anchor="t"/>
          <a:lstStyle/>
          <a:p>
            <a:pPr marL="0" indent="0">
              <a:lnSpc>
                <a:spcPct val="110000"/>
              </a:lnSpc>
              <a:buNone/>
            </a:pPr>
            <a:r>
              <a:rPr lang="en-US" sz="1500" i="1" dirty="0">
                <a:solidFill>
                  <a:srgbClr val="EAF0F1"/>
                </a:solidFill>
                <a:latin typeface="Cambria" pitchFamily="34" charset="0"/>
                <a:ea typeface="Cambria" pitchFamily="34" charset="-122"/>
                <a:cs typeface="Cambria" pitchFamily="34" charset="-120"/>
              </a:rPr>
              <a:t>“You’ve been selected — claim your prize.”</a:t>
            </a:r>
            <a:endParaRPr lang="en-US" sz="1500" dirty="0"/>
          </a:p>
        </p:txBody>
      </p:sp>
      <p:sp>
        <p:nvSpPr>
          <p:cNvPr id="19" name="Shape 17"/>
          <p:cNvSpPr/>
          <p:nvPr/>
        </p:nvSpPr>
        <p:spPr>
          <a:xfrm>
            <a:off x="9027871" y="2377440"/>
            <a:ext cx="2615184" cy="1600200"/>
          </a:xfrm>
          <a:prstGeom prst="roundRect">
            <a:avLst>
              <a:gd name="adj" fmla="val 4571"/>
            </a:avLst>
          </a:prstGeom>
          <a:solidFill>
            <a:srgbClr val="34231D"/>
          </a:solidFill>
          <a:ln/>
        </p:spPr>
        <p:txBody>
          <a:bodyPr/>
          <a:lstStyle/>
          <a:p>
            <a:endParaRPr lang="en-IL"/>
          </a:p>
        </p:txBody>
      </p:sp>
      <p:sp>
        <p:nvSpPr>
          <p:cNvPr id="20" name="Shape 18"/>
          <p:cNvSpPr/>
          <p:nvPr/>
        </p:nvSpPr>
        <p:spPr>
          <a:xfrm>
            <a:off x="9070848" y="2505456"/>
            <a:ext cx="54864" cy="1344168"/>
          </a:xfrm>
          <a:prstGeom prst="rect">
            <a:avLst/>
          </a:prstGeom>
          <a:solidFill>
            <a:srgbClr val="E97A60"/>
          </a:solidFill>
          <a:ln/>
        </p:spPr>
        <p:txBody>
          <a:bodyPr/>
          <a:lstStyle/>
          <a:p>
            <a:endParaRPr lang="en-IL"/>
          </a:p>
        </p:txBody>
      </p:sp>
      <p:sp>
        <p:nvSpPr>
          <p:cNvPr id="21" name="Text 19"/>
          <p:cNvSpPr/>
          <p:nvPr/>
        </p:nvSpPr>
        <p:spPr>
          <a:xfrm>
            <a:off x="9290304" y="2505456"/>
            <a:ext cx="2249424" cy="320040"/>
          </a:xfrm>
          <a:prstGeom prst="rect">
            <a:avLst/>
          </a:prstGeom>
          <a:noFill/>
          <a:ln/>
        </p:spPr>
        <p:txBody>
          <a:bodyPr wrap="square" rtlCol="0" anchor="ctr"/>
          <a:lstStyle/>
          <a:p>
            <a:pPr marL="0" indent="0">
              <a:buNone/>
            </a:pPr>
            <a:r>
              <a:rPr lang="en-US" sz="1100" b="1" kern="0" spc="100" dirty="0">
                <a:solidFill>
                  <a:srgbClr val="E97A60"/>
                </a:solidFill>
                <a:latin typeface="Calibri" pitchFamily="34" charset="0"/>
                <a:ea typeface="Calibri" pitchFamily="34" charset="-122"/>
                <a:cs typeface="Calibri" pitchFamily="34" charset="-120"/>
              </a:rPr>
              <a:t>SOCIAL PROOF – </a:t>
            </a:r>
            <a:r>
              <a:rPr lang="he-IL" sz="1100" b="1" kern="0" spc="100" dirty="0">
                <a:solidFill>
                  <a:srgbClr val="E97A60"/>
                </a:solidFill>
                <a:latin typeface="Calibri" pitchFamily="34" charset="0"/>
                <a:ea typeface="Calibri" pitchFamily="34" charset="-122"/>
                <a:cs typeface="Calibri" pitchFamily="34" charset="-120"/>
              </a:rPr>
              <a:t>הוכחה חברתית</a:t>
            </a:r>
            <a:endParaRPr lang="en-US" sz="1100" dirty="0"/>
          </a:p>
        </p:txBody>
      </p:sp>
      <p:sp>
        <p:nvSpPr>
          <p:cNvPr id="22" name="Text 20"/>
          <p:cNvSpPr/>
          <p:nvPr/>
        </p:nvSpPr>
        <p:spPr>
          <a:xfrm>
            <a:off x="9290304" y="2852928"/>
            <a:ext cx="2212848" cy="1005840"/>
          </a:xfrm>
          <a:prstGeom prst="rect">
            <a:avLst/>
          </a:prstGeom>
          <a:noFill/>
          <a:ln/>
        </p:spPr>
        <p:txBody>
          <a:bodyPr wrap="square" rtlCol="0" anchor="t"/>
          <a:lstStyle/>
          <a:p>
            <a:pPr marL="0" indent="0">
              <a:lnSpc>
                <a:spcPct val="110000"/>
              </a:lnSpc>
              <a:buNone/>
            </a:pPr>
            <a:r>
              <a:rPr lang="en-US" sz="1500" i="1" dirty="0">
                <a:solidFill>
                  <a:srgbClr val="EAF0F1"/>
                </a:solidFill>
                <a:latin typeface="Cambria" pitchFamily="34" charset="0"/>
                <a:ea typeface="Cambria" pitchFamily="34" charset="-122"/>
                <a:cs typeface="Cambria" pitchFamily="34" charset="-120"/>
              </a:rPr>
              <a:t>“All your colleagues have already done it.”</a:t>
            </a:r>
            <a:endParaRPr lang="en-US" sz="1500" dirty="0"/>
          </a:p>
        </p:txBody>
      </p:sp>
      <p:sp>
        <p:nvSpPr>
          <p:cNvPr id="24" name="Text 22"/>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hacking people, not computers — urgency, authority, reward, proof</a:t>
            </a:r>
            <a:endParaRPr lang="en-US" sz="95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SCOPE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One half of a fused system.</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3</a:t>
            </a:r>
            <a:endParaRPr lang="en-US" sz="1100" dirty="0"/>
          </a:p>
        </p:txBody>
      </p:sp>
      <p:sp>
        <p:nvSpPr>
          <p:cNvPr id="6" name="Shape 4"/>
          <p:cNvSpPr/>
          <p:nvPr/>
        </p:nvSpPr>
        <p:spPr>
          <a:xfrm>
            <a:off x="566928" y="2468880"/>
            <a:ext cx="3200400" cy="1554480"/>
          </a:xfrm>
          <a:prstGeom prst="roundRect">
            <a:avLst>
              <a:gd name="adj" fmla="val 4706"/>
            </a:avLst>
          </a:prstGeom>
          <a:solidFill>
            <a:srgbClr val="1B2B32"/>
          </a:solidFill>
          <a:ln w="19050">
            <a:solidFill>
              <a:srgbClr val="3CB6A6"/>
            </a:solidFill>
            <a:prstDash val="solid"/>
          </a:ln>
        </p:spPr>
        <p:txBody>
          <a:bodyPr/>
          <a:lstStyle/>
          <a:p>
            <a:endParaRPr lang="en-IL"/>
          </a:p>
        </p:txBody>
      </p:sp>
      <p:sp>
        <p:nvSpPr>
          <p:cNvPr id="7" name="Text 5"/>
          <p:cNvSpPr/>
          <p:nvPr/>
        </p:nvSpPr>
        <p:spPr>
          <a:xfrm>
            <a:off x="566928" y="2468880"/>
            <a:ext cx="3200400" cy="155448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Content · language</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reads  body</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(me — Lia)</a:t>
            </a:r>
            <a:endParaRPr lang="en-US" sz="1500" dirty="0"/>
          </a:p>
        </p:txBody>
      </p:sp>
      <p:sp>
        <p:nvSpPr>
          <p:cNvPr id="8" name="Text 6"/>
          <p:cNvSpPr/>
          <p:nvPr/>
        </p:nvSpPr>
        <p:spPr>
          <a:xfrm>
            <a:off x="3886200" y="2880360"/>
            <a:ext cx="731520" cy="731520"/>
          </a:xfrm>
          <a:prstGeom prst="rect">
            <a:avLst/>
          </a:prstGeom>
          <a:noFill/>
          <a:ln/>
        </p:spPr>
        <p:txBody>
          <a:bodyPr wrap="square" rtlCol="0" anchor="ctr"/>
          <a:lstStyle/>
          <a:p>
            <a:pPr marL="0" indent="0" algn="ctr">
              <a:buNone/>
            </a:pPr>
            <a:r>
              <a:rPr lang="en-US" sz="3200" dirty="0">
                <a:solidFill>
                  <a:srgbClr val="6E7F87"/>
                </a:solidFill>
                <a:latin typeface="Calibri" pitchFamily="34" charset="0"/>
                <a:ea typeface="Calibri" pitchFamily="34" charset="-122"/>
                <a:cs typeface="Calibri" pitchFamily="34" charset="-120"/>
              </a:rPr>
              <a:t>+</a:t>
            </a:r>
            <a:endParaRPr lang="en-US" sz="3200" dirty="0"/>
          </a:p>
        </p:txBody>
      </p:sp>
      <p:sp>
        <p:nvSpPr>
          <p:cNvPr id="9" name="Shape 7"/>
          <p:cNvSpPr/>
          <p:nvPr/>
        </p:nvSpPr>
        <p:spPr>
          <a:xfrm>
            <a:off x="4572000" y="2468880"/>
            <a:ext cx="3200400" cy="1554480"/>
          </a:xfrm>
          <a:prstGeom prst="roundRect">
            <a:avLst>
              <a:gd name="adj" fmla="val 4706"/>
            </a:avLst>
          </a:prstGeom>
          <a:solidFill>
            <a:srgbClr val="1B2B32"/>
          </a:solidFill>
          <a:ln w="19050">
            <a:solidFill>
              <a:srgbClr val="7D919B"/>
            </a:solidFill>
            <a:prstDash val="solid"/>
          </a:ln>
        </p:spPr>
        <p:txBody>
          <a:bodyPr/>
          <a:lstStyle/>
          <a:p>
            <a:endParaRPr lang="en-IL"/>
          </a:p>
        </p:txBody>
      </p:sp>
      <p:sp>
        <p:nvSpPr>
          <p:cNvPr id="10" name="Text 8"/>
          <p:cNvSpPr/>
          <p:nvPr/>
        </p:nvSpPr>
        <p:spPr>
          <a:xfrm>
            <a:off x="4572000" y="2468880"/>
            <a:ext cx="3200400" cy="1554480"/>
          </a:xfrm>
          <a:prstGeom prst="rect">
            <a:avLst/>
          </a:prstGeom>
          <a:noFill/>
          <a:ln/>
        </p:spPr>
        <p:txBody>
          <a:bodyPr wrap="square" rtlCol="0" anchor="ctr"/>
          <a:lstStyle/>
          <a:p>
            <a:pPr marL="0" indent="0" algn="ctr">
              <a:buNone/>
            </a:pPr>
            <a:r>
              <a:rPr lang="en-US" sz="1500" b="1" dirty="0">
                <a:solidFill>
                  <a:srgbClr val="7D919B"/>
                </a:solidFill>
                <a:latin typeface="Calibri" pitchFamily="34" charset="0"/>
                <a:ea typeface="Calibri" pitchFamily="34" charset="-122"/>
                <a:cs typeface="Calibri" pitchFamily="34" charset="-120"/>
              </a:rPr>
              <a:t>URLs · sender</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reads links + address</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(partner — Gilad)</a:t>
            </a:r>
            <a:endParaRPr lang="en-US" sz="1500" dirty="0"/>
          </a:p>
        </p:txBody>
      </p:sp>
      <p:sp>
        <p:nvSpPr>
          <p:cNvPr id="11" name="Text 9"/>
          <p:cNvSpPr/>
          <p:nvPr/>
        </p:nvSpPr>
        <p:spPr>
          <a:xfrm>
            <a:off x="7818120" y="2880360"/>
            <a:ext cx="640080" cy="731520"/>
          </a:xfrm>
          <a:prstGeom prst="rect">
            <a:avLst/>
          </a:prstGeom>
          <a:noFill/>
          <a:ln/>
        </p:spPr>
        <p:txBody>
          <a:bodyPr wrap="square" rtlCol="0" anchor="ctr"/>
          <a:lstStyle/>
          <a:p>
            <a:pPr marL="0" indent="0" algn="ctr">
              <a:buNone/>
            </a:pPr>
            <a:r>
              <a:rPr lang="en-US" sz="3000" dirty="0">
                <a:solidFill>
                  <a:srgbClr val="6E7F87"/>
                </a:solidFill>
                <a:latin typeface="Calibri" pitchFamily="34" charset="0"/>
                <a:ea typeface="Calibri" pitchFamily="34" charset="-122"/>
                <a:cs typeface="Calibri" pitchFamily="34" charset="-120"/>
              </a:rPr>
              <a:t>→</a:t>
            </a:r>
            <a:endParaRPr lang="en-US" sz="3000" dirty="0"/>
          </a:p>
        </p:txBody>
      </p:sp>
      <p:sp>
        <p:nvSpPr>
          <p:cNvPr id="12" name="Shape 10"/>
          <p:cNvSpPr/>
          <p:nvPr/>
        </p:nvSpPr>
        <p:spPr>
          <a:xfrm>
            <a:off x="8503920" y="2468880"/>
            <a:ext cx="3108960" cy="1554480"/>
          </a:xfrm>
          <a:prstGeom prst="roundRect">
            <a:avLst>
              <a:gd name="adj" fmla="val 4706"/>
            </a:avLst>
          </a:prstGeom>
          <a:solidFill>
            <a:srgbClr val="1B2B32"/>
          </a:solidFill>
          <a:ln w="19050">
            <a:solidFill>
              <a:srgbClr val="D4AB4E"/>
            </a:solidFill>
            <a:prstDash val="solid"/>
          </a:ln>
        </p:spPr>
        <p:txBody>
          <a:bodyPr/>
          <a:lstStyle/>
          <a:p>
            <a:endParaRPr lang="en-IL"/>
          </a:p>
        </p:txBody>
      </p:sp>
      <p:sp>
        <p:nvSpPr>
          <p:cNvPr id="13" name="Text 11"/>
          <p:cNvSpPr/>
          <p:nvPr/>
        </p:nvSpPr>
        <p:spPr>
          <a:xfrm>
            <a:off x="8503920" y="2468880"/>
            <a:ext cx="3108960" cy="1554480"/>
          </a:xfrm>
          <a:prstGeom prst="rect">
            <a:avLst/>
          </a:prstGeom>
          <a:noFill/>
          <a:ln/>
        </p:spPr>
        <p:txBody>
          <a:bodyPr wrap="square" rtlCol="0" anchor="ctr"/>
          <a:lstStyle/>
          <a:p>
            <a:pPr marL="0" indent="0" algn="ctr">
              <a:buNone/>
            </a:pPr>
            <a:r>
              <a:rPr lang="en-US" sz="1500" b="1" dirty="0">
                <a:solidFill>
                  <a:srgbClr val="D4AB4E"/>
                </a:solidFill>
                <a:latin typeface="Calibri" pitchFamily="34" charset="0"/>
                <a:ea typeface="Calibri" pitchFamily="34" charset="-122"/>
                <a:cs typeface="Calibri" pitchFamily="34" charset="-120"/>
              </a:rPr>
              <a:t>Fused decision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two independent signals</a:t>
            </a:r>
            <a:endParaRPr lang="en-US" sz="1500" dirty="0"/>
          </a:p>
        </p:txBody>
      </p:sp>
      <p:sp>
        <p:nvSpPr>
          <p:cNvPr id="14" name="Text 12"/>
          <p:cNvSpPr/>
          <p:nvPr/>
        </p:nvSpPr>
        <p:spPr>
          <a:xfrm>
            <a:off x="566928" y="4572000"/>
            <a:ext cx="11057839" cy="822960"/>
          </a:xfrm>
          <a:prstGeom prst="rect">
            <a:avLst/>
          </a:prstGeom>
          <a:noFill/>
          <a:ln/>
        </p:spPr>
        <p:txBody>
          <a:bodyPr wrap="square" rtlCol="0" anchor="t"/>
          <a:lstStyle/>
          <a:p>
            <a:pPr marL="0" indent="0">
              <a:buNone/>
            </a:pPr>
            <a:r>
              <a:rPr lang="en-US" sz="1600" dirty="0">
                <a:solidFill>
                  <a:srgbClr val="95A6AD"/>
                </a:solidFill>
                <a:latin typeface="Calibri" pitchFamily="34" charset="0"/>
                <a:ea typeface="Calibri" pitchFamily="34" charset="-122"/>
                <a:cs typeface="Calibri" pitchFamily="34" charset="-120"/>
              </a:rPr>
              <a:t>This talk is my individual half. URLs are stripped from the text so the model can't lean on the partner's signal — content only. Two independent signals: when one is defeated, the other still fires.</a:t>
            </a:r>
            <a:endParaRPr lang="en-US" sz="1600" dirty="0"/>
          </a:p>
        </p:txBody>
      </p:sp>
      <p:sp>
        <p:nvSpPr>
          <p:cNvPr id="15" name="Text 13"/>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two signals — when one is defeated, the other still fires</a:t>
            </a:r>
            <a:endParaRPr lang="en-US" sz="95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Method: build, attack, defend, repeat.</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4</a:t>
            </a:r>
            <a:endParaRPr lang="en-US" sz="1100" dirty="0"/>
          </a:p>
        </p:txBody>
      </p:sp>
      <p:sp>
        <p:nvSpPr>
          <p:cNvPr id="6" name="Shape 4"/>
          <p:cNvSpPr/>
          <p:nvPr/>
        </p:nvSpPr>
        <p:spPr>
          <a:xfrm>
            <a:off x="566928" y="2468880"/>
            <a:ext cx="2615184" cy="1737360"/>
          </a:xfrm>
          <a:prstGeom prst="roundRect">
            <a:avLst>
              <a:gd name="adj" fmla="val 4211"/>
            </a:avLst>
          </a:prstGeom>
          <a:solidFill>
            <a:srgbClr val="1B2B32"/>
          </a:solidFill>
          <a:ln w="19050">
            <a:solidFill>
              <a:srgbClr val="7D919B"/>
            </a:solidFill>
            <a:prstDash val="solid"/>
          </a:ln>
        </p:spPr>
        <p:txBody>
          <a:bodyPr/>
          <a:lstStyle/>
          <a:p>
            <a:endParaRPr lang="en-IL"/>
          </a:p>
        </p:txBody>
      </p:sp>
      <p:sp>
        <p:nvSpPr>
          <p:cNvPr id="7" name="Text 5"/>
          <p:cNvSpPr/>
          <p:nvPr/>
        </p:nvSpPr>
        <p:spPr>
          <a:xfrm>
            <a:off x="566928" y="2468880"/>
            <a:ext cx="2615184" cy="1737360"/>
          </a:xfrm>
          <a:prstGeom prst="rect">
            <a:avLst/>
          </a:prstGeom>
          <a:noFill/>
          <a:ln/>
        </p:spPr>
        <p:txBody>
          <a:bodyPr wrap="square" rtlCol="0" anchor="ctr"/>
          <a:lstStyle/>
          <a:p>
            <a:pPr marL="0" indent="0" algn="ctr">
              <a:buNone/>
            </a:pPr>
            <a:r>
              <a:rPr lang="en-US" sz="1500" b="1" dirty="0">
                <a:solidFill>
                  <a:srgbClr val="7D919B"/>
                </a:solidFill>
                <a:latin typeface="Calibri" pitchFamily="34" charset="0"/>
                <a:ea typeface="Calibri" pitchFamily="34" charset="-122"/>
                <a:cs typeface="Calibri" pitchFamily="34" charset="-120"/>
              </a:rPr>
              <a:t>1 · build</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a strong, explainable model on a clean pipeline</a:t>
            </a:r>
            <a:endParaRPr lang="en-US" sz="1500" dirty="0"/>
          </a:p>
        </p:txBody>
      </p:sp>
      <p:sp>
        <p:nvSpPr>
          <p:cNvPr id="8" name="Text 6"/>
          <p:cNvSpPr/>
          <p:nvPr/>
        </p:nvSpPr>
        <p:spPr>
          <a:xfrm>
            <a:off x="3186684" y="3063240"/>
            <a:ext cx="219456" cy="548640"/>
          </a:xfrm>
          <a:prstGeom prst="rect">
            <a:avLst/>
          </a:prstGeom>
          <a:noFill/>
          <a:ln/>
        </p:spPr>
        <p:txBody>
          <a:bodyPr wrap="square" rtlCol="0" anchor="ctr"/>
          <a:lstStyle/>
          <a:p>
            <a:pPr marL="0" indent="0" algn="ctr">
              <a:buNone/>
            </a:pPr>
            <a:r>
              <a:rPr lang="en-US" sz="1800" dirty="0">
                <a:solidFill>
                  <a:srgbClr val="6E7F87"/>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3401568" y="2468880"/>
            <a:ext cx="2615184" cy="1737360"/>
          </a:xfrm>
          <a:prstGeom prst="roundRect">
            <a:avLst>
              <a:gd name="adj" fmla="val 4211"/>
            </a:avLst>
          </a:prstGeom>
          <a:solidFill>
            <a:srgbClr val="1B2B32"/>
          </a:solidFill>
          <a:ln w="19050">
            <a:solidFill>
              <a:srgbClr val="5FA3C0"/>
            </a:solidFill>
            <a:prstDash val="solid"/>
          </a:ln>
        </p:spPr>
        <p:txBody>
          <a:bodyPr/>
          <a:lstStyle/>
          <a:p>
            <a:endParaRPr lang="en-IL"/>
          </a:p>
        </p:txBody>
      </p:sp>
      <p:sp>
        <p:nvSpPr>
          <p:cNvPr id="10" name="Text 8"/>
          <p:cNvSpPr/>
          <p:nvPr/>
        </p:nvSpPr>
        <p:spPr>
          <a:xfrm>
            <a:off x="3401568" y="2468880"/>
            <a:ext cx="2615184" cy="1737360"/>
          </a:xfrm>
          <a:prstGeom prst="rect">
            <a:avLst/>
          </a:prstGeom>
          <a:noFill/>
          <a:ln/>
        </p:spPr>
        <p:txBody>
          <a:bodyPr wrap="square" rtlCol="0" anchor="ctr"/>
          <a:lstStyle/>
          <a:p>
            <a:pPr marL="0" indent="0" algn="ctr">
              <a:buNone/>
            </a:pPr>
            <a:r>
              <a:rPr lang="en-US" sz="1500" b="1" dirty="0">
                <a:solidFill>
                  <a:srgbClr val="5FA3C0"/>
                </a:solidFill>
                <a:latin typeface="Calibri" pitchFamily="34" charset="0"/>
                <a:ea typeface="Calibri" pitchFamily="34" charset="-122"/>
                <a:cs typeface="Calibri" pitchFamily="34" charset="-120"/>
              </a:rPr>
              <a:t>2 · study</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attacks from academic papers and known techniques</a:t>
            </a:r>
            <a:endParaRPr lang="en-US" sz="1500" dirty="0"/>
          </a:p>
        </p:txBody>
      </p:sp>
      <p:sp>
        <p:nvSpPr>
          <p:cNvPr id="11" name="Text 9"/>
          <p:cNvSpPr/>
          <p:nvPr/>
        </p:nvSpPr>
        <p:spPr>
          <a:xfrm>
            <a:off x="6021324" y="3063240"/>
            <a:ext cx="219456" cy="548640"/>
          </a:xfrm>
          <a:prstGeom prst="rect">
            <a:avLst/>
          </a:prstGeom>
          <a:noFill/>
          <a:ln/>
        </p:spPr>
        <p:txBody>
          <a:bodyPr wrap="square" rtlCol="0" anchor="ctr"/>
          <a:lstStyle/>
          <a:p>
            <a:pPr marL="0" indent="0" algn="ctr">
              <a:buNone/>
            </a:pPr>
            <a:r>
              <a:rPr lang="en-US" sz="1800" dirty="0">
                <a:solidFill>
                  <a:srgbClr val="6E7F87"/>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6236208" y="2468880"/>
            <a:ext cx="2615184" cy="1737360"/>
          </a:xfrm>
          <a:prstGeom prst="roundRect">
            <a:avLst>
              <a:gd name="adj" fmla="val 4211"/>
            </a:avLst>
          </a:prstGeom>
          <a:solidFill>
            <a:srgbClr val="1B2B32"/>
          </a:solidFill>
          <a:ln w="19050">
            <a:solidFill>
              <a:srgbClr val="E97A60"/>
            </a:solidFill>
            <a:prstDash val="solid"/>
          </a:ln>
        </p:spPr>
        <p:txBody>
          <a:bodyPr/>
          <a:lstStyle/>
          <a:p>
            <a:endParaRPr lang="en-IL"/>
          </a:p>
        </p:txBody>
      </p:sp>
      <p:sp>
        <p:nvSpPr>
          <p:cNvPr id="13" name="Text 11"/>
          <p:cNvSpPr/>
          <p:nvPr/>
        </p:nvSpPr>
        <p:spPr>
          <a:xfrm>
            <a:off x="6236208" y="2468880"/>
            <a:ext cx="2615184" cy="1737360"/>
          </a:xfrm>
          <a:prstGeom prst="rect">
            <a:avLst/>
          </a:prstGeom>
          <a:noFill/>
          <a:ln/>
        </p:spPr>
        <p:txBody>
          <a:bodyPr wrap="square" rtlCol="0" anchor="ctr"/>
          <a:lstStyle/>
          <a:p>
            <a:pPr marL="0" indent="0" algn="ctr">
              <a:buNone/>
            </a:pPr>
            <a:r>
              <a:rPr lang="en-US" sz="1500" b="1" dirty="0">
                <a:solidFill>
                  <a:srgbClr val="E97A60"/>
                </a:solidFill>
                <a:latin typeface="Calibri" pitchFamily="34" charset="0"/>
                <a:ea typeface="Calibri" pitchFamily="34" charset="-122"/>
                <a:cs typeface="Calibri" pitchFamily="34" charset="-120"/>
              </a:rPr>
              <a:t>3 · adapt</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design attacks aimed at my model's weak spots</a:t>
            </a:r>
            <a:endParaRPr lang="en-US" sz="1500" dirty="0"/>
          </a:p>
        </p:txBody>
      </p:sp>
      <p:sp>
        <p:nvSpPr>
          <p:cNvPr id="14" name="Text 12"/>
          <p:cNvSpPr/>
          <p:nvPr/>
        </p:nvSpPr>
        <p:spPr>
          <a:xfrm>
            <a:off x="8855964" y="3063240"/>
            <a:ext cx="219456" cy="548640"/>
          </a:xfrm>
          <a:prstGeom prst="rect">
            <a:avLst/>
          </a:prstGeom>
          <a:noFill/>
          <a:ln/>
        </p:spPr>
        <p:txBody>
          <a:bodyPr wrap="square" rtlCol="0" anchor="ctr"/>
          <a:lstStyle/>
          <a:p>
            <a:pPr marL="0" indent="0" algn="ctr">
              <a:buNone/>
            </a:pPr>
            <a:r>
              <a:rPr lang="en-US" sz="1800" dirty="0">
                <a:solidFill>
                  <a:srgbClr val="6E7F87"/>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9070848" y="2468880"/>
            <a:ext cx="2615184" cy="1737360"/>
          </a:xfrm>
          <a:prstGeom prst="roundRect">
            <a:avLst>
              <a:gd name="adj" fmla="val 4211"/>
            </a:avLst>
          </a:prstGeom>
          <a:solidFill>
            <a:srgbClr val="1B2B32"/>
          </a:solidFill>
          <a:ln w="19050">
            <a:solidFill>
              <a:srgbClr val="3CB6A6"/>
            </a:solidFill>
            <a:prstDash val="solid"/>
          </a:ln>
        </p:spPr>
        <p:txBody>
          <a:bodyPr/>
          <a:lstStyle/>
          <a:p>
            <a:endParaRPr lang="en-IL"/>
          </a:p>
        </p:txBody>
      </p:sp>
      <p:sp>
        <p:nvSpPr>
          <p:cNvPr id="16" name="Text 14"/>
          <p:cNvSpPr/>
          <p:nvPr/>
        </p:nvSpPr>
        <p:spPr>
          <a:xfrm>
            <a:off x="9070848" y="2468880"/>
            <a:ext cx="2615184" cy="173736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4 · defend</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fix each weakness — then attack the fix. Loop.</a:t>
            </a:r>
            <a:endParaRPr lang="en-US" sz="1500" dirty="0"/>
          </a:p>
        </p:txBody>
      </p:sp>
      <p:sp>
        <p:nvSpPr>
          <p:cNvPr id="17" name="Text 15"/>
          <p:cNvSpPr/>
          <p:nvPr/>
        </p:nvSpPr>
        <p:spPr>
          <a:xfrm>
            <a:off x="566928" y="4663440"/>
            <a:ext cx="11057839" cy="914400"/>
          </a:xfrm>
          <a:prstGeom prst="rect">
            <a:avLst/>
          </a:prstGeom>
          <a:noFill/>
          <a:ln/>
        </p:spPr>
        <p:txBody>
          <a:bodyPr wrap="square" rtlCol="0" anchor="t"/>
          <a:lstStyle/>
          <a:p>
            <a:pPr marL="0" indent="0">
              <a:buNone/>
            </a:pPr>
            <a:r>
              <a:rPr lang="en-US" sz="1600" b="1" dirty="0">
                <a:solidFill>
                  <a:srgbClr val="EAF0F1"/>
                </a:solidFill>
                <a:latin typeface="Calibri" pitchFamily="34" charset="0"/>
                <a:ea typeface="Calibri" pitchFamily="34" charset="-122"/>
                <a:cs typeface="Calibri" pitchFamily="34" charset="-120"/>
              </a:rPr>
              <a:t>The vulnerable versions you'll see are not failures. </a:t>
            </a:r>
            <a:r>
              <a:rPr lang="en-US" sz="1600" dirty="0">
                <a:solidFill>
                  <a:srgbClr val="95A6AD"/>
                </a:solidFill>
                <a:latin typeface="Calibri" pitchFamily="34" charset="0"/>
                <a:ea typeface="Calibri" pitchFamily="34" charset="-122"/>
                <a:cs typeface="Calibri" pitchFamily="34" charset="-120"/>
              </a:rPr>
              <a:t>Finding each weakness and closing it is the whole method — a score means nothing until you've tried to break it.</a:t>
            </a:r>
            <a:endParaRPr lang="en-US" sz="1600" dirty="0"/>
          </a:p>
        </p:txBody>
      </p:sp>
      <p:sp>
        <p:nvSpPr>
          <p:cNvPr id="18" name="Text 16"/>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the iterative loop is the contribution, not any single number</a:t>
            </a:r>
            <a:endParaRPr lang="en-US" sz="95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THE MODEL</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The classification pipeline.</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5</a:t>
            </a:r>
            <a:endParaRPr lang="en-US" sz="1100" dirty="0"/>
          </a:p>
        </p:txBody>
      </p:sp>
      <p:sp>
        <p:nvSpPr>
          <p:cNvPr id="6" name="Shape 4"/>
          <p:cNvSpPr/>
          <p:nvPr/>
        </p:nvSpPr>
        <p:spPr>
          <a:xfrm>
            <a:off x="566928" y="1536192"/>
            <a:ext cx="11057839" cy="676656"/>
          </a:xfrm>
          <a:prstGeom prst="roundRect">
            <a:avLst>
              <a:gd name="adj" fmla="val 8108"/>
            </a:avLst>
          </a:prstGeom>
          <a:solidFill>
            <a:srgbClr val="1B2B32"/>
          </a:solidFill>
          <a:ln w="12700">
            <a:solidFill>
              <a:srgbClr val="26363D"/>
            </a:solidFill>
            <a:prstDash val="solid"/>
          </a:ln>
        </p:spPr>
        <p:txBody>
          <a:bodyPr/>
          <a:lstStyle/>
          <a:p>
            <a:endParaRPr lang="en-IL"/>
          </a:p>
        </p:txBody>
      </p:sp>
      <p:sp>
        <p:nvSpPr>
          <p:cNvPr id="7" name="Text 5"/>
          <p:cNvSpPr/>
          <p:nvPr/>
        </p:nvSpPr>
        <p:spPr>
          <a:xfrm>
            <a:off x="768096" y="1600200"/>
            <a:ext cx="10655503" cy="274320"/>
          </a:xfrm>
          <a:prstGeom prst="rect">
            <a:avLst/>
          </a:prstGeom>
          <a:noFill/>
          <a:ln/>
        </p:spPr>
        <p:txBody>
          <a:bodyPr wrap="square" rtlCol="0" anchor="ctr"/>
          <a:lstStyle/>
          <a:p>
            <a:pPr marL="0" indent="0">
              <a:buNone/>
            </a:pPr>
            <a:r>
              <a:rPr lang="en-US" sz="1350" b="1" dirty="0">
                <a:solidFill>
                  <a:srgbClr val="EAF0F1"/>
                </a:solidFill>
                <a:latin typeface="Courier New" pitchFamily="34" charset="0"/>
                <a:ea typeface="Courier New" pitchFamily="34" charset="-122"/>
                <a:cs typeface="Courier New" pitchFamily="34" charset="-120"/>
              </a:rPr>
              <a:t>TF-IDF(t, d) = tf(t, d) × log( N / df(t) )</a:t>
            </a:r>
            <a:r>
              <a:rPr lang="en-US" sz="1150" dirty="0">
                <a:solidFill>
                  <a:srgbClr val="95A6AD"/>
                </a:solidFill>
                <a:latin typeface="Calibri" pitchFamily="34" charset="0"/>
                <a:ea typeface="Calibri" pitchFamily="34" charset="-122"/>
                <a:cs typeface="Calibri" pitchFamily="34" charset="-120"/>
              </a:rPr>
              <a:t>   a word's weight — how often it appears in this email, lowered if it appears in every email</a:t>
            </a:r>
            <a:endParaRPr lang="en-US" sz="1350" dirty="0"/>
          </a:p>
        </p:txBody>
      </p:sp>
      <p:sp>
        <p:nvSpPr>
          <p:cNvPr id="8" name="Text 6"/>
          <p:cNvSpPr/>
          <p:nvPr/>
        </p:nvSpPr>
        <p:spPr>
          <a:xfrm>
            <a:off x="768096" y="1892808"/>
            <a:ext cx="10655503" cy="274320"/>
          </a:xfrm>
          <a:prstGeom prst="rect">
            <a:avLst/>
          </a:prstGeom>
          <a:noFill/>
          <a:ln/>
        </p:spPr>
        <p:txBody>
          <a:bodyPr wrap="square" rtlCol="0" anchor="ctr"/>
          <a:lstStyle/>
          <a:p>
            <a:pPr marL="0" indent="0">
              <a:buNone/>
            </a:pPr>
            <a:r>
              <a:rPr lang="en-US" sz="1350" b="1" dirty="0">
                <a:solidFill>
                  <a:srgbClr val="EAF0F1"/>
                </a:solidFill>
                <a:latin typeface="Courier New" pitchFamily="34" charset="0"/>
                <a:ea typeface="Courier New" pitchFamily="34" charset="-122"/>
                <a:cs typeface="Courier New" pitchFamily="34" charset="-120"/>
              </a:rPr>
              <a:t>score = σ(w·x + b),   σ(z) = 1 / (1 + e^−z)</a:t>
            </a:r>
            <a:r>
              <a:rPr lang="en-US" sz="1150" dirty="0">
                <a:solidFill>
                  <a:srgbClr val="95A6AD"/>
                </a:solidFill>
                <a:latin typeface="Calibri" pitchFamily="34" charset="0"/>
                <a:ea typeface="Calibri" pitchFamily="34" charset="-122"/>
                <a:cs typeface="Calibri" pitchFamily="34" charset="-120"/>
              </a:rPr>
              <a:t>   add each word's weight × its TF-IDF, then squash to a probability between 0 and 1</a:t>
            </a:r>
            <a:endParaRPr lang="en-US" sz="1350" dirty="0"/>
          </a:p>
        </p:txBody>
      </p:sp>
      <p:sp>
        <p:nvSpPr>
          <p:cNvPr id="9" name="Shape 7"/>
          <p:cNvSpPr/>
          <p:nvPr/>
        </p:nvSpPr>
        <p:spPr>
          <a:xfrm>
            <a:off x="566928" y="2331720"/>
            <a:ext cx="1965960" cy="1371600"/>
          </a:xfrm>
          <a:prstGeom prst="roundRect">
            <a:avLst>
              <a:gd name="adj" fmla="val 5333"/>
            </a:avLst>
          </a:prstGeom>
          <a:solidFill>
            <a:srgbClr val="1B2B32"/>
          </a:solidFill>
          <a:ln w="19050">
            <a:solidFill>
              <a:srgbClr val="7D919B"/>
            </a:solidFill>
            <a:prstDash val="solid"/>
          </a:ln>
        </p:spPr>
        <p:txBody>
          <a:bodyPr/>
          <a:lstStyle/>
          <a:p>
            <a:endParaRPr lang="en-IL"/>
          </a:p>
        </p:txBody>
      </p:sp>
      <p:sp>
        <p:nvSpPr>
          <p:cNvPr id="10" name="Text 8"/>
          <p:cNvSpPr/>
          <p:nvPr/>
        </p:nvSpPr>
        <p:spPr>
          <a:xfrm>
            <a:off x="566928" y="2331720"/>
            <a:ext cx="1965960" cy="1371600"/>
          </a:xfrm>
          <a:prstGeom prst="rect">
            <a:avLst/>
          </a:prstGeom>
          <a:noFill/>
          <a:ln/>
        </p:spPr>
        <p:txBody>
          <a:bodyPr wrap="square" rtlCol="0" anchor="ctr"/>
          <a:lstStyle/>
          <a:p>
            <a:pPr marL="0" indent="0" algn="ctr">
              <a:buNone/>
            </a:pPr>
            <a:r>
              <a:rPr lang="en-US" sz="1500" b="1" dirty="0">
                <a:solidFill>
                  <a:srgbClr val="7D919B"/>
                </a:solidFill>
                <a:latin typeface="Calibri" pitchFamily="34" charset="0"/>
                <a:ea typeface="Calibri" pitchFamily="34" charset="-122"/>
                <a:cs typeface="Calibri" pitchFamily="34" charset="-120"/>
              </a:rPr>
              <a:t>Email</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the body</a:t>
            </a:r>
            <a:endParaRPr lang="en-US" sz="1500" dirty="0"/>
          </a:p>
        </p:txBody>
      </p:sp>
      <p:sp>
        <p:nvSpPr>
          <p:cNvPr id="11" name="Text 9"/>
          <p:cNvSpPr/>
          <p:nvPr/>
        </p:nvSpPr>
        <p:spPr>
          <a:xfrm>
            <a:off x="2551176" y="2651760"/>
            <a:ext cx="384048" cy="640080"/>
          </a:xfrm>
          <a:prstGeom prst="rect">
            <a:avLst/>
          </a:prstGeom>
          <a:noFill/>
          <a:ln/>
        </p:spPr>
        <p:txBody>
          <a:bodyPr wrap="square" rtlCol="0" anchor="ctr"/>
          <a:lstStyle/>
          <a:p>
            <a:pPr marL="0" indent="0" algn="ctr">
              <a:buNone/>
            </a:pPr>
            <a:r>
              <a:rPr lang="en-US" sz="2200" dirty="0">
                <a:solidFill>
                  <a:srgbClr val="6E7F87"/>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2916936" y="2331720"/>
            <a:ext cx="1965960" cy="1371600"/>
          </a:xfrm>
          <a:prstGeom prst="roundRect">
            <a:avLst>
              <a:gd name="adj" fmla="val 5333"/>
            </a:avLst>
          </a:prstGeom>
          <a:solidFill>
            <a:srgbClr val="1B2B32"/>
          </a:solidFill>
          <a:ln w="19050">
            <a:solidFill>
              <a:srgbClr val="7D919B"/>
            </a:solidFill>
            <a:prstDash val="solid"/>
          </a:ln>
        </p:spPr>
        <p:txBody>
          <a:bodyPr/>
          <a:lstStyle/>
          <a:p>
            <a:endParaRPr lang="en-IL"/>
          </a:p>
        </p:txBody>
      </p:sp>
      <p:sp>
        <p:nvSpPr>
          <p:cNvPr id="13" name="Text 11"/>
          <p:cNvSpPr/>
          <p:nvPr/>
        </p:nvSpPr>
        <p:spPr>
          <a:xfrm>
            <a:off x="2916936" y="2331720"/>
            <a:ext cx="1965960" cy="1371600"/>
          </a:xfrm>
          <a:prstGeom prst="rect">
            <a:avLst/>
          </a:prstGeom>
          <a:noFill/>
          <a:ln/>
        </p:spPr>
        <p:txBody>
          <a:bodyPr wrap="square" rtlCol="0" anchor="ctr"/>
          <a:lstStyle/>
          <a:p>
            <a:pPr marL="0" indent="0" algn="ctr">
              <a:buNone/>
            </a:pPr>
            <a:r>
              <a:rPr lang="en-US" sz="1500" b="1" dirty="0">
                <a:solidFill>
                  <a:srgbClr val="7D919B"/>
                </a:solidFill>
                <a:latin typeface="Calibri" pitchFamily="34" charset="0"/>
                <a:ea typeface="Calibri" pitchFamily="34" charset="-122"/>
                <a:cs typeface="Calibri" pitchFamily="34" charset="-120"/>
              </a:rPr>
              <a:t>Clean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strip links,</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fold look-alikes…</a:t>
            </a:r>
            <a:endParaRPr lang="en-US" sz="1500" dirty="0"/>
          </a:p>
        </p:txBody>
      </p:sp>
      <p:sp>
        <p:nvSpPr>
          <p:cNvPr id="14" name="Text 12"/>
          <p:cNvSpPr/>
          <p:nvPr/>
        </p:nvSpPr>
        <p:spPr>
          <a:xfrm>
            <a:off x="4901184" y="2651760"/>
            <a:ext cx="384048" cy="640080"/>
          </a:xfrm>
          <a:prstGeom prst="rect">
            <a:avLst/>
          </a:prstGeom>
          <a:noFill/>
          <a:ln/>
        </p:spPr>
        <p:txBody>
          <a:bodyPr wrap="square" rtlCol="0" anchor="ctr"/>
          <a:lstStyle/>
          <a:p>
            <a:pPr marL="0" indent="0" algn="ctr">
              <a:buNone/>
            </a:pPr>
            <a:r>
              <a:rPr lang="en-US" sz="2200" dirty="0">
                <a:solidFill>
                  <a:srgbClr val="6E7F87"/>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5266944" y="2331720"/>
            <a:ext cx="1965960" cy="1371600"/>
          </a:xfrm>
          <a:prstGeom prst="roundRect">
            <a:avLst>
              <a:gd name="adj" fmla="val 5333"/>
            </a:avLst>
          </a:prstGeom>
          <a:solidFill>
            <a:srgbClr val="1B2B32"/>
          </a:solidFill>
          <a:ln w="19050">
            <a:solidFill>
              <a:srgbClr val="3CB6A6"/>
            </a:solidFill>
            <a:prstDash val="solid"/>
          </a:ln>
        </p:spPr>
        <p:txBody>
          <a:bodyPr/>
          <a:lstStyle/>
          <a:p>
            <a:endParaRPr lang="en-IL"/>
          </a:p>
        </p:txBody>
      </p:sp>
      <p:sp>
        <p:nvSpPr>
          <p:cNvPr id="16" name="Text 14"/>
          <p:cNvSpPr/>
          <p:nvPr/>
        </p:nvSpPr>
        <p:spPr>
          <a:xfrm>
            <a:off x="5266944" y="2331720"/>
            <a:ext cx="1965960" cy="137160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TF-IDF</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word 1–2 grams</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 char 3–5 grams</a:t>
            </a:r>
            <a:endParaRPr lang="en-US" sz="1500" dirty="0"/>
          </a:p>
        </p:txBody>
      </p:sp>
      <p:sp>
        <p:nvSpPr>
          <p:cNvPr id="17" name="Text 15"/>
          <p:cNvSpPr/>
          <p:nvPr/>
        </p:nvSpPr>
        <p:spPr>
          <a:xfrm>
            <a:off x="7251192" y="2651760"/>
            <a:ext cx="384048" cy="640080"/>
          </a:xfrm>
          <a:prstGeom prst="rect">
            <a:avLst/>
          </a:prstGeom>
          <a:noFill/>
          <a:ln/>
        </p:spPr>
        <p:txBody>
          <a:bodyPr wrap="square" rtlCol="0" anchor="ctr"/>
          <a:lstStyle/>
          <a:p>
            <a:pPr marL="0" indent="0" algn="ctr">
              <a:buNone/>
            </a:pPr>
            <a:r>
              <a:rPr lang="en-US" sz="2200" dirty="0">
                <a:solidFill>
                  <a:srgbClr val="6E7F87"/>
                </a:solidFill>
                <a:latin typeface="Calibri" pitchFamily="34" charset="0"/>
                <a:ea typeface="Calibri" pitchFamily="34" charset="-122"/>
                <a:cs typeface="Calibri" pitchFamily="34" charset="-120"/>
              </a:rPr>
              <a:t>→</a:t>
            </a:r>
            <a:endParaRPr lang="en-US" sz="2200" dirty="0"/>
          </a:p>
        </p:txBody>
      </p:sp>
      <p:sp>
        <p:nvSpPr>
          <p:cNvPr id="18" name="Shape 16"/>
          <p:cNvSpPr/>
          <p:nvPr/>
        </p:nvSpPr>
        <p:spPr>
          <a:xfrm>
            <a:off x="7616952" y="2331720"/>
            <a:ext cx="1965960" cy="1371600"/>
          </a:xfrm>
          <a:prstGeom prst="roundRect">
            <a:avLst>
              <a:gd name="adj" fmla="val 5333"/>
            </a:avLst>
          </a:prstGeom>
          <a:solidFill>
            <a:srgbClr val="1B2B32"/>
          </a:solidFill>
          <a:ln w="19050">
            <a:solidFill>
              <a:srgbClr val="3CB6A6"/>
            </a:solidFill>
            <a:prstDash val="solid"/>
          </a:ln>
        </p:spPr>
        <p:txBody>
          <a:bodyPr/>
          <a:lstStyle/>
          <a:p>
            <a:endParaRPr lang="en-IL"/>
          </a:p>
        </p:txBody>
      </p:sp>
      <p:sp>
        <p:nvSpPr>
          <p:cNvPr id="19" name="Text 17"/>
          <p:cNvSpPr/>
          <p:nvPr/>
        </p:nvSpPr>
        <p:spPr>
          <a:xfrm>
            <a:off x="7616952" y="2331720"/>
            <a:ext cx="1965960" cy="137160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Union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one combined</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feature vector</a:t>
            </a:r>
            <a:endParaRPr lang="en-US" sz="1500" dirty="0"/>
          </a:p>
        </p:txBody>
      </p:sp>
      <p:sp>
        <p:nvSpPr>
          <p:cNvPr id="20" name="Text 18"/>
          <p:cNvSpPr/>
          <p:nvPr/>
        </p:nvSpPr>
        <p:spPr>
          <a:xfrm>
            <a:off x="9601200" y="2651760"/>
            <a:ext cx="384048" cy="640080"/>
          </a:xfrm>
          <a:prstGeom prst="rect">
            <a:avLst/>
          </a:prstGeom>
          <a:noFill/>
          <a:ln/>
        </p:spPr>
        <p:txBody>
          <a:bodyPr wrap="square" rtlCol="0" anchor="ctr"/>
          <a:lstStyle/>
          <a:p>
            <a:pPr marL="0" indent="0" algn="ctr">
              <a:buNone/>
            </a:pPr>
            <a:r>
              <a:rPr lang="en-US" sz="2200" dirty="0">
                <a:solidFill>
                  <a:srgbClr val="6E7F87"/>
                </a:solidFill>
                <a:latin typeface="Calibri" pitchFamily="34" charset="0"/>
                <a:ea typeface="Calibri" pitchFamily="34" charset="-122"/>
                <a:cs typeface="Calibri" pitchFamily="34" charset="-120"/>
              </a:rPr>
              <a:t>→</a:t>
            </a:r>
            <a:endParaRPr lang="en-US" sz="2200" dirty="0"/>
          </a:p>
        </p:txBody>
      </p:sp>
      <p:sp>
        <p:nvSpPr>
          <p:cNvPr id="21" name="Shape 19"/>
          <p:cNvSpPr/>
          <p:nvPr/>
        </p:nvSpPr>
        <p:spPr>
          <a:xfrm>
            <a:off x="9966960" y="2331720"/>
            <a:ext cx="1965960" cy="1371600"/>
          </a:xfrm>
          <a:prstGeom prst="roundRect">
            <a:avLst>
              <a:gd name="adj" fmla="val 5333"/>
            </a:avLst>
          </a:prstGeom>
          <a:solidFill>
            <a:srgbClr val="1B2B32"/>
          </a:solidFill>
          <a:ln w="19050">
            <a:solidFill>
              <a:srgbClr val="D4AB4E"/>
            </a:solidFill>
            <a:prstDash val="solid"/>
          </a:ln>
        </p:spPr>
        <p:txBody>
          <a:bodyPr/>
          <a:lstStyle/>
          <a:p>
            <a:endParaRPr lang="en-IL"/>
          </a:p>
        </p:txBody>
      </p:sp>
      <p:sp>
        <p:nvSpPr>
          <p:cNvPr id="22" name="Text 20"/>
          <p:cNvSpPr/>
          <p:nvPr/>
        </p:nvSpPr>
        <p:spPr>
          <a:xfrm>
            <a:off x="9966960" y="2331720"/>
            <a:ext cx="1965960" cy="1371600"/>
          </a:xfrm>
          <a:prstGeom prst="rect">
            <a:avLst/>
          </a:prstGeom>
          <a:noFill/>
          <a:ln/>
        </p:spPr>
        <p:txBody>
          <a:bodyPr wrap="square" rtlCol="0" anchor="ctr"/>
          <a:lstStyle/>
          <a:p>
            <a:pPr marL="0" indent="0" algn="ctr">
              <a:buNone/>
            </a:pPr>
            <a:r>
              <a:rPr lang="en-US" sz="1500" b="1" dirty="0">
                <a:solidFill>
                  <a:srgbClr val="D4AB4E"/>
                </a:solidFill>
                <a:latin typeface="Calibri" pitchFamily="34" charset="0"/>
                <a:ea typeface="Calibri" pitchFamily="34" charset="-122"/>
                <a:cs typeface="Calibri" pitchFamily="34" charset="-120"/>
              </a:rPr>
              <a:t>Logistic</a:t>
            </a:r>
            <a:endParaRPr lang="en-US" sz="1500" dirty="0"/>
          </a:p>
          <a:p>
            <a:pPr marL="0" indent="0" algn="ctr">
              <a:buNone/>
            </a:pPr>
            <a:r>
              <a:rPr lang="en-US" sz="1500" b="1" dirty="0">
                <a:solidFill>
                  <a:srgbClr val="D4AB4E"/>
                </a:solidFill>
                <a:latin typeface="Calibri" pitchFamily="34" charset="0"/>
                <a:ea typeface="Calibri" pitchFamily="34" charset="-122"/>
                <a:cs typeface="Calibri" pitchFamily="34" charset="-120"/>
              </a:rPr>
              <a:t>Regression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linear ·</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explainable</a:t>
            </a:r>
            <a:endParaRPr lang="en-US" sz="1500" dirty="0"/>
          </a:p>
        </p:txBody>
      </p:sp>
      <p:sp>
        <p:nvSpPr>
          <p:cNvPr id="23" name="Shape 21"/>
          <p:cNvSpPr/>
          <p:nvPr/>
        </p:nvSpPr>
        <p:spPr>
          <a:xfrm>
            <a:off x="566928" y="3977640"/>
            <a:ext cx="3291840" cy="502920"/>
          </a:xfrm>
          <a:prstGeom prst="roundRect">
            <a:avLst>
              <a:gd name="adj" fmla="val 49091"/>
            </a:avLst>
          </a:prstGeom>
          <a:solidFill>
            <a:srgbClr val="1B2B32"/>
          </a:solidFill>
          <a:ln w="12700">
            <a:solidFill>
              <a:srgbClr val="26363D"/>
            </a:solidFill>
            <a:prstDash val="solid"/>
          </a:ln>
        </p:spPr>
        <p:txBody>
          <a:bodyPr/>
          <a:lstStyle/>
          <a:p>
            <a:endParaRPr lang="en-IL"/>
          </a:p>
        </p:txBody>
      </p:sp>
      <p:sp>
        <p:nvSpPr>
          <p:cNvPr id="24" name="Shape 22"/>
          <p:cNvSpPr/>
          <p:nvPr/>
        </p:nvSpPr>
        <p:spPr>
          <a:xfrm>
            <a:off x="768096" y="4160520"/>
            <a:ext cx="146304" cy="146304"/>
          </a:xfrm>
          <a:prstGeom prst="ellipse">
            <a:avLst/>
          </a:prstGeom>
          <a:solidFill>
            <a:srgbClr val="3CB6A6"/>
          </a:solidFill>
          <a:ln/>
        </p:spPr>
        <p:txBody>
          <a:bodyPr/>
          <a:lstStyle/>
          <a:p>
            <a:endParaRPr lang="en-IL"/>
          </a:p>
        </p:txBody>
      </p:sp>
      <p:sp>
        <p:nvSpPr>
          <p:cNvPr id="25" name="Text 23"/>
          <p:cNvSpPr/>
          <p:nvPr/>
        </p:nvSpPr>
        <p:spPr>
          <a:xfrm>
            <a:off x="1024128" y="3977640"/>
            <a:ext cx="2743200" cy="502920"/>
          </a:xfrm>
          <a:prstGeom prst="rect">
            <a:avLst/>
          </a:prstGeom>
          <a:noFill/>
          <a:ln/>
        </p:spPr>
        <p:txBody>
          <a:bodyPr wrap="square" rtlCol="0" anchor="ctr"/>
          <a:lstStyle/>
          <a:p>
            <a:pPr marL="0" indent="0">
              <a:buNone/>
            </a:pPr>
            <a:r>
              <a:rPr lang="en-US" sz="1250" dirty="0">
                <a:solidFill>
                  <a:srgbClr val="EAF0F1"/>
                </a:solidFill>
                <a:latin typeface="Calibri" pitchFamily="34" charset="0"/>
                <a:ea typeface="Calibri" pitchFamily="34" charset="-122"/>
                <a:cs typeface="Calibri" pitchFamily="34" charset="-120"/>
              </a:rPr>
              <a:t>char n-grams → robustness</a:t>
            </a:r>
            <a:endParaRPr lang="en-US" sz="1250" dirty="0"/>
          </a:p>
        </p:txBody>
      </p:sp>
      <p:sp>
        <p:nvSpPr>
          <p:cNvPr id="26" name="Shape 24"/>
          <p:cNvSpPr/>
          <p:nvPr/>
        </p:nvSpPr>
        <p:spPr>
          <a:xfrm>
            <a:off x="4133088" y="3977640"/>
            <a:ext cx="3291840" cy="502920"/>
          </a:xfrm>
          <a:prstGeom prst="roundRect">
            <a:avLst>
              <a:gd name="adj" fmla="val 49091"/>
            </a:avLst>
          </a:prstGeom>
          <a:solidFill>
            <a:srgbClr val="1B2B32"/>
          </a:solidFill>
          <a:ln w="12700">
            <a:solidFill>
              <a:srgbClr val="26363D"/>
            </a:solidFill>
            <a:prstDash val="solid"/>
          </a:ln>
        </p:spPr>
        <p:txBody>
          <a:bodyPr/>
          <a:lstStyle/>
          <a:p>
            <a:endParaRPr lang="en-IL"/>
          </a:p>
        </p:txBody>
      </p:sp>
      <p:sp>
        <p:nvSpPr>
          <p:cNvPr id="27" name="Shape 25"/>
          <p:cNvSpPr/>
          <p:nvPr/>
        </p:nvSpPr>
        <p:spPr>
          <a:xfrm>
            <a:off x="4334256" y="4160520"/>
            <a:ext cx="146304" cy="146304"/>
          </a:xfrm>
          <a:prstGeom prst="ellipse">
            <a:avLst/>
          </a:prstGeom>
          <a:solidFill>
            <a:srgbClr val="5FA3C0"/>
          </a:solidFill>
          <a:ln/>
        </p:spPr>
        <p:txBody>
          <a:bodyPr/>
          <a:lstStyle/>
          <a:p>
            <a:endParaRPr lang="en-IL"/>
          </a:p>
        </p:txBody>
      </p:sp>
      <p:sp>
        <p:nvSpPr>
          <p:cNvPr id="28" name="Text 26"/>
          <p:cNvSpPr/>
          <p:nvPr/>
        </p:nvSpPr>
        <p:spPr>
          <a:xfrm>
            <a:off x="4590288" y="3977640"/>
            <a:ext cx="2743200" cy="502920"/>
          </a:xfrm>
          <a:prstGeom prst="rect">
            <a:avLst/>
          </a:prstGeom>
          <a:noFill/>
          <a:ln/>
        </p:spPr>
        <p:txBody>
          <a:bodyPr wrap="square" rtlCol="0" anchor="ctr"/>
          <a:lstStyle/>
          <a:p>
            <a:pPr marL="0" indent="0">
              <a:buNone/>
            </a:pPr>
            <a:r>
              <a:rPr lang="en-US" sz="1250" dirty="0">
                <a:solidFill>
                  <a:srgbClr val="EAF0F1"/>
                </a:solidFill>
                <a:latin typeface="Calibri" pitchFamily="34" charset="0"/>
                <a:ea typeface="Calibri" pitchFamily="34" charset="-122"/>
                <a:cs typeface="Calibri" pitchFamily="34" charset="-120"/>
              </a:rPr>
              <a:t>linear → explainable</a:t>
            </a:r>
            <a:endParaRPr lang="en-US" sz="1250" dirty="0"/>
          </a:p>
        </p:txBody>
      </p:sp>
      <p:sp>
        <p:nvSpPr>
          <p:cNvPr id="29" name="Shape 27"/>
          <p:cNvSpPr/>
          <p:nvPr/>
        </p:nvSpPr>
        <p:spPr>
          <a:xfrm>
            <a:off x="7699248" y="3977640"/>
            <a:ext cx="3291840" cy="502920"/>
          </a:xfrm>
          <a:prstGeom prst="roundRect">
            <a:avLst>
              <a:gd name="adj" fmla="val 49091"/>
            </a:avLst>
          </a:prstGeom>
          <a:solidFill>
            <a:srgbClr val="1B2B32"/>
          </a:solidFill>
          <a:ln w="12700">
            <a:solidFill>
              <a:srgbClr val="26363D"/>
            </a:solidFill>
            <a:prstDash val="solid"/>
          </a:ln>
        </p:spPr>
        <p:txBody>
          <a:bodyPr/>
          <a:lstStyle/>
          <a:p>
            <a:endParaRPr lang="en-IL"/>
          </a:p>
        </p:txBody>
      </p:sp>
      <p:sp>
        <p:nvSpPr>
          <p:cNvPr id="30" name="Shape 28"/>
          <p:cNvSpPr/>
          <p:nvPr/>
        </p:nvSpPr>
        <p:spPr>
          <a:xfrm>
            <a:off x="7900416" y="4160520"/>
            <a:ext cx="146304" cy="146304"/>
          </a:xfrm>
          <a:prstGeom prst="ellipse">
            <a:avLst/>
          </a:prstGeom>
          <a:solidFill>
            <a:srgbClr val="D4AB4E"/>
          </a:solidFill>
          <a:ln/>
        </p:spPr>
        <p:txBody>
          <a:bodyPr/>
          <a:lstStyle/>
          <a:p>
            <a:endParaRPr lang="en-IL"/>
          </a:p>
        </p:txBody>
      </p:sp>
      <p:sp>
        <p:nvSpPr>
          <p:cNvPr id="31" name="Text 29"/>
          <p:cNvSpPr/>
          <p:nvPr/>
        </p:nvSpPr>
        <p:spPr>
          <a:xfrm>
            <a:off x="8156448" y="3977640"/>
            <a:ext cx="2743200" cy="502920"/>
          </a:xfrm>
          <a:prstGeom prst="rect">
            <a:avLst/>
          </a:prstGeom>
          <a:noFill/>
          <a:ln/>
        </p:spPr>
        <p:txBody>
          <a:bodyPr wrap="square" rtlCol="0" anchor="ctr"/>
          <a:lstStyle/>
          <a:p>
            <a:pPr marL="0" indent="0">
              <a:buNone/>
            </a:pPr>
            <a:r>
              <a:rPr lang="en-US" sz="1250" dirty="0">
                <a:solidFill>
                  <a:srgbClr val="EAF0F1"/>
                </a:solidFill>
                <a:latin typeface="Calibri" pitchFamily="34" charset="0"/>
                <a:ea typeface="Calibri" pitchFamily="34" charset="-122"/>
                <a:cs typeface="Calibri" pitchFamily="34" charset="-120"/>
              </a:rPr>
              <a:t>URLs stripped → partner's job</a:t>
            </a:r>
            <a:endParaRPr lang="en-US" sz="1250" dirty="0"/>
          </a:p>
        </p:txBody>
      </p:sp>
      <p:sp>
        <p:nvSpPr>
          <p:cNvPr id="32" name="Text 30"/>
          <p:cNvSpPr/>
          <p:nvPr/>
        </p:nvSpPr>
        <p:spPr>
          <a:xfrm>
            <a:off x="566928" y="4709160"/>
            <a:ext cx="11057839" cy="1188720"/>
          </a:xfrm>
          <a:prstGeom prst="rect">
            <a:avLst/>
          </a:prstGeom>
          <a:noFill/>
          <a:ln/>
        </p:spPr>
        <p:txBody>
          <a:bodyPr wrap="square" rtlCol="0" anchor="t"/>
          <a:lstStyle/>
          <a:p>
            <a:pPr marL="0" indent="0">
              <a:buNone/>
            </a:pPr>
            <a:r>
              <a:rPr lang="en-US" sz="1500" b="1" dirty="0">
                <a:solidFill>
                  <a:srgbClr val="EAF0F1"/>
                </a:solidFill>
                <a:latin typeface="Calibri" pitchFamily="34" charset="0"/>
                <a:ea typeface="Calibri" pitchFamily="34" charset="-122"/>
                <a:cs typeface="Calibri" pitchFamily="34" charset="-120"/>
              </a:rPr>
              <a:t>Two views of the text. </a:t>
            </a:r>
            <a:r>
              <a:rPr lang="en-US" sz="1500" dirty="0">
                <a:solidFill>
                  <a:srgbClr val="95A6AD"/>
                </a:solidFill>
                <a:latin typeface="Calibri" pitchFamily="34" charset="0"/>
                <a:ea typeface="Calibri" pitchFamily="34" charset="-122"/>
                <a:cs typeface="Calibri" pitchFamily="34" charset="-120"/>
              </a:rPr>
              <a:t>Whole words give a readable, explainable signal; character chunks (‘cl1ck’ still shares ‘lic’, ‘ick’ with ‘click’) give robustness to letter tricks. Corpus: CEAS_08, 26,633 emails, rebalanced to a realistic 35% phishing.</a:t>
            </a:r>
            <a:endParaRPr lang="en-US" sz="1500" dirty="0"/>
          </a:p>
        </p:txBody>
      </p:sp>
      <p:sp>
        <p:nvSpPr>
          <p:cNvPr id="33" name="Text 31"/>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TF-IDF = how important a word/chunk is to this email vs the whole corpus</a:t>
            </a:r>
            <a:endParaRPr lang="en-US" sz="95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THE DATA</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2600" b="1" dirty="0">
                <a:solidFill>
                  <a:srgbClr val="EAF0F1"/>
                </a:solidFill>
                <a:latin typeface="Cambria" pitchFamily="34" charset="0"/>
                <a:ea typeface="Cambria" pitchFamily="34" charset="-122"/>
                <a:cs typeface="Cambria" pitchFamily="34" charset="-120"/>
              </a:rPr>
              <a:t>Datasets, and how I cleaned them.</a:t>
            </a:r>
            <a:endParaRPr lang="en-US" sz="26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6</a:t>
            </a:r>
            <a:endParaRPr lang="en-US" sz="1100" dirty="0"/>
          </a:p>
        </p:txBody>
      </p:sp>
      <p:sp>
        <p:nvSpPr>
          <p:cNvPr id="6" name="Text 4"/>
          <p:cNvSpPr/>
          <p:nvPr/>
        </p:nvSpPr>
        <p:spPr>
          <a:xfrm>
            <a:off x="566928" y="1600200"/>
            <a:ext cx="5669280" cy="274320"/>
          </a:xfrm>
          <a:prstGeom prst="rect">
            <a:avLst/>
          </a:prstGeom>
          <a:noFill/>
          <a:ln/>
        </p:spPr>
        <p:txBody>
          <a:bodyPr wrap="square" rtlCol="0" anchor="ctr"/>
          <a:lstStyle/>
          <a:p>
            <a:pPr marL="0" indent="0">
              <a:buNone/>
            </a:pPr>
            <a:r>
              <a:rPr lang="en-US" sz="1100" b="1" kern="0" spc="100" dirty="0">
                <a:solidFill>
                  <a:srgbClr val="5FA3C0"/>
                </a:solidFill>
                <a:latin typeface="Calibri" pitchFamily="34" charset="0"/>
                <a:ea typeface="Calibri" pitchFamily="34" charset="-122"/>
                <a:cs typeface="Calibri" pitchFamily="34" charset="-120"/>
              </a:rPr>
              <a:t>THE EMAIL SETS I USED</a:t>
            </a:r>
            <a:endParaRPr lang="en-US" sz="1100" dirty="0"/>
          </a:p>
        </p:txBody>
      </p:sp>
      <p:sp>
        <p:nvSpPr>
          <p:cNvPr id="7" name="Text 5"/>
          <p:cNvSpPr/>
          <p:nvPr/>
        </p:nvSpPr>
        <p:spPr>
          <a:xfrm>
            <a:off x="566928" y="1965960"/>
            <a:ext cx="4663440" cy="457200"/>
          </a:xfrm>
          <a:prstGeom prst="rect">
            <a:avLst/>
          </a:prstGeom>
          <a:noFill/>
          <a:ln/>
        </p:spPr>
        <p:txBody>
          <a:bodyPr wrap="square" rtlCol="0" anchor="ctr"/>
          <a:lstStyle/>
          <a:p>
            <a:pPr marL="0" indent="0">
              <a:buNone/>
            </a:pPr>
            <a:r>
              <a:rPr lang="en-US" sz="1250" b="1" dirty="0">
                <a:solidFill>
                  <a:srgbClr val="EAF0F1"/>
                </a:solidFill>
                <a:latin typeface="Calibri" pitchFamily="34" charset="0"/>
                <a:ea typeface="Calibri" pitchFamily="34" charset="-122"/>
                <a:cs typeface="Calibri" pitchFamily="34" charset="-120"/>
              </a:rPr>
              <a:t>CEAS_08  </a:t>
            </a:r>
            <a:r>
              <a:rPr lang="en-US" sz="1250" dirty="0">
                <a:solidFill>
                  <a:srgbClr val="95A6AD"/>
                </a:solidFill>
                <a:latin typeface="Calibri" pitchFamily="34" charset="0"/>
                <a:ea typeface="Calibri" pitchFamily="34" charset="-122"/>
                <a:cs typeface="Calibri" pitchFamily="34" charset="-120"/>
              </a:rPr>
              <a:t>main set — both classes, one source</a:t>
            </a:r>
            <a:endParaRPr lang="en-US" sz="1250" dirty="0"/>
          </a:p>
        </p:txBody>
      </p:sp>
      <p:sp>
        <p:nvSpPr>
          <p:cNvPr id="8" name="Text 6"/>
          <p:cNvSpPr/>
          <p:nvPr/>
        </p:nvSpPr>
        <p:spPr>
          <a:xfrm>
            <a:off x="5212080" y="1965960"/>
            <a:ext cx="1005840" cy="457200"/>
          </a:xfrm>
          <a:prstGeom prst="rect">
            <a:avLst/>
          </a:prstGeom>
          <a:noFill/>
          <a:ln/>
        </p:spPr>
        <p:txBody>
          <a:bodyPr wrap="square" rtlCol="0" anchor="ctr"/>
          <a:lstStyle/>
          <a:p>
            <a:pPr marL="0" indent="0" algn="r">
              <a:buNone/>
            </a:pPr>
            <a:r>
              <a:rPr lang="en-US" sz="1300" b="1" dirty="0">
                <a:solidFill>
                  <a:srgbClr val="3CB6A6"/>
                </a:solidFill>
                <a:latin typeface="Calibri" pitchFamily="34" charset="0"/>
                <a:ea typeface="Calibri" pitchFamily="34" charset="-122"/>
                <a:cs typeface="Calibri" pitchFamily="34" charset="-120"/>
              </a:rPr>
              <a:t>26,633</a:t>
            </a:r>
            <a:endParaRPr lang="en-US" sz="1300" dirty="0"/>
          </a:p>
        </p:txBody>
      </p:sp>
      <p:sp>
        <p:nvSpPr>
          <p:cNvPr id="9" name="Shape 7"/>
          <p:cNvSpPr/>
          <p:nvPr/>
        </p:nvSpPr>
        <p:spPr>
          <a:xfrm>
            <a:off x="566928" y="2441448"/>
            <a:ext cx="5669280" cy="0"/>
          </a:xfrm>
          <a:prstGeom prst="line">
            <a:avLst/>
          </a:prstGeom>
          <a:noFill/>
          <a:ln w="9525">
            <a:solidFill>
              <a:srgbClr val="26363D"/>
            </a:solidFill>
            <a:prstDash val="solid"/>
          </a:ln>
        </p:spPr>
        <p:txBody>
          <a:bodyPr/>
          <a:lstStyle/>
          <a:p>
            <a:endParaRPr lang="en-IL"/>
          </a:p>
        </p:txBody>
      </p:sp>
      <p:sp>
        <p:nvSpPr>
          <p:cNvPr id="10" name="Text 8"/>
          <p:cNvSpPr/>
          <p:nvPr/>
        </p:nvSpPr>
        <p:spPr>
          <a:xfrm>
            <a:off x="566928" y="2487168"/>
            <a:ext cx="4663440" cy="457200"/>
          </a:xfrm>
          <a:prstGeom prst="rect">
            <a:avLst/>
          </a:prstGeom>
          <a:noFill/>
          <a:ln/>
        </p:spPr>
        <p:txBody>
          <a:bodyPr wrap="square" rtlCol="0" anchor="ctr"/>
          <a:lstStyle/>
          <a:p>
            <a:pPr marL="0" indent="0">
              <a:buNone/>
            </a:pPr>
            <a:r>
              <a:rPr lang="en-US" sz="1250" b="1" dirty="0">
                <a:solidFill>
                  <a:srgbClr val="EAF0F1"/>
                </a:solidFill>
                <a:latin typeface="Calibri" pitchFamily="34" charset="0"/>
                <a:ea typeface="Calibri" pitchFamily="34" charset="-122"/>
                <a:cs typeface="Calibri" pitchFamily="34" charset="-120"/>
              </a:rPr>
              <a:t>Nazario / Enron / Ling  </a:t>
            </a:r>
            <a:r>
              <a:rPr lang="en-US" sz="1250" dirty="0">
                <a:solidFill>
                  <a:srgbClr val="95A6AD"/>
                </a:solidFill>
                <a:latin typeface="Calibri" pitchFamily="34" charset="0"/>
                <a:ea typeface="Calibri" pitchFamily="34" charset="-122"/>
                <a:cs typeface="Calibri" pitchFamily="34" charset="-120"/>
              </a:rPr>
              <a:t>other sources — fairness test</a:t>
            </a:r>
            <a:endParaRPr lang="en-US" sz="1250" dirty="0"/>
          </a:p>
        </p:txBody>
      </p:sp>
      <p:sp>
        <p:nvSpPr>
          <p:cNvPr id="11" name="Text 9"/>
          <p:cNvSpPr/>
          <p:nvPr/>
        </p:nvSpPr>
        <p:spPr>
          <a:xfrm>
            <a:off x="5212080" y="2487168"/>
            <a:ext cx="1005840" cy="457200"/>
          </a:xfrm>
          <a:prstGeom prst="rect">
            <a:avLst/>
          </a:prstGeom>
          <a:noFill/>
          <a:ln/>
        </p:spPr>
        <p:txBody>
          <a:bodyPr wrap="square" rtlCol="0" anchor="ctr"/>
          <a:lstStyle/>
          <a:p>
            <a:pPr marL="0" indent="0" algn="r">
              <a:buNone/>
            </a:pPr>
            <a:r>
              <a:rPr lang="en-US" sz="1300" dirty="0">
                <a:solidFill>
                  <a:srgbClr val="95A6AD"/>
                </a:solidFill>
                <a:latin typeface="Calibri" pitchFamily="34" charset="0"/>
                <a:ea typeface="Calibri" pitchFamily="34" charset="-122"/>
                <a:cs typeface="Calibri" pitchFamily="34" charset="-120"/>
              </a:rPr>
              <a:t>test only</a:t>
            </a:r>
            <a:endParaRPr lang="en-US" sz="1300" dirty="0"/>
          </a:p>
        </p:txBody>
      </p:sp>
      <p:sp>
        <p:nvSpPr>
          <p:cNvPr id="12" name="Shape 10"/>
          <p:cNvSpPr/>
          <p:nvPr/>
        </p:nvSpPr>
        <p:spPr>
          <a:xfrm>
            <a:off x="566928" y="2962656"/>
            <a:ext cx="5669280" cy="0"/>
          </a:xfrm>
          <a:prstGeom prst="line">
            <a:avLst/>
          </a:prstGeom>
          <a:noFill/>
          <a:ln w="9525">
            <a:solidFill>
              <a:srgbClr val="26363D"/>
            </a:solidFill>
            <a:prstDash val="solid"/>
          </a:ln>
        </p:spPr>
        <p:txBody>
          <a:bodyPr/>
          <a:lstStyle/>
          <a:p>
            <a:endParaRPr lang="en-IL"/>
          </a:p>
        </p:txBody>
      </p:sp>
      <p:sp>
        <p:nvSpPr>
          <p:cNvPr id="13" name="Text 11"/>
          <p:cNvSpPr/>
          <p:nvPr/>
        </p:nvSpPr>
        <p:spPr>
          <a:xfrm>
            <a:off x="566928" y="3008376"/>
            <a:ext cx="4663440" cy="457200"/>
          </a:xfrm>
          <a:prstGeom prst="rect">
            <a:avLst/>
          </a:prstGeom>
          <a:noFill/>
          <a:ln/>
        </p:spPr>
        <p:txBody>
          <a:bodyPr wrap="square" rtlCol="0" anchor="ctr"/>
          <a:lstStyle/>
          <a:p>
            <a:pPr marL="0" indent="0">
              <a:buNone/>
            </a:pPr>
            <a:r>
              <a:rPr lang="en-US" sz="1250" b="1" dirty="0">
                <a:solidFill>
                  <a:srgbClr val="EAF0F1"/>
                </a:solidFill>
                <a:latin typeface="Calibri" pitchFamily="34" charset="0"/>
                <a:ea typeface="Calibri" pitchFamily="34" charset="-122"/>
                <a:cs typeface="Calibri" pitchFamily="34" charset="-120"/>
              </a:rPr>
              <a:t>Real phishing 2023–2025  </a:t>
            </a:r>
            <a:r>
              <a:rPr lang="en-US" sz="1250" dirty="0">
                <a:solidFill>
                  <a:srgbClr val="95A6AD"/>
                </a:solidFill>
                <a:latin typeface="Calibri" pitchFamily="34" charset="0"/>
                <a:ea typeface="Calibri" pitchFamily="34" charset="-122"/>
                <a:cs typeface="Calibri" pitchFamily="34" charset="-120"/>
              </a:rPr>
              <a:t>modern scams</a:t>
            </a:r>
            <a:endParaRPr lang="en-US" sz="1250" dirty="0"/>
          </a:p>
        </p:txBody>
      </p:sp>
      <p:sp>
        <p:nvSpPr>
          <p:cNvPr id="14" name="Text 12"/>
          <p:cNvSpPr/>
          <p:nvPr/>
        </p:nvSpPr>
        <p:spPr>
          <a:xfrm>
            <a:off x="5212080" y="3008376"/>
            <a:ext cx="1005840" cy="457200"/>
          </a:xfrm>
          <a:prstGeom prst="rect">
            <a:avLst/>
          </a:prstGeom>
          <a:noFill/>
          <a:ln/>
        </p:spPr>
        <p:txBody>
          <a:bodyPr wrap="square" rtlCol="0" anchor="ctr"/>
          <a:lstStyle/>
          <a:p>
            <a:pPr marL="0" indent="0" algn="r">
              <a:buNone/>
            </a:pPr>
            <a:r>
              <a:rPr lang="en-US" sz="1300" dirty="0">
                <a:solidFill>
                  <a:srgbClr val="EAF0F1"/>
                </a:solidFill>
                <a:latin typeface="Calibri" pitchFamily="34" charset="0"/>
                <a:ea typeface="Calibri" pitchFamily="34" charset="-122"/>
                <a:cs typeface="Calibri" pitchFamily="34" charset="-120"/>
              </a:rPr>
              <a:t>1,303</a:t>
            </a:r>
            <a:endParaRPr lang="en-US" sz="1300" dirty="0"/>
          </a:p>
        </p:txBody>
      </p:sp>
      <p:sp>
        <p:nvSpPr>
          <p:cNvPr id="15" name="Shape 13"/>
          <p:cNvSpPr/>
          <p:nvPr/>
        </p:nvSpPr>
        <p:spPr>
          <a:xfrm>
            <a:off x="566928" y="3483864"/>
            <a:ext cx="5669280" cy="0"/>
          </a:xfrm>
          <a:prstGeom prst="line">
            <a:avLst/>
          </a:prstGeom>
          <a:noFill/>
          <a:ln w="9525">
            <a:solidFill>
              <a:srgbClr val="26363D"/>
            </a:solidFill>
            <a:prstDash val="solid"/>
          </a:ln>
        </p:spPr>
        <p:txBody>
          <a:bodyPr/>
          <a:lstStyle/>
          <a:p>
            <a:endParaRPr lang="en-IL"/>
          </a:p>
        </p:txBody>
      </p:sp>
      <p:sp>
        <p:nvSpPr>
          <p:cNvPr id="16" name="Text 14"/>
          <p:cNvSpPr/>
          <p:nvPr/>
        </p:nvSpPr>
        <p:spPr>
          <a:xfrm>
            <a:off x="566928" y="3529584"/>
            <a:ext cx="4663440" cy="457200"/>
          </a:xfrm>
          <a:prstGeom prst="rect">
            <a:avLst/>
          </a:prstGeom>
          <a:noFill/>
          <a:ln/>
        </p:spPr>
        <p:txBody>
          <a:bodyPr wrap="square" rtlCol="0" anchor="ctr"/>
          <a:lstStyle/>
          <a:p>
            <a:pPr marL="0" indent="0">
              <a:buNone/>
            </a:pPr>
            <a:r>
              <a:rPr lang="en-US" sz="1250" b="1" dirty="0">
                <a:solidFill>
                  <a:srgbClr val="EAF0F1"/>
                </a:solidFill>
                <a:latin typeface="Calibri" pitchFamily="34" charset="0"/>
                <a:ea typeface="Calibri" pitchFamily="34" charset="-122"/>
                <a:cs typeface="Calibri" pitchFamily="34" charset="-120"/>
              </a:rPr>
              <a:t>Recent normal mail 2024  </a:t>
            </a:r>
            <a:r>
              <a:rPr lang="en-US" sz="1250" dirty="0">
                <a:solidFill>
                  <a:srgbClr val="95A6AD"/>
                </a:solidFill>
                <a:latin typeface="Calibri" pitchFamily="34" charset="0"/>
                <a:ea typeface="Calibri" pitchFamily="34" charset="-122"/>
                <a:cs typeface="Calibri" pitchFamily="34" charset="-120"/>
              </a:rPr>
              <a:t>modern legit</a:t>
            </a:r>
            <a:endParaRPr lang="en-US" sz="1250" dirty="0"/>
          </a:p>
        </p:txBody>
      </p:sp>
      <p:sp>
        <p:nvSpPr>
          <p:cNvPr id="17" name="Text 15"/>
          <p:cNvSpPr/>
          <p:nvPr/>
        </p:nvSpPr>
        <p:spPr>
          <a:xfrm>
            <a:off x="5212080" y="3529584"/>
            <a:ext cx="1005840" cy="457200"/>
          </a:xfrm>
          <a:prstGeom prst="rect">
            <a:avLst/>
          </a:prstGeom>
          <a:noFill/>
          <a:ln/>
        </p:spPr>
        <p:txBody>
          <a:bodyPr wrap="square" rtlCol="0" anchor="ctr"/>
          <a:lstStyle/>
          <a:p>
            <a:pPr marL="0" indent="0" algn="r">
              <a:buNone/>
            </a:pPr>
            <a:r>
              <a:rPr lang="en-US" sz="1300" dirty="0">
                <a:solidFill>
                  <a:srgbClr val="EAF0F1"/>
                </a:solidFill>
                <a:latin typeface="Calibri" pitchFamily="34" charset="0"/>
                <a:ea typeface="Calibri" pitchFamily="34" charset="-122"/>
                <a:cs typeface="Calibri" pitchFamily="34" charset="-120"/>
              </a:rPr>
              <a:t>3,000</a:t>
            </a:r>
            <a:endParaRPr lang="en-US" sz="1300" dirty="0"/>
          </a:p>
        </p:txBody>
      </p:sp>
      <p:sp>
        <p:nvSpPr>
          <p:cNvPr id="18" name="Shape 16"/>
          <p:cNvSpPr/>
          <p:nvPr/>
        </p:nvSpPr>
        <p:spPr>
          <a:xfrm>
            <a:off x="566928" y="4005072"/>
            <a:ext cx="5669280" cy="0"/>
          </a:xfrm>
          <a:prstGeom prst="line">
            <a:avLst/>
          </a:prstGeom>
          <a:noFill/>
          <a:ln w="9525">
            <a:solidFill>
              <a:srgbClr val="26363D"/>
            </a:solidFill>
            <a:prstDash val="solid"/>
          </a:ln>
        </p:spPr>
        <p:txBody>
          <a:bodyPr/>
          <a:lstStyle/>
          <a:p>
            <a:endParaRPr lang="en-IL"/>
          </a:p>
        </p:txBody>
      </p:sp>
      <p:sp>
        <p:nvSpPr>
          <p:cNvPr id="19" name="Text 17"/>
          <p:cNvSpPr/>
          <p:nvPr/>
        </p:nvSpPr>
        <p:spPr>
          <a:xfrm>
            <a:off x="566928" y="4050792"/>
            <a:ext cx="4663440" cy="457200"/>
          </a:xfrm>
          <a:prstGeom prst="rect">
            <a:avLst/>
          </a:prstGeom>
          <a:noFill/>
          <a:ln/>
        </p:spPr>
        <p:txBody>
          <a:bodyPr wrap="square" rtlCol="0" anchor="ctr"/>
          <a:lstStyle/>
          <a:p>
            <a:pPr marL="0" indent="0">
              <a:buNone/>
            </a:pPr>
            <a:r>
              <a:rPr lang="en-US" sz="1250" b="1" dirty="0">
                <a:solidFill>
                  <a:srgbClr val="EAF0F1"/>
                </a:solidFill>
                <a:latin typeface="Calibri" pitchFamily="34" charset="0"/>
                <a:ea typeface="Calibri" pitchFamily="34" charset="-122"/>
                <a:cs typeface="Calibri" pitchFamily="34" charset="-120"/>
              </a:rPr>
              <a:t>SpamAssassin  </a:t>
            </a:r>
            <a:r>
              <a:rPr lang="en-US" sz="1250" dirty="0">
                <a:solidFill>
                  <a:srgbClr val="95A6AD"/>
                </a:solidFill>
                <a:latin typeface="Calibri" pitchFamily="34" charset="0"/>
                <a:ea typeface="Calibri" pitchFamily="34" charset="-122"/>
                <a:cs typeface="Calibri" pitchFamily="34" charset="-120"/>
              </a:rPr>
              <a:t>second set — re-check results</a:t>
            </a:r>
            <a:endParaRPr lang="en-US" sz="1250" dirty="0"/>
          </a:p>
        </p:txBody>
      </p:sp>
      <p:sp>
        <p:nvSpPr>
          <p:cNvPr id="20" name="Text 18"/>
          <p:cNvSpPr/>
          <p:nvPr/>
        </p:nvSpPr>
        <p:spPr>
          <a:xfrm>
            <a:off x="5212080" y="4050792"/>
            <a:ext cx="1005840" cy="457200"/>
          </a:xfrm>
          <a:prstGeom prst="rect">
            <a:avLst/>
          </a:prstGeom>
          <a:noFill/>
          <a:ln/>
        </p:spPr>
        <p:txBody>
          <a:bodyPr wrap="square" rtlCol="0" anchor="ctr"/>
          <a:lstStyle/>
          <a:p>
            <a:pPr marL="0" indent="0" algn="r">
              <a:buNone/>
            </a:pPr>
            <a:r>
              <a:rPr lang="en-US" sz="1300" dirty="0">
                <a:solidFill>
                  <a:srgbClr val="EAF0F1"/>
                </a:solidFill>
                <a:latin typeface="Calibri" pitchFamily="34" charset="0"/>
                <a:ea typeface="Calibri" pitchFamily="34" charset="-122"/>
                <a:cs typeface="Calibri" pitchFamily="34" charset="-120"/>
              </a:rPr>
              <a:t>5,809</a:t>
            </a:r>
            <a:endParaRPr lang="en-US" sz="1300" dirty="0"/>
          </a:p>
        </p:txBody>
      </p:sp>
      <p:sp>
        <p:nvSpPr>
          <p:cNvPr id="21" name="Shape 19"/>
          <p:cNvSpPr/>
          <p:nvPr/>
        </p:nvSpPr>
        <p:spPr>
          <a:xfrm>
            <a:off x="566928" y="4526280"/>
            <a:ext cx="5669280" cy="0"/>
          </a:xfrm>
          <a:prstGeom prst="line">
            <a:avLst/>
          </a:prstGeom>
          <a:noFill/>
          <a:ln w="9525">
            <a:solidFill>
              <a:srgbClr val="26363D"/>
            </a:solidFill>
            <a:prstDash val="solid"/>
          </a:ln>
        </p:spPr>
        <p:txBody>
          <a:bodyPr/>
          <a:lstStyle/>
          <a:p>
            <a:endParaRPr lang="en-IL"/>
          </a:p>
        </p:txBody>
      </p:sp>
      <p:sp>
        <p:nvSpPr>
          <p:cNvPr id="22" name="Shape 20"/>
          <p:cNvSpPr/>
          <p:nvPr/>
        </p:nvSpPr>
        <p:spPr>
          <a:xfrm>
            <a:off x="6537960" y="1600200"/>
            <a:ext cx="5074920" cy="2331720"/>
          </a:xfrm>
          <a:prstGeom prst="roundRect">
            <a:avLst>
              <a:gd name="adj" fmla="val 3137"/>
            </a:avLst>
          </a:prstGeom>
          <a:solidFill>
            <a:srgbClr val="1B2B32"/>
          </a:solidFill>
          <a:ln w="19050">
            <a:solidFill>
              <a:srgbClr val="3CB6A6"/>
            </a:solidFill>
            <a:prstDash val="solid"/>
          </a:ln>
        </p:spPr>
        <p:txBody>
          <a:bodyPr/>
          <a:lstStyle/>
          <a:p>
            <a:endParaRPr lang="en-IL"/>
          </a:p>
        </p:txBody>
      </p:sp>
      <p:sp>
        <p:nvSpPr>
          <p:cNvPr id="23" name="Text 21"/>
          <p:cNvSpPr/>
          <p:nvPr/>
        </p:nvSpPr>
        <p:spPr>
          <a:xfrm>
            <a:off x="6766560" y="1737360"/>
            <a:ext cx="4663440" cy="274320"/>
          </a:xfrm>
          <a:prstGeom prst="rect">
            <a:avLst/>
          </a:prstGeom>
          <a:noFill/>
          <a:ln/>
        </p:spPr>
        <p:txBody>
          <a:bodyPr wrap="square" rtlCol="0" anchor="ctr"/>
          <a:lstStyle/>
          <a:p>
            <a:pPr marL="0" indent="0">
              <a:buNone/>
            </a:pPr>
            <a:r>
              <a:rPr lang="en-US" sz="1100" b="1" kern="0" spc="100" dirty="0">
                <a:solidFill>
                  <a:srgbClr val="3CB6A6"/>
                </a:solidFill>
                <a:latin typeface="Calibri" pitchFamily="34" charset="0"/>
                <a:ea typeface="Calibri" pitchFamily="34" charset="-122"/>
                <a:cs typeface="Calibri" pitchFamily="34" charset="-120"/>
              </a:rPr>
              <a:t>HOW I CLEANED IT</a:t>
            </a:r>
            <a:endParaRPr lang="en-US" sz="1100" dirty="0"/>
          </a:p>
        </p:txBody>
      </p:sp>
      <p:sp>
        <p:nvSpPr>
          <p:cNvPr id="24" name="Text 22"/>
          <p:cNvSpPr/>
          <p:nvPr/>
        </p:nvSpPr>
        <p:spPr>
          <a:xfrm>
            <a:off x="6766560" y="2084832"/>
            <a:ext cx="274320" cy="274320"/>
          </a:xfrm>
          <a:prstGeom prst="rect">
            <a:avLst/>
          </a:prstGeom>
          <a:noFill/>
          <a:ln/>
        </p:spPr>
        <p:txBody>
          <a:bodyPr wrap="square" rtlCol="0" anchor="ctr"/>
          <a:lstStyle/>
          <a:p>
            <a:pPr marL="0" indent="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25" name="Text 23"/>
          <p:cNvSpPr/>
          <p:nvPr/>
        </p:nvSpPr>
        <p:spPr>
          <a:xfrm>
            <a:off x="7059168" y="2084832"/>
            <a:ext cx="4434840" cy="292608"/>
          </a:xfrm>
          <a:prstGeom prst="rect">
            <a:avLst/>
          </a:prstGeom>
          <a:noFill/>
          <a:ln/>
        </p:spPr>
        <p:txBody>
          <a:bodyPr wrap="square" rtlCol="0" anchor="ctr"/>
          <a:lstStyle/>
          <a:p>
            <a:pPr marL="0" indent="0">
              <a:buNone/>
            </a:pPr>
            <a:r>
              <a:rPr lang="en-US" sz="1250" dirty="0">
                <a:solidFill>
                  <a:srgbClr val="EAF0F1"/>
                </a:solidFill>
                <a:latin typeface="Calibri" pitchFamily="34" charset="0"/>
                <a:ea typeface="Calibri" pitchFamily="34" charset="-122"/>
                <a:cs typeface="Calibri" pitchFamily="34" charset="-120"/>
              </a:rPr>
              <a:t>strip web links (the partner's signal)</a:t>
            </a:r>
            <a:endParaRPr lang="en-US" sz="1250" dirty="0"/>
          </a:p>
        </p:txBody>
      </p:sp>
      <p:sp>
        <p:nvSpPr>
          <p:cNvPr id="26" name="Text 24"/>
          <p:cNvSpPr/>
          <p:nvPr/>
        </p:nvSpPr>
        <p:spPr>
          <a:xfrm>
            <a:off x="6766560" y="2391156"/>
            <a:ext cx="274320" cy="274320"/>
          </a:xfrm>
          <a:prstGeom prst="rect">
            <a:avLst/>
          </a:prstGeom>
          <a:noFill/>
          <a:ln/>
        </p:spPr>
        <p:txBody>
          <a:bodyPr wrap="square" rtlCol="0" anchor="ctr"/>
          <a:lstStyle/>
          <a:p>
            <a:pPr marL="0" indent="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7059168" y="2391156"/>
            <a:ext cx="4434840" cy="292608"/>
          </a:xfrm>
          <a:prstGeom prst="rect">
            <a:avLst/>
          </a:prstGeom>
          <a:noFill/>
          <a:ln/>
        </p:spPr>
        <p:txBody>
          <a:bodyPr wrap="square" rtlCol="0" anchor="ctr"/>
          <a:lstStyle/>
          <a:p>
            <a:pPr marL="0" indent="0">
              <a:buNone/>
            </a:pPr>
            <a:r>
              <a:rPr lang="en-US" sz="1250" dirty="0">
                <a:solidFill>
                  <a:srgbClr val="EAF0F1"/>
                </a:solidFill>
                <a:latin typeface="Calibri" pitchFamily="34" charset="0"/>
                <a:ea typeface="Calibri" pitchFamily="34" charset="-122"/>
                <a:cs typeface="Calibri" pitchFamily="34" charset="-120"/>
              </a:rPr>
              <a:t>tidy spacing · cut over-long mail</a:t>
            </a:r>
            <a:endParaRPr lang="en-US" sz="1250" dirty="0"/>
          </a:p>
        </p:txBody>
      </p:sp>
      <p:sp>
        <p:nvSpPr>
          <p:cNvPr id="28" name="Text 26"/>
          <p:cNvSpPr/>
          <p:nvPr/>
        </p:nvSpPr>
        <p:spPr>
          <a:xfrm>
            <a:off x="6766560" y="2697480"/>
            <a:ext cx="274320" cy="274320"/>
          </a:xfrm>
          <a:prstGeom prst="rect">
            <a:avLst/>
          </a:prstGeom>
          <a:noFill/>
          <a:ln/>
        </p:spPr>
        <p:txBody>
          <a:bodyPr wrap="square" rtlCol="0" anchor="ctr"/>
          <a:lstStyle/>
          <a:p>
            <a:pPr marL="0" indent="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7059168" y="2697480"/>
            <a:ext cx="4434840" cy="292608"/>
          </a:xfrm>
          <a:prstGeom prst="rect">
            <a:avLst/>
          </a:prstGeom>
          <a:noFill/>
          <a:ln/>
        </p:spPr>
        <p:txBody>
          <a:bodyPr wrap="square" rtlCol="0" anchor="ctr"/>
          <a:lstStyle/>
          <a:p>
            <a:pPr marL="0" indent="0">
              <a:buNone/>
            </a:pPr>
            <a:r>
              <a:rPr lang="en-US" sz="1250" dirty="0">
                <a:solidFill>
                  <a:srgbClr val="EAF0F1"/>
                </a:solidFill>
                <a:latin typeface="Calibri" pitchFamily="34" charset="0"/>
                <a:ea typeface="Calibri" pitchFamily="34" charset="-122"/>
                <a:cs typeface="Calibri" pitchFamily="34" charset="-120"/>
              </a:rPr>
              <a:t>drop duplicates before splitting</a:t>
            </a:r>
            <a:endParaRPr lang="en-US" sz="1250" dirty="0"/>
          </a:p>
        </p:txBody>
      </p:sp>
      <p:sp>
        <p:nvSpPr>
          <p:cNvPr id="30" name="Text 28"/>
          <p:cNvSpPr/>
          <p:nvPr/>
        </p:nvSpPr>
        <p:spPr>
          <a:xfrm>
            <a:off x="6766560" y="3003804"/>
            <a:ext cx="274320" cy="274320"/>
          </a:xfrm>
          <a:prstGeom prst="rect">
            <a:avLst/>
          </a:prstGeom>
          <a:noFill/>
          <a:ln/>
        </p:spPr>
        <p:txBody>
          <a:bodyPr wrap="square" rtlCol="0" anchor="ctr"/>
          <a:lstStyle/>
          <a:p>
            <a:pPr marL="0" indent="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31" name="Text 29"/>
          <p:cNvSpPr/>
          <p:nvPr/>
        </p:nvSpPr>
        <p:spPr>
          <a:xfrm>
            <a:off x="7059168" y="3003804"/>
            <a:ext cx="4434840" cy="292608"/>
          </a:xfrm>
          <a:prstGeom prst="rect">
            <a:avLst/>
          </a:prstGeom>
          <a:noFill/>
          <a:ln/>
        </p:spPr>
        <p:txBody>
          <a:bodyPr wrap="square" rtlCol="0" anchor="ctr"/>
          <a:lstStyle/>
          <a:p>
            <a:pPr marL="0" indent="0">
              <a:buNone/>
            </a:pPr>
            <a:r>
              <a:rPr lang="en-US" sz="1250" dirty="0">
                <a:solidFill>
                  <a:srgbClr val="EAF0F1"/>
                </a:solidFill>
                <a:latin typeface="Calibri" pitchFamily="34" charset="0"/>
                <a:ea typeface="Calibri" pitchFamily="34" charset="-122"/>
                <a:cs typeface="Calibri" pitchFamily="34" charset="-120"/>
              </a:rPr>
              <a:t>balance to a realistic 35% phishing</a:t>
            </a:r>
            <a:endParaRPr lang="en-US" sz="1250" dirty="0"/>
          </a:p>
        </p:txBody>
      </p:sp>
      <p:sp>
        <p:nvSpPr>
          <p:cNvPr id="32" name="Text 30"/>
          <p:cNvSpPr/>
          <p:nvPr/>
        </p:nvSpPr>
        <p:spPr>
          <a:xfrm>
            <a:off x="6766560" y="3310128"/>
            <a:ext cx="274320" cy="274320"/>
          </a:xfrm>
          <a:prstGeom prst="rect">
            <a:avLst/>
          </a:prstGeom>
          <a:noFill/>
          <a:ln/>
        </p:spPr>
        <p:txBody>
          <a:bodyPr wrap="square" rtlCol="0" anchor="ctr"/>
          <a:lstStyle/>
          <a:p>
            <a:pPr marL="0" indent="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33" name="Text 31"/>
          <p:cNvSpPr/>
          <p:nvPr/>
        </p:nvSpPr>
        <p:spPr>
          <a:xfrm>
            <a:off x="7059168" y="3310128"/>
            <a:ext cx="4434840" cy="292608"/>
          </a:xfrm>
          <a:prstGeom prst="rect">
            <a:avLst/>
          </a:prstGeom>
          <a:noFill/>
          <a:ln/>
        </p:spPr>
        <p:txBody>
          <a:bodyPr wrap="square" rtlCol="0" anchor="ctr"/>
          <a:lstStyle/>
          <a:p>
            <a:pPr marL="0" indent="0">
              <a:buNone/>
            </a:pPr>
            <a:r>
              <a:rPr lang="en-US" sz="1250" dirty="0">
                <a:solidFill>
                  <a:srgbClr val="EAF0F1"/>
                </a:solidFill>
                <a:latin typeface="Calibri" pitchFamily="34" charset="0"/>
                <a:ea typeface="Calibri" pitchFamily="34" charset="-122"/>
                <a:cs typeface="Calibri" pitchFamily="34" charset="-120"/>
              </a:rPr>
              <a:t>split 60 / 20 / 20 with a fixed seed</a:t>
            </a:r>
            <a:endParaRPr lang="en-US" sz="1250" dirty="0"/>
          </a:p>
        </p:txBody>
      </p:sp>
      <p:sp>
        <p:nvSpPr>
          <p:cNvPr id="34" name="Text 32"/>
          <p:cNvSpPr/>
          <p:nvPr/>
        </p:nvSpPr>
        <p:spPr>
          <a:xfrm>
            <a:off x="6766560" y="3616452"/>
            <a:ext cx="274320" cy="274320"/>
          </a:xfrm>
          <a:prstGeom prst="rect">
            <a:avLst/>
          </a:prstGeom>
          <a:noFill/>
          <a:ln/>
        </p:spPr>
        <p:txBody>
          <a:bodyPr wrap="square" rtlCol="0" anchor="ctr"/>
          <a:lstStyle/>
          <a:p>
            <a:pPr marL="0" indent="0">
              <a:buNone/>
            </a:pPr>
            <a:r>
              <a:rPr lang="en-US" sz="1200" b="1" dirty="0">
                <a:solidFill>
                  <a:srgbClr val="3CB6A6"/>
                </a:solidFill>
                <a:latin typeface="Calibri" pitchFamily="34" charset="0"/>
                <a:ea typeface="Calibri" pitchFamily="34" charset="-122"/>
                <a:cs typeface="Calibri" pitchFamily="34" charset="-120"/>
              </a:rPr>
              <a:t>✓</a:t>
            </a:r>
            <a:endParaRPr lang="en-US" sz="1200" dirty="0"/>
          </a:p>
        </p:txBody>
      </p:sp>
      <p:sp>
        <p:nvSpPr>
          <p:cNvPr id="35" name="Text 33"/>
          <p:cNvSpPr/>
          <p:nvPr/>
        </p:nvSpPr>
        <p:spPr>
          <a:xfrm>
            <a:off x="7059168" y="3616452"/>
            <a:ext cx="4434840" cy="292608"/>
          </a:xfrm>
          <a:prstGeom prst="rect">
            <a:avLst/>
          </a:prstGeom>
          <a:noFill/>
          <a:ln/>
        </p:spPr>
        <p:txBody>
          <a:bodyPr wrap="square" rtlCol="0" anchor="ctr"/>
          <a:lstStyle/>
          <a:p>
            <a:pPr marL="0" indent="0">
              <a:buNone/>
            </a:pPr>
            <a:r>
              <a:rPr lang="en-US" sz="1250" dirty="0">
                <a:solidFill>
                  <a:srgbClr val="EAF0F1"/>
                </a:solidFill>
                <a:latin typeface="Calibri" pitchFamily="34" charset="0"/>
                <a:ea typeface="Calibri" pitchFamily="34" charset="-122"/>
                <a:cs typeface="Calibri" pitchFamily="34" charset="-120"/>
              </a:rPr>
              <a:t>hash everything → exact reproduction</a:t>
            </a:r>
            <a:endParaRPr lang="en-US" sz="1250" dirty="0"/>
          </a:p>
        </p:txBody>
      </p:sp>
      <p:sp>
        <p:nvSpPr>
          <p:cNvPr id="36" name="Shape 34"/>
          <p:cNvSpPr/>
          <p:nvPr/>
        </p:nvSpPr>
        <p:spPr>
          <a:xfrm>
            <a:off x="6537960" y="4114800"/>
            <a:ext cx="5074920" cy="1737360"/>
          </a:xfrm>
          <a:prstGeom prst="roundRect">
            <a:avLst>
              <a:gd name="adj" fmla="val 3684"/>
            </a:avLst>
          </a:prstGeom>
          <a:solidFill>
            <a:srgbClr val="1B2B32"/>
          </a:solidFill>
          <a:ln w="12700">
            <a:solidFill>
              <a:srgbClr val="26363D"/>
            </a:solidFill>
            <a:prstDash val="solid"/>
          </a:ln>
        </p:spPr>
        <p:txBody>
          <a:bodyPr/>
          <a:lstStyle/>
          <a:p>
            <a:endParaRPr lang="en-IL"/>
          </a:p>
        </p:txBody>
      </p:sp>
      <p:sp>
        <p:nvSpPr>
          <p:cNvPr id="37" name="Shape 35"/>
          <p:cNvSpPr/>
          <p:nvPr/>
        </p:nvSpPr>
        <p:spPr>
          <a:xfrm>
            <a:off x="6537960" y="4242816"/>
            <a:ext cx="54864" cy="1481328"/>
          </a:xfrm>
          <a:prstGeom prst="rect">
            <a:avLst/>
          </a:prstGeom>
          <a:solidFill>
            <a:srgbClr val="D4AB4E"/>
          </a:solidFill>
          <a:ln/>
        </p:spPr>
        <p:txBody>
          <a:bodyPr/>
          <a:lstStyle/>
          <a:p>
            <a:endParaRPr lang="en-IL"/>
          </a:p>
        </p:txBody>
      </p:sp>
      <p:sp>
        <p:nvSpPr>
          <p:cNvPr id="38" name="Text 36"/>
          <p:cNvSpPr/>
          <p:nvPr/>
        </p:nvSpPr>
        <p:spPr>
          <a:xfrm>
            <a:off x="6757416" y="4261104"/>
            <a:ext cx="4709160" cy="274320"/>
          </a:xfrm>
          <a:prstGeom prst="rect">
            <a:avLst/>
          </a:prstGeom>
          <a:noFill/>
          <a:ln/>
        </p:spPr>
        <p:txBody>
          <a:bodyPr wrap="square" rtlCol="0" anchor="ctr"/>
          <a:lstStyle/>
          <a:p>
            <a:pPr marL="0" indent="0">
              <a:buNone/>
            </a:pPr>
            <a:r>
              <a:rPr lang="en-US" sz="1050" b="1" kern="0" spc="100" dirty="0">
                <a:solidFill>
                  <a:srgbClr val="D4AB4E"/>
                </a:solidFill>
                <a:latin typeface="Calibri" pitchFamily="34" charset="0"/>
                <a:ea typeface="Calibri" pitchFamily="34" charset="-122"/>
                <a:cs typeface="Calibri" pitchFamily="34" charset="-120"/>
              </a:rPr>
              <a:t>THE KEY CHOICE</a:t>
            </a:r>
            <a:endParaRPr lang="en-US" sz="1050" dirty="0"/>
          </a:p>
        </p:txBody>
      </p:sp>
      <p:sp>
        <p:nvSpPr>
          <p:cNvPr id="39" name="Text 37"/>
          <p:cNvSpPr/>
          <p:nvPr/>
        </p:nvSpPr>
        <p:spPr>
          <a:xfrm>
            <a:off x="6757416" y="4572000"/>
            <a:ext cx="4672584" cy="1133856"/>
          </a:xfrm>
          <a:prstGeom prst="rect">
            <a:avLst/>
          </a:prstGeom>
          <a:noFill/>
          <a:ln/>
        </p:spPr>
        <p:txBody>
          <a:bodyPr wrap="square" rtlCol="0" anchor="t"/>
          <a:lstStyle/>
          <a:p>
            <a:pPr marL="0" indent="0">
              <a:lnSpc>
                <a:spcPct val="112000"/>
              </a:lnSpc>
              <a:buNone/>
            </a:pPr>
            <a:r>
              <a:rPr lang="en-US" sz="1250" b="1" dirty="0">
                <a:solidFill>
                  <a:srgbClr val="EAF0F1"/>
                </a:solidFill>
                <a:latin typeface="Calibri" pitchFamily="34" charset="0"/>
                <a:ea typeface="Calibri" pitchFamily="34" charset="-122"/>
                <a:cs typeface="Calibri" pitchFamily="34" charset="-120"/>
              </a:rPr>
              <a:t>A quick test can guess an email’s source 99% of the time. </a:t>
            </a:r>
            <a:r>
              <a:rPr lang="en-US" sz="1250" dirty="0">
                <a:solidFill>
                  <a:srgbClr val="95A6AD"/>
                </a:solidFill>
                <a:latin typeface="Calibri" pitchFamily="34" charset="0"/>
                <a:ea typeface="Calibri" pitchFamily="34" charset="-122"/>
                <a:cs typeface="Calibri" pitchFamily="34" charset="-120"/>
              </a:rPr>
              <a:t>So I train on one source (CEAS) that already has both phishing and normal mail — otherwise the model could “cheat” by spotting the source instead of the scam.</a:t>
            </a:r>
            <a:endParaRPr lang="en-US" sz="1250" dirty="0"/>
          </a:p>
        </p:txBody>
      </p:sp>
      <p:sp>
        <p:nvSpPr>
          <p:cNvPr id="40" name="Shape 38"/>
          <p:cNvSpPr/>
          <p:nvPr/>
        </p:nvSpPr>
        <p:spPr>
          <a:xfrm>
            <a:off x="566928" y="4114800"/>
            <a:ext cx="5669280" cy="1737360"/>
          </a:xfrm>
          <a:prstGeom prst="roundRect">
            <a:avLst>
              <a:gd name="adj" fmla="val 3684"/>
            </a:avLst>
          </a:prstGeom>
          <a:solidFill>
            <a:srgbClr val="1B2B32"/>
          </a:solidFill>
          <a:ln w="12700">
            <a:solidFill>
              <a:srgbClr val="26363D"/>
            </a:solidFill>
            <a:prstDash val="solid"/>
          </a:ln>
        </p:spPr>
        <p:txBody>
          <a:bodyPr/>
          <a:lstStyle/>
          <a:p>
            <a:endParaRPr lang="en-IL"/>
          </a:p>
        </p:txBody>
      </p:sp>
      <p:sp>
        <p:nvSpPr>
          <p:cNvPr id="41" name="Shape 39"/>
          <p:cNvSpPr/>
          <p:nvPr/>
        </p:nvSpPr>
        <p:spPr>
          <a:xfrm>
            <a:off x="566928" y="4242816"/>
            <a:ext cx="54864" cy="1481328"/>
          </a:xfrm>
          <a:prstGeom prst="rect">
            <a:avLst/>
          </a:prstGeom>
          <a:solidFill>
            <a:srgbClr val="5FA3C0"/>
          </a:solidFill>
          <a:ln/>
        </p:spPr>
        <p:txBody>
          <a:bodyPr/>
          <a:lstStyle/>
          <a:p>
            <a:endParaRPr lang="en-IL"/>
          </a:p>
        </p:txBody>
      </p:sp>
      <p:sp>
        <p:nvSpPr>
          <p:cNvPr id="42" name="Text 40"/>
          <p:cNvSpPr/>
          <p:nvPr/>
        </p:nvSpPr>
        <p:spPr>
          <a:xfrm>
            <a:off x="786384" y="4261104"/>
            <a:ext cx="5303520" cy="274320"/>
          </a:xfrm>
          <a:prstGeom prst="rect">
            <a:avLst/>
          </a:prstGeom>
          <a:noFill/>
          <a:ln/>
        </p:spPr>
        <p:txBody>
          <a:bodyPr wrap="square" rtlCol="0" anchor="ctr"/>
          <a:lstStyle/>
          <a:p>
            <a:pPr marL="0" indent="0">
              <a:buNone/>
            </a:pPr>
            <a:r>
              <a:rPr lang="en-US" sz="1050" b="1" kern="0" spc="100" dirty="0">
                <a:solidFill>
                  <a:srgbClr val="5FA3C0"/>
                </a:solidFill>
                <a:latin typeface="Calibri" pitchFamily="34" charset="0"/>
                <a:ea typeface="Calibri" pitchFamily="34" charset="-122"/>
                <a:cs typeface="Calibri" pitchFamily="34" charset="-120"/>
              </a:rPr>
              <a:t>TWO QUICK DATA CHECKS</a:t>
            </a:r>
            <a:endParaRPr lang="en-US" sz="1050" dirty="0"/>
          </a:p>
        </p:txBody>
      </p:sp>
      <p:sp>
        <p:nvSpPr>
          <p:cNvPr id="43" name="Text 41"/>
          <p:cNvSpPr/>
          <p:nvPr/>
        </p:nvSpPr>
        <p:spPr>
          <a:xfrm>
            <a:off x="786384" y="4572000"/>
            <a:ext cx="5266944" cy="1133856"/>
          </a:xfrm>
          <a:prstGeom prst="rect">
            <a:avLst/>
          </a:prstGeom>
          <a:noFill/>
          <a:ln/>
        </p:spPr>
        <p:txBody>
          <a:bodyPr wrap="square" rtlCol="0" anchor="t"/>
          <a:lstStyle/>
          <a:p>
            <a:pPr marL="0" indent="0">
              <a:lnSpc>
                <a:spcPct val="112000"/>
              </a:lnSpc>
              <a:buNone/>
            </a:pPr>
            <a:r>
              <a:rPr lang="en-US" sz="1250" b="1" dirty="0">
                <a:solidFill>
                  <a:srgbClr val="EAF0F1"/>
                </a:solidFill>
                <a:latin typeface="Calibri" pitchFamily="34" charset="0"/>
                <a:ea typeface="Calibri" pitchFamily="34" charset="-122"/>
                <a:cs typeface="Calibri" pitchFamily="34" charset="-120"/>
              </a:rPr>
              <a:t>Real emails are almost all plain text </a:t>
            </a:r>
            <a:r>
              <a:rPr lang="en-US" sz="1250" dirty="0">
                <a:solidFill>
                  <a:srgbClr val="95A6AD"/>
                </a:solidFill>
                <a:latin typeface="Calibri" pitchFamily="34" charset="0"/>
                <a:ea typeface="Calibri" pitchFamily="34" charset="-122"/>
                <a:cs typeface="Calibri" pitchFamily="34" charset="-120"/>
              </a:rPr>
              <a:t>(the clean baseline the look-alike-letter attack later breaks). And the dates are clean — 99.7% fall in 2007–2009, with none of the fake “1970” dates you get when a missing date is filled with a zero.</a:t>
            </a:r>
            <a:endParaRPr lang="en-US" sz="1250" dirty="0"/>
          </a:p>
        </p:txBody>
      </p:sp>
      <p:sp>
        <p:nvSpPr>
          <p:cNvPr id="44" name="Text 42"/>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one mixed set, cleaned and hashed so the results reproduce</a:t>
            </a:r>
            <a:endParaRPr lang="en-US" sz="95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EDA</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How the simple features relate.</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7</a:t>
            </a:r>
            <a:endParaRPr lang="en-US" sz="1100" dirty="0"/>
          </a:p>
        </p:txBody>
      </p:sp>
      <p:pic>
        <p:nvPicPr>
          <p:cNvPr id="6" name="Image 0" descr="./figs/F11_dark.png"/>
          <p:cNvPicPr>
            <a:picLocks noChangeAspect="1"/>
          </p:cNvPicPr>
          <p:nvPr/>
        </p:nvPicPr>
        <p:blipFill>
          <a:blip r:embed="rId3"/>
          <a:srcRect/>
          <a:stretch/>
        </p:blipFill>
        <p:spPr>
          <a:xfrm>
            <a:off x="640080" y="1645920"/>
            <a:ext cx="6126480" cy="4572000"/>
          </a:xfrm>
          <a:prstGeom prst="rect">
            <a:avLst/>
          </a:prstGeom>
        </p:spPr>
      </p:pic>
      <p:sp>
        <p:nvSpPr>
          <p:cNvPr id="7" name="Text 4"/>
          <p:cNvSpPr/>
          <p:nvPr/>
        </p:nvSpPr>
        <p:spPr>
          <a:xfrm>
            <a:off x="7040880" y="1920240"/>
            <a:ext cx="4572000" cy="1188720"/>
          </a:xfrm>
          <a:prstGeom prst="rect">
            <a:avLst/>
          </a:prstGeom>
          <a:noFill/>
          <a:ln/>
        </p:spPr>
        <p:txBody>
          <a:bodyPr wrap="square" rtlCol="0" anchor="ctr"/>
          <a:lstStyle/>
          <a:p>
            <a:pPr marL="0" indent="0">
              <a:buNone/>
            </a:pPr>
            <a:r>
              <a:rPr lang="en-US" sz="1600" b="1" dirty="0">
                <a:solidFill>
                  <a:srgbClr val="EAF0F1"/>
                </a:solidFill>
              </a:rPr>
              <a:t>What to read here.</a:t>
            </a:r>
            <a:endParaRPr lang="en-US" sz="1600" dirty="0"/>
          </a:p>
          <a:p>
            <a:pPr marL="0" indent="0">
              <a:buNone/>
            </a:pPr>
            <a:r>
              <a:rPr lang="en-US" sz="1400" dirty="0">
                <a:solidFill>
                  <a:srgbClr val="95A6AD"/>
                </a:solidFill>
              </a:rPr>
              <a:t>Each cell is how strongly two features move together (Spearman rank correlation).</a:t>
            </a:r>
            <a:endParaRPr lang="en-US" sz="1600" dirty="0"/>
          </a:p>
        </p:txBody>
      </p:sp>
      <p:sp>
        <p:nvSpPr>
          <p:cNvPr id="8" name="Text 5"/>
          <p:cNvSpPr/>
          <p:nvPr/>
        </p:nvSpPr>
        <p:spPr>
          <a:xfrm>
            <a:off x="7040880" y="3200400"/>
            <a:ext cx="4572000" cy="1645920"/>
          </a:xfrm>
          <a:prstGeom prst="rect">
            <a:avLst/>
          </a:prstGeom>
          <a:noFill/>
          <a:ln/>
        </p:spPr>
        <p:txBody>
          <a:bodyPr wrap="square" rtlCol="0" anchor="ctr"/>
          <a:lstStyle/>
          <a:p>
            <a:pPr marL="0" indent="0">
              <a:lnSpc>
                <a:spcPct val="125000"/>
              </a:lnSpc>
              <a:buNone/>
            </a:pPr>
            <a:r>
              <a:rPr lang="en-US" sz="1400" dirty="0">
                <a:solidFill>
                  <a:srgbClr val="EAF0F1"/>
                </a:solidFill>
                <a:latin typeface="Calibri" pitchFamily="34" charset="0"/>
                <a:ea typeface="Calibri" pitchFamily="34" charset="-122"/>
                <a:cs typeface="Calibri" pitchFamily="34" charset="-120"/>
              </a:rPr>
              <a:t>•  Length and word-count are almost the same thing (deep colour).</a:t>
            </a:r>
            <a:endParaRPr lang="en-US" sz="1400" dirty="0"/>
          </a:p>
          <a:p>
            <a:pPr marL="0" indent="0">
              <a:lnSpc>
                <a:spcPct val="125000"/>
              </a:lnSpc>
              <a:buNone/>
            </a:pPr>
            <a:r>
              <a:rPr lang="en-US" sz="1400" dirty="0">
                <a:solidFill>
                  <a:srgbClr val="EAF0F1"/>
                </a:solidFill>
                <a:latin typeface="Calibri" pitchFamily="34" charset="0"/>
                <a:ea typeface="Calibri" pitchFamily="34" charset="-122"/>
                <a:cs typeface="Calibri" pitchFamily="34" charset="-120"/>
              </a:rPr>
              <a:t>•  Length relates most to the label: phishing mail is shorter.</a:t>
            </a:r>
            <a:endParaRPr lang="en-US" sz="1400" dirty="0"/>
          </a:p>
          <a:p>
            <a:pPr marL="0" indent="0">
              <a:lnSpc>
                <a:spcPct val="125000"/>
              </a:lnSpc>
              <a:buNone/>
            </a:pPr>
            <a:r>
              <a:rPr lang="en-US" sz="1400" dirty="0">
                <a:solidFill>
                  <a:srgbClr val="EAF0F1"/>
                </a:solidFill>
                <a:latin typeface="Calibri" pitchFamily="34" charset="0"/>
                <a:ea typeface="Calibri" pitchFamily="34" charset="-122"/>
                <a:cs typeface="Calibri" pitchFamily="34" charset="-120"/>
              </a:rPr>
              <a:t>•  Most other pairs are weak — little overlap.</a:t>
            </a:r>
            <a:endParaRPr lang="en-US" sz="1400" dirty="0"/>
          </a:p>
        </p:txBody>
      </p:sp>
      <p:sp>
        <p:nvSpPr>
          <p:cNvPr id="9" name="Text 6"/>
          <p:cNvSpPr/>
          <p:nvPr/>
        </p:nvSpPr>
        <p:spPr>
          <a:xfrm>
            <a:off x="7040880" y="5120640"/>
            <a:ext cx="4572000" cy="914400"/>
          </a:xfrm>
          <a:prstGeom prst="rect">
            <a:avLst/>
          </a:prstGeom>
          <a:noFill/>
          <a:ln/>
        </p:spPr>
        <p:txBody>
          <a:bodyPr wrap="square" rtlCol="0" anchor="t"/>
          <a:lstStyle/>
          <a:p>
            <a:pPr marL="0" indent="0">
              <a:buNone/>
            </a:pPr>
            <a:r>
              <a:rPr lang="en-US" sz="1300" i="1" dirty="0">
                <a:solidFill>
                  <a:srgbClr val="95A6AD"/>
                </a:solidFill>
                <a:latin typeface="Calibri" pitchFamily="34" charset="0"/>
                <a:ea typeface="Calibri" pitchFamily="34" charset="-122"/>
                <a:cs typeface="Calibri" pitchFamily="34" charset="-120"/>
              </a:rPr>
              <a:t>I use rank correlation (not Pearson) because these features are skewed — ranks are outlier-proof.</a:t>
            </a:r>
            <a:endParaRPr lang="en-US" sz="1300" dirty="0"/>
          </a:p>
        </p:txBody>
      </p:sp>
      <p:sp>
        <p:nvSpPr>
          <p:cNvPr id="10" name="Text 7"/>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meta-features are diagnostics only — the real signal is which words appear</a:t>
            </a:r>
            <a:endParaRPr lang="en-US" sz="95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EDA</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Key findings, tested — not eyeballed.</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8</a:t>
            </a:r>
            <a:endParaRPr lang="en-US" sz="1100" dirty="0"/>
          </a:p>
        </p:txBody>
      </p:sp>
      <p:sp>
        <p:nvSpPr>
          <p:cNvPr id="6" name="Text 4"/>
          <p:cNvSpPr/>
          <p:nvPr/>
        </p:nvSpPr>
        <p:spPr>
          <a:xfrm>
            <a:off x="566928" y="1691640"/>
            <a:ext cx="5486400" cy="320040"/>
          </a:xfrm>
          <a:prstGeom prst="rect">
            <a:avLst/>
          </a:prstGeom>
          <a:noFill/>
          <a:ln/>
        </p:spPr>
        <p:txBody>
          <a:bodyPr wrap="square" rtlCol="0" anchor="ctr"/>
          <a:lstStyle/>
          <a:p>
            <a:pPr marL="0" indent="0">
              <a:buNone/>
            </a:pPr>
            <a:r>
              <a:rPr lang="en-US" sz="1300" b="1" dirty="0">
                <a:solidFill>
                  <a:srgbClr val="EAF0F1"/>
                </a:solidFill>
                <a:latin typeface="Calibri" pitchFamily="34" charset="0"/>
                <a:ea typeface="Calibri" pitchFamily="34" charset="-122"/>
                <a:cs typeface="Calibri" pitchFamily="34" charset="-120"/>
              </a:rPr>
              <a:t>Link with the phishing label (rank correlation)</a:t>
            </a:r>
            <a:endParaRPr lang="en-US" sz="1300" dirty="0"/>
          </a:p>
        </p:txBody>
      </p:sp>
      <p:graphicFrame>
        <p:nvGraphicFramePr>
          <p:cNvPr id="7" name="Chart 0"/>
          <p:cNvGraphicFramePr/>
          <p:nvPr/>
        </p:nvGraphicFramePr>
        <p:xfrm>
          <a:off x="566928" y="2011680"/>
          <a:ext cx="54864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6400800" y="1691640"/>
            <a:ext cx="5486400" cy="320040"/>
          </a:xfrm>
          <a:prstGeom prst="rect">
            <a:avLst/>
          </a:prstGeom>
          <a:noFill/>
          <a:ln/>
        </p:spPr>
        <p:txBody>
          <a:bodyPr wrap="square" rtlCol="0" anchor="ctr"/>
          <a:lstStyle/>
          <a:p>
            <a:pPr marL="0" indent="0">
              <a:buNone/>
            </a:pPr>
            <a:r>
              <a:rPr lang="en-US" sz="1300" b="1" dirty="0">
                <a:solidFill>
                  <a:srgbClr val="EAF0F1"/>
                </a:solidFill>
                <a:latin typeface="Calibri" pitchFamily="34" charset="0"/>
                <a:ea typeface="Calibri" pitchFamily="34" charset="-122"/>
                <a:cs typeface="Calibri" pitchFamily="34" charset="-120"/>
              </a:rPr>
              <a:t>Redundancy check — VIF (over 10 = repeats another feature)</a:t>
            </a:r>
            <a:endParaRPr lang="en-US" sz="1300" dirty="0"/>
          </a:p>
        </p:txBody>
      </p:sp>
      <p:graphicFrame>
        <p:nvGraphicFramePr>
          <p:cNvPr id="9" name="Chart 1"/>
          <p:cNvGraphicFramePr/>
          <p:nvPr/>
        </p:nvGraphicFramePr>
        <p:xfrm>
          <a:off x="6400800" y="2011680"/>
          <a:ext cx="5486400" cy="301752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6400800" y="5212080"/>
            <a:ext cx="5486400" cy="1005840"/>
          </a:xfrm>
          <a:prstGeom prst="rect">
            <a:avLst/>
          </a:prstGeom>
          <a:noFill/>
          <a:ln/>
        </p:spPr>
        <p:txBody>
          <a:bodyPr wrap="square" rtlCol="0" anchor="t"/>
          <a:lstStyle/>
          <a:p>
            <a:pPr marL="0" indent="0">
              <a:buNone/>
            </a:pPr>
            <a:r>
              <a:rPr lang="en-US" sz="1400" dirty="0">
                <a:solidFill>
                  <a:srgbClr val="EAF0F1"/>
                </a:solidFill>
                <a:latin typeface="Calibri" pitchFamily="34" charset="0"/>
                <a:ea typeface="Calibri" pitchFamily="34" charset="-122"/>
                <a:cs typeface="Calibri" pitchFamily="34" charset="-120"/>
              </a:rPr>
              <a:t>Phishing is shorter — confirmed by a Mann–Whitney test, </a:t>
            </a:r>
            <a:r>
              <a:rPr lang="en-US" sz="1400" b="1" dirty="0">
                <a:solidFill>
                  <a:srgbClr val="3CB6A6"/>
                </a:solidFill>
                <a:latin typeface="Calibri" pitchFamily="34" charset="0"/>
                <a:ea typeface="Calibri" pitchFamily="34" charset="-122"/>
                <a:cs typeface="Calibri" pitchFamily="34" charset="-120"/>
              </a:rPr>
              <a:t>p ≪ 0.001</a:t>
            </a:r>
            <a:r>
              <a:rPr lang="en-US" sz="1400" dirty="0">
                <a:solidFill>
                  <a:srgbClr val="95A6AD"/>
                </a:solidFill>
                <a:latin typeface="Calibri" pitchFamily="34" charset="0"/>
                <a:ea typeface="Calibri" pitchFamily="34" charset="-122"/>
                <a:cs typeface="Calibri" pitchFamily="34" charset="-120"/>
              </a:rPr>
              <a:t>.  Length and word-count repeat each other (VIF ≈ 21), so I keep them as notes, not model inputs.</a:t>
            </a:r>
            <a:endParaRPr lang="en-US" sz="1400" dirty="0"/>
          </a:p>
        </p:txBody>
      </p:sp>
      <p:sp>
        <p:nvSpPr>
          <p:cNvPr id="11" name="Text 7"/>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rank statistics · a proper hypothesis test · a redundancy check</a:t>
            </a:r>
            <a:endParaRPr lang="en-US" sz="95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MODEL CHOICE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2600" b="1" dirty="0">
                <a:solidFill>
                  <a:srgbClr val="EAF0F1"/>
                </a:solidFill>
                <a:latin typeface="Cambria" pitchFamily="34" charset="0"/>
                <a:ea typeface="Cambria" pitchFamily="34" charset="-122"/>
                <a:cs typeface="Cambria" pitchFamily="34" charset="-120"/>
              </a:rPr>
              <a:t>Baselines, then the model — chosen on results.</a:t>
            </a:r>
            <a:endParaRPr lang="en-US" sz="26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9</a:t>
            </a:r>
            <a:endParaRPr lang="en-US" sz="1100" dirty="0"/>
          </a:p>
        </p:txBody>
      </p:sp>
      <p:graphicFrame>
        <p:nvGraphicFramePr>
          <p:cNvPr id="6" name="Chart 0"/>
          <p:cNvGraphicFramePr/>
          <p:nvPr/>
        </p:nvGraphicFramePr>
        <p:xfrm>
          <a:off x="731520" y="1828800"/>
          <a:ext cx="749808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31520" y="5897880"/>
            <a:ext cx="7498080" cy="274320"/>
          </a:xfrm>
          <a:prstGeom prst="rect">
            <a:avLst/>
          </a:prstGeom>
          <a:noFill/>
          <a:ln/>
        </p:spPr>
        <p:txBody>
          <a:bodyPr wrap="square" rtlCol="0" anchor="ctr"/>
          <a:lstStyle/>
          <a:p>
            <a:pPr marL="0" indent="0" algn="ctr">
              <a:buNone/>
            </a:pPr>
            <a:r>
              <a:rPr lang="en-US" sz="1100" i="1" dirty="0">
                <a:solidFill>
                  <a:srgbClr val="95A6AD"/>
                </a:solidFill>
                <a:latin typeface="Calibri" pitchFamily="34" charset="0"/>
                <a:ea typeface="Calibri" pitchFamily="34" charset="-122"/>
                <a:cs typeface="Calibri" pitchFamily="34" charset="-120"/>
              </a:rPr>
              <a:t>F1 score (higher is better)</a:t>
            </a:r>
            <a:endParaRPr lang="en-US" sz="1100" dirty="0"/>
          </a:p>
        </p:txBody>
      </p:sp>
      <p:sp>
        <p:nvSpPr>
          <p:cNvPr id="8" name="Text 5"/>
          <p:cNvSpPr/>
          <p:nvPr/>
        </p:nvSpPr>
        <p:spPr>
          <a:xfrm>
            <a:off x="8503920" y="1920240"/>
            <a:ext cx="3108960" cy="3657600"/>
          </a:xfrm>
          <a:prstGeom prst="rect">
            <a:avLst/>
          </a:prstGeom>
          <a:noFill/>
          <a:ln/>
        </p:spPr>
        <p:txBody>
          <a:bodyPr wrap="square" rtlCol="0" anchor="ctr"/>
          <a:lstStyle/>
          <a:p>
            <a:pPr marL="0" indent="0">
              <a:buNone/>
            </a:pPr>
            <a:r>
              <a:rPr lang="en-US" sz="1600" b="1" dirty="0">
                <a:solidFill>
                  <a:srgbClr val="3CB6A6"/>
                </a:solidFill>
              </a:rPr>
              <a:t>Why Logistic Regression</a:t>
            </a:r>
            <a:endParaRPr lang="en-US" sz="1600" dirty="0"/>
          </a:p>
          <a:p>
            <a:pPr marL="0" indent="0">
              <a:buNone/>
            </a:pPr>
            <a:r>
              <a:rPr lang="en-US" sz="1300" dirty="0">
                <a:solidFill>
                  <a:srgbClr val="EAF0F1"/>
                </a:solidFill>
              </a:rPr>
              <a:t>Best score, and its lead over Complement NB is real (McNemar test, p ≪ 0.001).</a:t>
            </a:r>
            <a:endParaRPr lang="en-US" sz="1600" dirty="0"/>
          </a:p>
          <a:p>
            <a:pPr marL="0" indent="0">
              <a:buNone/>
            </a:pPr>
            <a:endParaRPr lang="en-US" sz="1600" dirty="0"/>
          </a:p>
          <a:p>
            <a:pPr marL="0" indent="0">
              <a:buNone/>
            </a:pPr>
            <a:r>
              <a:rPr lang="en-US" sz="1300" dirty="0">
                <a:solidFill>
                  <a:srgbClr val="95A6AD"/>
                </a:solidFill>
              </a:rPr>
              <a:t>It is fast (~3 ms) and fully explainable — a robustness study needs a transparent model. DistilBERT ties or trails and the attacks don't transfer to it, so it stays a baseline, not the working model.</a:t>
            </a:r>
            <a:endParaRPr lang="en-US" sz="1600" dirty="0"/>
          </a:p>
        </p:txBody>
      </p:sp>
      <p:sp>
        <p:nvSpPr>
          <p:cNvPr id="9" name="Text 6"/>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the accuracy paradox: a 'majority' model scores 65% accuracy and catches zero phishing</a:t>
            </a:r>
            <a:endParaRPr lang="en-US" sz="95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CLEAN RESULTS</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Near-perfect — and that's the warning.</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10</a:t>
            </a:r>
            <a:endParaRPr lang="en-US" sz="1100" dirty="0"/>
          </a:p>
        </p:txBody>
      </p:sp>
      <p:sp>
        <p:nvSpPr>
          <p:cNvPr id="6" name="Text 4"/>
          <p:cNvSpPr/>
          <p:nvPr/>
        </p:nvSpPr>
        <p:spPr>
          <a:xfrm>
            <a:off x="566928" y="2011680"/>
            <a:ext cx="2468880" cy="822960"/>
          </a:xfrm>
          <a:prstGeom prst="rect">
            <a:avLst/>
          </a:prstGeom>
          <a:noFill/>
          <a:ln/>
        </p:spPr>
        <p:txBody>
          <a:bodyPr wrap="square" rtlCol="0" anchor="ctr"/>
          <a:lstStyle/>
          <a:p>
            <a:pPr marL="0" indent="0" algn="l">
              <a:buNone/>
            </a:pPr>
            <a:r>
              <a:rPr lang="en-US" sz="4400" b="1" dirty="0">
                <a:solidFill>
                  <a:srgbClr val="3CB6A6"/>
                </a:solidFill>
                <a:latin typeface="Cambria" pitchFamily="34" charset="0"/>
                <a:ea typeface="Cambria" pitchFamily="34" charset="-122"/>
                <a:cs typeface="Cambria" pitchFamily="34" charset="-120"/>
              </a:rPr>
              <a:t>0.998</a:t>
            </a:r>
            <a:endParaRPr lang="en-US" sz="4400" dirty="0"/>
          </a:p>
        </p:txBody>
      </p:sp>
      <p:sp>
        <p:nvSpPr>
          <p:cNvPr id="7" name="Text 5"/>
          <p:cNvSpPr/>
          <p:nvPr/>
        </p:nvSpPr>
        <p:spPr>
          <a:xfrm>
            <a:off x="566928" y="2834640"/>
            <a:ext cx="2468880" cy="365760"/>
          </a:xfrm>
          <a:prstGeom prst="rect">
            <a:avLst/>
          </a:prstGeom>
          <a:noFill/>
          <a:ln/>
        </p:spPr>
        <p:txBody>
          <a:bodyPr wrap="square" rtlCol="0" anchor="ctr"/>
          <a:lstStyle/>
          <a:p>
            <a:pPr marL="0" indent="0">
              <a:buNone/>
            </a:pPr>
            <a:r>
              <a:rPr lang="en-US" sz="1200" dirty="0">
                <a:solidFill>
                  <a:srgbClr val="95A6AD"/>
                </a:solidFill>
                <a:latin typeface="Calibri" pitchFamily="34" charset="0"/>
                <a:ea typeface="Calibri" pitchFamily="34" charset="-122"/>
                <a:cs typeface="Calibri" pitchFamily="34" charset="-120"/>
              </a:rPr>
              <a:t>F1 score</a:t>
            </a:r>
            <a:endParaRPr lang="en-US" sz="1200" dirty="0"/>
          </a:p>
        </p:txBody>
      </p:sp>
      <p:sp>
        <p:nvSpPr>
          <p:cNvPr id="8" name="Text 6"/>
          <p:cNvSpPr/>
          <p:nvPr/>
        </p:nvSpPr>
        <p:spPr>
          <a:xfrm>
            <a:off x="566928" y="3291840"/>
            <a:ext cx="2468880" cy="822960"/>
          </a:xfrm>
          <a:prstGeom prst="rect">
            <a:avLst/>
          </a:prstGeom>
          <a:noFill/>
          <a:ln/>
        </p:spPr>
        <p:txBody>
          <a:bodyPr wrap="square" rtlCol="0" anchor="ctr"/>
          <a:lstStyle/>
          <a:p>
            <a:pPr marL="0" indent="0" algn="l">
              <a:buNone/>
            </a:pPr>
            <a:r>
              <a:rPr lang="en-US" sz="4400" b="1" dirty="0">
                <a:solidFill>
                  <a:srgbClr val="3CB6A6"/>
                </a:solidFill>
                <a:latin typeface="Cambria" pitchFamily="34" charset="0"/>
                <a:ea typeface="Cambria" pitchFamily="34" charset="-122"/>
                <a:cs typeface="Cambria" pitchFamily="34" charset="-120"/>
              </a:rPr>
              <a:t>0.997</a:t>
            </a:r>
            <a:endParaRPr lang="en-US" sz="4400" dirty="0"/>
          </a:p>
        </p:txBody>
      </p:sp>
      <p:sp>
        <p:nvSpPr>
          <p:cNvPr id="9" name="Text 7"/>
          <p:cNvSpPr/>
          <p:nvPr/>
        </p:nvSpPr>
        <p:spPr>
          <a:xfrm>
            <a:off x="566928" y="4114800"/>
            <a:ext cx="2468880" cy="365760"/>
          </a:xfrm>
          <a:prstGeom prst="rect">
            <a:avLst/>
          </a:prstGeom>
          <a:noFill/>
          <a:ln/>
        </p:spPr>
        <p:txBody>
          <a:bodyPr wrap="square" rtlCol="0" anchor="ctr"/>
          <a:lstStyle/>
          <a:p>
            <a:pPr marL="0" indent="0">
              <a:buNone/>
            </a:pPr>
            <a:r>
              <a:rPr lang="en-US" sz="1200" dirty="0">
                <a:solidFill>
                  <a:srgbClr val="95A6AD"/>
                </a:solidFill>
                <a:latin typeface="Calibri" pitchFamily="34" charset="0"/>
                <a:ea typeface="Calibri" pitchFamily="34" charset="-122"/>
                <a:cs typeface="Calibri" pitchFamily="34" charset="-120"/>
              </a:rPr>
              <a:t>MCC</a:t>
            </a:r>
            <a:endParaRPr lang="en-US" sz="1200" dirty="0"/>
          </a:p>
        </p:txBody>
      </p:sp>
      <p:sp>
        <p:nvSpPr>
          <p:cNvPr id="10" name="Text 8"/>
          <p:cNvSpPr/>
          <p:nvPr/>
        </p:nvSpPr>
        <p:spPr>
          <a:xfrm>
            <a:off x="3108960" y="2011680"/>
            <a:ext cx="2468880" cy="822960"/>
          </a:xfrm>
          <a:prstGeom prst="rect">
            <a:avLst/>
          </a:prstGeom>
          <a:noFill/>
          <a:ln/>
        </p:spPr>
        <p:txBody>
          <a:bodyPr wrap="square" rtlCol="0" anchor="ctr"/>
          <a:lstStyle/>
          <a:p>
            <a:pPr marL="0" indent="0" algn="l">
              <a:buNone/>
            </a:pPr>
            <a:r>
              <a:rPr lang="en-US" sz="4400" b="1" dirty="0">
                <a:solidFill>
                  <a:srgbClr val="3CB6A6"/>
                </a:solidFill>
                <a:latin typeface="Cambria" pitchFamily="34" charset="0"/>
                <a:ea typeface="Cambria" pitchFamily="34" charset="-122"/>
                <a:cs typeface="Cambria" pitchFamily="34" charset="-120"/>
              </a:rPr>
              <a:t>1.00</a:t>
            </a:r>
            <a:endParaRPr lang="en-US" sz="4400" dirty="0"/>
          </a:p>
        </p:txBody>
      </p:sp>
      <p:sp>
        <p:nvSpPr>
          <p:cNvPr id="11" name="Text 9"/>
          <p:cNvSpPr/>
          <p:nvPr/>
        </p:nvSpPr>
        <p:spPr>
          <a:xfrm>
            <a:off x="3108960" y="2834640"/>
            <a:ext cx="2468880" cy="365760"/>
          </a:xfrm>
          <a:prstGeom prst="rect">
            <a:avLst/>
          </a:prstGeom>
          <a:noFill/>
          <a:ln/>
        </p:spPr>
        <p:txBody>
          <a:bodyPr wrap="square" rtlCol="0" anchor="ctr"/>
          <a:lstStyle/>
          <a:p>
            <a:pPr marL="0" indent="0">
              <a:buNone/>
            </a:pPr>
            <a:r>
              <a:rPr lang="en-US" sz="1200" dirty="0">
                <a:solidFill>
                  <a:srgbClr val="95A6AD"/>
                </a:solidFill>
                <a:latin typeface="Calibri" pitchFamily="34" charset="0"/>
                <a:ea typeface="Calibri" pitchFamily="34" charset="-122"/>
                <a:cs typeface="Calibri" pitchFamily="34" charset="-120"/>
              </a:rPr>
              <a:t>AUC</a:t>
            </a:r>
            <a:endParaRPr lang="en-US" sz="1200" dirty="0"/>
          </a:p>
        </p:txBody>
      </p:sp>
      <p:sp>
        <p:nvSpPr>
          <p:cNvPr id="12" name="Text 10"/>
          <p:cNvSpPr/>
          <p:nvPr/>
        </p:nvSpPr>
        <p:spPr>
          <a:xfrm>
            <a:off x="3108960" y="3291840"/>
            <a:ext cx="2468880" cy="822960"/>
          </a:xfrm>
          <a:prstGeom prst="rect">
            <a:avLst/>
          </a:prstGeom>
          <a:noFill/>
          <a:ln/>
        </p:spPr>
        <p:txBody>
          <a:bodyPr wrap="square" rtlCol="0" anchor="ctr"/>
          <a:lstStyle/>
          <a:p>
            <a:pPr marL="0" indent="0" algn="l">
              <a:buNone/>
            </a:pPr>
            <a:r>
              <a:rPr lang="en-US" sz="4400" b="1" dirty="0">
                <a:solidFill>
                  <a:srgbClr val="EAF0F1"/>
                </a:solidFill>
                <a:latin typeface="Cambria" pitchFamily="34" charset="0"/>
                <a:ea typeface="Cambria" pitchFamily="34" charset="-122"/>
                <a:cs typeface="Cambria" pitchFamily="34" charset="-120"/>
              </a:rPr>
              <a:t>4 + 4</a:t>
            </a:r>
            <a:endParaRPr lang="en-US" sz="4400" dirty="0"/>
          </a:p>
        </p:txBody>
      </p:sp>
      <p:sp>
        <p:nvSpPr>
          <p:cNvPr id="13" name="Text 11"/>
          <p:cNvSpPr/>
          <p:nvPr/>
        </p:nvSpPr>
        <p:spPr>
          <a:xfrm>
            <a:off x="3108960" y="4114800"/>
            <a:ext cx="2468880" cy="365760"/>
          </a:xfrm>
          <a:prstGeom prst="rect">
            <a:avLst/>
          </a:prstGeom>
          <a:noFill/>
          <a:ln/>
        </p:spPr>
        <p:txBody>
          <a:bodyPr wrap="square" rtlCol="0" anchor="ctr"/>
          <a:lstStyle/>
          <a:p>
            <a:pPr marL="0" indent="0">
              <a:buNone/>
            </a:pPr>
            <a:r>
              <a:rPr lang="en-US" sz="1200" dirty="0">
                <a:solidFill>
                  <a:srgbClr val="95A6AD"/>
                </a:solidFill>
                <a:latin typeface="Calibri" pitchFamily="34" charset="0"/>
                <a:ea typeface="Calibri" pitchFamily="34" charset="-122"/>
                <a:cs typeface="Calibri" pitchFamily="34" charset="-120"/>
              </a:rPr>
              <a:t>errors in 5,327</a:t>
            </a:r>
            <a:endParaRPr lang="en-US" sz="1200" dirty="0"/>
          </a:p>
        </p:txBody>
      </p:sp>
      <p:sp>
        <p:nvSpPr>
          <p:cNvPr id="14" name="Text 12"/>
          <p:cNvSpPr/>
          <p:nvPr/>
        </p:nvSpPr>
        <p:spPr>
          <a:xfrm>
            <a:off x="6035040" y="1783080"/>
            <a:ext cx="5486400" cy="274320"/>
          </a:xfrm>
          <a:prstGeom prst="rect">
            <a:avLst/>
          </a:prstGeom>
          <a:noFill/>
          <a:ln/>
        </p:spPr>
        <p:txBody>
          <a:bodyPr wrap="square" rtlCol="0" anchor="ctr"/>
          <a:lstStyle/>
          <a:p>
            <a:pPr marL="0" indent="0">
              <a:buNone/>
            </a:pPr>
            <a:r>
              <a:rPr lang="en-US" sz="1200" i="1" dirty="0">
                <a:solidFill>
                  <a:srgbClr val="95A6AD"/>
                </a:solidFill>
                <a:latin typeface="Calibri" pitchFamily="34" charset="0"/>
                <a:ea typeface="Calibri" pitchFamily="34" charset="-122"/>
                <a:cs typeface="Calibri" pitchFamily="34" charset="-120"/>
              </a:rPr>
              <a:t>confusion matrix — clean test set</a:t>
            </a:r>
            <a:endParaRPr lang="en-US" sz="1200" dirty="0"/>
          </a:p>
        </p:txBody>
      </p:sp>
      <p:sp>
        <p:nvSpPr>
          <p:cNvPr id="15" name="Text 13"/>
          <p:cNvSpPr/>
          <p:nvPr/>
        </p:nvSpPr>
        <p:spPr>
          <a:xfrm>
            <a:off x="6903720" y="2194560"/>
            <a:ext cx="2240280" cy="274320"/>
          </a:xfrm>
          <a:prstGeom prst="rect">
            <a:avLst/>
          </a:prstGeom>
          <a:noFill/>
          <a:ln/>
        </p:spPr>
        <p:txBody>
          <a:bodyPr wrap="square" rtlCol="0" anchor="ctr"/>
          <a:lstStyle/>
          <a:p>
            <a:pPr marL="0" indent="0" algn="ctr">
              <a:buNone/>
            </a:pPr>
            <a:r>
              <a:rPr lang="en-US" sz="1100" dirty="0">
                <a:solidFill>
                  <a:srgbClr val="95A6AD"/>
                </a:solidFill>
                <a:latin typeface="Calibri" pitchFamily="34" charset="0"/>
                <a:ea typeface="Calibri" pitchFamily="34" charset="-122"/>
                <a:cs typeface="Calibri" pitchFamily="34" charset="-120"/>
              </a:rPr>
              <a:t>called legit</a:t>
            </a:r>
            <a:endParaRPr lang="en-US" sz="1100" dirty="0"/>
          </a:p>
        </p:txBody>
      </p:sp>
      <p:sp>
        <p:nvSpPr>
          <p:cNvPr id="16" name="Text 14"/>
          <p:cNvSpPr/>
          <p:nvPr/>
        </p:nvSpPr>
        <p:spPr>
          <a:xfrm>
            <a:off x="9272016" y="2194560"/>
            <a:ext cx="2240280" cy="274320"/>
          </a:xfrm>
          <a:prstGeom prst="rect">
            <a:avLst/>
          </a:prstGeom>
          <a:noFill/>
          <a:ln/>
        </p:spPr>
        <p:txBody>
          <a:bodyPr wrap="square" rtlCol="0" anchor="ctr"/>
          <a:lstStyle/>
          <a:p>
            <a:pPr marL="0" indent="0" algn="ctr">
              <a:buNone/>
            </a:pPr>
            <a:r>
              <a:rPr lang="en-US" sz="1100" dirty="0">
                <a:solidFill>
                  <a:srgbClr val="95A6AD"/>
                </a:solidFill>
                <a:latin typeface="Calibri" pitchFamily="34" charset="0"/>
                <a:ea typeface="Calibri" pitchFamily="34" charset="-122"/>
                <a:cs typeface="Calibri" pitchFamily="34" charset="-120"/>
              </a:rPr>
              <a:t>called phishing</a:t>
            </a:r>
            <a:endParaRPr lang="en-US" sz="1100" dirty="0"/>
          </a:p>
        </p:txBody>
      </p:sp>
      <p:sp>
        <p:nvSpPr>
          <p:cNvPr id="17" name="Text 15"/>
          <p:cNvSpPr/>
          <p:nvPr/>
        </p:nvSpPr>
        <p:spPr>
          <a:xfrm>
            <a:off x="5989320" y="2880360"/>
            <a:ext cx="868680" cy="731520"/>
          </a:xfrm>
          <a:prstGeom prst="rect">
            <a:avLst/>
          </a:prstGeom>
          <a:noFill/>
          <a:ln/>
        </p:spPr>
        <p:txBody>
          <a:bodyPr wrap="square" rtlCol="0" anchor="ctr"/>
          <a:lstStyle/>
          <a:p>
            <a:pPr marL="0" indent="0" algn="r">
              <a:buNone/>
            </a:pPr>
            <a:r>
              <a:rPr lang="en-US" sz="1100" dirty="0">
                <a:solidFill>
                  <a:srgbClr val="95A6AD"/>
                </a:solidFill>
                <a:latin typeface="Calibri" pitchFamily="34" charset="0"/>
                <a:ea typeface="Calibri" pitchFamily="34" charset="-122"/>
                <a:cs typeface="Calibri" pitchFamily="34" charset="-120"/>
              </a:rPr>
              <a:t>actually</a:t>
            </a:r>
            <a:endParaRPr lang="en-US" sz="1100" dirty="0"/>
          </a:p>
          <a:p>
            <a:pPr marL="0" indent="0" algn="r">
              <a:buNone/>
            </a:pPr>
            <a:r>
              <a:rPr lang="en-US" sz="1100" dirty="0">
                <a:solidFill>
                  <a:srgbClr val="95A6AD"/>
                </a:solidFill>
                <a:latin typeface="Calibri" pitchFamily="34" charset="0"/>
                <a:ea typeface="Calibri" pitchFamily="34" charset="-122"/>
                <a:cs typeface="Calibri" pitchFamily="34" charset="-120"/>
              </a:rPr>
              <a:t>legit</a:t>
            </a:r>
            <a:endParaRPr lang="en-US" sz="1100" dirty="0"/>
          </a:p>
        </p:txBody>
      </p:sp>
      <p:sp>
        <p:nvSpPr>
          <p:cNvPr id="18" name="Text 16"/>
          <p:cNvSpPr/>
          <p:nvPr/>
        </p:nvSpPr>
        <p:spPr>
          <a:xfrm>
            <a:off x="5989320" y="4471416"/>
            <a:ext cx="868680" cy="731520"/>
          </a:xfrm>
          <a:prstGeom prst="rect">
            <a:avLst/>
          </a:prstGeom>
          <a:noFill/>
          <a:ln/>
        </p:spPr>
        <p:txBody>
          <a:bodyPr wrap="square" rtlCol="0" anchor="ctr"/>
          <a:lstStyle/>
          <a:p>
            <a:pPr marL="0" indent="0" algn="r">
              <a:buNone/>
            </a:pPr>
            <a:r>
              <a:rPr lang="en-US" sz="1100" dirty="0">
                <a:solidFill>
                  <a:srgbClr val="95A6AD"/>
                </a:solidFill>
                <a:latin typeface="Calibri" pitchFamily="34" charset="0"/>
                <a:ea typeface="Calibri" pitchFamily="34" charset="-122"/>
                <a:cs typeface="Calibri" pitchFamily="34" charset="-120"/>
              </a:rPr>
              <a:t>actually</a:t>
            </a:r>
            <a:endParaRPr lang="en-US" sz="1100" dirty="0"/>
          </a:p>
          <a:p>
            <a:pPr marL="0" indent="0" algn="r">
              <a:buNone/>
            </a:pPr>
            <a:r>
              <a:rPr lang="en-US" sz="1100" dirty="0">
                <a:solidFill>
                  <a:srgbClr val="95A6AD"/>
                </a:solidFill>
                <a:latin typeface="Calibri" pitchFamily="34" charset="0"/>
                <a:ea typeface="Calibri" pitchFamily="34" charset="-122"/>
                <a:cs typeface="Calibri" pitchFamily="34" charset="-120"/>
              </a:rPr>
              <a:t>phishing</a:t>
            </a:r>
            <a:endParaRPr lang="en-US" sz="1100" dirty="0"/>
          </a:p>
        </p:txBody>
      </p:sp>
      <p:sp>
        <p:nvSpPr>
          <p:cNvPr id="19" name="Shape 17"/>
          <p:cNvSpPr/>
          <p:nvPr/>
        </p:nvSpPr>
        <p:spPr>
          <a:xfrm>
            <a:off x="6903720" y="2514600"/>
            <a:ext cx="2240280" cy="1463040"/>
          </a:xfrm>
          <a:prstGeom prst="roundRect">
            <a:avLst>
              <a:gd name="adj" fmla="val 3750"/>
            </a:avLst>
          </a:prstGeom>
          <a:solidFill>
            <a:srgbClr val="1B2B32"/>
          </a:solidFill>
          <a:ln w="15875">
            <a:solidFill>
              <a:srgbClr val="3CB6A6"/>
            </a:solidFill>
            <a:prstDash val="solid"/>
          </a:ln>
        </p:spPr>
        <p:txBody>
          <a:bodyPr/>
          <a:lstStyle/>
          <a:p>
            <a:endParaRPr lang="en-IL"/>
          </a:p>
        </p:txBody>
      </p:sp>
      <p:sp>
        <p:nvSpPr>
          <p:cNvPr id="20" name="Text 18"/>
          <p:cNvSpPr/>
          <p:nvPr/>
        </p:nvSpPr>
        <p:spPr>
          <a:xfrm>
            <a:off x="6903720" y="2697480"/>
            <a:ext cx="2240280" cy="685800"/>
          </a:xfrm>
          <a:prstGeom prst="rect">
            <a:avLst/>
          </a:prstGeom>
          <a:noFill/>
          <a:ln/>
        </p:spPr>
        <p:txBody>
          <a:bodyPr wrap="square" rtlCol="0" anchor="ctr"/>
          <a:lstStyle/>
          <a:p>
            <a:pPr marL="0" indent="0" algn="ctr">
              <a:buNone/>
            </a:pPr>
            <a:r>
              <a:rPr lang="en-US" sz="2700" b="1" dirty="0">
                <a:solidFill>
                  <a:srgbClr val="3CB6A6"/>
                </a:solidFill>
                <a:latin typeface="Cambria" pitchFamily="34" charset="0"/>
                <a:ea typeface="Cambria" pitchFamily="34" charset="-122"/>
                <a:cs typeface="Cambria" pitchFamily="34" charset="-120"/>
              </a:rPr>
              <a:t>3,459</a:t>
            </a:r>
            <a:endParaRPr lang="en-US" sz="2700" dirty="0"/>
          </a:p>
        </p:txBody>
      </p:sp>
      <p:sp>
        <p:nvSpPr>
          <p:cNvPr id="21" name="Text 19"/>
          <p:cNvSpPr/>
          <p:nvPr/>
        </p:nvSpPr>
        <p:spPr>
          <a:xfrm>
            <a:off x="6903720" y="3410712"/>
            <a:ext cx="2240280" cy="411480"/>
          </a:xfrm>
          <a:prstGeom prst="rect">
            <a:avLst/>
          </a:prstGeom>
          <a:noFill/>
          <a:ln/>
        </p:spPr>
        <p:txBody>
          <a:bodyPr wrap="square" rtlCol="0" anchor="ctr"/>
          <a:lstStyle/>
          <a:p>
            <a:pPr marL="0" indent="0" algn="ctr">
              <a:buNone/>
            </a:pPr>
            <a:r>
              <a:rPr lang="en-US" sz="1100" dirty="0">
                <a:solidFill>
                  <a:srgbClr val="95A6AD"/>
                </a:solidFill>
                <a:latin typeface="Calibri" pitchFamily="34" charset="0"/>
                <a:ea typeface="Calibri" pitchFamily="34" charset="-122"/>
                <a:cs typeface="Calibri" pitchFamily="34" charset="-120"/>
              </a:rPr>
              <a:t>correct</a:t>
            </a:r>
            <a:endParaRPr lang="en-US" sz="1100" dirty="0"/>
          </a:p>
        </p:txBody>
      </p:sp>
      <p:sp>
        <p:nvSpPr>
          <p:cNvPr id="22" name="Shape 20"/>
          <p:cNvSpPr/>
          <p:nvPr/>
        </p:nvSpPr>
        <p:spPr>
          <a:xfrm>
            <a:off x="9272016" y="2514600"/>
            <a:ext cx="2240280" cy="1463040"/>
          </a:xfrm>
          <a:prstGeom prst="roundRect">
            <a:avLst>
              <a:gd name="adj" fmla="val 3750"/>
            </a:avLst>
          </a:prstGeom>
          <a:solidFill>
            <a:srgbClr val="1B2B32"/>
          </a:solidFill>
          <a:ln w="15875">
            <a:solidFill>
              <a:srgbClr val="E97A60"/>
            </a:solidFill>
            <a:prstDash val="solid"/>
          </a:ln>
        </p:spPr>
        <p:txBody>
          <a:bodyPr/>
          <a:lstStyle/>
          <a:p>
            <a:endParaRPr lang="en-IL"/>
          </a:p>
        </p:txBody>
      </p:sp>
      <p:sp>
        <p:nvSpPr>
          <p:cNvPr id="23" name="Text 21"/>
          <p:cNvSpPr/>
          <p:nvPr/>
        </p:nvSpPr>
        <p:spPr>
          <a:xfrm>
            <a:off x="9272016" y="2697480"/>
            <a:ext cx="2240280" cy="685800"/>
          </a:xfrm>
          <a:prstGeom prst="rect">
            <a:avLst/>
          </a:prstGeom>
          <a:noFill/>
          <a:ln/>
        </p:spPr>
        <p:txBody>
          <a:bodyPr wrap="square" rtlCol="0" anchor="ctr"/>
          <a:lstStyle/>
          <a:p>
            <a:pPr marL="0" indent="0" algn="ctr">
              <a:buNone/>
            </a:pPr>
            <a:r>
              <a:rPr lang="en-US" sz="2700" b="1" dirty="0">
                <a:solidFill>
                  <a:srgbClr val="E97A60"/>
                </a:solidFill>
                <a:latin typeface="Cambria" pitchFamily="34" charset="0"/>
                <a:ea typeface="Cambria" pitchFamily="34" charset="-122"/>
                <a:cs typeface="Cambria" pitchFamily="34" charset="-120"/>
              </a:rPr>
              <a:t>4</a:t>
            </a:r>
            <a:endParaRPr lang="en-US" sz="2700" dirty="0"/>
          </a:p>
        </p:txBody>
      </p:sp>
      <p:sp>
        <p:nvSpPr>
          <p:cNvPr id="24" name="Text 22"/>
          <p:cNvSpPr/>
          <p:nvPr/>
        </p:nvSpPr>
        <p:spPr>
          <a:xfrm>
            <a:off x="9272016" y="3410712"/>
            <a:ext cx="2240280" cy="411480"/>
          </a:xfrm>
          <a:prstGeom prst="rect">
            <a:avLst/>
          </a:prstGeom>
          <a:noFill/>
          <a:ln/>
        </p:spPr>
        <p:txBody>
          <a:bodyPr wrap="square" rtlCol="0" anchor="ctr"/>
          <a:lstStyle/>
          <a:p>
            <a:pPr marL="0" indent="0" algn="ctr">
              <a:buNone/>
            </a:pPr>
            <a:r>
              <a:rPr lang="en-US" sz="1100" dirty="0">
                <a:solidFill>
                  <a:srgbClr val="95A6AD"/>
                </a:solidFill>
                <a:latin typeface="Calibri" pitchFamily="34" charset="0"/>
                <a:ea typeface="Calibri" pitchFamily="34" charset="-122"/>
                <a:cs typeface="Calibri" pitchFamily="34" charset="-120"/>
              </a:rPr>
              <a:t>false alarm</a:t>
            </a:r>
            <a:endParaRPr lang="en-US" sz="1100" dirty="0"/>
          </a:p>
        </p:txBody>
      </p:sp>
      <p:sp>
        <p:nvSpPr>
          <p:cNvPr id="25" name="Shape 23"/>
          <p:cNvSpPr/>
          <p:nvPr/>
        </p:nvSpPr>
        <p:spPr>
          <a:xfrm>
            <a:off x="6903720" y="4105656"/>
            <a:ext cx="2240280" cy="1463040"/>
          </a:xfrm>
          <a:prstGeom prst="roundRect">
            <a:avLst>
              <a:gd name="adj" fmla="val 3750"/>
            </a:avLst>
          </a:prstGeom>
          <a:solidFill>
            <a:srgbClr val="1B2B32"/>
          </a:solidFill>
          <a:ln w="15875">
            <a:solidFill>
              <a:srgbClr val="E97A60"/>
            </a:solidFill>
            <a:prstDash val="solid"/>
          </a:ln>
        </p:spPr>
        <p:txBody>
          <a:bodyPr/>
          <a:lstStyle/>
          <a:p>
            <a:endParaRPr lang="en-IL"/>
          </a:p>
        </p:txBody>
      </p:sp>
      <p:sp>
        <p:nvSpPr>
          <p:cNvPr id="26" name="Text 24"/>
          <p:cNvSpPr/>
          <p:nvPr/>
        </p:nvSpPr>
        <p:spPr>
          <a:xfrm>
            <a:off x="6903720" y="4288536"/>
            <a:ext cx="2240280" cy="685800"/>
          </a:xfrm>
          <a:prstGeom prst="rect">
            <a:avLst/>
          </a:prstGeom>
          <a:noFill/>
          <a:ln/>
        </p:spPr>
        <p:txBody>
          <a:bodyPr wrap="square" rtlCol="0" anchor="ctr"/>
          <a:lstStyle/>
          <a:p>
            <a:pPr marL="0" indent="0" algn="ctr">
              <a:buNone/>
            </a:pPr>
            <a:r>
              <a:rPr lang="en-US" sz="2700" b="1" dirty="0">
                <a:solidFill>
                  <a:srgbClr val="E97A60"/>
                </a:solidFill>
                <a:latin typeface="Cambria" pitchFamily="34" charset="0"/>
                <a:ea typeface="Cambria" pitchFamily="34" charset="-122"/>
                <a:cs typeface="Cambria" pitchFamily="34" charset="-120"/>
              </a:rPr>
              <a:t>4</a:t>
            </a:r>
            <a:endParaRPr lang="en-US" sz="2700" dirty="0"/>
          </a:p>
        </p:txBody>
      </p:sp>
      <p:sp>
        <p:nvSpPr>
          <p:cNvPr id="27" name="Text 25"/>
          <p:cNvSpPr/>
          <p:nvPr/>
        </p:nvSpPr>
        <p:spPr>
          <a:xfrm>
            <a:off x="6903720" y="5001768"/>
            <a:ext cx="2240280" cy="411480"/>
          </a:xfrm>
          <a:prstGeom prst="rect">
            <a:avLst/>
          </a:prstGeom>
          <a:noFill/>
          <a:ln/>
        </p:spPr>
        <p:txBody>
          <a:bodyPr wrap="square" rtlCol="0" anchor="ctr"/>
          <a:lstStyle/>
          <a:p>
            <a:pPr marL="0" indent="0" algn="ctr">
              <a:buNone/>
            </a:pPr>
            <a:r>
              <a:rPr lang="en-US" sz="1100" dirty="0">
                <a:solidFill>
                  <a:srgbClr val="95A6AD"/>
                </a:solidFill>
                <a:latin typeface="Calibri" pitchFamily="34" charset="0"/>
                <a:ea typeface="Calibri" pitchFamily="34" charset="-122"/>
                <a:cs typeface="Calibri" pitchFamily="34" charset="-120"/>
              </a:rPr>
              <a:t>missed</a:t>
            </a:r>
            <a:endParaRPr lang="en-US" sz="1100" dirty="0"/>
          </a:p>
        </p:txBody>
      </p:sp>
      <p:sp>
        <p:nvSpPr>
          <p:cNvPr id="28" name="Shape 26"/>
          <p:cNvSpPr/>
          <p:nvPr/>
        </p:nvSpPr>
        <p:spPr>
          <a:xfrm>
            <a:off x="9272016" y="4105656"/>
            <a:ext cx="2240280" cy="1463040"/>
          </a:xfrm>
          <a:prstGeom prst="roundRect">
            <a:avLst>
              <a:gd name="adj" fmla="val 3750"/>
            </a:avLst>
          </a:prstGeom>
          <a:solidFill>
            <a:srgbClr val="1B2B32"/>
          </a:solidFill>
          <a:ln w="15875">
            <a:solidFill>
              <a:srgbClr val="3CB6A6"/>
            </a:solidFill>
            <a:prstDash val="solid"/>
          </a:ln>
        </p:spPr>
        <p:txBody>
          <a:bodyPr/>
          <a:lstStyle/>
          <a:p>
            <a:endParaRPr lang="en-IL"/>
          </a:p>
        </p:txBody>
      </p:sp>
      <p:sp>
        <p:nvSpPr>
          <p:cNvPr id="29" name="Text 27"/>
          <p:cNvSpPr/>
          <p:nvPr/>
        </p:nvSpPr>
        <p:spPr>
          <a:xfrm>
            <a:off x="9272016" y="4288536"/>
            <a:ext cx="2240280" cy="685800"/>
          </a:xfrm>
          <a:prstGeom prst="rect">
            <a:avLst/>
          </a:prstGeom>
          <a:noFill/>
          <a:ln/>
        </p:spPr>
        <p:txBody>
          <a:bodyPr wrap="square" rtlCol="0" anchor="ctr"/>
          <a:lstStyle/>
          <a:p>
            <a:pPr marL="0" indent="0" algn="ctr">
              <a:buNone/>
            </a:pPr>
            <a:r>
              <a:rPr lang="en-US" sz="2700" b="1" dirty="0">
                <a:solidFill>
                  <a:srgbClr val="3CB6A6"/>
                </a:solidFill>
                <a:latin typeface="Cambria" pitchFamily="34" charset="0"/>
                <a:ea typeface="Cambria" pitchFamily="34" charset="-122"/>
                <a:cs typeface="Cambria" pitchFamily="34" charset="-120"/>
              </a:rPr>
              <a:t>1,860</a:t>
            </a:r>
            <a:endParaRPr lang="en-US" sz="2700" dirty="0"/>
          </a:p>
        </p:txBody>
      </p:sp>
      <p:sp>
        <p:nvSpPr>
          <p:cNvPr id="30" name="Text 28"/>
          <p:cNvSpPr/>
          <p:nvPr/>
        </p:nvSpPr>
        <p:spPr>
          <a:xfrm>
            <a:off x="9272016" y="5001768"/>
            <a:ext cx="2240280" cy="411480"/>
          </a:xfrm>
          <a:prstGeom prst="rect">
            <a:avLst/>
          </a:prstGeom>
          <a:noFill/>
          <a:ln/>
        </p:spPr>
        <p:txBody>
          <a:bodyPr wrap="square" rtlCol="0" anchor="ctr"/>
          <a:lstStyle/>
          <a:p>
            <a:pPr marL="0" indent="0" algn="ctr">
              <a:buNone/>
            </a:pPr>
            <a:r>
              <a:rPr lang="en-US" sz="1100" dirty="0">
                <a:solidFill>
                  <a:srgbClr val="95A6AD"/>
                </a:solidFill>
                <a:latin typeface="Calibri" pitchFamily="34" charset="0"/>
                <a:ea typeface="Calibri" pitchFamily="34" charset="-122"/>
                <a:cs typeface="Calibri" pitchFamily="34" charset="-120"/>
              </a:rPr>
              <a:t>caught</a:t>
            </a:r>
            <a:endParaRPr lang="en-US" sz="1100" dirty="0"/>
          </a:p>
        </p:txBody>
      </p:sp>
      <p:sp>
        <p:nvSpPr>
          <p:cNvPr id="31" name="Text 29"/>
          <p:cNvSpPr/>
          <p:nvPr/>
        </p:nvSpPr>
        <p:spPr>
          <a:xfrm>
            <a:off x="566928" y="4709160"/>
            <a:ext cx="5120640" cy="1005840"/>
          </a:xfrm>
          <a:prstGeom prst="rect">
            <a:avLst/>
          </a:prstGeom>
          <a:noFill/>
          <a:ln/>
        </p:spPr>
        <p:txBody>
          <a:bodyPr wrap="square" rtlCol="0" anchor="t"/>
          <a:lstStyle/>
          <a:p>
            <a:pPr marL="0" indent="0">
              <a:buNone/>
            </a:pPr>
            <a:r>
              <a:rPr lang="en-US" sz="1500" i="1" dirty="0">
                <a:solidFill>
                  <a:srgbClr val="E97A60"/>
                </a:solidFill>
                <a:latin typeface="Calibri" pitchFamily="34" charset="0"/>
                <a:ea typeface="Calibri" pitchFamily="34" charset="-122"/>
                <a:cs typeface="Calibri" pitchFamily="34" charset="-120"/>
              </a:rPr>
              <a:t>A near-perfect score is a property of clean, single-source data — not proof it works in the wild.</a:t>
            </a:r>
            <a:endParaRPr lang="en-US" sz="1500" dirty="0"/>
          </a:p>
        </p:txBody>
      </p:sp>
      <p:sp>
        <p:nvSpPr>
          <p:cNvPr id="32" name="Text 30"/>
          <p:cNvSpPr/>
          <p:nvPr/>
        </p:nvSpPr>
        <p:spPr>
          <a:xfrm>
            <a:off x="566928" y="5943600"/>
            <a:ext cx="11057839" cy="292608"/>
          </a:xfrm>
          <a:prstGeom prst="rect">
            <a:avLst/>
          </a:prstGeom>
          <a:noFill/>
          <a:ln/>
        </p:spPr>
        <p:txBody>
          <a:bodyPr wrap="square" rtlCol="0" anchor="ctr"/>
          <a:lstStyle/>
          <a:p>
            <a:pPr marL="0" indent="0">
              <a:buNone/>
            </a:pPr>
            <a:r>
              <a:rPr lang="en-US" sz="1100" b="1" dirty="0">
                <a:solidFill>
                  <a:srgbClr val="95A6AD"/>
                </a:solidFill>
                <a:latin typeface="Courier New" pitchFamily="34" charset="0"/>
                <a:ea typeface="Courier New" pitchFamily="34" charset="-122"/>
                <a:cs typeface="Courier New" pitchFamily="34" charset="-120"/>
              </a:rPr>
              <a:t>F1 = 2·precision·recall / (precision + recall)</a:t>
            </a:r>
            <a:r>
              <a:rPr lang="en-US" sz="1100" dirty="0">
                <a:solidFill>
                  <a:srgbClr val="6E7F87"/>
                </a:solidFill>
                <a:latin typeface="Calibri" pitchFamily="34" charset="0"/>
                <a:ea typeface="Calibri" pitchFamily="34" charset="-122"/>
                <a:cs typeface="Calibri" pitchFamily="34" charset="-120"/>
              </a:rPr>
              <a:t>    ·    MCC: a balanced score from −1 to +1, honest even when the classes are uneven</a:t>
            </a:r>
            <a:endParaRPr lang="en-US" sz="1100" dirty="0"/>
          </a:p>
        </p:txBody>
      </p:sp>
      <p:sp>
        <p:nvSpPr>
          <p:cNvPr id="33" name="Text 31"/>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the accuracy paradox: a model can score 65% and catch zero phishing</a:t>
            </a:r>
            <a:endParaRPr lang="en-US" sz="95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A20"/>
        </a:solidFill>
        <a:effectLst/>
      </p:bgPr>
    </p:bg>
    <p:spTree>
      <p:nvGrpSpPr>
        <p:cNvPr id="1" name=""/>
        <p:cNvGrpSpPr/>
        <p:nvPr/>
      </p:nvGrpSpPr>
      <p:grpSpPr>
        <a:xfrm>
          <a:off x="0" y="0"/>
          <a:ext cx="0" cy="0"/>
          <a:chOff x="0" y="0"/>
          <a:chExt cx="0" cy="0"/>
        </a:xfrm>
      </p:grpSpPr>
      <p:sp>
        <p:nvSpPr>
          <p:cNvPr id="2" name="Shape 0"/>
          <p:cNvSpPr/>
          <p:nvPr/>
        </p:nvSpPr>
        <p:spPr>
          <a:xfrm>
            <a:off x="0" y="6172200"/>
            <a:ext cx="12191695" cy="685800"/>
          </a:xfrm>
          <a:prstGeom prst="rect">
            <a:avLst/>
          </a:prstGeom>
          <a:solidFill>
            <a:srgbClr val="0E1922"/>
          </a:solidFill>
          <a:ln/>
        </p:spPr>
        <p:txBody>
          <a:bodyPr/>
          <a:lstStyle/>
          <a:p>
            <a:endParaRPr lang="en-IL"/>
          </a:p>
        </p:txBody>
      </p:sp>
      <p:sp>
        <p:nvSpPr>
          <p:cNvPr id="3" name="Text 1"/>
          <p:cNvSpPr/>
          <p:nvPr/>
        </p:nvSpPr>
        <p:spPr>
          <a:xfrm>
            <a:off x="566928" y="1737360"/>
            <a:ext cx="10058400" cy="365760"/>
          </a:xfrm>
          <a:prstGeom prst="rect">
            <a:avLst/>
          </a:prstGeom>
          <a:noFill/>
          <a:ln/>
        </p:spPr>
        <p:txBody>
          <a:bodyPr wrap="square" rtlCol="0" anchor="ctr"/>
          <a:lstStyle/>
          <a:p>
            <a:pPr marL="0" indent="0">
              <a:buNone/>
            </a:pPr>
            <a:r>
              <a:rPr lang="en-US" sz="1300" b="1" kern="0" spc="300" dirty="0">
                <a:solidFill>
                  <a:srgbClr val="E97A60"/>
                </a:solidFill>
                <a:latin typeface="Calibri" pitchFamily="34" charset="0"/>
                <a:ea typeface="Calibri" pitchFamily="34" charset="-122"/>
                <a:cs typeface="Calibri" pitchFamily="34" charset="-120"/>
              </a:rPr>
              <a:t>PART TWO</a:t>
            </a:r>
            <a:endParaRPr lang="en-US" sz="1300" dirty="0"/>
          </a:p>
        </p:txBody>
      </p:sp>
      <p:sp>
        <p:nvSpPr>
          <p:cNvPr id="4" name="Text 2"/>
          <p:cNvSpPr/>
          <p:nvPr/>
        </p:nvSpPr>
        <p:spPr>
          <a:xfrm>
            <a:off x="566928" y="2194560"/>
            <a:ext cx="10972800" cy="109728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Now I attack my own model.</a:t>
            </a:r>
            <a:endParaRPr lang="en-US" sz="4600" dirty="0"/>
          </a:p>
        </p:txBody>
      </p:sp>
      <p:sp>
        <p:nvSpPr>
          <p:cNvPr id="5" name="Text 3"/>
          <p:cNvSpPr/>
          <p:nvPr/>
        </p:nvSpPr>
        <p:spPr>
          <a:xfrm>
            <a:off x="566928" y="3429000"/>
            <a:ext cx="9875520" cy="1280160"/>
          </a:xfrm>
          <a:prstGeom prst="rect">
            <a:avLst/>
          </a:prstGeom>
          <a:noFill/>
          <a:ln/>
        </p:spPr>
        <p:txBody>
          <a:bodyPr wrap="square" rtlCol="0" anchor="t"/>
          <a:lstStyle/>
          <a:p>
            <a:pPr marL="0" indent="0">
              <a:buNone/>
            </a:pPr>
            <a:r>
              <a:rPr lang="en-US" sz="1800" dirty="0">
                <a:solidFill>
                  <a:srgbClr val="C7D3D9"/>
                </a:solidFill>
                <a:latin typeface="Calibri" pitchFamily="34" charset="0"/>
                <a:ea typeface="Calibri" pitchFamily="34" charset="-122"/>
                <a:cs typeface="Calibri" pitchFamily="34" charset="-120"/>
              </a:rPr>
              <a:t>Everything so far built a near-perfect detector. From here I switch sides and attack it the way a real adversary would — then fix each hole, and attack the fix. Each attack that follows is shown three ways: what the attack is, how I fixed it, and the result.</a:t>
            </a:r>
            <a:endParaRPr lang="en-US" sz="1800" dirty="0"/>
          </a:p>
        </p:txBody>
      </p:sp>
      <p:sp>
        <p:nvSpPr>
          <p:cNvPr id="6" name="Shape 4"/>
          <p:cNvSpPr/>
          <p:nvPr/>
        </p:nvSpPr>
        <p:spPr>
          <a:xfrm>
            <a:off x="566928" y="4846320"/>
            <a:ext cx="1554480" cy="548640"/>
          </a:xfrm>
          <a:prstGeom prst="roundRect">
            <a:avLst>
              <a:gd name="adj" fmla="val 50000"/>
            </a:avLst>
          </a:prstGeom>
          <a:solidFill>
            <a:srgbClr val="1B2B32"/>
          </a:solidFill>
          <a:ln w="15875">
            <a:solidFill>
              <a:srgbClr val="E97A60"/>
            </a:solidFill>
            <a:prstDash val="solid"/>
          </a:ln>
        </p:spPr>
        <p:txBody>
          <a:bodyPr/>
          <a:lstStyle/>
          <a:p>
            <a:endParaRPr lang="en-IL"/>
          </a:p>
        </p:txBody>
      </p:sp>
      <p:sp>
        <p:nvSpPr>
          <p:cNvPr id="7" name="Text 5"/>
          <p:cNvSpPr/>
          <p:nvPr/>
        </p:nvSpPr>
        <p:spPr>
          <a:xfrm>
            <a:off x="566928" y="4846320"/>
            <a:ext cx="1554480" cy="548640"/>
          </a:xfrm>
          <a:prstGeom prst="rect">
            <a:avLst/>
          </a:prstGeom>
          <a:noFill/>
          <a:ln/>
        </p:spPr>
        <p:txBody>
          <a:bodyPr wrap="square" rtlCol="0" anchor="ctr"/>
          <a:lstStyle/>
          <a:p>
            <a:pPr marL="0" indent="0" algn="ctr">
              <a:buNone/>
            </a:pPr>
            <a:r>
              <a:rPr lang="en-US" sz="1400" b="1" dirty="0">
                <a:solidFill>
                  <a:srgbClr val="E97A60"/>
                </a:solidFill>
                <a:latin typeface="Calibri" pitchFamily="34" charset="0"/>
                <a:ea typeface="Calibri" pitchFamily="34" charset="-122"/>
                <a:cs typeface="Calibri" pitchFamily="34" charset="-120"/>
              </a:rPr>
              <a:t>attack</a:t>
            </a:r>
            <a:endParaRPr lang="en-US" sz="1400" dirty="0"/>
          </a:p>
        </p:txBody>
      </p:sp>
      <p:sp>
        <p:nvSpPr>
          <p:cNvPr id="8" name="Text 6"/>
          <p:cNvSpPr/>
          <p:nvPr/>
        </p:nvSpPr>
        <p:spPr>
          <a:xfrm>
            <a:off x="2395728" y="4892040"/>
            <a:ext cx="457200" cy="457200"/>
          </a:xfrm>
          <a:prstGeom prst="rect">
            <a:avLst/>
          </a:prstGeom>
          <a:noFill/>
          <a:ln/>
        </p:spPr>
        <p:txBody>
          <a:bodyPr wrap="square" rtlCol="0" anchor="ctr"/>
          <a:lstStyle/>
          <a:p>
            <a:pPr marL="0" indent="0" algn="ctr">
              <a:buNone/>
            </a:pPr>
            <a:r>
              <a:rPr lang="en-US" sz="2200" dirty="0">
                <a:solidFill>
                  <a:srgbClr val="6E7F87"/>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944368" y="4846320"/>
            <a:ext cx="1554480" cy="548640"/>
          </a:xfrm>
          <a:prstGeom prst="roundRect">
            <a:avLst>
              <a:gd name="adj" fmla="val 50000"/>
            </a:avLst>
          </a:prstGeom>
          <a:solidFill>
            <a:srgbClr val="1B2B32"/>
          </a:solidFill>
          <a:ln w="15875">
            <a:solidFill>
              <a:srgbClr val="3CB6A6"/>
            </a:solidFill>
            <a:prstDash val="solid"/>
          </a:ln>
        </p:spPr>
        <p:txBody>
          <a:bodyPr/>
          <a:lstStyle/>
          <a:p>
            <a:endParaRPr lang="en-IL"/>
          </a:p>
        </p:txBody>
      </p:sp>
      <p:sp>
        <p:nvSpPr>
          <p:cNvPr id="10" name="Text 8"/>
          <p:cNvSpPr/>
          <p:nvPr/>
        </p:nvSpPr>
        <p:spPr>
          <a:xfrm>
            <a:off x="2944368" y="4846320"/>
            <a:ext cx="1554480" cy="548640"/>
          </a:xfrm>
          <a:prstGeom prst="rect">
            <a:avLst/>
          </a:prstGeom>
          <a:noFill/>
          <a:ln/>
        </p:spPr>
        <p:txBody>
          <a:bodyPr wrap="square" rtlCol="0" anchor="ctr"/>
          <a:lstStyle/>
          <a:p>
            <a:pPr marL="0" indent="0" algn="ctr">
              <a:buNone/>
            </a:pPr>
            <a:r>
              <a:rPr lang="en-US" sz="1400" b="1" dirty="0">
                <a:solidFill>
                  <a:srgbClr val="3CB6A6"/>
                </a:solidFill>
                <a:latin typeface="Calibri" pitchFamily="34" charset="0"/>
                <a:ea typeface="Calibri" pitchFamily="34" charset="-122"/>
                <a:cs typeface="Calibri" pitchFamily="34" charset="-120"/>
              </a:rPr>
              <a:t>defend</a:t>
            </a:r>
            <a:endParaRPr lang="en-US" sz="1400" dirty="0"/>
          </a:p>
        </p:txBody>
      </p:sp>
      <p:sp>
        <p:nvSpPr>
          <p:cNvPr id="11" name="Text 9"/>
          <p:cNvSpPr/>
          <p:nvPr/>
        </p:nvSpPr>
        <p:spPr>
          <a:xfrm>
            <a:off x="4773168" y="4892040"/>
            <a:ext cx="457200" cy="457200"/>
          </a:xfrm>
          <a:prstGeom prst="rect">
            <a:avLst/>
          </a:prstGeom>
          <a:noFill/>
          <a:ln/>
        </p:spPr>
        <p:txBody>
          <a:bodyPr wrap="square" rtlCol="0" anchor="ctr"/>
          <a:lstStyle/>
          <a:p>
            <a:pPr marL="0" indent="0" algn="ctr">
              <a:buNone/>
            </a:pPr>
            <a:r>
              <a:rPr lang="en-US" sz="2200" dirty="0">
                <a:solidFill>
                  <a:srgbClr val="6E7F87"/>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5321808" y="4846320"/>
            <a:ext cx="1554480" cy="548640"/>
          </a:xfrm>
          <a:prstGeom prst="roundRect">
            <a:avLst>
              <a:gd name="adj" fmla="val 50000"/>
            </a:avLst>
          </a:prstGeom>
          <a:solidFill>
            <a:srgbClr val="1B2B32"/>
          </a:solidFill>
          <a:ln w="15875">
            <a:solidFill>
              <a:srgbClr val="D4AB4E"/>
            </a:solidFill>
            <a:prstDash val="solid"/>
          </a:ln>
        </p:spPr>
        <p:txBody>
          <a:bodyPr/>
          <a:lstStyle/>
          <a:p>
            <a:endParaRPr lang="en-IL"/>
          </a:p>
        </p:txBody>
      </p:sp>
      <p:sp>
        <p:nvSpPr>
          <p:cNvPr id="13" name="Text 11"/>
          <p:cNvSpPr/>
          <p:nvPr/>
        </p:nvSpPr>
        <p:spPr>
          <a:xfrm>
            <a:off x="5321808" y="4846320"/>
            <a:ext cx="1554480" cy="548640"/>
          </a:xfrm>
          <a:prstGeom prst="rect">
            <a:avLst/>
          </a:prstGeom>
          <a:noFill/>
          <a:ln/>
        </p:spPr>
        <p:txBody>
          <a:bodyPr wrap="square" rtlCol="0" anchor="ctr"/>
          <a:lstStyle/>
          <a:p>
            <a:pPr marL="0" indent="0" algn="ctr">
              <a:buNone/>
            </a:pPr>
            <a:r>
              <a:rPr lang="en-US" sz="1400" b="1" dirty="0">
                <a:solidFill>
                  <a:srgbClr val="D4AB4E"/>
                </a:solidFill>
                <a:latin typeface="Calibri" pitchFamily="34" charset="0"/>
                <a:ea typeface="Calibri" pitchFamily="34" charset="-122"/>
                <a:cs typeface="Calibri" pitchFamily="34" charset="-120"/>
              </a:rPr>
              <a:t>repeat</a:t>
            </a:r>
            <a:endParaRPr lang="en-US" sz="1400" dirty="0"/>
          </a:p>
        </p:txBody>
      </p:sp>
      <p:sp>
        <p:nvSpPr>
          <p:cNvPr id="14" name="Text 12"/>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the vulnerable versions are not failures — finding and closing them is the point</a:t>
            </a:r>
            <a:endParaRPr lang="en-US" sz="95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ATTACK 1 · HOMOGLYPHS</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The invisible letter swap.</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12</a:t>
            </a:r>
            <a:endParaRPr lang="en-US" sz="1100" dirty="0"/>
          </a:p>
        </p:txBody>
      </p:sp>
      <p:sp>
        <p:nvSpPr>
          <p:cNvPr id="6" name="Text 4"/>
          <p:cNvSpPr/>
          <p:nvPr/>
        </p:nvSpPr>
        <p:spPr>
          <a:xfrm>
            <a:off x="566928" y="1965960"/>
            <a:ext cx="5120640" cy="640080"/>
          </a:xfrm>
          <a:prstGeom prst="rect">
            <a:avLst/>
          </a:prstGeom>
          <a:noFill/>
          <a:ln/>
        </p:spPr>
        <p:txBody>
          <a:bodyPr wrap="square" rtlCol="0" anchor="ctr"/>
          <a:lstStyle/>
          <a:p>
            <a:pPr marL="0" indent="0" algn="ctr">
              <a:buNone/>
            </a:pPr>
            <a:r>
              <a:rPr lang="en-US" sz="2600" dirty="0">
                <a:solidFill>
                  <a:srgbClr val="EAF0F1"/>
                </a:solidFill>
                <a:latin typeface="Cambria" pitchFamily="34" charset="0"/>
                <a:ea typeface="Cambria" pitchFamily="34" charset="-122"/>
                <a:cs typeface="Cambria" pitchFamily="34" charset="-120"/>
              </a:rPr>
              <a:t>Verify your account</a:t>
            </a:r>
            <a:endParaRPr lang="en-US" sz="2600" dirty="0"/>
          </a:p>
        </p:txBody>
      </p:sp>
      <p:sp>
        <p:nvSpPr>
          <p:cNvPr id="7" name="Text 5"/>
          <p:cNvSpPr/>
          <p:nvPr/>
        </p:nvSpPr>
        <p:spPr>
          <a:xfrm>
            <a:off x="566928" y="2606040"/>
            <a:ext cx="5120640" cy="320040"/>
          </a:xfrm>
          <a:prstGeom prst="rect">
            <a:avLst/>
          </a:prstGeom>
          <a:noFill/>
          <a:ln/>
        </p:spPr>
        <p:txBody>
          <a:bodyPr wrap="square" rtlCol="0" anchor="ctr"/>
          <a:lstStyle/>
          <a:p>
            <a:pPr marL="0" indent="0" algn="ctr">
              <a:buNone/>
            </a:pPr>
            <a:r>
              <a:rPr lang="en-US" sz="1200" dirty="0">
                <a:solidFill>
                  <a:srgbClr val="3CB6A6"/>
                </a:solidFill>
                <a:latin typeface="Calibri" pitchFamily="34" charset="0"/>
                <a:ea typeface="Calibri" pitchFamily="34" charset="-122"/>
                <a:cs typeface="Calibri" pitchFamily="34" charset="-120"/>
              </a:rPr>
              <a:t>clean</a:t>
            </a:r>
            <a:endParaRPr lang="en-US" sz="1200" dirty="0"/>
          </a:p>
        </p:txBody>
      </p:sp>
      <p:sp>
        <p:nvSpPr>
          <p:cNvPr id="8" name="Text 6"/>
          <p:cNvSpPr/>
          <p:nvPr/>
        </p:nvSpPr>
        <p:spPr>
          <a:xfrm>
            <a:off x="566928" y="3017520"/>
            <a:ext cx="5120640" cy="365760"/>
          </a:xfrm>
          <a:prstGeom prst="rect">
            <a:avLst/>
          </a:prstGeom>
          <a:noFill/>
          <a:ln/>
        </p:spPr>
        <p:txBody>
          <a:bodyPr wrap="square" rtlCol="0" anchor="ctr"/>
          <a:lstStyle/>
          <a:p>
            <a:pPr marL="0" indent="0" algn="ctr">
              <a:buNone/>
            </a:pPr>
            <a:r>
              <a:rPr lang="en-US" sz="1200" i="1" dirty="0">
                <a:solidFill>
                  <a:srgbClr val="95A6AD"/>
                </a:solidFill>
                <a:latin typeface="Calibri" pitchFamily="34" charset="0"/>
                <a:ea typeface="Calibri" pitchFamily="34" charset="-122"/>
                <a:cs typeface="Calibri" pitchFamily="34" charset="-120"/>
              </a:rPr>
              <a:t>↓  swap Latin letters for identical-looking Cyrillic</a:t>
            </a:r>
            <a:endParaRPr lang="en-US" sz="1200" dirty="0"/>
          </a:p>
        </p:txBody>
      </p:sp>
      <p:sp>
        <p:nvSpPr>
          <p:cNvPr id="9" name="Text 7"/>
          <p:cNvSpPr/>
          <p:nvPr/>
        </p:nvSpPr>
        <p:spPr>
          <a:xfrm>
            <a:off x="566928" y="3474720"/>
            <a:ext cx="5120640" cy="640080"/>
          </a:xfrm>
          <a:prstGeom prst="rect">
            <a:avLst/>
          </a:prstGeom>
          <a:noFill/>
          <a:ln/>
        </p:spPr>
        <p:txBody>
          <a:bodyPr wrap="square" rtlCol="0" anchor="ctr"/>
          <a:lstStyle/>
          <a:p>
            <a:pPr marL="0" indent="0" algn="ctr">
              <a:buNone/>
            </a:pPr>
            <a:r>
              <a:rPr lang="en-US" sz="2600" dirty="0" err="1">
                <a:solidFill>
                  <a:srgbClr val="EAF0F1"/>
                </a:solidFill>
                <a:latin typeface="Cambria" pitchFamily="34" charset="0"/>
                <a:ea typeface="Cambria" pitchFamily="34" charset="-122"/>
                <a:cs typeface="Cambria" pitchFamily="34" charset="-120"/>
              </a:rPr>
              <a:t>V</a:t>
            </a:r>
            <a:r>
              <a:rPr lang="en-US" sz="2600" dirty="0" err="1">
                <a:solidFill>
                  <a:srgbClr val="E97A60"/>
                </a:solidFill>
                <a:latin typeface="Cambria" pitchFamily="34" charset="0"/>
                <a:ea typeface="Cambria" pitchFamily="34" charset="-122"/>
                <a:cs typeface="Cambria" pitchFamily="34" charset="-120"/>
              </a:rPr>
              <a:t>е</a:t>
            </a:r>
            <a:r>
              <a:rPr lang="en-US" sz="2600" dirty="0" err="1">
                <a:solidFill>
                  <a:srgbClr val="EAF0F1"/>
                </a:solidFill>
                <a:latin typeface="Cambria" pitchFamily="34" charset="0"/>
                <a:ea typeface="Cambria" pitchFamily="34" charset="-122"/>
                <a:cs typeface="Cambria" pitchFamily="34" charset="-120"/>
              </a:rPr>
              <a:t>r</a:t>
            </a:r>
            <a:r>
              <a:rPr lang="en-US" sz="2600" dirty="0" err="1">
                <a:solidFill>
                  <a:srgbClr val="EAF0F1"/>
                </a:solidFill>
                <a:latin typeface="Cambria" pitchFamily="34" charset="0"/>
                <a:ea typeface="Cambria" pitchFamily="34" charset="-122"/>
              </a:rPr>
              <a:t>i</a:t>
            </a:r>
            <a:r>
              <a:rPr lang="en-US" sz="2600" dirty="0" err="1">
                <a:solidFill>
                  <a:srgbClr val="EAF0F1"/>
                </a:solidFill>
                <a:latin typeface="Cambria" pitchFamily="34" charset="0"/>
                <a:ea typeface="Cambria" pitchFamily="34" charset="-122"/>
                <a:cs typeface="Cambria" pitchFamily="34" charset="-120"/>
              </a:rPr>
              <a:t>fy</a:t>
            </a:r>
            <a:r>
              <a:rPr lang="en-US" sz="2600" dirty="0">
                <a:solidFill>
                  <a:srgbClr val="EAF0F1"/>
                </a:solidFill>
                <a:latin typeface="Cambria" pitchFamily="34" charset="0"/>
                <a:ea typeface="Cambria" pitchFamily="34" charset="-122"/>
                <a:cs typeface="Cambria" pitchFamily="34" charset="-120"/>
              </a:rPr>
              <a:t> your </a:t>
            </a:r>
            <a:r>
              <a:rPr lang="en-US" sz="2600" dirty="0">
                <a:solidFill>
                  <a:srgbClr val="E97A60"/>
                </a:solidFill>
                <a:latin typeface="Cambria" pitchFamily="34" charset="0"/>
                <a:ea typeface="Cambria" pitchFamily="34" charset="-122"/>
                <a:cs typeface="Cambria" pitchFamily="34" charset="-120"/>
              </a:rPr>
              <a:t>а</a:t>
            </a:r>
            <a:r>
              <a:rPr lang="en-US" sz="2600" dirty="0">
                <a:solidFill>
                  <a:srgbClr val="EAF0F1"/>
                </a:solidFill>
                <a:latin typeface="Cambria" pitchFamily="34" charset="0"/>
                <a:ea typeface="Cambria" pitchFamily="34" charset="-122"/>
                <a:cs typeface="Cambria" pitchFamily="34" charset="-120"/>
              </a:rPr>
              <a:t>cc</a:t>
            </a:r>
            <a:r>
              <a:rPr lang="en-US" sz="2600" dirty="0">
                <a:solidFill>
                  <a:srgbClr val="E97A60"/>
                </a:solidFill>
                <a:latin typeface="Cambria" pitchFamily="34" charset="0"/>
                <a:ea typeface="Cambria" pitchFamily="34" charset="-122"/>
                <a:cs typeface="Cambria" pitchFamily="34" charset="-120"/>
              </a:rPr>
              <a:t>о</a:t>
            </a:r>
            <a:r>
              <a:rPr lang="en-US" sz="2600" dirty="0">
                <a:solidFill>
                  <a:srgbClr val="EAF0F1"/>
                </a:solidFill>
                <a:latin typeface="Cambria" pitchFamily="34" charset="0"/>
                <a:ea typeface="Cambria" pitchFamily="34" charset="-122"/>
                <a:cs typeface="Cambria" pitchFamily="34" charset="-120"/>
              </a:rPr>
              <a:t>unt</a:t>
            </a:r>
            <a:endParaRPr lang="en-US" sz="2600" dirty="0"/>
          </a:p>
        </p:txBody>
      </p:sp>
      <p:sp>
        <p:nvSpPr>
          <p:cNvPr id="10" name="Text 8"/>
          <p:cNvSpPr/>
          <p:nvPr/>
        </p:nvSpPr>
        <p:spPr>
          <a:xfrm>
            <a:off x="566928" y="4114800"/>
            <a:ext cx="5120640" cy="320040"/>
          </a:xfrm>
          <a:prstGeom prst="rect">
            <a:avLst/>
          </a:prstGeom>
          <a:noFill/>
          <a:ln/>
        </p:spPr>
        <p:txBody>
          <a:bodyPr wrap="square" rtlCol="0" anchor="ctr"/>
          <a:lstStyle/>
          <a:p>
            <a:pPr marL="0" indent="0" algn="ctr">
              <a:buNone/>
            </a:pPr>
            <a:r>
              <a:rPr lang="en-US" sz="1200" b="1" dirty="0">
                <a:solidFill>
                  <a:srgbClr val="E97A60"/>
                </a:solidFill>
                <a:latin typeface="Calibri" pitchFamily="34" charset="0"/>
                <a:ea typeface="Calibri" pitchFamily="34" charset="-122"/>
                <a:cs typeface="Calibri" pitchFamily="34" charset="-120"/>
              </a:rPr>
              <a:t>looks the same </a:t>
            </a:r>
            <a:endParaRPr lang="en-US" sz="1200" dirty="0"/>
          </a:p>
        </p:txBody>
      </p:sp>
      <p:sp>
        <p:nvSpPr>
          <p:cNvPr id="11" name="Text 9"/>
          <p:cNvSpPr/>
          <p:nvPr/>
        </p:nvSpPr>
        <p:spPr>
          <a:xfrm>
            <a:off x="566928" y="4709160"/>
            <a:ext cx="5212080" cy="822960"/>
          </a:xfrm>
          <a:prstGeom prst="rect">
            <a:avLst/>
          </a:prstGeom>
          <a:noFill/>
          <a:ln/>
        </p:spPr>
        <p:txBody>
          <a:bodyPr wrap="square" rtlCol="0" anchor="t"/>
          <a:lstStyle/>
          <a:p>
            <a:pPr marL="0" indent="0">
              <a:lnSpc>
                <a:spcPct val="105000"/>
              </a:lnSpc>
              <a:buNone/>
            </a:pPr>
            <a:r>
              <a:rPr lang="en-US" sz="1250" b="1" dirty="0">
                <a:solidFill>
                  <a:srgbClr val="E97A60"/>
                </a:solidFill>
                <a:latin typeface="Calibri" pitchFamily="34" charset="0"/>
                <a:ea typeface="Calibri" pitchFamily="34" charset="-122"/>
                <a:cs typeface="Calibri" pitchFamily="34" charset="-120"/>
              </a:rPr>
              <a:t>THE ATTACK </a:t>
            </a:r>
            <a:r>
              <a:rPr lang="en-US" sz="1350" dirty="0">
                <a:solidFill>
                  <a:srgbClr val="EAF0F1"/>
                </a:solidFill>
                <a:latin typeface="Calibri" pitchFamily="34" charset="0"/>
                <a:ea typeface="Calibri" pitchFamily="34" charset="-122"/>
                <a:cs typeface="Calibri" pitchFamily="34" charset="-120"/>
              </a:rPr>
              <a:t>(Eger 2019; Boucher 2022): </a:t>
            </a:r>
          </a:p>
          <a:p>
            <a:pPr marL="0" indent="0">
              <a:lnSpc>
                <a:spcPct val="105000"/>
              </a:lnSpc>
              <a:buNone/>
            </a:pPr>
            <a:r>
              <a:rPr lang="en-US" sz="1350" dirty="0">
                <a:solidFill>
                  <a:srgbClr val="EAF0F1"/>
                </a:solidFill>
                <a:latin typeface="Calibri" pitchFamily="34" charset="0"/>
                <a:ea typeface="Calibri" pitchFamily="34" charset="-122"/>
                <a:cs typeface="Calibri" pitchFamily="34" charset="-120"/>
              </a:rPr>
              <a:t>a look-alike is a new, unknown token, so </a:t>
            </a:r>
            <a:r>
              <a:rPr lang="en-US" sz="1350" b="1" dirty="0">
                <a:solidFill>
                  <a:srgbClr val="EAF0F1"/>
                </a:solidFill>
                <a:latin typeface="Calibri" pitchFamily="34" charset="0"/>
                <a:ea typeface="Calibri" pitchFamily="34" charset="-122"/>
                <a:cs typeface="Calibri" pitchFamily="34" charset="-120"/>
              </a:rPr>
              <a:t>the phishing words vanish</a:t>
            </a:r>
            <a:r>
              <a:rPr lang="en-US" sz="1350" dirty="0">
                <a:solidFill>
                  <a:srgbClr val="EAF0F1"/>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566928" y="5623560"/>
            <a:ext cx="5212080" cy="822960"/>
          </a:xfrm>
          <a:prstGeom prst="rect">
            <a:avLst/>
          </a:prstGeom>
          <a:noFill/>
          <a:ln/>
        </p:spPr>
        <p:txBody>
          <a:bodyPr wrap="square" rtlCol="0" anchor="t"/>
          <a:lstStyle/>
          <a:p>
            <a:pPr marL="0" indent="0">
              <a:lnSpc>
                <a:spcPct val="105000"/>
              </a:lnSpc>
              <a:buNone/>
            </a:pPr>
            <a:r>
              <a:rPr lang="en-US" sz="1250" b="1" dirty="0">
                <a:solidFill>
                  <a:srgbClr val="D4AB4E"/>
                </a:solidFill>
                <a:latin typeface="Calibri" pitchFamily="34" charset="0"/>
                <a:ea typeface="Calibri" pitchFamily="34" charset="-122"/>
                <a:cs typeface="Calibri" pitchFamily="34" charset="-120"/>
              </a:rPr>
              <a:t>THE RESULT   </a:t>
            </a:r>
            <a:r>
              <a:rPr lang="en-US" sz="1350" dirty="0">
                <a:solidFill>
                  <a:srgbClr val="EAF0F1"/>
                </a:solidFill>
                <a:latin typeface="Calibri" pitchFamily="34" charset="0"/>
                <a:ea typeface="Calibri" pitchFamily="34" charset="-122"/>
                <a:cs typeface="Calibri" pitchFamily="34" charset="-120"/>
              </a:rPr>
              <a:t>word-only recall 0.99 → 0.71.</a:t>
            </a:r>
            <a:endParaRPr lang="en-US" sz="1250" dirty="0"/>
          </a:p>
        </p:txBody>
      </p:sp>
      <p:graphicFrame>
        <p:nvGraphicFramePr>
          <p:cNvPr id="13" name="Chart 0"/>
          <p:cNvGraphicFramePr/>
          <p:nvPr/>
        </p:nvGraphicFramePr>
        <p:xfrm>
          <a:off x="6400800" y="2011680"/>
          <a:ext cx="51206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6400800" y="5715000"/>
            <a:ext cx="5120640" cy="274320"/>
          </a:xfrm>
          <a:prstGeom prst="rect">
            <a:avLst/>
          </a:prstGeom>
          <a:noFill/>
          <a:ln/>
        </p:spPr>
        <p:txBody>
          <a:bodyPr wrap="square" rtlCol="0" anchor="ctr"/>
          <a:lstStyle/>
          <a:p>
            <a:pPr marL="0" indent="0" algn="ctr">
              <a:buNone/>
            </a:pPr>
            <a:r>
              <a:rPr lang="en-US" sz="1100" i="1" dirty="0">
                <a:solidFill>
                  <a:srgbClr val="95A6AD"/>
                </a:solidFill>
                <a:latin typeface="Calibri" pitchFamily="34" charset="0"/>
                <a:ea typeface="Calibri" pitchFamily="34" charset="-122"/>
                <a:cs typeface="Calibri" pitchFamily="34" charset="-120"/>
              </a:rPr>
              <a:t>phishing caught (recall), word-only model</a:t>
            </a:r>
            <a:endParaRPr lang="en-US" sz="1100" dirty="0"/>
          </a:p>
        </p:txBody>
      </p:sp>
      <p:sp>
        <p:nvSpPr>
          <p:cNvPr id="15" name="Text 12"/>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a human reads the same word; the model sees a different one</a:t>
            </a:r>
            <a:endParaRPr lang="en-US" sz="95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ATTACK 1 · DEFENCE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Two defences — one generalises, one doesn't.</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13</a:t>
            </a:r>
            <a:endParaRPr lang="en-US" sz="1100" dirty="0"/>
          </a:p>
        </p:txBody>
      </p:sp>
      <p:graphicFrame>
        <p:nvGraphicFramePr>
          <p:cNvPr id="6" name="Chart 0"/>
          <p:cNvGraphicFramePr/>
          <p:nvPr/>
        </p:nvGraphicFramePr>
        <p:xfrm>
          <a:off x="731520" y="1874520"/>
          <a:ext cx="7680960" cy="37947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31520" y="5760720"/>
            <a:ext cx="7680960" cy="274320"/>
          </a:xfrm>
          <a:prstGeom prst="rect">
            <a:avLst/>
          </a:prstGeom>
          <a:noFill/>
          <a:ln/>
        </p:spPr>
        <p:txBody>
          <a:bodyPr wrap="square" rtlCol="0" anchor="ctr"/>
          <a:lstStyle/>
          <a:p>
            <a:pPr marL="0" indent="0" algn="ctr">
              <a:buNone/>
            </a:pPr>
            <a:r>
              <a:rPr lang="en-US" sz="1100" i="1" dirty="0">
                <a:solidFill>
                  <a:srgbClr val="95A6AD"/>
                </a:solidFill>
                <a:latin typeface="Calibri" pitchFamily="34" charset="0"/>
                <a:ea typeface="Calibri" pitchFamily="34" charset="-122"/>
                <a:cs typeface="Calibri" pitchFamily="34" charset="-120"/>
              </a:rPr>
              <a:t>phishing caught (recall)</a:t>
            </a:r>
            <a:endParaRPr lang="en-US" sz="1100" dirty="0"/>
          </a:p>
        </p:txBody>
      </p:sp>
      <p:sp>
        <p:nvSpPr>
          <p:cNvPr id="8" name="Text 5"/>
          <p:cNvSpPr/>
          <p:nvPr/>
        </p:nvSpPr>
        <p:spPr>
          <a:xfrm>
            <a:off x="8595360" y="1920240"/>
            <a:ext cx="3017520" cy="822960"/>
          </a:xfrm>
          <a:prstGeom prst="rect">
            <a:avLst/>
          </a:prstGeom>
          <a:noFill/>
          <a:ln/>
        </p:spPr>
        <p:txBody>
          <a:bodyPr wrap="square" rtlCol="0" anchor="t"/>
          <a:lstStyle/>
          <a:p>
            <a:pPr marL="0" indent="0">
              <a:lnSpc>
                <a:spcPct val="105000"/>
              </a:lnSpc>
              <a:buNone/>
            </a:pPr>
            <a:r>
              <a:rPr lang="en-US" sz="1250" b="1" dirty="0">
                <a:solidFill>
                  <a:srgbClr val="3CB6A6"/>
                </a:solidFill>
                <a:latin typeface="Calibri" pitchFamily="34" charset="0"/>
                <a:ea typeface="Calibri" pitchFamily="34" charset="-122"/>
                <a:cs typeface="Calibri" pitchFamily="34" charset="-120"/>
              </a:rPr>
              <a:t>THE FIX   </a:t>
            </a:r>
            <a:r>
              <a:rPr lang="en-US" sz="1350" dirty="0">
                <a:solidFill>
                  <a:srgbClr val="EAF0F1"/>
                </a:solidFill>
                <a:latin typeface="Calibri" pitchFamily="34" charset="0"/>
                <a:ea typeface="Calibri" pitchFamily="34" charset="-122"/>
                <a:cs typeface="Calibri" pitchFamily="34" charset="-120"/>
              </a:rPr>
              <a:t>Char n-grams + normalise: fold look-alikes back to plain letters before classifying.</a:t>
            </a:r>
            <a:endParaRPr lang="en-US" sz="1250" dirty="0"/>
          </a:p>
        </p:txBody>
      </p:sp>
      <p:sp>
        <p:nvSpPr>
          <p:cNvPr id="9" name="Text 6"/>
          <p:cNvSpPr/>
          <p:nvPr/>
        </p:nvSpPr>
        <p:spPr>
          <a:xfrm>
            <a:off x="8595360" y="2880360"/>
            <a:ext cx="3017520" cy="822960"/>
          </a:xfrm>
          <a:prstGeom prst="rect">
            <a:avLst/>
          </a:prstGeom>
          <a:noFill/>
          <a:ln/>
        </p:spPr>
        <p:txBody>
          <a:bodyPr wrap="square" rtlCol="0" anchor="t"/>
          <a:lstStyle/>
          <a:p>
            <a:pPr marL="0" indent="0">
              <a:lnSpc>
                <a:spcPct val="105000"/>
              </a:lnSpc>
              <a:buNone/>
            </a:pPr>
            <a:r>
              <a:rPr lang="en-US" sz="1250" b="1" dirty="0">
                <a:solidFill>
                  <a:srgbClr val="D4AB4E"/>
                </a:solidFill>
                <a:latin typeface="Calibri" pitchFamily="34" charset="0"/>
                <a:ea typeface="Calibri" pitchFamily="34" charset="-122"/>
                <a:cs typeface="Calibri" pitchFamily="34" charset="-120"/>
              </a:rPr>
              <a:t>THE RESULT   </a:t>
            </a:r>
            <a:r>
              <a:rPr lang="en-US" sz="1350" dirty="0">
                <a:solidFill>
                  <a:srgbClr val="EAF0F1"/>
                </a:solidFill>
                <a:latin typeface="Calibri" pitchFamily="34" charset="0"/>
                <a:ea typeface="Calibri" pitchFamily="34" charset="-122"/>
                <a:cs typeface="Calibri" pitchFamily="34" charset="-120"/>
              </a:rPr>
              <a:t>0.71 → 0.99. Normalisation even repairs an attack it never saw (full-width), via generic Unicode folding.</a:t>
            </a:r>
            <a:endParaRPr lang="en-US" sz="1250" dirty="0"/>
          </a:p>
        </p:txBody>
      </p:sp>
      <p:sp>
        <p:nvSpPr>
          <p:cNvPr id="10" name="Text 7"/>
          <p:cNvSpPr/>
          <p:nvPr/>
        </p:nvSpPr>
        <p:spPr>
          <a:xfrm>
            <a:off x="8595360" y="4114800"/>
            <a:ext cx="3017520" cy="822960"/>
          </a:xfrm>
          <a:prstGeom prst="rect">
            <a:avLst/>
          </a:prstGeom>
          <a:noFill/>
          <a:ln/>
        </p:spPr>
        <p:txBody>
          <a:bodyPr wrap="square" rtlCol="0" anchor="t"/>
          <a:lstStyle/>
          <a:p>
            <a:pPr marL="0" indent="0">
              <a:lnSpc>
                <a:spcPct val="105000"/>
              </a:lnSpc>
              <a:buNone/>
            </a:pPr>
            <a:r>
              <a:rPr lang="en-US" sz="1250" b="1" dirty="0">
                <a:solidFill>
                  <a:srgbClr val="5FA3C0"/>
                </a:solidFill>
                <a:latin typeface="Calibri" pitchFamily="34" charset="0"/>
                <a:ea typeface="Calibri" pitchFamily="34" charset="-122"/>
                <a:cs typeface="Calibri" pitchFamily="34" charset="-120"/>
              </a:rPr>
              <a:t>THE LESSON   </a:t>
            </a:r>
            <a:r>
              <a:rPr lang="en-US" sz="1350" dirty="0">
                <a:solidFill>
                  <a:srgbClr val="EAF0F1"/>
                </a:solidFill>
                <a:latin typeface="Calibri" pitchFamily="34" charset="0"/>
                <a:ea typeface="Calibri" pitchFamily="34" charset="-122"/>
                <a:cs typeface="Calibri" pitchFamily="34" charset="-120"/>
              </a:rPr>
              <a:t>A principled defence generalises; adversarial training memorises (weaker on unseen, 0.78). Stacked, they cover all.</a:t>
            </a:r>
            <a:endParaRPr lang="en-US" sz="1250" dirty="0"/>
          </a:p>
        </p:txBody>
      </p:sp>
      <p:sp>
        <p:nvSpPr>
          <p:cNvPr id="11" name="Text 8"/>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a principled defence beats a memorised one on unseen attacks</a:t>
            </a:r>
            <a:endParaRPr lang="en-US" sz="95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ATTACK 2 · ADAPTIVE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A smarter attacker aims at the weak spots.</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14</a:t>
            </a:r>
            <a:endParaRPr lang="en-US" sz="1100" dirty="0"/>
          </a:p>
        </p:txBody>
      </p:sp>
      <p:graphicFrame>
        <p:nvGraphicFramePr>
          <p:cNvPr id="6" name="Chart 0"/>
          <p:cNvGraphicFramePr/>
          <p:nvPr/>
        </p:nvGraphicFramePr>
        <p:xfrm>
          <a:off x="731520" y="1920240"/>
          <a:ext cx="58521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31520" y="5715000"/>
            <a:ext cx="5852160" cy="274320"/>
          </a:xfrm>
          <a:prstGeom prst="rect">
            <a:avLst/>
          </a:prstGeom>
          <a:noFill/>
          <a:ln/>
        </p:spPr>
        <p:txBody>
          <a:bodyPr wrap="square" rtlCol="0" anchor="ctr"/>
          <a:lstStyle/>
          <a:p>
            <a:pPr marL="0" indent="0" algn="ctr">
              <a:buNone/>
            </a:pPr>
            <a:r>
              <a:rPr lang="en-US" sz="1100" i="1" dirty="0">
                <a:solidFill>
                  <a:srgbClr val="95A6AD"/>
                </a:solidFill>
                <a:latin typeface="Calibri" pitchFamily="34" charset="0"/>
                <a:ea typeface="Calibri" pitchFamily="34" charset="-122"/>
                <a:cs typeface="Calibri" pitchFamily="34" charset="-120"/>
              </a:rPr>
              <a:t>same budget (8 edits) — targeting matters</a:t>
            </a:r>
            <a:endParaRPr lang="en-US" sz="1100" dirty="0"/>
          </a:p>
        </p:txBody>
      </p:sp>
      <p:sp>
        <p:nvSpPr>
          <p:cNvPr id="8" name="Text 5"/>
          <p:cNvSpPr/>
          <p:nvPr/>
        </p:nvSpPr>
        <p:spPr>
          <a:xfrm>
            <a:off x="6949440" y="1920240"/>
            <a:ext cx="4663440" cy="822960"/>
          </a:xfrm>
          <a:prstGeom prst="rect">
            <a:avLst/>
          </a:prstGeom>
          <a:noFill/>
          <a:ln/>
        </p:spPr>
        <p:txBody>
          <a:bodyPr wrap="square" rtlCol="0" anchor="t"/>
          <a:lstStyle/>
          <a:p>
            <a:pPr marL="0" indent="0">
              <a:lnSpc>
                <a:spcPct val="105000"/>
              </a:lnSpc>
              <a:buNone/>
            </a:pPr>
            <a:r>
              <a:rPr lang="en-US" sz="1250" b="1" dirty="0">
                <a:solidFill>
                  <a:srgbClr val="E97A60"/>
                </a:solidFill>
                <a:latin typeface="Calibri" pitchFamily="34" charset="0"/>
                <a:ea typeface="Calibri" pitchFamily="34" charset="-122"/>
                <a:cs typeface="Calibri" pitchFamily="34" charset="-120"/>
              </a:rPr>
              <a:t>THE ATTACK   </a:t>
            </a:r>
            <a:r>
              <a:rPr lang="en-US" sz="1350" dirty="0">
                <a:solidFill>
                  <a:srgbClr val="EAF0F1"/>
                </a:solidFill>
                <a:latin typeface="Calibri" pitchFamily="34" charset="0"/>
                <a:ea typeface="Calibri" pitchFamily="34" charset="-122"/>
                <a:cs typeface="Calibri" pitchFamily="34" charset="-120"/>
              </a:rPr>
              <a:t>Perturb only the model's highest-weight words, using look-alikes my hand-made list happens to miss (DeepWordBug / TextBugger / HotFlip family).</a:t>
            </a:r>
            <a:endParaRPr lang="en-US" sz="1250" dirty="0"/>
          </a:p>
        </p:txBody>
      </p:sp>
      <p:sp>
        <p:nvSpPr>
          <p:cNvPr id="9" name="Text 6"/>
          <p:cNvSpPr/>
          <p:nvPr/>
        </p:nvSpPr>
        <p:spPr>
          <a:xfrm>
            <a:off x="6949440" y="3291840"/>
            <a:ext cx="4663440" cy="822960"/>
          </a:xfrm>
          <a:prstGeom prst="rect">
            <a:avLst/>
          </a:prstGeom>
          <a:noFill/>
          <a:ln/>
        </p:spPr>
        <p:txBody>
          <a:bodyPr wrap="square" rtlCol="0" anchor="t"/>
          <a:lstStyle/>
          <a:p>
            <a:pPr marL="0" indent="0">
              <a:lnSpc>
                <a:spcPct val="105000"/>
              </a:lnSpc>
              <a:buNone/>
            </a:pPr>
            <a:r>
              <a:rPr lang="en-US" sz="1250" b="1" dirty="0">
                <a:solidFill>
                  <a:srgbClr val="D4AB4E"/>
                </a:solidFill>
                <a:latin typeface="Calibri" pitchFamily="34" charset="0"/>
                <a:ea typeface="Calibri" pitchFamily="34" charset="-122"/>
                <a:cs typeface="Calibri" pitchFamily="34" charset="-120"/>
              </a:rPr>
              <a:t>THE RESULT   </a:t>
            </a:r>
            <a:r>
              <a:rPr lang="en-US" sz="1350" dirty="0">
                <a:solidFill>
                  <a:srgbClr val="EAF0F1"/>
                </a:solidFill>
                <a:latin typeface="Calibri" pitchFamily="34" charset="0"/>
                <a:ea typeface="Calibri" pitchFamily="34" charset="-122"/>
                <a:cs typeface="Calibri" pitchFamily="34" charset="-120"/>
              </a:rPr>
              <a:t>Same 8 edits, targeted, cut recall 0.98 → 0.74. A typical email flips after just 9 invisible edits (~23% of letters). Even the fully-defended model drops to 0.88.</a:t>
            </a:r>
            <a:endParaRPr lang="en-US" sz="1250" dirty="0"/>
          </a:p>
        </p:txBody>
      </p:sp>
      <p:sp>
        <p:nvSpPr>
          <p:cNvPr id="10" name="Text 7"/>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the strongest form of 'no silver bullet'</a:t>
            </a:r>
            <a:endParaRPr lang="en-US" sz="950" dirty="0"/>
          </a:p>
        </p:txBody>
      </p:sp>
      <p:sp>
        <p:nvSpPr>
          <p:cNvPr id="11" name="TextBox 10"/>
          <p:cNvSpPr txBox="1"/>
          <p:nvPr/>
        </p:nvSpPr>
        <p:spPr>
          <a:xfrm>
            <a:off x="6949440" y="5029200"/>
            <a:ext cx="4663440" cy="1371600"/>
          </a:xfrm>
          <a:prstGeom prst="rect">
            <a:avLst/>
          </a:prstGeom>
          <a:noFill/>
        </p:spPr>
        <p:txBody>
          <a:bodyPr wrap="square">
            <a:spAutoFit/>
          </a:bodyPr>
          <a:lstStyle/>
          <a:p>
            <a:r>
              <a:rPr sz="1050" b="1" i="0">
                <a:solidFill>
                  <a:srgbClr val="E97A60"/>
                </a:solidFill>
                <a:latin typeface="Calibri"/>
              </a:rPr>
              <a:t>TARGETED ATTACK — EXAMPLE</a:t>
            </a:r>
          </a:p>
          <a:p>
            <a:r>
              <a:rPr sz="2100" b="0" i="0">
                <a:solidFill>
                  <a:srgbClr val="EAF0F1"/>
                </a:solidFill>
                <a:latin typeface="Cambria"/>
              </a:rPr>
              <a:t>‘</a:t>
            </a:r>
            <a:r>
              <a:rPr sz="2100" b="1" i="0">
                <a:solidFill>
                  <a:srgbClr val="E97A60"/>
                </a:solidFill>
                <a:latin typeface="Cambria"/>
              </a:rPr>
              <a:t>Ver1fy</a:t>
            </a:r>
            <a:r>
              <a:rPr sz="2100" b="0" i="0">
                <a:solidFill>
                  <a:srgbClr val="EAF0F1"/>
                </a:solidFill>
                <a:latin typeface="Cambria"/>
              </a:rPr>
              <a:t>’  ‘</a:t>
            </a:r>
            <a:r>
              <a:rPr sz="2100" b="1" i="0">
                <a:solidFill>
                  <a:srgbClr val="E97A60"/>
                </a:solidFill>
                <a:latin typeface="Cambria"/>
              </a:rPr>
              <a:t>acc0unt</a:t>
            </a:r>
            <a:r>
              <a:rPr sz="2100" b="0" i="0">
                <a:solidFill>
                  <a:srgbClr val="EAF0F1"/>
                </a:solidFill>
                <a:latin typeface="Cambria"/>
              </a:rPr>
              <a:t>’  ‘</a:t>
            </a:r>
            <a:r>
              <a:rPr sz="2100" b="1" i="0">
                <a:solidFill>
                  <a:srgbClr val="E97A60"/>
                </a:solidFill>
                <a:latin typeface="Cambria"/>
              </a:rPr>
              <a:t>passw0rd</a:t>
            </a:r>
            <a:r>
              <a:rPr sz="2100" b="0" i="0">
                <a:solidFill>
                  <a:srgbClr val="EAF0F1"/>
                </a:solidFill>
                <a:latin typeface="Cambria"/>
              </a:rPr>
              <a:t>’</a:t>
            </a:r>
          </a:p>
          <a:p>
            <a:r>
              <a:rPr sz="1150" b="0" i="0">
                <a:solidFill>
                  <a:srgbClr val="95A6AD"/>
                </a:solidFill>
                <a:latin typeface="Calibri"/>
              </a:rPr>
              <a:t>only the 2–3 highest-weight words are disguised — the model's own favourites, hit with look-alikes my list missed.</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ATTACK 2 · DEFENCE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Close the gap — with a guarantee.</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15</a:t>
            </a:r>
            <a:endParaRPr lang="en-US" sz="1100" dirty="0"/>
          </a:p>
        </p:txBody>
      </p:sp>
      <p:sp>
        <p:nvSpPr>
          <p:cNvPr id="6" name="Text 4"/>
          <p:cNvSpPr/>
          <p:nvPr/>
        </p:nvSpPr>
        <p:spPr>
          <a:xfrm>
            <a:off x="566928" y="2011680"/>
            <a:ext cx="4754880" cy="1371600"/>
          </a:xfrm>
          <a:prstGeom prst="rect">
            <a:avLst/>
          </a:prstGeom>
          <a:noFill/>
          <a:ln/>
        </p:spPr>
        <p:txBody>
          <a:bodyPr wrap="square" rtlCol="0" anchor="ctr"/>
          <a:lstStyle/>
          <a:p>
            <a:pPr marL="0" indent="0" algn="ctr">
              <a:buNone/>
            </a:pPr>
            <a:r>
              <a:rPr lang="en-US" sz="9200" b="1" dirty="0">
                <a:solidFill>
                  <a:srgbClr val="D4AB4E"/>
                </a:solidFill>
                <a:latin typeface="Cambria" pitchFamily="34" charset="0"/>
                <a:ea typeface="Cambria" pitchFamily="34" charset="-122"/>
                <a:cs typeface="Cambria" pitchFamily="34" charset="-120"/>
              </a:rPr>
              <a:t>100%</a:t>
            </a:r>
            <a:endParaRPr lang="en-US" sz="9200" dirty="0"/>
          </a:p>
        </p:txBody>
      </p:sp>
      <p:sp>
        <p:nvSpPr>
          <p:cNvPr id="7" name="Text 5"/>
          <p:cNvSpPr/>
          <p:nvPr/>
        </p:nvSpPr>
        <p:spPr>
          <a:xfrm>
            <a:off x="566928" y="3429000"/>
            <a:ext cx="4754880" cy="914400"/>
          </a:xfrm>
          <a:prstGeom prst="rect">
            <a:avLst/>
          </a:prstGeom>
          <a:noFill/>
          <a:ln/>
        </p:spPr>
        <p:txBody>
          <a:bodyPr wrap="square" rtlCol="0" anchor="t"/>
          <a:lstStyle/>
          <a:p>
            <a:pPr marL="0" indent="0" algn="ctr">
              <a:buNone/>
            </a:pPr>
            <a:r>
              <a:rPr lang="en-US" sz="1500" dirty="0">
                <a:solidFill>
                  <a:srgbClr val="EAF0F1"/>
                </a:solidFill>
                <a:latin typeface="Calibri" pitchFamily="34" charset="0"/>
                <a:ea typeface="Calibri" pitchFamily="34" charset="-122"/>
                <a:cs typeface="Calibri" pitchFamily="34" charset="-120"/>
              </a:rPr>
              <a:t>of phishing is provably unchanged by the whole family of look-alike letters (0% with the old hand-made list).</a:t>
            </a:r>
            <a:endParaRPr lang="en-US" sz="1500" dirty="0"/>
          </a:p>
        </p:txBody>
      </p:sp>
      <p:sp>
        <p:nvSpPr>
          <p:cNvPr id="8" name="Text 6"/>
          <p:cNvSpPr/>
          <p:nvPr/>
        </p:nvSpPr>
        <p:spPr>
          <a:xfrm>
            <a:off x="566928" y="4526280"/>
            <a:ext cx="4937760" cy="822960"/>
          </a:xfrm>
          <a:prstGeom prst="rect">
            <a:avLst/>
          </a:prstGeom>
          <a:noFill/>
          <a:ln/>
        </p:spPr>
        <p:txBody>
          <a:bodyPr wrap="square" rtlCol="0" anchor="t"/>
          <a:lstStyle/>
          <a:p>
            <a:pPr marL="0" indent="0">
              <a:lnSpc>
                <a:spcPct val="105000"/>
              </a:lnSpc>
              <a:buNone/>
            </a:pPr>
            <a:r>
              <a:rPr lang="en-US" sz="1250" b="1" dirty="0">
                <a:solidFill>
                  <a:srgbClr val="3CB6A6"/>
                </a:solidFill>
                <a:latin typeface="Calibri" pitchFamily="34" charset="0"/>
                <a:ea typeface="Calibri" pitchFamily="34" charset="-122"/>
                <a:cs typeface="Calibri" pitchFamily="34" charset="-120"/>
              </a:rPr>
              <a:t>THE FIX   </a:t>
            </a:r>
            <a:r>
              <a:rPr lang="en-US" sz="1350" dirty="0">
                <a:solidFill>
                  <a:srgbClr val="EAF0F1"/>
                </a:solidFill>
                <a:latin typeface="Calibri" pitchFamily="34" charset="0"/>
                <a:ea typeface="Calibri" pitchFamily="34" charset="-122"/>
                <a:cs typeface="Calibri" pitchFamily="34" charset="-120"/>
              </a:rPr>
              <a:t>Swap the hand-made list for the full official confusables list (Unicode UTS #39) — the same one browsers use for fake web addresses.</a:t>
            </a:r>
            <a:endParaRPr lang="en-US" sz="1250" dirty="0"/>
          </a:p>
        </p:txBody>
      </p:sp>
      <p:graphicFrame>
        <p:nvGraphicFramePr>
          <p:cNvPr id="9" name="Chart 0"/>
          <p:cNvGraphicFramePr/>
          <p:nvPr/>
        </p:nvGraphicFramePr>
        <p:xfrm>
          <a:off x="6035040" y="1920240"/>
          <a:ext cx="55778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 7"/>
          <p:cNvSpPr/>
          <p:nvPr/>
        </p:nvSpPr>
        <p:spPr>
          <a:xfrm>
            <a:off x="6035040" y="5440680"/>
            <a:ext cx="5577840" cy="274320"/>
          </a:xfrm>
          <a:prstGeom prst="rect">
            <a:avLst/>
          </a:prstGeom>
          <a:noFill/>
          <a:ln/>
        </p:spPr>
        <p:txBody>
          <a:bodyPr wrap="square" rtlCol="0" anchor="ctr"/>
          <a:lstStyle/>
          <a:p>
            <a:pPr marL="0" indent="0" algn="ctr">
              <a:buNone/>
            </a:pPr>
            <a:r>
              <a:rPr lang="en-US" sz="1200" b="1" kern="0" spc="100" dirty="0">
                <a:solidFill>
                  <a:srgbClr val="D4AB4E"/>
                </a:solidFill>
                <a:latin typeface="Calibri" pitchFamily="34" charset="0"/>
                <a:ea typeface="Calibri" pitchFamily="34" charset="-122"/>
                <a:cs typeface="Calibri" pitchFamily="34" charset="-120"/>
              </a:rPr>
              <a:t>THE RESULT</a:t>
            </a:r>
            <a:endParaRPr lang="en-US" sz="1200" dirty="0"/>
          </a:p>
        </p:txBody>
      </p:sp>
      <p:sp>
        <p:nvSpPr>
          <p:cNvPr id="11" name="Text 8"/>
          <p:cNvSpPr/>
          <p:nvPr/>
        </p:nvSpPr>
        <p:spPr>
          <a:xfrm>
            <a:off x="6035040" y="5715000"/>
            <a:ext cx="5577840" cy="274320"/>
          </a:xfrm>
          <a:prstGeom prst="rect">
            <a:avLst/>
          </a:prstGeom>
          <a:noFill/>
          <a:ln/>
        </p:spPr>
        <p:txBody>
          <a:bodyPr wrap="square" rtlCol="0" anchor="ctr"/>
          <a:lstStyle/>
          <a:p>
            <a:pPr marL="0" indent="0" algn="ctr">
              <a:buNone/>
            </a:pPr>
            <a:r>
              <a:rPr lang="en-US" sz="1200" i="1" dirty="0">
                <a:solidFill>
                  <a:srgbClr val="95A6AD"/>
                </a:solidFill>
                <a:latin typeface="Calibri" pitchFamily="34" charset="0"/>
                <a:ea typeface="Calibri" pitchFamily="34" charset="-122"/>
                <a:cs typeface="Calibri" pitchFamily="34" charset="-120"/>
              </a:rPr>
              <a:t>recall vs the targeted attacker 0.88 → 0.998, now certified</a:t>
            </a:r>
            <a:endParaRPr lang="en-US" sz="1200" dirty="0"/>
          </a:p>
        </p:txBody>
      </p:sp>
      <p:sp>
        <p:nvSpPr>
          <p:cNvPr id="12" name="Text 9"/>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the arms race ends by raising the cost of attack, not by a lucky score</a:t>
            </a:r>
            <a:endParaRPr lang="en-US" sz="95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ATTACK 3 · DILUTION</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Hack the words, not the letters.</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16</a:t>
            </a:r>
            <a:endParaRPr lang="en-US" sz="1100" dirty="0"/>
          </a:p>
        </p:txBody>
      </p:sp>
      <p:graphicFrame>
        <p:nvGraphicFramePr>
          <p:cNvPr id="6" name="Chart 0"/>
          <p:cNvGraphicFramePr/>
          <p:nvPr/>
        </p:nvGraphicFramePr>
        <p:xfrm>
          <a:off x="731520" y="1828800"/>
          <a:ext cx="74980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31520" y="5806440"/>
            <a:ext cx="7498080" cy="274320"/>
          </a:xfrm>
          <a:prstGeom prst="rect">
            <a:avLst/>
          </a:prstGeom>
          <a:noFill/>
          <a:ln/>
        </p:spPr>
        <p:txBody>
          <a:bodyPr wrap="square" rtlCol="0" anchor="ctr"/>
          <a:lstStyle/>
          <a:p>
            <a:pPr marL="0" indent="0" algn="ctr">
              <a:buNone/>
            </a:pPr>
            <a:r>
              <a:rPr lang="en-US" sz="1100" i="1" dirty="0">
                <a:solidFill>
                  <a:srgbClr val="95A6AD"/>
                </a:solidFill>
                <a:latin typeface="Calibri" pitchFamily="34" charset="0"/>
                <a:ea typeface="Calibri" pitchFamily="34" charset="-122"/>
                <a:cs typeface="Calibri" pitchFamily="34" charset="-120"/>
              </a:rPr>
              <a:t>innocent words added  →</a:t>
            </a:r>
            <a:endParaRPr lang="en-US" sz="1100" dirty="0"/>
          </a:p>
        </p:txBody>
      </p:sp>
      <p:sp>
        <p:nvSpPr>
          <p:cNvPr id="8" name="Text 5"/>
          <p:cNvSpPr/>
          <p:nvPr/>
        </p:nvSpPr>
        <p:spPr>
          <a:xfrm>
            <a:off x="8503920" y="1920240"/>
            <a:ext cx="3108960" cy="822960"/>
          </a:xfrm>
          <a:prstGeom prst="rect">
            <a:avLst/>
          </a:prstGeom>
          <a:noFill/>
          <a:ln/>
        </p:spPr>
        <p:txBody>
          <a:bodyPr wrap="square" rtlCol="0" anchor="t"/>
          <a:lstStyle/>
          <a:p>
            <a:pPr marL="0" indent="0">
              <a:lnSpc>
                <a:spcPct val="105000"/>
              </a:lnSpc>
              <a:buNone/>
            </a:pPr>
            <a:r>
              <a:rPr lang="en-US" sz="1250" b="1" dirty="0">
                <a:solidFill>
                  <a:srgbClr val="E97A60"/>
                </a:solidFill>
                <a:latin typeface="Calibri" pitchFamily="34" charset="0"/>
                <a:ea typeface="Calibri" pitchFamily="34" charset="-122"/>
                <a:cs typeface="Calibri" pitchFamily="34" charset="-120"/>
              </a:rPr>
              <a:t>THE ATTACK   </a:t>
            </a:r>
            <a:r>
              <a:rPr lang="en-US" sz="1350" dirty="0">
                <a:solidFill>
                  <a:srgbClr val="EAF0F1"/>
                </a:solidFill>
                <a:latin typeface="Calibri" pitchFamily="34" charset="0"/>
                <a:ea typeface="Calibri" pitchFamily="34" charset="-122"/>
                <a:cs typeface="Calibri" pitchFamily="34" charset="-120"/>
              </a:rPr>
              <a:t>The classic good-word attack (Lowd &amp; Meek 2005): bury the scam under innocent filler until the linear sum tips.</a:t>
            </a:r>
            <a:endParaRPr lang="en-US" sz="1250" dirty="0"/>
          </a:p>
        </p:txBody>
      </p:sp>
      <p:sp>
        <p:nvSpPr>
          <p:cNvPr id="9" name="Text 6"/>
          <p:cNvSpPr/>
          <p:nvPr/>
        </p:nvSpPr>
        <p:spPr>
          <a:xfrm>
            <a:off x="8503920" y="3291840"/>
            <a:ext cx="3108960" cy="822960"/>
          </a:xfrm>
          <a:prstGeom prst="rect">
            <a:avLst/>
          </a:prstGeom>
          <a:noFill/>
          <a:ln/>
        </p:spPr>
        <p:txBody>
          <a:bodyPr wrap="square" rtlCol="0" anchor="t"/>
          <a:lstStyle/>
          <a:p>
            <a:pPr marL="0" indent="0">
              <a:lnSpc>
                <a:spcPct val="105000"/>
              </a:lnSpc>
              <a:buNone/>
            </a:pPr>
            <a:r>
              <a:rPr lang="en-US" sz="1250" b="1" dirty="0">
                <a:solidFill>
                  <a:srgbClr val="D4AB4E"/>
                </a:solidFill>
                <a:latin typeface="Calibri" pitchFamily="34" charset="0"/>
                <a:ea typeface="Calibri" pitchFamily="34" charset="-122"/>
                <a:cs typeface="Calibri" pitchFamily="34" charset="-120"/>
              </a:rPr>
              <a:t>THE RESULT   </a:t>
            </a:r>
            <a:r>
              <a:rPr lang="en-US" sz="1350" dirty="0">
                <a:solidFill>
                  <a:srgbClr val="EAF0F1"/>
                </a:solidFill>
                <a:latin typeface="Calibri" pitchFamily="34" charset="0"/>
                <a:ea typeface="Calibri" pitchFamily="34" charset="-122"/>
                <a:cs typeface="Calibri" pitchFamily="34" charset="-120"/>
              </a:rPr>
              <a:t>recall 0.998 → 0.13. The letter-cleaner does nothing (0.997) — wrong defence for a new kind of attack.</a:t>
            </a:r>
            <a:endParaRPr lang="en-US" sz="1250" dirty="0"/>
          </a:p>
        </p:txBody>
      </p:sp>
      <p:sp>
        <p:nvSpPr>
          <p:cNvPr id="10" name="Text 7"/>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a linear bag-of-words is inherently vulnerable to dilution</a:t>
            </a:r>
            <a:endParaRPr lang="en-US" sz="950" dirty="0"/>
          </a:p>
        </p:txBody>
      </p:sp>
      <p:sp>
        <p:nvSpPr>
          <p:cNvPr id="11" name="TextBox 10"/>
          <p:cNvSpPr txBox="1"/>
          <p:nvPr/>
        </p:nvSpPr>
        <p:spPr>
          <a:xfrm>
            <a:off x="8503920" y="5074920"/>
            <a:ext cx="3108960" cy="1188720"/>
          </a:xfrm>
          <a:prstGeom prst="rect">
            <a:avLst/>
          </a:prstGeom>
          <a:noFill/>
        </p:spPr>
        <p:txBody>
          <a:bodyPr wrap="square">
            <a:spAutoFit/>
          </a:bodyPr>
          <a:lstStyle/>
          <a:p>
            <a:r>
              <a:rPr sz="1150" b="1" i="0">
                <a:solidFill>
                  <a:srgbClr val="3CB6A6"/>
                </a:solidFill>
                <a:latin typeface="Calibri"/>
              </a:rPr>
              <a:t>what ‘one-way’ means:  </a:t>
            </a:r>
            <a:r>
              <a:rPr sz="1150" b="0" i="0">
                <a:solidFill>
                  <a:srgbClr val="95A6AD"/>
                </a:solidFill>
                <a:latin typeface="Calibri"/>
              </a:rPr>
              <a:t>every word can only ADD suspicion, never remove it — so adding text can't lower the score.</a:t>
            </a:r>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ATTACK 3 · DEFENCE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A model that can't be diluted — at a cost.</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17</a:t>
            </a:r>
            <a:endParaRPr lang="en-US" sz="1100" dirty="0"/>
          </a:p>
        </p:txBody>
      </p:sp>
      <p:graphicFrame>
        <p:nvGraphicFramePr>
          <p:cNvPr id="6" name="Chart 0"/>
          <p:cNvGraphicFramePr/>
          <p:nvPr/>
        </p:nvGraphicFramePr>
        <p:xfrm>
          <a:off x="731520" y="1920240"/>
          <a:ext cx="585216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949440" y="1920240"/>
            <a:ext cx="4663440" cy="1067326"/>
          </a:xfrm>
          <a:prstGeom prst="rect">
            <a:avLst/>
          </a:prstGeom>
          <a:noFill/>
          <a:ln/>
        </p:spPr>
        <p:txBody>
          <a:bodyPr wrap="square" rtlCol="0" anchor="t"/>
          <a:lstStyle/>
          <a:p>
            <a:pPr marL="0" indent="0">
              <a:lnSpc>
                <a:spcPct val="105000"/>
              </a:lnSpc>
              <a:buNone/>
            </a:pPr>
            <a:r>
              <a:rPr lang="en-US" sz="1250" b="1" dirty="0">
                <a:solidFill>
                  <a:srgbClr val="3CB6A6"/>
                </a:solidFill>
                <a:latin typeface="Calibri" pitchFamily="34" charset="0"/>
                <a:ea typeface="Calibri" pitchFamily="34" charset="-122"/>
                <a:cs typeface="Calibri" pitchFamily="34" charset="-120"/>
              </a:rPr>
              <a:t>THE FIX   </a:t>
            </a:r>
            <a:r>
              <a:rPr lang="en-US" sz="1350" dirty="0">
                <a:solidFill>
                  <a:srgbClr val="EAF0F1"/>
                </a:solidFill>
                <a:latin typeface="Calibri" pitchFamily="34" charset="0"/>
                <a:ea typeface="Calibri" pitchFamily="34" charset="-122"/>
                <a:cs typeface="Calibri" pitchFamily="34" charset="-120"/>
              </a:rPr>
              <a:t>A one-way model: every word can only ADD suspicion, never subtract it. So adding text can only push the score up — padding provably cannot clear a scam.</a:t>
            </a:r>
            <a:br>
              <a:rPr lang="en-US" sz="1350" dirty="0">
                <a:solidFill>
                  <a:srgbClr val="EAF0F1"/>
                </a:solidFill>
                <a:latin typeface="Calibri" pitchFamily="34" charset="0"/>
                <a:ea typeface="Calibri" pitchFamily="34" charset="-122"/>
                <a:cs typeface="Calibri" pitchFamily="34" charset="-120"/>
              </a:rPr>
            </a:br>
            <a:endParaRPr lang="en-US" sz="1250" dirty="0">
              <a:solidFill>
                <a:srgbClr val="EAF0F1"/>
              </a:solidFill>
              <a:latin typeface="Calibri" pitchFamily="34" charset="0"/>
              <a:ea typeface="Calibri" pitchFamily="34" charset="-122"/>
              <a:cs typeface="Calibri" pitchFamily="34" charset="-120"/>
            </a:endParaRPr>
          </a:p>
          <a:p>
            <a:pPr marL="0" indent="0">
              <a:lnSpc>
                <a:spcPct val="105000"/>
              </a:lnSpc>
              <a:buNone/>
            </a:pPr>
            <a:r>
              <a:rPr lang="en-US" sz="1250" b="1" dirty="0">
                <a:solidFill>
                  <a:srgbClr val="3CB6A6"/>
                </a:solidFill>
                <a:latin typeface="Calibri" pitchFamily="34" charset="0"/>
                <a:ea typeface="Calibri" pitchFamily="34" charset="-122"/>
                <a:cs typeface="Calibri" pitchFamily="34" charset="-120"/>
              </a:rPr>
              <a:t>0 ≤ </a:t>
            </a:r>
            <a:r>
              <a:rPr lang="he-IL" sz="1250" b="1" dirty="0">
                <a:solidFill>
                  <a:srgbClr val="3CB6A6"/>
                </a:solidFill>
                <a:latin typeface="Calibri" pitchFamily="34" charset="0"/>
                <a:ea typeface="Calibri" pitchFamily="34" charset="-122"/>
                <a:cs typeface="Calibri" pitchFamily="34" charset="-120"/>
              </a:rPr>
              <a:t>משקל</a:t>
            </a:r>
            <a:endParaRPr lang="he-IL" sz="1350" b="1" dirty="0">
              <a:solidFill>
                <a:srgbClr val="3CB6A6"/>
              </a:solidFill>
              <a:latin typeface="Calibri" pitchFamily="34" charset="0"/>
              <a:ea typeface="Calibri" pitchFamily="34" charset="-122"/>
              <a:cs typeface="Calibri" pitchFamily="34" charset="-120"/>
            </a:endParaRPr>
          </a:p>
        </p:txBody>
      </p:sp>
      <p:sp>
        <p:nvSpPr>
          <p:cNvPr id="8" name="Text 5"/>
          <p:cNvSpPr/>
          <p:nvPr/>
        </p:nvSpPr>
        <p:spPr>
          <a:xfrm>
            <a:off x="6949440" y="3611880"/>
            <a:ext cx="4663440" cy="822960"/>
          </a:xfrm>
          <a:prstGeom prst="rect">
            <a:avLst/>
          </a:prstGeom>
          <a:noFill/>
          <a:ln/>
        </p:spPr>
        <p:txBody>
          <a:bodyPr wrap="square" rtlCol="0" anchor="t"/>
          <a:lstStyle/>
          <a:p>
            <a:pPr marL="0" indent="0">
              <a:lnSpc>
                <a:spcPct val="105000"/>
              </a:lnSpc>
              <a:buNone/>
            </a:pPr>
            <a:r>
              <a:rPr lang="en-US" sz="1250" b="1" dirty="0">
                <a:solidFill>
                  <a:srgbClr val="D4AB4E"/>
                </a:solidFill>
                <a:latin typeface="Calibri" pitchFamily="34" charset="0"/>
                <a:ea typeface="Calibri" pitchFamily="34" charset="-122"/>
                <a:cs typeface="Calibri" pitchFamily="34" charset="-120"/>
              </a:rPr>
              <a:t>THE RESULT   </a:t>
            </a:r>
            <a:r>
              <a:rPr lang="en-US" sz="1350" dirty="0">
                <a:solidFill>
                  <a:srgbClr val="EAF0F1"/>
                </a:solidFill>
                <a:latin typeface="Calibri" pitchFamily="34" charset="0"/>
                <a:ea typeface="Calibri" pitchFamily="34" charset="-122"/>
                <a:cs typeface="Calibri" pitchFamily="34" charset="-120"/>
              </a:rPr>
              <a:t>0 drops; 100% stay flagged after +40 / +100 / +300 words. Price: clean F1 0.998 → 0.91. A guaranteed safety net, not a replacement.</a:t>
            </a:r>
            <a:endParaRPr lang="en-US" sz="1250" dirty="0"/>
          </a:p>
        </p:txBody>
      </p:sp>
      <p:sp>
        <p:nvSpPr>
          <p:cNvPr id="9" name="Text 6"/>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two attack classes now closed by proof: letters, and word-insertion</a:t>
            </a:r>
            <a:endParaRPr lang="en-US" sz="950" dirty="0"/>
          </a:p>
        </p:txBody>
      </p:sp>
      <p:sp>
        <p:nvSpPr>
          <p:cNvPr id="10" name="TextBox 9"/>
          <p:cNvSpPr txBox="1"/>
          <p:nvPr/>
        </p:nvSpPr>
        <p:spPr>
          <a:xfrm>
            <a:off x="731520" y="5806440"/>
            <a:ext cx="5852160" cy="566928"/>
          </a:xfrm>
          <a:prstGeom prst="rect">
            <a:avLst/>
          </a:prstGeom>
          <a:noFill/>
        </p:spPr>
        <p:txBody>
          <a:bodyPr wrap="square">
            <a:spAutoFit/>
          </a:bodyPr>
          <a:lstStyle/>
          <a:p>
            <a:r>
              <a:rPr sz="1050" b="1" i="0">
                <a:solidFill>
                  <a:srgbClr val="E97A60"/>
                </a:solidFill>
                <a:latin typeface="Calibri"/>
              </a:rPr>
              <a:t>standard</a:t>
            </a:r>
            <a:r>
              <a:rPr sz="1050" b="0" i="0">
                <a:solidFill>
                  <a:srgbClr val="95A6AD"/>
                </a:solidFill>
                <a:latin typeface="Calibri"/>
              </a:rPr>
              <a:t> = normal model · </a:t>
            </a:r>
            <a:r>
              <a:rPr sz="1050" b="1" i="0">
                <a:solidFill>
                  <a:srgbClr val="3CB6A6"/>
                </a:solidFill>
                <a:latin typeface="Calibri"/>
              </a:rPr>
              <a:t>one-way</a:t>
            </a:r>
            <a:r>
              <a:rPr sz="1050" b="0" i="0">
                <a:solidFill>
                  <a:srgbClr val="95A6AD"/>
                </a:solidFill>
                <a:latin typeface="Calibri"/>
              </a:rPr>
              <a:t> = monotone safety-net.   </a:t>
            </a:r>
            <a:r>
              <a:rPr sz="1050" b="1" i="0">
                <a:solidFill>
                  <a:srgbClr val="EAF0F1"/>
                </a:solidFill>
                <a:latin typeface="Calibri"/>
              </a:rPr>
              <a:t>‘diluted’</a:t>
            </a:r>
            <a:r>
              <a:rPr sz="1050" b="0" i="0">
                <a:solidFill>
                  <a:srgbClr val="95A6AD"/>
                </a:solidFill>
                <a:latin typeface="Calibri"/>
              </a:rPr>
              <a:t> = under the padding attack · </a:t>
            </a:r>
            <a:r>
              <a:rPr sz="1050" b="1" i="0">
                <a:solidFill>
                  <a:srgbClr val="EAF0F1"/>
                </a:solidFill>
                <a:latin typeface="Calibri"/>
              </a:rPr>
              <a:t>‘clean F1’</a:t>
            </a:r>
            <a:r>
              <a:rPr sz="1050" b="0" i="0">
                <a:solidFill>
                  <a:srgbClr val="95A6AD"/>
                </a:solidFill>
                <a:latin typeface="Calibri"/>
              </a:rPr>
              <a:t> = score on normal mail.</a:t>
            </a:r>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THE ARC</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The whole arms race, in one line.</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18</a:t>
            </a:r>
            <a:endParaRPr lang="en-US" sz="1100" dirty="0"/>
          </a:p>
        </p:txBody>
      </p:sp>
      <p:graphicFrame>
        <p:nvGraphicFramePr>
          <p:cNvPr id="6" name="Chart 0"/>
          <p:cNvGraphicFramePr/>
          <p:nvPr/>
        </p:nvGraphicFramePr>
        <p:xfrm>
          <a:off x="640080" y="1828800"/>
          <a:ext cx="109728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640080" y="5897880"/>
            <a:ext cx="10972800" cy="365760"/>
          </a:xfrm>
          <a:prstGeom prst="rect">
            <a:avLst/>
          </a:prstGeom>
          <a:noFill/>
          <a:ln/>
        </p:spPr>
        <p:txBody>
          <a:bodyPr wrap="square" rtlCol="0" anchor="ctr"/>
          <a:lstStyle/>
          <a:p>
            <a:pPr marL="0" indent="0" algn="ctr">
              <a:buNone/>
            </a:pPr>
            <a:r>
              <a:rPr lang="en-US" sz="1300" i="1" dirty="0">
                <a:solidFill>
                  <a:srgbClr val="95A6AD"/>
                </a:solidFill>
                <a:latin typeface="Calibri" pitchFamily="34" charset="0"/>
                <a:ea typeface="Calibri" pitchFamily="34" charset="-122"/>
                <a:cs typeface="Calibri" pitchFamily="34" charset="-120"/>
              </a:rPr>
              <a:t>Each dip is an attack; each recovery is a defence. Two recoveries (UTS-39, monotone) are guaranteed, not just measured.</a:t>
            </a:r>
            <a:endParaRPr lang="en-US" sz="1300" dirty="0"/>
          </a:p>
        </p:txBody>
      </p:sp>
      <p:sp>
        <p:nvSpPr>
          <p:cNvPr id="8" name="Text 5"/>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every fix provoked a smarter attack — two are now closed by proof</a:t>
            </a:r>
            <a:endParaRPr lang="en-US" sz="95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Every attack, and how it was answered.</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5096" cy="3145536"/>
        </p:xfrm>
        <a:graphic>
          <a:graphicData uri="http://schemas.openxmlformats.org/drawingml/2006/table">
            <a:tbl>
              <a:tblPr/>
              <a:tblGrid>
                <a:gridCol w="21031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825496">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457200">
                <a:tc>
                  <a:txBody>
                    <a:bodyPr/>
                    <a:lstStyle/>
                    <a:p>
                      <a:pPr marL="0" indent="0" algn="l">
                        <a:buNone/>
                      </a:pPr>
                      <a:r>
                        <a:rPr lang="en-US" sz="1200" b="1" dirty="0">
                          <a:solidFill>
                            <a:srgbClr val="95A6AD"/>
                          </a:solidFill>
                          <a:latin typeface="Calibri" pitchFamily="34" charset="0"/>
                          <a:ea typeface="Calibri" pitchFamily="34" charset="-122"/>
                          <a:cs typeface="Calibri" pitchFamily="34" charset="-120"/>
                        </a:rPr>
                        <a:t>Attack</a:t>
                      </a:r>
                      <a:endParaRPr lang="en-US" sz="12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1B2B32"/>
                    </a:solidFill>
                  </a:tcPr>
                </a:tc>
                <a:tc>
                  <a:txBody>
                    <a:bodyPr/>
                    <a:lstStyle/>
                    <a:p>
                      <a:pPr marL="0" indent="0" algn="l">
                        <a:buNone/>
                      </a:pPr>
                      <a:r>
                        <a:rPr lang="en-US" sz="1200" b="1" dirty="0">
                          <a:solidFill>
                            <a:srgbClr val="95A6AD"/>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1B2B32"/>
                    </a:solidFill>
                  </a:tcPr>
                </a:tc>
                <a:tc>
                  <a:txBody>
                    <a:bodyPr/>
                    <a:lstStyle/>
                    <a:p>
                      <a:pPr marL="0" indent="0" algn="l">
                        <a:buNone/>
                      </a:pPr>
                      <a:r>
                        <a:rPr lang="en-US" sz="1200" b="1" dirty="0">
                          <a:solidFill>
                            <a:srgbClr val="95A6AD"/>
                          </a:solidFill>
                          <a:latin typeface="Calibri" pitchFamily="34" charset="0"/>
                          <a:ea typeface="Calibri" pitchFamily="34" charset="-122"/>
                          <a:cs typeface="Calibri" pitchFamily="34" charset="-120"/>
                        </a:rPr>
                        <a:t>Recall hit</a:t>
                      </a:r>
                      <a:endParaRPr lang="en-US" sz="12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1B2B32"/>
                    </a:solidFill>
                  </a:tcPr>
                </a:tc>
                <a:tc>
                  <a:txBody>
                    <a:bodyPr/>
                    <a:lstStyle/>
                    <a:p>
                      <a:pPr marL="0" indent="0" algn="l">
                        <a:buNone/>
                      </a:pPr>
                      <a:r>
                        <a:rPr lang="en-US" sz="1200" b="1" dirty="0">
                          <a:solidFill>
                            <a:srgbClr val="95A6AD"/>
                          </a:solidFill>
                          <a:latin typeface="Calibri" pitchFamily="34" charset="0"/>
                          <a:ea typeface="Calibri" pitchFamily="34" charset="-122"/>
                          <a:cs typeface="Calibri" pitchFamily="34" charset="-120"/>
                        </a:rPr>
                        <a:t>Defence</a:t>
                      </a:r>
                      <a:endParaRPr lang="en-US" sz="12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1B2B32"/>
                    </a:solidFill>
                  </a:tcPr>
                </a:tc>
                <a:tc>
                  <a:txBody>
                    <a:bodyPr/>
                    <a:lstStyle/>
                    <a:p>
                      <a:pPr marL="0" indent="0" algn="l">
                        <a:buNone/>
                      </a:pPr>
                      <a:r>
                        <a:rPr lang="en-US" sz="1200" b="1" dirty="0">
                          <a:solidFill>
                            <a:srgbClr val="95A6AD"/>
                          </a:solidFill>
                          <a:latin typeface="Calibri" pitchFamily="34" charset="0"/>
                          <a:ea typeface="Calibri" pitchFamily="34" charset="-122"/>
                          <a:cs typeface="Calibri" pitchFamily="34" charset="-120"/>
                        </a:rPr>
                        <a:t>After</a:t>
                      </a:r>
                      <a:endParaRPr lang="en-US" sz="12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1B2B32"/>
                    </a:solidFill>
                  </a:tcPr>
                </a:tc>
                <a:extLst>
                  <a:ext uri="{0D108BD9-81ED-4DB2-BD59-A6C34878D82A}">
                    <a16:rowId xmlns:a16="http://schemas.microsoft.com/office/drawing/2014/main" val="10000"/>
                  </a:ext>
                </a:extLst>
              </a:tr>
              <a:tr h="896112">
                <a:tc>
                  <a:txBody>
                    <a:bodyPr/>
                    <a:lstStyle/>
                    <a:p>
                      <a:pPr marL="0" indent="0" algn="l">
                        <a:buNone/>
                      </a:pPr>
                      <a:r>
                        <a:rPr lang="en-US" sz="1300" b="1" dirty="0">
                          <a:solidFill>
                            <a:srgbClr val="EAF0F1"/>
                          </a:solidFill>
                          <a:latin typeface="Calibri" pitchFamily="34" charset="0"/>
                          <a:ea typeface="Calibri" pitchFamily="34" charset="-122"/>
                          <a:cs typeface="Calibri" pitchFamily="34" charset="-120"/>
                        </a:rPr>
                        <a:t>Homoglyph</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dirty="0">
                          <a:solidFill>
                            <a:srgbClr val="EAF0F1"/>
                          </a:solidFill>
                          <a:latin typeface="Calibri" pitchFamily="34" charset="0"/>
                          <a:ea typeface="Calibri" pitchFamily="34" charset="-122"/>
                          <a:cs typeface="Calibri" pitchFamily="34" charset="-120"/>
                        </a:rPr>
                        <a:t>swap letters for look-alikes</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b="1" dirty="0">
                          <a:solidFill>
                            <a:srgbClr val="E97A60"/>
                          </a:solidFill>
                          <a:latin typeface="Calibri" pitchFamily="34" charset="0"/>
                          <a:ea typeface="Calibri" pitchFamily="34" charset="-122"/>
                          <a:cs typeface="Calibri" pitchFamily="34" charset="-120"/>
                        </a:rPr>
                        <a:t>0.99 → 0.71</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dirty="0">
                          <a:solidFill>
                            <a:srgbClr val="EAF0F1"/>
                          </a:solidFill>
                          <a:latin typeface="Calibri" pitchFamily="34" charset="0"/>
                          <a:ea typeface="Calibri" pitchFamily="34" charset="-122"/>
                          <a:cs typeface="Calibri" pitchFamily="34" charset="-120"/>
                        </a:rPr>
                        <a:t>normalisation + char n-grams</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b="1" dirty="0">
                          <a:solidFill>
                            <a:srgbClr val="3CB6A6"/>
                          </a:solidFill>
                          <a:latin typeface="Calibri" pitchFamily="34" charset="0"/>
                          <a:ea typeface="Calibri" pitchFamily="34" charset="-122"/>
                          <a:cs typeface="Calibri" pitchFamily="34" charset="-120"/>
                        </a:rPr>
                        <a:t>0.99</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extLst>
                  <a:ext uri="{0D108BD9-81ED-4DB2-BD59-A6C34878D82A}">
                    <a16:rowId xmlns:a16="http://schemas.microsoft.com/office/drawing/2014/main" val="10001"/>
                  </a:ext>
                </a:extLst>
              </a:tr>
              <a:tr h="896112">
                <a:tc>
                  <a:txBody>
                    <a:bodyPr/>
                    <a:lstStyle/>
                    <a:p>
                      <a:pPr marL="0" indent="0" algn="l">
                        <a:buNone/>
                      </a:pPr>
                      <a:r>
                        <a:rPr lang="en-US" sz="1300" b="1" dirty="0">
                          <a:solidFill>
                            <a:srgbClr val="EAF0F1"/>
                          </a:solidFill>
                          <a:latin typeface="Calibri" pitchFamily="34" charset="0"/>
                          <a:ea typeface="Calibri" pitchFamily="34" charset="-122"/>
                          <a:cs typeface="Calibri" pitchFamily="34" charset="-120"/>
                        </a:rPr>
                        <a:t>Targeted / adaptive</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dirty="0">
                          <a:solidFill>
                            <a:srgbClr val="EAF0F1"/>
                          </a:solidFill>
                          <a:latin typeface="Calibri" pitchFamily="34" charset="0"/>
                          <a:ea typeface="Calibri" pitchFamily="34" charset="-122"/>
                          <a:cs typeface="Calibri" pitchFamily="34" charset="-120"/>
                        </a:rPr>
                        <a:t>aim edits at the top words</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b="1" dirty="0">
                          <a:solidFill>
                            <a:srgbClr val="E97A60"/>
                          </a:solidFill>
                          <a:latin typeface="Calibri" pitchFamily="34" charset="0"/>
                          <a:ea typeface="Calibri" pitchFamily="34" charset="-122"/>
                          <a:cs typeface="Calibri" pitchFamily="34" charset="-120"/>
                        </a:rPr>
                        <a:t>→ 0.88</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dirty="0">
                          <a:solidFill>
                            <a:srgbClr val="EAF0F1"/>
                          </a:solidFill>
                          <a:latin typeface="Calibri" pitchFamily="34" charset="0"/>
                          <a:ea typeface="Calibri" pitchFamily="34" charset="-122"/>
                          <a:cs typeface="Calibri" pitchFamily="34" charset="-120"/>
                        </a:rPr>
                        <a:t>UTS-39 certificate</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b="1" dirty="0">
                          <a:solidFill>
                            <a:srgbClr val="3CB6A6"/>
                          </a:solidFill>
                          <a:latin typeface="Calibri" pitchFamily="34" charset="0"/>
                          <a:ea typeface="Calibri" pitchFamily="34" charset="-122"/>
                          <a:cs typeface="Calibri" pitchFamily="34" charset="-120"/>
                        </a:rPr>
                        <a:t>0.998  </a:t>
                      </a:r>
                      <a:r>
                        <a:rPr lang="en-US" sz="1050" b="1" dirty="0">
                          <a:solidFill>
                            <a:srgbClr val="D4AB4E"/>
                          </a:solidFill>
                          <a:latin typeface="Calibri" pitchFamily="34" charset="0"/>
                          <a:ea typeface="Calibri" pitchFamily="34" charset="-122"/>
                          <a:cs typeface="Calibri" pitchFamily="34" charset="-120"/>
                        </a:rPr>
                        <a:t>✓ proof</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extLst>
                  <a:ext uri="{0D108BD9-81ED-4DB2-BD59-A6C34878D82A}">
                    <a16:rowId xmlns:a16="http://schemas.microsoft.com/office/drawing/2014/main" val="10002"/>
                  </a:ext>
                </a:extLst>
              </a:tr>
              <a:tr h="896112">
                <a:tc>
                  <a:txBody>
                    <a:bodyPr/>
                    <a:lstStyle/>
                    <a:p>
                      <a:pPr marL="0" indent="0" algn="l">
                        <a:buNone/>
                      </a:pPr>
                      <a:r>
                        <a:rPr lang="en-US" sz="1300" b="1" dirty="0">
                          <a:solidFill>
                            <a:srgbClr val="EAF0F1"/>
                          </a:solidFill>
                          <a:latin typeface="Calibri" pitchFamily="34" charset="0"/>
                          <a:ea typeface="Calibri" pitchFamily="34" charset="-122"/>
                          <a:cs typeface="Calibri" pitchFamily="34" charset="-120"/>
                        </a:rPr>
                        <a:t>Dilution</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dirty="0">
                          <a:solidFill>
                            <a:srgbClr val="EAF0F1"/>
                          </a:solidFill>
                          <a:latin typeface="Calibri" pitchFamily="34" charset="0"/>
                          <a:ea typeface="Calibri" pitchFamily="34" charset="-122"/>
                          <a:cs typeface="Calibri" pitchFamily="34" charset="-120"/>
                        </a:rPr>
                        <a:t>bury the scam in legit filler</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b="1" dirty="0">
                          <a:solidFill>
                            <a:srgbClr val="E97A60"/>
                          </a:solidFill>
                          <a:latin typeface="Calibri" pitchFamily="34" charset="0"/>
                          <a:ea typeface="Calibri" pitchFamily="34" charset="-122"/>
                          <a:cs typeface="Calibri" pitchFamily="34" charset="-120"/>
                        </a:rPr>
                        <a:t>0.998 → 0.13</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dirty="0">
                          <a:solidFill>
                            <a:srgbClr val="EAF0F1"/>
                          </a:solidFill>
                          <a:latin typeface="Calibri" pitchFamily="34" charset="0"/>
                          <a:ea typeface="Calibri" pitchFamily="34" charset="-122"/>
                          <a:cs typeface="Calibri" pitchFamily="34" charset="-120"/>
                        </a:rPr>
                        <a:t>monotone (one-way) model</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tc>
                  <a:txBody>
                    <a:bodyPr/>
                    <a:lstStyle/>
                    <a:p>
                      <a:pPr marL="0" indent="0" algn="l">
                        <a:buNone/>
                      </a:pPr>
                      <a:r>
                        <a:rPr lang="en-US" sz="1300" b="1" dirty="0">
                          <a:solidFill>
                            <a:srgbClr val="3CB6A6"/>
                          </a:solidFill>
                          <a:latin typeface="Calibri" pitchFamily="34" charset="0"/>
                          <a:ea typeface="Calibri" pitchFamily="34" charset="-122"/>
                          <a:cs typeface="Calibri" pitchFamily="34" charset="-120"/>
                        </a:rPr>
                        <a:t>0.87  </a:t>
                      </a:r>
                      <a:r>
                        <a:rPr lang="en-US" sz="1050" b="1" dirty="0">
                          <a:solidFill>
                            <a:srgbClr val="D4AB4E"/>
                          </a:solidFill>
                          <a:latin typeface="Calibri" pitchFamily="34" charset="0"/>
                          <a:ea typeface="Calibri" pitchFamily="34" charset="-122"/>
                          <a:cs typeface="Calibri" pitchFamily="34" charset="-120"/>
                        </a:rPr>
                        <a:t>✓ proof</a:t>
                      </a:r>
                      <a:endParaRPr lang="en-US" sz="1300" dirty="0">
                        <a:latin typeface="Calibri" charset="0"/>
                        <a:ea typeface="Calibri" charset="0"/>
                        <a:cs typeface="Calibri" charset="0"/>
                      </a:endParaRPr>
                    </a:p>
                  </a:txBody>
                  <a:tcPr marL="88900" marR="88900" marT="38100" marB="38100" anchor="ctr">
                    <a:lnL w="9525" cap="flat" cmpd="sng" algn="ctr">
                      <a:solidFill>
                        <a:srgbClr val="26363D"/>
                      </a:solidFill>
                      <a:prstDash val="solid"/>
                      <a:round/>
                      <a:headEnd type="none" w="med" len="med"/>
                      <a:tailEnd type="none" w="med" len="med"/>
                    </a:lnL>
                    <a:lnR w="9525" cap="flat" cmpd="sng" algn="ctr">
                      <a:solidFill>
                        <a:srgbClr val="26363D"/>
                      </a:solidFill>
                      <a:prstDash val="solid"/>
                      <a:round/>
                      <a:headEnd type="none" w="med" len="med"/>
                      <a:tailEnd type="none" w="med" len="med"/>
                    </a:lnR>
                    <a:lnT w="9525" cap="flat" cmpd="sng" algn="ctr">
                      <a:solidFill>
                        <a:srgbClr val="26363D"/>
                      </a:solidFill>
                      <a:prstDash val="solid"/>
                      <a:round/>
                      <a:headEnd type="none" w="med" len="med"/>
                      <a:tailEnd type="none" w="med" len="med"/>
                    </a:lnT>
                    <a:lnB w="9525" cap="flat" cmpd="sng" algn="ctr">
                      <a:solidFill>
                        <a:srgbClr val="26363D"/>
                      </a:solidFill>
                      <a:prstDash val="solid"/>
                      <a:round/>
                      <a:headEnd type="none" w="med" len="med"/>
                      <a:tailEnd type="none" w="med" len="med"/>
                    </a:lnB>
                    <a:solidFill>
                      <a:srgbClr val="0F1A20"/>
                    </a:solidFill>
                  </a:tcPr>
                </a:tc>
                <a:extLst>
                  <a:ext uri="{0D108BD9-81ED-4DB2-BD59-A6C34878D82A}">
                    <a16:rowId xmlns:a16="http://schemas.microsoft.com/office/drawing/2014/main" val="10003"/>
                  </a:ext>
                </a:extLst>
              </a:tr>
            </a:tbl>
          </a:graphicData>
        </a:graphic>
      </p:graphicFrame>
      <p:sp>
        <p:nvSpPr>
          <p:cNvPr id="7" name="Text 4"/>
          <p:cNvSpPr/>
          <p:nvPr/>
        </p:nvSpPr>
        <p:spPr>
          <a:xfrm>
            <a:off x="566928" y="5486400"/>
            <a:ext cx="11057839" cy="731520"/>
          </a:xfrm>
          <a:prstGeom prst="rect">
            <a:avLst/>
          </a:prstGeom>
          <a:noFill/>
          <a:ln/>
        </p:spPr>
        <p:txBody>
          <a:bodyPr wrap="square" rtlCol="0" anchor="t"/>
          <a:lstStyle/>
          <a:p>
            <a:pPr marL="0" indent="0">
              <a:buNone/>
            </a:pPr>
            <a:r>
              <a:rPr lang="en-US" sz="1500" dirty="0">
                <a:solidFill>
                  <a:srgbClr val="95A6AD"/>
                </a:solidFill>
                <a:latin typeface="Calibri" pitchFamily="34" charset="0"/>
                <a:ea typeface="Calibri" pitchFamily="34" charset="-122"/>
                <a:cs typeface="Calibri" pitchFamily="34" charset="-120"/>
              </a:rPr>
              <a:t>Two of the three are now closed by proof, not just a better score — </a:t>
            </a:r>
            <a:r>
              <a:rPr lang="en-US" sz="1500" b="1" dirty="0">
                <a:solidFill>
                  <a:srgbClr val="EAF0F1"/>
                </a:solidFill>
                <a:latin typeface="Calibri" pitchFamily="34" charset="0"/>
                <a:ea typeface="Calibri" pitchFamily="34" charset="-122"/>
                <a:cs typeface="Calibri" pitchFamily="34" charset="-120"/>
              </a:rPr>
              <a:t>look-alike letters and word-padding provably cannot flip a decision.</a:t>
            </a:r>
            <a:endParaRPr lang="en-US" sz="1500" dirty="0"/>
          </a:p>
        </p:txBody>
      </p:sp>
      <p:sp>
        <p:nvSpPr>
          <p:cNvPr id="8" name="Text 5"/>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three attacks · three defences · two guarantees</a:t>
            </a:r>
            <a:endParaRPr lang="en-US" sz="95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REALITY CHECK · SPACE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A different inbox: cross-corpus.</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20</a:t>
            </a:r>
            <a:endParaRPr lang="en-US" sz="1100" dirty="0"/>
          </a:p>
        </p:txBody>
      </p:sp>
      <p:sp>
        <p:nvSpPr>
          <p:cNvPr id="6" name="Text 4"/>
          <p:cNvSpPr/>
          <p:nvPr/>
        </p:nvSpPr>
        <p:spPr>
          <a:xfrm>
            <a:off x="566928" y="1874520"/>
            <a:ext cx="5486400" cy="914400"/>
          </a:xfrm>
          <a:prstGeom prst="rect">
            <a:avLst/>
          </a:prstGeom>
          <a:noFill/>
          <a:ln/>
        </p:spPr>
        <p:txBody>
          <a:bodyPr wrap="square" rtlCol="0" anchor="ctr"/>
          <a:lstStyle/>
          <a:p>
            <a:pPr marL="0" indent="0">
              <a:buNone/>
            </a:pPr>
            <a:r>
              <a:rPr lang="en-US" sz="4000" b="1" dirty="0">
                <a:solidFill>
                  <a:srgbClr val="3CB6A6"/>
                </a:solidFill>
                <a:latin typeface="Cambria" pitchFamily="34" charset="0"/>
                <a:ea typeface="Cambria" pitchFamily="34" charset="-122"/>
                <a:cs typeface="Cambria" pitchFamily="34" charset="-120"/>
              </a:rPr>
              <a:t>0.998</a:t>
            </a:r>
            <a:r>
              <a:rPr lang="en-US" sz="3000" dirty="0">
                <a:solidFill>
                  <a:srgbClr val="6E7F87"/>
                </a:solidFill>
                <a:latin typeface="Cambria" pitchFamily="34" charset="0"/>
                <a:ea typeface="Cambria" pitchFamily="34" charset="-122"/>
                <a:cs typeface="Cambria" pitchFamily="34" charset="-120"/>
              </a:rPr>
              <a:t>  →  </a:t>
            </a:r>
            <a:r>
              <a:rPr lang="en-US" sz="4000" b="1" dirty="0">
                <a:solidFill>
                  <a:srgbClr val="E97A60"/>
                </a:solidFill>
                <a:latin typeface="Cambria" pitchFamily="34" charset="0"/>
                <a:ea typeface="Cambria" pitchFamily="34" charset="-122"/>
                <a:cs typeface="Cambria" pitchFamily="34" charset="-120"/>
              </a:rPr>
              <a:t>0.37</a:t>
            </a:r>
            <a:endParaRPr lang="en-US" sz="4000" dirty="0"/>
          </a:p>
        </p:txBody>
      </p:sp>
      <p:sp>
        <p:nvSpPr>
          <p:cNvPr id="7" name="Text 5"/>
          <p:cNvSpPr/>
          <p:nvPr/>
        </p:nvSpPr>
        <p:spPr>
          <a:xfrm>
            <a:off x="566928" y="2788920"/>
            <a:ext cx="5486400" cy="457200"/>
          </a:xfrm>
          <a:prstGeom prst="rect">
            <a:avLst/>
          </a:prstGeom>
          <a:noFill/>
          <a:ln/>
        </p:spPr>
        <p:txBody>
          <a:bodyPr wrap="square" rtlCol="0" anchor="t"/>
          <a:lstStyle/>
          <a:p>
            <a:pPr marL="0" indent="0">
              <a:buNone/>
            </a:pPr>
            <a:r>
              <a:rPr lang="en-US" sz="1300" dirty="0">
                <a:solidFill>
                  <a:srgbClr val="95A6AD"/>
                </a:solidFill>
                <a:latin typeface="Calibri" pitchFamily="34" charset="0"/>
                <a:ea typeface="Calibri" pitchFamily="34" charset="-122"/>
                <a:cs typeface="Calibri" pitchFamily="34" charset="-120"/>
              </a:rPr>
              <a:t>F1 — trained on CEAS, tested on totally different collections</a:t>
            </a:r>
            <a:endParaRPr lang="en-US" sz="1300" dirty="0"/>
          </a:p>
        </p:txBody>
      </p:sp>
      <p:sp>
        <p:nvSpPr>
          <p:cNvPr id="8" name="Shape 6"/>
          <p:cNvSpPr/>
          <p:nvPr/>
        </p:nvSpPr>
        <p:spPr>
          <a:xfrm>
            <a:off x="566928" y="3383280"/>
            <a:ext cx="5486400" cy="1234440"/>
          </a:xfrm>
          <a:prstGeom prst="roundRect">
            <a:avLst>
              <a:gd name="adj" fmla="val 5185"/>
            </a:avLst>
          </a:prstGeom>
          <a:solidFill>
            <a:srgbClr val="1B2B32"/>
          </a:solidFill>
          <a:ln w="12700">
            <a:solidFill>
              <a:srgbClr val="26363D"/>
            </a:solidFill>
            <a:prstDash val="solid"/>
          </a:ln>
        </p:spPr>
        <p:txBody>
          <a:bodyPr/>
          <a:lstStyle/>
          <a:p>
            <a:endParaRPr lang="en-IL"/>
          </a:p>
        </p:txBody>
      </p:sp>
      <p:sp>
        <p:nvSpPr>
          <p:cNvPr id="9" name="Shape 7"/>
          <p:cNvSpPr/>
          <p:nvPr/>
        </p:nvSpPr>
        <p:spPr>
          <a:xfrm>
            <a:off x="566928" y="3511296"/>
            <a:ext cx="54864" cy="978408"/>
          </a:xfrm>
          <a:prstGeom prst="rect">
            <a:avLst/>
          </a:prstGeom>
          <a:solidFill>
            <a:srgbClr val="5FA3C0"/>
          </a:solidFill>
          <a:ln/>
        </p:spPr>
        <p:txBody>
          <a:bodyPr/>
          <a:lstStyle/>
          <a:p>
            <a:endParaRPr lang="en-IL"/>
          </a:p>
        </p:txBody>
      </p:sp>
      <p:sp>
        <p:nvSpPr>
          <p:cNvPr id="10" name="Text 8"/>
          <p:cNvSpPr/>
          <p:nvPr/>
        </p:nvSpPr>
        <p:spPr>
          <a:xfrm>
            <a:off x="786384" y="3529584"/>
            <a:ext cx="5120640" cy="274320"/>
          </a:xfrm>
          <a:prstGeom prst="rect">
            <a:avLst/>
          </a:prstGeom>
          <a:noFill/>
          <a:ln/>
        </p:spPr>
        <p:txBody>
          <a:bodyPr wrap="square" rtlCol="0" anchor="ctr"/>
          <a:lstStyle/>
          <a:p>
            <a:pPr marL="0" indent="0">
              <a:buNone/>
            </a:pPr>
            <a:r>
              <a:rPr lang="en-US" sz="1050" b="1" kern="0" spc="100" dirty="0">
                <a:solidFill>
                  <a:srgbClr val="5FA3C0"/>
                </a:solidFill>
                <a:latin typeface="Calibri" pitchFamily="34" charset="0"/>
                <a:ea typeface="Calibri" pitchFamily="34" charset="-122"/>
                <a:cs typeface="Calibri" pitchFamily="34" charset="-120"/>
              </a:rPr>
              <a:t>DIAGNOSED, NOT JUST REPORTED</a:t>
            </a:r>
            <a:endParaRPr lang="en-US" sz="1050" dirty="0"/>
          </a:p>
        </p:txBody>
      </p:sp>
      <p:sp>
        <p:nvSpPr>
          <p:cNvPr id="11" name="Text 9"/>
          <p:cNvSpPr/>
          <p:nvPr/>
        </p:nvSpPr>
        <p:spPr>
          <a:xfrm>
            <a:off x="786384" y="3840480"/>
            <a:ext cx="5084064" cy="63093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Not a total loss: out-of-distribution AUC is still 0.78 and the model is merely under-confident. Re-thresholding recovers F1 to 0.75 — a prior/threshold shift.</a:t>
            </a:r>
            <a:endParaRPr lang="en-US" sz="1250" dirty="0"/>
          </a:p>
        </p:txBody>
      </p:sp>
      <p:sp>
        <p:nvSpPr>
          <p:cNvPr id="12" name="Shape 10"/>
          <p:cNvSpPr/>
          <p:nvPr/>
        </p:nvSpPr>
        <p:spPr>
          <a:xfrm>
            <a:off x="566928" y="4754880"/>
            <a:ext cx="5486400" cy="1234440"/>
          </a:xfrm>
          <a:prstGeom prst="roundRect">
            <a:avLst>
              <a:gd name="adj" fmla="val 5185"/>
            </a:avLst>
          </a:prstGeom>
          <a:solidFill>
            <a:srgbClr val="1B2B32"/>
          </a:solidFill>
          <a:ln w="12700">
            <a:solidFill>
              <a:srgbClr val="26363D"/>
            </a:solidFill>
            <a:prstDash val="solid"/>
          </a:ln>
        </p:spPr>
        <p:txBody>
          <a:bodyPr/>
          <a:lstStyle/>
          <a:p>
            <a:endParaRPr lang="en-IL"/>
          </a:p>
        </p:txBody>
      </p:sp>
      <p:sp>
        <p:nvSpPr>
          <p:cNvPr id="13" name="Shape 11"/>
          <p:cNvSpPr/>
          <p:nvPr/>
        </p:nvSpPr>
        <p:spPr>
          <a:xfrm>
            <a:off x="566928" y="4882896"/>
            <a:ext cx="54864" cy="978408"/>
          </a:xfrm>
          <a:prstGeom prst="rect">
            <a:avLst/>
          </a:prstGeom>
          <a:solidFill>
            <a:srgbClr val="E97A60"/>
          </a:solidFill>
          <a:ln/>
        </p:spPr>
        <p:txBody>
          <a:bodyPr/>
          <a:lstStyle/>
          <a:p>
            <a:endParaRPr lang="en-IL"/>
          </a:p>
        </p:txBody>
      </p:sp>
      <p:sp>
        <p:nvSpPr>
          <p:cNvPr id="14" name="Text 12"/>
          <p:cNvSpPr/>
          <p:nvPr/>
        </p:nvSpPr>
        <p:spPr>
          <a:xfrm>
            <a:off x="786384" y="4901184"/>
            <a:ext cx="5120640" cy="274320"/>
          </a:xfrm>
          <a:prstGeom prst="rect">
            <a:avLst/>
          </a:prstGeom>
          <a:noFill/>
          <a:ln/>
        </p:spPr>
        <p:txBody>
          <a:bodyPr wrap="square" rtlCol="0" anchor="ctr"/>
          <a:lstStyle/>
          <a:p>
            <a:pPr marL="0" indent="0">
              <a:buNone/>
            </a:pPr>
            <a:r>
              <a:rPr lang="en-US" sz="1050" b="1" kern="0" spc="100" dirty="0">
                <a:solidFill>
                  <a:srgbClr val="E97A60"/>
                </a:solidFill>
                <a:latin typeface="Calibri" pitchFamily="34" charset="0"/>
                <a:ea typeface="Calibri" pitchFamily="34" charset="-122"/>
                <a:cs typeface="Calibri" pitchFamily="34" charset="-120"/>
              </a:rPr>
              <a:t>THE REAL GAP THAT REMAINS</a:t>
            </a:r>
            <a:endParaRPr lang="en-US" sz="1050" dirty="0"/>
          </a:p>
        </p:txBody>
      </p:sp>
      <p:sp>
        <p:nvSpPr>
          <p:cNvPr id="15" name="Text 13"/>
          <p:cNvSpPr/>
          <p:nvPr/>
        </p:nvSpPr>
        <p:spPr>
          <a:xfrm>
            <a:off x="786384" y="5212080"/>
            <a:ext cx="5084064" cy="63093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A genuine vocabulary gap: out-of-vocabulary words rise 7% → 20%. The headline 0.37 overstates it, but a domain gap is real.</a:t>
            </a:r>
            <a:endParaRPr lang="en-US" sz="1250" dirty="0"/>
          </a:p>
        </p:txBody>
      </p:sp>
      <p:graphicFrame>
        <p:nvGraphicFramePr>
          <p:cNvPr id="16" name="Chart 0"/>
          <p:cNvGraphicFramePr/>
          <p:nvPr/>
        </p:nvGraphicFramePr>
        <p:xfrm>
          <a:off x="6400800" y="2011680"/>
          <a:ext cx="5212080" cy="3749040"/>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 14"/>
          <p:cNvSpPr/>
          <p:nvPr/>
        </p:nvSpPr>
        <p:spPr>
          <a:xfrm>
            <a:off x="6400800" y="5806440"/>
            <a:ext cx="5212080" cy="274320"/>
          </a:xfrm>
          <a:prstGeom prst="rect">
            <a:avLst/>
          </a:prstGeom>
          <a:noFill/>
          <a:ln/>
        </p:spPr>
        <p:txBody>
          <a:bodyPr wrap="square" rtlCol="0" anchor="ctr"/>
          <a:lstStyle/>
          <a:p>
            <a:pPr marL="0" indent="0" algn="ctr">
              <a:buNone/>
            </a:pPr>
            <a:r>
              <a:rPr lang="en-US" sz="1100" i="1" dirty="0">
                <a:solidFill>
                  <a:srgbClr val="95A6AD"/>
                </a:solidFill>
                <a:latin typeface="Calibri" pitchFamily="34" charset="0"/>
                <a:ea typeface="Calibri" pitchFamily="34" charset="-122"/>
                <a:cs typeface="Calibri" pitchFamily="34" charset="-120"/>
              </a:rPr>
              <a:t>the honest number for the wild is the cross-source one</a:t>
            </a:r>
            <a:endParaRPr lang="en-US" sz="1100" dirty="0"/>
          </a:p>
        </p:txBody>
      </p:sp>
      <p:sp>
        <p:nvSpPr>
          <p:cNvPr id="18" name="Text 15"/>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laboratory numbers do not survive a change of corpus</a:t>
            </a:r>
            <a:endParaRPr lang="en-US" sz="950" dirty="0"/>
          </a:p>
        </p:txBody>
      </p:sp>
      <p:sp>
        <p:nvSpPr>
          <p:cNvPr id="19" name="TextBox 18"/>
          <p:cNvSpPr txBox="1"/>
          <p:nvPr/>
        </p:nvSpPr>
        <p:spPr>
          <a:xfrm>
            <a:off x="566928" y="6053328"/>
            <a:ext cx="11055096" cy="310896"/>
          </a:xfrm>
          <a:prstGeom prst="rect">
            <a:avLst/>
          </a:prstGeom>
          <a:noFill/>
        </p:spPr>
        <p:txBody>
          <a:bodyPr wrap="square">
            <a:spAutoFit/>
          </a:bodyPr>
          <a:lstStyle/>
          <a:p>
            <a:r>
              <a:rPr sz="1000" b="0" i="1">
                <a:solidFill>
                  <a:srgbClr val="6E7F87"/>
                </a:solidFill>
                <a:latin typeface="Calibri"/>
              </a:rPr>
              <a:t>‘different sources’ = other email datasets (Nazario, Enron, SpamAssassin) — clean real emails, no attack; this tests distribution shift, not an attack.</a:t>
            </a:r>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REALITY CHECK · TIME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A different year: concept drift.</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21</a:t>
            </a:r>
            <a:endParaRPr lang="en-US" sz="1100" dirty="0"/>
          </a:p>
        </p:txBody>
      </p:sp>
      <p:sp>
        <p:nvSpPr>
          <p:cNvPr id="6" name="Text 4"/>
          <p:cNvSpPr/>
          <p:nvPr/>
        </p:nvSpPr>
        <p:spPr>
          <a:xfrm>
            <a:off x="566928" y="2011680"/>
            <a:ext cx="4937760" cy="1463040"/>
          </a:xfrm>
          <a:prstGeom prst="rect">
            <a:avLst/>
          </a:prstGeom>
          <a:noFill/>
          <a:ln/>
        </p:spPr>
        <p:txBody>
          <a:bodyPr wrap="square" rtlCol="0" anchor="ctr"/>
          <a:lstStyle/>
          <a:p>
            <a:pPr marL="0" indent="0" algn="ctr">
              <a:buNone/>
            </a:pPr>
            <a:r>
              <a:rPr lang="en-US" sz="9600" b="1" dirty="0">
                <a:solidFill>
                  <a:srgbClr val="E97A60"/>
                </a:solidFill>
                <a:latin typeface="Cambria" pitchFamily="34" charset="0"/>
                <a:ea typeface="Cambria" pitchFamily="34" charset="-122"/>
                <a:cs typeface="Cambria" pitchFamily="34" charset="-120"/>
              </a:rPr>
              <a:t>14%</a:t>
            </a:r>
            <a:endParaRPr lang="en-US" sz="9600" dirty="0"/>
          </a:p>
        </p:txBody>
      </p:sp>
      <p:sp>
        <p:nvSpPr>
          <p:cNvPr id="7" name="Text 5"/>
          <p:cNvSpPr/>
          <p:nvPr/>
        </p:nvSpPr>
        <p:spPr>
          <a:xfrm>
            <a:off x="566928" y="3520440"/>
            <a:ext cx="4937760" cy="1005840"/>
          </a:xfrm>
          <a:prstGeom prst="rect">
            <a:avLst/>
          </a:prstGeom>
          <a:noFill/>
          <a:ln/>
        </p:spPr>
        <p:txBody>
          <a:bodyPr wrap="square" rtlCol="0" anchor="t"/>
          <a:lstStyle/>
          <a:p>
            <a:pPr marL="0" indent="0" algn="ctr">
              <a:buNone/>
            </a:pPr>
            <a:r>
              <a:rPr lang="en-US" sz="1500" dirty="0">
                <a:solidFill>
                  <a:srgbClr val="EAF0F1"/>
                </a:solidFill>
                <a:latin typeface="Calibri" pitchFamily="34" charset="0"/>
                <a:ea typeface="Calibri" pitchFamily="34" charset="-122"/>
                <a:cs typeface="Calibri" pitchFamily="34" charset="-120"/>
              </a:rPr>
              <a:t>of 1,303 real 2023–2025 phishing emails caught by the 2008-trained model — genuine concept drift.</a:t>
            </a:r>
            <a:endParaRPr lang="en-US" sz="1500" dirty="0"/>
          </a:p>
        </p:txBody>
      </p:sp>
      <p:sp>
        <p:nvSpPr>
          <p:cNvPr id="8" name="Shape 6"/>
          <p:cNvSpPr/>
          <p:nvPr/>
        </p:nvSpPr>
        <p:spPr>
          <a:xfrm>
            <a:off x="6309360" y="1965960"/>
            <a:ext cx="5303520" cy="1874520"/>
          </a:xfrm>
          <a:prstGeom prst="roundRect">
            <a:avLst>
              <a:gd name="adj" fmla="val 3415"/>
            </a:avLst>
          </a:prstGeom>
          <a:solidFill>
            <a:srgbClr val="1B2B32"/>
          </a:solidFill>
          <a:ln w="12700">
            <a:solidFill>
              <a:srgbClr val="26363D"/>
            </a:solidFill>
            <a:prstDash val="solid"/>
          </a:ln>
        </p:spPr>
        <p:txBody>
          <a:bodyPr/>
          <a:lstStyle/>
          <a:p>
            <a:endParaRPr lang="en-IL"/>
          </a:p>
        </p:txBody>
      </p:sp>
      <p:sp>
        <p:nvSpPr>
          <p:cNvPr id="9" name="Shape 7"/>
          <p:cNvSpPr/>
          <p:nvPr/>
        </p:nvSpPr>
        <p:spPr>
          <a:xfrm>
            <a:off x="6309360" y="2093976"/>
            <a:ext cx="54864" cy="1618488"/>
          </a:xfrm>
          <a:prstGeom prst="rect">
            <a:avLst/>
          </a:prstGeom>
          <a:solidFill>
            <a:srgbClr val="D4AB4E"/>
          </a:solidFill>
          <a:ln/>
        </p:spPr>
        <p:txBody>
          <a:bodyPr/>
          <a:lstStyle/>
          <a:p>
            <a:endParaRPr lang="en-IL"/>
          </a:p>
        </p:txBody>
      </p:sp>
      <p:sp>
        <p:nvSpPr>
          <p:cNvPr id="10" name="Text 8"/>
          <p:cNvSpPr/>
          <p:nvPr/>
        </p:nvSpPr>
        <p:spPr>
          <a:xfrm>
            <a:off x="6528816" y="2112264"/>
            <a:ext cx="4937760" cy="274320"/>
          </a:xfrm>
          <a:prstGeom prst="rect">
            <a:avLst/>
          </a:prstGeom>
          <a:noFill/>
          <a:ln/>
        </p:spPr>
        <p:txBody>
          <a:bodyPr wrap="square" rtlCol="0" anchor="ctr"/>
          <a:lstStyle/>
          <a:p>
            <a:pPr marL="0" indent="0">
              <a:buNone/>
            </a:pPr>
            <a:r>
              <a:rPr lang="en-US" sz="1050" b="1" kern="0" spc="100" dirty="0">
                <a:solidFill>
                  <a:srgbClr val="D4AB4E"/>
                </a:solidFill>
                <a:latin typeface="Calibri" pitchFamily="34" charset="0"/>
                <a:ea typeface="Calibri" pitchFamily="34" charset="-122"/>
                <a:cs typeface="Calibri" pitchFamily="34" charset="-120"/>
              </a:rPr>
              <a:t>THE THREAT IS REAL, NOT A STRAW MAN</a:t>
            </a:r>
            <a:endParaRPr lang="en-US" sz="1050" dirty="0"/>
          </a:p>
        </p:txBody>
      </p:sp>
      <p:sp>
        <p:nvSpPr>
          <p:cNvPr id="11" name="Text 9"/>
          <p:cNvSpPr/>
          <p:nvPr/>
        </p:nvSpPr>
        <p:spPr>
          <a:xfrm>
            <a:off x="6528816" y="2423160"/>
            <a:ext cx="4901184" cy="127101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Homoglyph &amp; zero-width obfuscation is ≈ 0% in 2008 phishing but 1.8% / 4.0% in modern phishing — the very tricks I defend against are an emerging technique.</a:t>
            </a:r>
            <a:endParaRPr lang="en-US" sz="1250" dirty="0"/>
          </a:p>
        </p:txBody>
      </p:sp>
      <p:sp>
        <p:nvSpPr>
          <p:cNvPr id="12" name="Shape 10"/>
          <p:cNvSpPr/>
          <p:nvPr/>
        </p:nvSpPr>
        <p:spPr>
          <a:xfrm>
            <a:off x="6309360" y="3977640"/>
            <a:ext cx="5303520" cy="1874520"/>
          </a:xfrm>
          <a:prstGeom prst="roundRect">
            <a:avLst>
              <a:gd name="adj" fmla="val 3415"/>
            </a:avLst>
          </a:prstGeom>
          <a:solidFill>
            <a:srgbClr val="1B2B32"/>
          </a:solidFill>
          <a:ln w="12700">
            <a:solidFill>
              <a:srgbClr val="26363D"/>
            </a:solidFill>
            <a:prstDash val="solid"/>
          </a:ln>
        </p:spPr>
        <p:txBody>
          <a:bodyPr/>
          <a:lstStyle/>
          <a:p>
            <a:endParaRPr lang="en-IL"/>
          </a:p>
        </p:txBody>
      </p:sp>
      <p:sp>
        <p:nvSpPr>
          <p:cNvPr id="13" name="Shape 11"/>
          <p:cNvSpPr/>
          <p:nvPr/>
        </p:nvSpPr>
        <p:spPr>
          <a:xfrm>
            <a:off x="6309360" y="4105656"/>
            <a:ext cx="54864" cy="1618488"/>
          </a:xfrm>
          <a:prstGeom prst="rect">
            <a:avLst/>
          </a:prstGeom>
          <a:solidFill>
            <a:srgbClr val="5FA3C0"/>
          </a:solidFill>
          <a:ln/>
        </p:spPr>
        <p:txBody>
          <a:bodyPr/>
          <a:lstStyle/>
          <a:p>
            <a:endParaRPr lang="en-IL"/>
          </a:p>
        </p:txBody>
      </p:sp>
      <p:sp>
        <p:nvSpPr>
          <p:cNvPr id="14" name="Text 12"/>
          <p:cNvSpPr/>
          <p:nvPr/>
        </p:nvSpPr>
        <p:spPr>
          <a:xfrm>
            <a:off x="6528816" y="4123944"/>
            <a:ext cx="4937760" cy="274320"/>
          </a:xfrm>
          <a:prstGeom prst="rect">
            <a:avLst/>
          </a:prstGeom>
          <a:noFill/>
          <a:ln/>
        </p:spPr>
        <p:txBody>
          <a:bodyPr wrap="square" rtlCol="0" anchor="ctr"/>
          <a:lstStyle/>
          <a:p>
            <a:pPr marL="0" indent="0">
              <a:buNone/>
            </a:pPr>
            <a:r>
              <a:rPr lang="en-US" sz="1050" b="1" kern="0" spc="100" dirty="0">
                <a:solidFill>
                  <a:srgbClr val="5FA3C0"/>
                </a:solidFill>
                <a:latin typeface="Calibri" pitchFamily="34" charset="0"/>
                <a:ea typeface="Calibri" pitchFamily="34" charset="-122"/>
                <a:cs typeface="Calibri" pitchFamily="34" charset="-120"/>
              </a:rPr>
              <a:t>WHY IT MATTERS</a:t>
            </a:r>
            <a:endParaRPr lang="en-US" sz="1050" dirty="0"/>
          </a:p>
        </p:txBody>
      </p:sp>
      <p:sp>
        <p:nvSpPr>
          <p:cNvPr id="15" name="Text 13"/>
          <p:cNvSpPr/>
          <p:nvPr/>
        </p:nvSpPr>
        <p:spPr>
          <a:xfrm>
            <a:off x="6528816" y="4434840"/>
            <a:ext cx="4901184" cy="127101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A lab number has a shelf life. This is the strongest single argument that a frozen detector is not enough — and it sets up the fix on the next slide.</a:t>
            </a:r>
            <a:endParaRPr lang="en-US" sz="1250" dirty="0"/>
          </a:p>
        </p:txBody>
      </p:sp>
      <p:sp>
        <p:nvSpPr>
          <p:cNvPr id="16" name="Text 14"/>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drift in space (corpus) and time (year) — both measured</a:t>
            </a:r>
            <a:endParaRPr lang="en-US" sz="9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KEEP IT CURRENT</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Feed it modern scams — it catches up.</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22</a:t>
            </a:r>
            <a:endParaRPr lang="en-US" sz="1100" dirty="0"/>
          </a:p>
        </p:txBody>
      </p:sp>
      <p:graphicFrame>
        <p:nvGraphicFramePr>
          <p:cNvPr id="6" name="Chart 0"/>
          <p:cNvGraphicFramePr/>
          <p:nvPr/>
        </p:nvGraphicFramePr>
        <p:xfrm>
          <a:off x="731520" y="1828800"/>
          <a:ext cx="69494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31520" y="5852160"/>
            <a:ext cx="6949440" cy="274320"/>
          </a:xfrm>
          <a:prstGeom prst="rect">
            <a:avLst/>
          </a:prstGeom>
          <a:noFill/>
          <a:ln/>
        </p:spPr>
        <p:txBody>
          <a:bodyPr wrap="square" rtlCol="0" anchor="ctr"/>
          <a:lstStyle/>
          <a:p>
            <a:pPr marL="0" indent="0" algn="ctr">
              <a:buNone/>
            </a:pPr>
            <a:r>
              <a:rPr lang="en-US" sz="1100" i="1" dirty="0">
                <a:solidFill>
                  <a:srgbClr val="95A6AD"/>
                </a:solidFill>
                <a:latin typeface="Calibri" pitchFamily="34" charset="0"/>
                <a:ea typeface="Calibri" pitchFamily="34" charset="-122"/>
                <a:cs typeface="Calibri" pitchFamily="34" charset="-120"/>
              </a:rPr>
              <a:t>phishing caught (recall)</a:t>
            </a:r>
            <a:endParaRPr lang="en-US" sz="1100" dirty="0"/>
          </a:p>
        </p:txBody>
      </p:sp>
      <p:sp>
        <p:nvSpPr>
          <p:cNvPr id="8" name="Text 5"/>
          <p:cNvSpPr/>
          <p:nvPr/>
        </p:nvSpPr>
        <p:spPr>
          <a:xfrm>
            <a:off x="8046720" y="2011680"/>
            <a:ext cx="3566160" cy="3657600"/>
          </a:xfrm>
          <a:prstGeom prst="rect">
            <a:avLst/>
          </a:prstGeom>
          <a:noFill/>
          <a:ln/>
        </p:spPr>
        <p:txBody>
          <a:bodyPr wrap="square" rtlCol="0" anchor="ctr"/>
          <a:lstStyle/>
          <a:p>
            <a:pPr marL="0" indent="0">
              <a:buNone/>
            </a:pPr>
            <a:r>
              <a:rPr lang="en-US" sz="2600" b="1" dirty="0">
                <a:solidFill>
                  <a:srgbClr val="3CB6A6"/>
                </a:solidFill>
              </a:rPr>
              <a:t>0.15 → 0.98</a:t>
            </a:r>
            <a:endParaRPr lang="en-US" sz="2600" dirty="0"/>
          </a:p>
          <a:p>
            <a:pPr marL="0" indent="0">
              <a:buNone/>
            </a:pPr>
            <a:r>
              <a:rPr lang="en-US" sz="1400" dirty="0">
                <a:solidFill>
                  <a:srgbClr val="EAF0F1"/>
                </a:solidFill>
              </a:rPr>
              <a:t>on modern scams after retraining, with no forgetting (still 1.0 on old scams) and no rise in false alarms (0.7%).</a:t>
            </a:r>
            <a:endParaRPr lang="en-US" sz="2600" dirty="0"/>
          </a:p>
          <a:p>
            <a:pPr marL="0" indent="0">
              <a:buNone/>
            </a:pPr>
            <a:endParaRPr lang="en-US" sz="2600" dirty="0"/>
          </a:p>
          <a:p>
            <a:pPr marL="0" indent="0">
              <a:buNone/>
            </a:pPr>
            <a:r>
              <a:rPr lang="en-US" sz="1300" i="1" dirty="0">
                <a:solidFill>
                  <a:srgbClr val="95A6AD"/>
                </a:solidFill>
              </a:rPr>
              <a:t>Done honestly: I keep the normal-mail source unchanged, to avoid a 'cheating' shortcut.</a:t>
            </a:r>
            <a:endParaRPr lang="en-US" sz="2600" dirty="0"/>
          </a:p>
        </p:txBody>
      </p:sp>
      <p:sp>
        <p:nvSpPr>
          <p:cNvPr id="9" name="Text 6"/>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a detector kept current works; a frozen one goes blind</a:t>
            </a:r>
            <a:endParaRPr lang="en-US" sz="9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HUMAN-IN-THE-LOOP</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2600" b="1" dirty="0">
                <a:solidFill>
                  <a:srgbClr val="EAF0F1"/>
                </a:solidFill>
                <a:latin typeface="Cambria" pitchFamily="34" charset="0"/>
                <a:ea typeface="Cambria" pitchFamily="34" charset="-122"/>
                <a:cs typeface="Cambria" pitchFamily="34" charset="-120"/>
              </a:rPr>
              <a:t>Report protect everyone.</a:t>
            </a:r>
            <a:endParaRPr lang="en-US" sz="26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23</a:t>
            </a:r>
            <a:endParaRPr lang="en-US" sz="1100" dirty="0"/>
          </a:p>
        </p:txBody>
      </p:sp>
      <p:sp>
        <p:nvSpPr>
          <p:cNvPr id="6" name="Shape 4"/>
          <p:cNvSpPr/>
          <p:nvPr/>
        </p:nvSpPr>
        <p:spPr>
          <a:xfrm>
            <a:off x="566928" y="1600200"/>
            <a:ext cx="2286000" cy="1051560"/>
          </a:xfrm>
          <a:prstGeom prst="roundRect">
            <a:avLst>
              <a:gd name="adj" fmla="val 6957"/>
            </a:avLst>
          </a:prstGeom>
          <a:solidFill>
            <a:srgbClr val="1B2B32"/>
          </a:solidFill>
          <a:ln w="19050">
            <a:solidFill>
              <a:srgbClr val="E97A60"/>
            </a:solidFill>
            <a:prstDash val="solid"/>
          </a:ln>
        </p:spPr>
        <p:txBody>
          <a:bodyPr/>
          <a:lstStyle/>
          <a:p>
            <a:endParaRPr lang="en-IL"/>
          </a:p>
        </p:txBody>
      </p:sp>
      <p:sp>
        <p:nvSpPr>
          <p:cNvPr id="7" name="Text 5"/>
          <p:cNvSpPr/>
          <p:nvPr/>
        </p:nvSpPr>
        <p:spPr>
          <a:xfrm>
            <a:off x="566928" y="1600200"/>
            <a:ext cx="2286000" cy="1051560"/>
          </a:xfrm>
          <a:prstGeom prst="rect">
            <a:avLst/>
          </a:prstGeom>
          <a:noFill/>
          <a:ln/>
        </p:spPr>
        <p:txBody>
          <a:bodyPr wrap="square" rtlCol="0" anchor="ctr"/>
          <a:lstStyle/>
          <a:p>
            <a:pPr marL="0" indent="0" algn="ctr">
              <a:buNone/>
            </a:pPr>
            <a:r>
              <a:rPr lang="en-US" sz="1500" b="1" dirty="0">
                <a:solidFill>
                  <a:srgbClr val="E97A60"/>
                </a:solidFill>
                <a:latin typeface="Calibri" pitchFamily="34" charset="0"/>
                <a:ea typeface="Calibri" pitchFamily="34" charset="-122"/>
                <a:cs typeface="Calibri" pitchFamily="34" charset="-120"/>
              </a:rPr>
              <a:t>Report</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one person flags</a:t>
            </a:r>
            <a:endParaRPr lang="en-US" sz="1500" dirty="0"/>
          </a:p>
        </p:txBody>
      </p:sp>
      <p:sp>
        <p:nvSpPr>
          <p:cNvPr id="8" name="Text 6"/>
          <p:cNvSpPr/>
          <p:nvPr/>
        </p:nvSpPr>
        <p:spPr>
          <a:xfrm>
            <a:off x="2880360" y="1874520"/>
            <a:ext cx="384048" cy="548640"/>
          </a:xfrm>
          <a:prstGeom prst="rect">
            <a:avLst/>
          </a:prstGeom>
          <a:noFill/>
          <a:ln/>
        </p:spPr>
        <p:txBody>
          <a:bodyPr wrap="square" rtlCol="0" anchor="ctr"/>
          <a:lstStyle/>
          <a:p>
            <a:pPr marL="0" indent="0" algn="ctr">
              <a:buNone/>
            </a:pPr>
            <a:r>
              <a:rPr lang="en-US" sz="2000" dirty="0">
                <a:solidFill>
                  <a:srgbClr val="6E7F87"/>
                </a:solidFill>
                <a:latin typeface="Calibri" pitchFamily="34" charset="0"/>
                <a:ea typeface="Calibri" pitchFamily="34" charset="-122"/>
                <a:cs typeface="Calibri" pitchFamily="34" charset="-120"/>
              </a:rPr>
              <a:t>→</a:t>
            </a:r>
            <a:endParaRPr lang="en-US" sz="2000" dirty="0"/>
          </a:p>
        </p:txBody>
      </p:sp>
      <p:sp>
        <p:nvSpPr>
          <p:cNvPr id="9" name="Shape 7"/>
          <p:cNvSpPr/>
          <p:nvPr/>
        </p:nvSpPr>
        <p:spPr>
          <a:xfrm>
            <a:off x="3236976" y="1600200"/>
            <a:ext cx="2286000" cy="1051560"/>
          </a:xfrm>
          <a:prstGeom prst="roundRect">
            <a:avLst>
              <a:gd name="adj" fmla="val 6957"/>
            </a:avLst>
          </a:prstGeom>
          <a:solidFill>
            <a:srgbClr val="1B2B32"/>
          </a:solidFill>
          <a:ln w="19050">
            <a:solidFill>
              <a:srgbClr val="7D919B"/>
            </a:solidFill>
            <a:prstDash val="solid"/>
          </a:ln>
        </p:spPr>
        <p:txBody>
          <a:bodyPr/>
          <a:lstStyle/>
          <a:p>
            <a:endParaRPr lang="en-IL"/>
          </a:p>
        </p:txBody>
      </p:sp>
      <p:sp>
        <p:nvSpPr>
          <p:cNvPr id="10" name="Text 8"/>
          <p:cNvSpPr/>
          <p:nvPr/>
        </p:nvSpPr>
        <p:spPr>
          <a:xfrm>
            <a:off x="3236976" y="1600200"/>
            <a:ext cx="2286000" cy="1051560"/>
          </a:xfrm>
          <a:prstGeom prst="rect">
            <a:avLst/>
          </a:prstGeom>
          <a:noFill/>
          <a:ln/>
        </p:spPr>
        <p:txBody>
          <a:bodyPr wrap="square" rtlCol="0" anchor="ctr"/>
          <a:lstStyle/>
          <a:p>
            <a:pPr marL="0" indent="0" algn="ctr">
              <a:buNone/>
            </a:pPr>
            <a:r>
              <a:rPr lang="en-US" sz="1500" b="1" dirty="0">
                <a:solidFill>
                  <a:srgbClr val="7D919B"/>
                </a:solidFill>
                <a:latin typeface="Calibri" pitchFamily="34" charset="0"/>
                <a:ea typeface="Calibri" pitchFamily="34" charset="-122"/>
                <a:cs typeface="Calibri" pitchFamily="34" charset="-120"/>
              </a:rPr>
              <a:t>Match</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compare inboxes</a:t>
            </a:r>
            <a:endParaRPr lang="en-US" sz="1500" dirty="0"/>
          </a:p>
        </p:txBody>
      </p:sp>
      <p:sp>
        <p:nvSpPr>
          <p:cNvPr id="11" name="Text 9"/>
          <p:cNvSpPr/>
          <p:nvPr/>
        </p:nvSpPr>
        <p:spPr>
          <a:xfrm>
            <a:off x="5550408" y="1874520"/>
            <a:ext cx="384048" cy="548640"/>
          </a:xfrm>
          <a:prstGeom prst="rect">
            <a:avLst/>
          </a:prstGeom>
          <a:noFill/>
          <a:ln/>
        </p:spPr>
        <p:txBody>
          <a:bodyPr wrap="square" rtlCol="0" anchor="ctr"/>
          <a:lstStyle/>
          <a:p>
            <a:pPr marL="0" indent="0" algn="ctr">
              <a:buNone/>
            </a:pPr>
            <a:r>
              <a:rPr lang="en-US" sz="2000" dirty="0">
                <a:solidFill>
                  <a:srgbClr val="6E7F87"/>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907024" y="1600200"/>
            <a:ext cx="2286000" cy="1051560"/>
          </a:xfrm>
          <a:prstGeom prst="roundRect">
            <a:avLst>
              <a:gd name="adj" fmla="val 6957"/>
            </a:avLst>
          </a:prstGeom>
          <a:solidFill>
            <a:srgbClr val="1B2B32"/>
          </a:solidFill>
          <a:ln w="19050">
            <a:solidFill>
              <a:srgbClr val="3CB6A6"/>
            </a:solidFill>
            <a:prstDash val="solid"/>
          </a:ln>
        </p:spPr>
        <p:txBody>
          <a:bodyPr/>
          <a:lstStyle/>
          <a:p>
            <a:endParaRPr lang="en-IL"/>
          </a:p>
        </p:txBody>
      </p:sp>
      <p:sp>
        <p:nvSpPr>
          <p:cNvPr id="13" name="Text 11"/>
          <p:cNvSpPr/>
          <p:nvPr/>
        </p:nvSpPr>
        <p:spPr>
          <a:xfrm>
            <a:off x="5907024" y="1600200"/>
            <a:ext cx="2286000" cy="105156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Contain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quarantine copies</a:t>
            </a:r>
            <a:endParaRPr lang="en-US" sz="1500" dirty="0"/>
          </a:p>
        </p:txBody>
      </p:sp>
      <p:sp>
        <p:nvSpPr>
          <p:cNvPr id="14" name="Text 12"/>
          <p:cNvSpPr/>
          <p:nvPr/>
        </p:nvSpPr>
        <p:spPr>
          <a:xfrm>
            <a:off x="8220456" y="1874520"/>
            <a:ext cx="384048" cy="548640"/>
          </a:xfrm>
          <a:prstGeom prst="rect">
            <a:avLst/>
          </a:prstGeom>
          <a:noFill/>
          <a:ln/>
        </p:spPr>
        <p:txBody>
          <a:bodyPr wrap="square" rtlCol="0" anchor="ctr"/>
          <a:lstStyle/>
          <a:p>
            <a:pPr marL="0" indent="0" algn="ctr">
              <a:buNone/>
            </a:pPr>
            <a:r>
              <a:rPr lang="en-US" sz="2000" dirty="0">
                <a:solidFill>
                  <a:srgbClr val="6E7F87"/>
                </a:solidFill>
                <a:latin typeface="Calibri" pitchFamily="34" charset="0"/>
                <a:ea typeface="Calibri" pitchFamily="34" charset="-122"/>
                <a:cs typeface="Calibri" pitchFamily="34" charset="-120"/>
              </a:rPr>
              <a:t>→</a:t>
            </a:r>
            <a:endParaRPr lang="en-US" sz="2000" dirty="0"/>
          </a:p>
        </p:txBody>
      </p:sp>
      <p:sp>
        <p:nvSpPr>
          <p:cNvPr id="15" name="Shape 13"/>
          <p:cNvSpPr/>
          <p:nvPr/>
        </p:nvSpPr>
        <p:spPr>
          <a:xfrm>
            <a:off x="8577072" y="1600200"/>
            <a:ext cx="2286000" cy="1051560"/>
          </a:xfrm>
          <a:prstGeom prst="roundRect">
            <a:avLst>
              <a:gd name="adj" fmla="val 6957"/>
            </a:avLst>
          </a:prstGeom>
          <a:solidFill>
            <a:srgbClr val="1B2B32"/>
          </a:solidFill>
          <a:ln w="19050">
            <a:solidFill>
              <a:srgbClr val="D4AB4E"/>
            </a:solidFill>
            <a:prstDash val="solid"/>
          </a:ln>
        </p:spPr>
        <p:txBody>
          <a:bodyPr/>
          <a:lstStyle/>
          <a:p>
            <a:endParaRPr lang="en-IL"/>
          </a:p>
        </p:txBody>
      </p:sp>
      <p:sp>
        <p:nvSpPr>
          <p:cNvPr id="16" name="Text 14"/>
          <p:cNvSpPr/>
          <p:nvPr/>
        </p:nvSpPr>
        <p:spPr>
          <a:xfrm>
            <a:off x="8577072" y="1600200"/>
            <a:ext cx="2286000" cy="1051560"/>
          </a:xfrm>
          <a:prstGeom prst="rect">
            <a:avLst/>
          </a:prstGeom>
          <a:noFill/>
          <a:ln/>
        </p:spPr>
        <p:txBody>
          <a:bodyPr wrap="square" rtlCol="0" anchor="ctr"/>
          <a:lstStyle/>
          <a:p>
            <a:pPr marL="0" indent="0" algn="ctr">
              <a:buNone/>
            </a:pPr>
            <a:r>
              <a:rPr lang="en-US" sz="1500" b="1" dirty="0">
                <a:solidFill>
                  <a:srgbClr val="D4AB4E"/>
                </a:solidFill>
                <a:latin typeface="Calibri" pitchFamily="34" charset="0"/>
                <a:ea typeface="Calibri" pitchFamily="34" charset="-122"/>
                <a:cs typeface="Calibri" pitchFamily="34" charset="-120"/>
              </a:rPr>
              <a:t>Learn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add the example</a:t>
            </a:r>
            <a:endParaRPr lang="en-US" sz="1500" dirty="0"/>
          </a:p>
        </p:txBody>
      </p:sp>
      <p:graphicFrame>
        <p:nvGraphicFramePr>
          <p:cNvPr id="17" name="Chart 0"/>
          <p:cNvGraphicFramePr/>
          <p:nvPr/>
        </p:nvGraphicFramePr>
        <p:xfrm>
          <a:off x="566928" y="2971800"/>
          <a:ext cx="56692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566928" y="5760720"/>
            <a:ext cx="5669280" cy="274320"/>
          </a:xfrm>
          <a:prstGeom prst="rect">
            <a:avLst/>
          </a:prstGeom>
          <a:noFill/>
          <a:ln/>
        </p:spPr>
        <p:txBody>
          <a:bodyPr wrap="square" rtlCol="0" anchor="ctr"/>
          <a:lstStyle/>
          <a:p>
            <a:pPr marL="0" indent="0" algn="ctr">
              <a:buNone/>
            </a:pPr>
            <a:r>
              <a:rPr lang="en-US" sz="1100" i="1" dirty="0">
                <a:solidFill>
                  <a:srgbClr val="95A6AD"/>
                </a:solidFill>
                <a:latin typeface="Calibri" pitchFamily="34" charset="0"/>
                <a:ea typeface="Calibri" pitchFamily="34" charset="-122"/>
                <a:cs typeface="Calibri" pitchFamily="34" charset="-120"/>
              </a:rPr>
              <a:t>recall on the rest of the campaign — real effect is 1.0 vs 0.33</a:t>
            </a:r>
            <a:endParaRPr lang="en-US" sz="1100" dirty="0"/>
          </a:p>
        </p:txBody>
      </p:sp>
      <p:sp>
        <p:nvSpPr>
          <p:cNvPr id="19" name="Shape 16"/>
          <p:cNvSpPr/>
          <p:nvPr/>
        </p:nvSpPr>
        <p:spPr>
          <a:xfrm>
            <a:off x="6537960" y="2971800"/>
            <a:ext cx="5074920" cy="1234440"/>
          </a:xfrm>
          <a:prstGeom prst="roundRect">
            <a:avLst>
              <a:gd name="adj" fmla="val 5185"/>
            </a:avLst>
          </a:prstGeom>
          <a:solidFill>
            <a:srgbClr val="1B2B32"/>
          </a:solidFill>
          <a:ln w="12700">
            <a:solidFill>
              <a:srgbClr val="26363D"/>
            </a:solidFill>
            <a:prstDash val="solid"/>
          </a:ln>
        </p:spPr>
        <p:txBody>
          <a:bodyPr/>
          <a:lstStyle/>
          <a:p>
            <a:endParaRPr lang="en-IL"/>
          </a:p>
        </p:txBody>
      </p:sp>
      <p:sp>
        <p:nvSpPr>
          <p:cNvPr id="20" name="Shape 17"/>
          <p:cNvSpPr/>
          <p:nvPr/>
        </p:nvSpPr>
        <p:spPr>
          <a:xfrm>
            <a:off x="6537960" y="3099816"/>
            <a:ext cx="54864" cy="978408"/>
          </a:xfrm>
          <a:prstGeom prst="rect">
            <a:avLst/>
          </a:prstGeom>
          <a:solidFill>
            <a:srgbClr val="3CB6A6"/>
          </a:solidFill>
          <a:ln/>
        </p:spPr>
        <p:txBody>
          <a:bodyPr/>
          <a:lstStyle/>
          <a:p>
            <a:endParaRPr lang="en-IL"/>
          </a:p>
        </p:txBody>
      </p:sp>
      <p:sp>
        <p:nvSpPr>
          <p:cNvPr id="21" name="Text 18"/>
          <p:cNvSpPr/>
          <p:nvPr/>
        </p:nvSpPr>
        <p:spPr>
          <a:xfrm>
            <a:off x="6757416" y="3118104"/>
            <a:ext cx="4709160" cy="274320"/>
          </a:xfrm>
          <a:prstGeom prst="rect">
            <a:avLst/>
          </a:prstGeom>
          <a:noFill/>
          <a:ln/>
        </p:spPr>
        <p:txBody>
          <a:bodyPr wrap="square" rtlCol="0" anchor="ctr"/>
          <a:lstStyle/>
          <a:p>
            <a:pPr marL="0" indent="0">
              <a:buNone/>
            </a:pPr>
            <a:r>
              <a:rPr lang="en-US" sz="1050" b="1" kern="0" spc="100" dirty="0">
                <a:solidFill>
                  <a:srgbClr val="3CB6A6"/>
                </a:solidFill>
                <a:latin typeface="Calibri" pitchFamily="34" charset="0"/>
                <a:ea typeface="Calibri" pitchFamily="34" charset="-122"/>
                <a:cs typeface="Calibri" pitchFamily="34" charset="-120"/>
              </a:rPr>
              <a:t>HOW IT WORKS</a:t>
            </a:r>
            <a:endParaRPr lang="en-US" sz="1050" dirty="0"/>
          </a:p>
        </p:txBody>
      </p:sp>
      <p:sp>
        <p:nvSpPr>
          <p:cNvPr id="22" name="Text 19"/>
          <p:cNvSpPr/>
          <p:nvPr/>
        </p:nvSpPr>
        <p:spPr>
          <a:xfrm>
            <a:off x="6757416" y="3429000"/>
            <a:ext cx="4672584" cy="63093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One person reports a scam → the system finds and blocks the near-duplicates in every other inbox. One report lifts detection of the rest from 15% to 100%, no extra false alarms.</a:t>
            </a:r>
            <a:endParaRPr lang="en-US" sz="1250" dirty="0"/>
          </a:p>
        </p:txBody>
      </p:sp>
      <p:sp>
        <p:nvSpPr>
          <p:cNvPr id="23" name="Shape 20"/>
          <p:cNvSpPr/>
          <p:nvPr/>
        </p:nvSpPr>
        <p:spPr>
          <a:xfrm>
            <a:off x="6537960" y="4343400"/>
            <a:ext cx="5074920" cy="1371600"/>
          </a:xfrm>
          <a:prstGeom prst="roundRect">
            <a:avLst>
              <a:gd name="adj" fmla="val 4667"/>
            </a:avLst>
          </a:prstGeom>
          <a:solidFill>
            <a:srgbClr val="1B2B32"/>
          </a:solidFill>
          <a:ln w="12700">
            <a:solidFill>
              <a:srgbClr val="26363D"/>
            </a:solidFill>
            <a:prstDash val="solid"/>
          </a:ln>
        </p:spPr>
        <p:txBody>
          <a:bodyPr/>
          <a:lstStyle/>
          <a:p>
            <a:endParaRPr lang="en-IL"/>
          </a:p>
        </p:txBody>
      </p:sp>
      <p:sp>
        <p:nvSpPr>
          <p:cNvPr id="24" name="Shape 21"/>
          <p:cNvSpPr/>
          <p:nvPr/>
        </p:nvSpPr>
        <p:spPr>
          <a:xfrm>
            <a:off x="6537960" y="4471416"/>
            <a:ext cx="54864" cy="1115568"/>
          </a:xfrm>
          <a:prstGeom prst="rect">
            <a:avLst/>
          </a:prstGeom>
          <a:solidFill>
            <a:srgbClr val="D4AB4E"/>
          </a:solidFill>
          <a:ln/>
        </p:spPr>
        <p:txBody>
          <a:bodyPr/>
          <a:lstStyle/>
          <a:p>
            <a:endParaRPr lang="en-IL"/>
          </a:p>
        </p:txBody>
      </p:sp>
      <p:sp>
        <p:nvSpPr>
          <p:cNvPr id="25" name="Text 22"/>
          <p:cNvSpPr/>
          <p:nvPr/>
        </p:nvSpPr>
        <p:spPr>
          <a:xfrm>
            <a:off x="6757416" y="4489704"/>
            <a:ext cx="4709160" cy="274320"/>
          </a:xfrm>
          <a:prstGeom prst="rect">
            <a:avLst/>
          </a:prstGeom>
          <a:noFill/>
          <a:ln/>
        </p:spPr>
        <p:txBody>
          <a:bodyPr wrap="square" rtlCol="0" anchor="ctr"/>
          <a:lstStyle/>
          <a:p>
            <a:pPr marL="0" indent="0">
              <a:buNone/>
            </a:pPr>
            <a:r>
              <a:rPr lang="en-US" sz="1050" b="1" kern="0" spc="100" dirty="0">
                <a:solidFill>
                  <a:srgbClr val="D4AB4E"/>
                </a:solidFill>
                <a:latin typeface="Calibri" pitchFamily="34" charset="0"/>
                <a:ea typeface="Calibri" pitchFamily="34" charset="-122"/>
                <a:cs typeface="Calibri" pitchFamily="34" charset="-120"/>
              </a:rPr>
              <a:t>WHY CONTENT MATTERS EVEN MORE NOW</a:t>
            </a:r>
            <a:endParaRPr lang="en-US" sz="1050" dirty="0"/>
          </a:p>
        </p:txBody>
      </p:sp>
      <p:sp>
        <p:nvSpPr>
          <p:cNvPr id="26" name="Text 23"/>
          <p:cNvSpPr/>
          <p:nvPr/>
        </p:nvSpPr>
        <p:spPr>
          <a:xfrm>
            <a:off x="6757416" y="4800600"/>
            <a:ext cx="4672584" cy="76809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Attackers hijack a real, trusted account and send phishing from a legitimate address. A filter that trusts the sender is fooled — reading the words still sees something is wrong.</a:t>
            </a:r>
            <a:endParaRPr lang="en-US" sz="1250" dirty="0"/>
          </a:p>
        </p:txBody>
      </p:sp>
      <p:sp>
        <p:nvSpPr>
          <p:cNvPr id="27" name="Text 24"/>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content is the signal that survives a stolen account</a:t>
            </a:r>
            <a:endParaRPr lang="en-US" sz="95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ADDITIONAL IDEA</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2600" b="1" dirty="0">
                <a:solidFill>
                  <a:srgbClr val="EAF0F1"/>
                </a:solidFill>
                <a:latin typeface="Cambria" pitchFamily="34" charset="0"/>
                <a:ea typeface="Cambria" pitchFamily="34" charset="-122"/>
                <a:cs typeface="Cambria" pitchFamily="34" charset="-120"/>
              </a:rPr>
              <a:t>An LLM paraphrase attack, LLM-judged.</a:t>
            </a:r>
            <a:endParaRPr lang="en-US" sz="26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24</a:t>
            </a:r>
            <a:endParaRPr lang="en-US" sz="1100" dirty="0"/>
          </a:p>
        </p:txBody>
      </p:sp>
      <p:sp>
        <p:nvSpPr>
          <p:cNvPr id="6" name="Shape 4"/>
          <p:cNvSpPr/>
          <p:nvPr/>
        </p:nvSpPr>
        <p:spPr>
          <a:xfrm>
            <a:off x="566928" y="1645920"/>
            <a:ext cx="3200400" cy="1234440"/>
          </a:xfrm>
          <a:prstGeom prst="roundRect">
            <a:avLst>
              <a:gd name="adj" fmla="val 5926"/>
            </a:avLst>
          </a:prstGeom>
          <a:solidFill>
            <a:srgbClr val="1B2B32"/>
          </a:solidFill>
          <a:ln w="19050">
            <a:solidFill>
              <a:srgbClr val="E97A60"/>
            </a:solidFill>
            <a:prstDash val="solid"/>
          </a:ln>
        </p:spPr>
        <p:txBody>
          <a:bodyPr/>
          <a:lstStyle/>
          <a:p>
            <a:endParaRPr lang="en-IL"/>
          </a:p>
        </p:txBody>
      </p:sp>
      <p:sp>
        <p:nvSpPr>
          <p:cNvPr id="7" name="Text 5"/>
          <p:cNvSpPr/>
          <p:nvPr/>
        </p:nvSpPr>
        <p:spPr>
          <a:xfrm>
            <a:off x="566928" y="1645920"/>
            <a:ext cx="3200400" cy="1234440"/>
          </a:xfrm>
          <a:prstGeom prst="rect">
            <a:avLst/>
          </a:prstGeom>
          <a:noFill/>
          <a:ln/>
        </p:spPr>
        <p:txBody>
          <a:bodyPr wrap="square" rtlCol="0" anchor="ctr"/>
          <a:lstStyle/>
          <a:p>
            <a:pPr marL="0" indent="0" algn="ctr">
              <a:buNone/>
            </a:pPr>
            <a:r>
              <a:rPr lang="en-US" sz="1500" b="1" dirty="0">
                <a:solidFill>
                  <a:srgbClr val="E97A60"/>
                </a:solidFill>
                <a:latin typeface="Calibri" pitchFamily="34" charset="0"/>
                <a:ea typeface="Calibri" pitchFamily="34" charset="-122"/>
                <a:cs typeface="Calibri" pitchFamily="34" charset="-120"/>
              </a:rPr>
              <a:t>Attack</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an LLM rewrites</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the scam</a:t>
            </a:r>
            <a:endParaRPr lang="en-US" sz="1500" dirty="0"/>
          </a:p>
        </p:txBody>
      </p:sp>
      <p:sp>
        <p:nvSpPr>
          <p:cNvPr id="8" name="Text 6"/>
          <p:cNvSpPr/>
          <p:nvPr/>
        </p:nvSpPr>
        <p:spPr>
          <a:xfrm>
            <a:off x="3840480" y="1965960"/>
            <a:ext cx="502920" cy="548640"/>
          </a:xfrm>
          <a:prstGeom prst="rect">
            <a:avLst/>
          </a:prstGeom>
          <a:noFill/>
          <a:ln/>
        </p:spPr>
        <p:txBody>
          <a:bodyPr wrap="square" rtlCol="0" anchor="ctr"/>
          <a:lstStyle/>
          <a:p>
            <a:pPr marL="0" indent="0" algn="ctr">
              <a:buNone/>
            </a:pPr>
            <a:r>
              <a:rPr lang="en-US" sz="2200" dirty="0">
                <a:solidFill>
                  <a:srgbClr val="6E7F87"/>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270248" y="1645920"/>
            <a:ext cx="3200400" cy="1234440"/>
          </a:xfrm>
          <a:prstGeom prst="roundRect">
            <a:avLst>
              <a:gd name="adj" fmla="val 5926"/>
            </a:avLst>
          </a:prstGeom>
          <a:solidFill>
            <a:srgbClr val="1B2B32"/>
          </a:solidFill>
          <a:ln w="19050">
            <a:solidFill>
              <a:srgbClr val="3CB6A6"/>
            </a:solidFill>
            <a:prstDash val="solid"/>
          </a:ln>
        </p:spPr>
        <p:txBody>
          <a:bodyPr/>
          <a:lstStyle/>
          <a:p>
            <a:endParaRPr lang="en-IL"/>
          </a:p>
        </p:txBody>
      </p:sp>
      <p:sp>
        <p:nvSpPr>
          <p:cNvPr id="10" name="Text 8"/>
          <p:cNvSpPr/>
          <p:nvPr/>
        </p:nvSpPr>
        <p:spPr>
          <a:xfrm>
            <a:off x="4270248" y="1645920"/>
            <a:ext cx="3200400" cy="123444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Validate</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a 2nd LLM judges:</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still phishing?</a:t>
            </a:r>
            <a:endParaRPr lang="en-US" sz="1500" dirty="0"/>
          </a:p>
        </p:txBody>
      </p:sp>
      <p:sp>
        <p:nvSpPr>
          <p:cNvPr id="11" name="Text 9"/>
          <p:cNvSpPr/>
          <p:nvPr/>
        </p:nvSpPr>
        <p:spPr>
          <a:xfrm>
            <a:off x="7543800" y="1965960"/>
            <a:ext cx="502920" cy="548640"/>
          </a:xfrm>
          <a:prstGeom prst="rect">
            <a:avLst/>
          </a:prstGeom>
          <a:noFill/>
          <a:ln/>
        </p:spPr>
        <p:txBody>
          <a:bodyPr wrap="square" rtlCol="0" anchor="ctr"/>
          <a:lstStyle/>
          <a:p>
            <a:pPr marL="0" indent="0" algn="ctr">
              <a:buNone/>
            </a:pPr>
            <a:r>
              <a:rPr lang="en-US" sz="2200" dirty="0">
                <a:solidFill>
                  <a:srgbClr val="6E7F87"/>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7973568" y="1645920"/>
            <a:ext cx="3200400" cy="1234440"/>
          </a:xfrm>
          <a:prstGeom prst="roundRect">
            <a:avLst>
              <a:gd name="adj" fmla="val 5926"/>
            </a:avLst>
          </a:prstGeom>
          <a:solidFill>
            <a:srgbClr val="1B2B32"/>
          </a:solidFill>
          <a:ln w="19050">
            <a:solidFill>
              <a:srgbClr val="7D919B"/>
            </a:solidFill>
            <a:prstDash val="solid"/>
          </a:ln>
        </p:spPr>
        <p:txBody>
          <a:bodyPr/>
          <a:lstStyle/>
          <a:p>
            <a:endParaRPr lang="en-IL"/>
          </a:p>
        </p:txBody>
      </p:sp>
      <p:sp>
        <p:nvSpPr>
          <p:cNvPr id="13" name="Text 11"/>
          <p:cNvSpPr/>
          <p:nvPr/>
        </p:nvSpPr>
        <p:spPr>
          <a:xfrm>
            <a:off x="7973568" y="1645920"/>
            <a:ext cx="3200400" cy="1234440"/>
          </a:xfrm>
          <a:prstGeom prst="rect">
            <a:avLst/>
          </a:prstGeom>
          <a:noFill/>
          <a:ln/>
        </p:spPr>
        <p:txBody>
          <a:bodyPr wrap="square" rtlCol="0" anchor="ctr"/>
          <a:lstStyle/>
          <a:p>
            <a:pPr marL="0" indent="0" algn="ctr">
              <a:buNone/>
            </a:pPr>
            <a:r>
              <a:rPr lang="en-US" sz="1500" b="1" dirty="0">
                <a:solidFill>
                  <a:srgbClr val="7D919B"/>
                </a:solidFill>
                <a:latin typeface="Calibri" pitchFamily="34" charset="0"/>
                <a:ea typeface="Calibri" pitchFamily="34" charset="-122"/>
                <a:cs typeface="Calibri" pitchFamily="34" charset="-120"/>
              </a:rPr>
              <a:t>Detect</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score the</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valid attacks</a:t>
            </a:r>
            <a:endParaRPr lang="en-US" sz="1500" dirty="0"/>
          </a:p>
        </p:txBody>
      </p:sp>
      <p:sp>
        <p:nvSpPr>
          <p:cNvPr id="14" name="Shape 12"/>
          <p:cNvSpPr/>
          <p:nvPr/>
        </p:nvSpPr>
        <p:spPr>
          <a:xfrm>
            <a:off x="566928" y="3200400"/>
            <a:ext cx="5486400" cy="2286000"/>
          </a:xfrm>
          <a:prstGeom prst="roundRect">
            <a:avLst>
              <a:gd name="adj" fmla="val 2800"/>
            </a:avLst>
          </a:prstGeom>
          <a:solidFill>
            <a:srgbClr val="1B2B32"/>
          </a:solidFill>
          <a:ln w="12700">
            <a:solidFill>
              <a:srgbClr val="26363D"/>
            </a:solidFill>
            <a:prstDash val="solid"/>
          </a:ln>
        </p:spPr>
        <p:txBody>
          <a:bodyPr/>
          <a:lstStyle/>
          <a:p>
            <a:endParaRPr lang="en-IL"/>
          </a:p>
        </p:txBody>
      </p:sp>
      <p:sp>
        <p:nvSpPr>
          <p:cNvPr id="15" name="Shape 13"/>
          <p:cNvSpPr/>
          <p:nvPr/>
        </p:nvSpPr>
        <p:spPr>
          <a:xfrm>
            <a:off x="566928" y="3328416"/>
            <a:ext cx="54864" cy="2029968"/>
          </a:xfrm>
          <a:prstGeom prst="rect">
            <a:avLst/>
          </a:prstGeom>
          <a:solidFill>
            <a:srgbClr val="5FA3C0"/>
          </a:solidFill>
          <a:ln/>
        </p:spPr>
        <p:txBody>
          <a:bodyPr/>
          <a:lstStyle/>
          <a:p>
            <a:endParaRPr lang="en-IL"/>
          </a:p>
        </p:txBody>
      </p:sp>
      <p:sp>
        <p:nvSpPr>
          <p:cNvPr id="16" name="Text 14"/>
          <p:cNvSpPr/>
          <p:nvPr/>
        </p:nvSpPr>
        <p:spPr>
          <a:xfrm>
            <a:off x="786384" y="3346704"/>
            <a:ext cx="5120640" cy="274320"/>
          </a:xfrm>
          <a:prstGeom prst="rect">
            <a:avLst/>
          </a:prstGeom>
          <a:noFill/>
          <a:ln/>
        </p:spPr>
        <p:txBody>
          <a:bodyPr wrap="square" rtlCol="0" anchor="ctr"/>
          <a:lstStyle/>
          <a:p>
            <a:pPr marL="0" indent="0">
              <a:buNone/>
            </a:pPr>
            <a:r>
              <a:rPr lang="en-US" sz="1050" b="1" kern="0" spc="100" dirty="0">
                <a:solidFill>
                  <a:srgbClr val="5FA3C0"/>
                </a:solidFill>
                <a:latin typeface="Calibri" pitchFamily="34" charset="0"/>
                <a:ea typeface="Calibri" pitchFamily="34" charset="-122"/>
                <a:cs typeface="Calibri" pitchFamily="34" charset="-120"/>
              </a:rPr>
              <a:t>WHY A JUDGE</a:t>
            </a:r>
            <a:endParaRPr lang="en-US" sz="1050" dirty="0"/>
          </a:p>
        </p:txBody>
      </p:sp>
      <p:sp>
        <p:nvSpPr>
          <p:cNvPr id="17" name="Text 15"/>
          <p:cNvSpPr/>
          <p:nvPr/>
        </p:nvSpPr>
        <p:spPr>
          <a:xfrm>
            <a:off x="786384" y="3657600"/>
            <a:ext cx="5084064" cy="168249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A rewrite that stops being a scam mustn’t count as an evasion. A second, independent LLM validates each one — “LLM-as-a-judge.” It kept 24 of 30. </a:t>
            </a:r>
            <a:r>
              <a:rPr lang="en-US" sz="1250" dirty="0">
                <a:solidFill>
                  <a:srgbClr val="95A6AD"/>
                </a:solidFill>
                <a:latin typeface="Calibri" pitchFamily="34" charset="0"/>
                <a:ea typeface="Calibri" pitchFamily="34" charset="-122"/>
                <a:cs typeface="Calibri" pitchFamily="34" charset="-120"/>
              </a:rPr>
              <a:t>This is the one attack class both certificates leave open: full semantic rewording.</a:t>
            </a:r>
            <a:endParaRPr lang="en-US" sz="1250" dirty="0"/>
          </a:p>
        </p:txBody>
      </p:sp>
      <p:sp>
        <p:nvSpPr>
          <p:cNvPr id="18" name="Shape 16"/>
          <p:cNvSpPr/>
          <p:nvPr/>
        </p:nvSpPr>
        <p:spPr>
          <a:xfrm>
            <a:off x="6675120" y="3200400"/>
            <a:ext cx="4937760" cy="2286000"/>
          </a:xfrm>
          <a:prstGeom prst="roundRect">
            <a:avLst>
              <a:gd name="adj" fmla="val 2800"/>
            </a:avLst>
          </a:prstGeom>
          <a:solidFill>
            <a:srgbClr val="1B2B32"/>
          </a:solidFill>
          <a:ln w="12700">
            <a:solidFill>
              <a:srgbClr val="26363D"/>
            </a:solidFill>
            <a:prstDash val="solid"/>
          </a:ln>
        </p:spPr>
        <p:txBody>
          <a:bodyPr/>
          <a:lstStyle/>
          <a:p>
            <a:endParaRPr lang="en-IL"/>
          </a:p>
        </p:txBody>
      </p:sp>
      <p:sp>
        <p:nvSpPr>
          <p:cNvPr id="19" name="Shape 17"/>
          <p:cNvSpPr/>
          <p:nvPr/>
        </p:nvSpPr>
        <p:spPr>
          <a:xfrm>
            <a:off x="6675120" y="3328416"/>
            <a:ext cx="54864" cy="2029968"/>
          </a:xfrm>
          <a:prstGeom prst="rect">
            <a:avLst/>
          </a:prstGeom>
          <a:solidFill>
            <a:srgbClr val="E97A60"/>
          </a:solidFill>
          <a:ln/>
        </p:spPr>
        <p:txBody>
          <a:bodyPr/>
          <a:lstStyle/>
          <a:p>
            <a:endParaRPr lang="en-IL"/>
          </a:p>
        </p:txBody>
      </p:sp>
      <p:sp>
        <p:nvSpPr>
          <p:cNvPr id="20" name="Text 18"/>
          <p:cNvSpPr/>
          <p:nvPr/>
        </p:nvSpPr>
        <p:spPr>
          <a:xfrm>
            <a:off x="6894576" y="3346704"/>
            <a:ext cx="4572000" cy="274320"/>
          </a:xfrm>
          <a:prstGeom prst="rect">
            <a:avLst/>
          </a:prstGeom>
          <a:noFill/>
          <a:ln/>
        </p:spPr>
        <p:txBody>
          <a:bodyPr wrap="square" rtlCol="0" anchor="ctr"/>
          <a:lstStyle/>
          <a:p>
            <a:pPr marL="0" indent="0">
              <a:buNone/>
            </a:pPr>
            <a:r>
              <a:rPr lang="en-US" sz="1050" b="1" kern="0" spc="100" dirty="0">
                <a:solidFill>
                  <a:srgbClr val="E97A60"/>
                </a:solidFill>
                <a:latin typeface="Calibri" pitchFamily="34" charset="0"/>
                <a:ea typeface="Calibri" pitchFamily="34" charset="-122"/>
                <a:cs typeface="Calibri" pitchFamily="34" charset="-120"/>
              </a:rPr>
              <a:t>RESULT (SMALL PROBE)</a:t>
            </a:r>
            <a:endParaRPr lang="en-US" sz="1050" dirty="0"/>
          </a:p>
        </p:txBody>
      </p:sp>
      <p:sp>
        <p:nvSpPr>
          <p:cNvPr id="21" name="Text 19"/>
          <p:cNvSpPr/>
          <p:nvPr/>
        </p:nvSpPr>
        <p:spPr>
          <a:xfrm>
            <a:off x="6894576" y="3657600"/>
            <a:ext cx="4535424" cy="1682496"/>
          </a:xfrm>
          <a:prstGeom prst="rect">
            <a:avLst/>
          </a:prstGeom>
          <a:noFill/>
          <a:ln/>
        </p:spPr>
        <p:txBody>
          <a:bodyPr wrap="square" rtlCol="0" anchor="t"/>
          <a:lstStyle/>
          <a:p>
            <a:pPr marL="0" indent="0">
              <a:lnSpc>
                <a:spcPct val="112000"/>
              </a:lnSpc>
              <a:buNone/>
            </a:pPr>
            <a:r>
              <a:rPr lang="en-US" sz="1250" b="1" dirty="0">
                <a:solidFill>
                  <a:srgbClr val="EAF0F1"/>
                </a:solidFill>
                <a:latin typeface="Calibri" pitchFamily="34" charset="0"/>
                <a:ea typeface="Calibri" pitchFamily="34" charset="-122"/>
                <a:cs typeface="Calibri" pitchFamily="34" charset="-120"/>
              </a:rPr>
              <a:t>The main model shrugs it off (recall 1.0). </a:t>
            </a:r>
            <a:r>
              <a:rPr lang="en-US" sz="1250" dirty="0">
                <a:solidFill>
                  <a:srgbClr val="95A6AD"/>
                </a:solidFill>
                <a:latin typeface="Calibri" pitchFamily="34" charset="0"/>
                <a:ea typeface="Calibri" pitchFamily="34" charset="-122"/>
                <a:cs typeface="Calibri" pitchFamily="34" charset="-120"/>
              </a:rPr>
              <a:t>The monotone model gives ground (0.75 → 0.71) — the honest counterweight to its certificate, since it has no negative evidence to fall back on.</a:t>
            </a:r>
            <a:endParaRPr lang="en-US" sz="1250" dirty="0"/>
          </a:p>
        </p:txBody>
      </p:sp>
      <p:sp>
        <p:nvSpPr>
          <p:cNvPr id="22" name="Text 20"/>
          <p:cNvSpPr/>
          <p:nvPr/>
        </p:nvSpPr>
        <p:spPr>
          <a:xfrm>
            <a:off x="566928" y="5669280"/>
            <a:ext cx="11057839" cy="457200"/>
          </a:xfrm>
          <a:prstGeom prst="rect">
            <a:avLst/>
          </a:prstGeom>
          <a:noFill/>
          <a:ln/>
        </p:spPr>
        <p:txBody>
          <a:bodyPr wrap="square" rtlCol="0" anchor="t"/>
          <a:lstStyle/>
          <a:p>
            <a:pPr marL="0" indent="0">
              <a:buNone/>
            </a:pPr>
            <a:r>
              <a:rPr lang="en-US" sz="1200" i="1" dirty="0">
                <a:solidFill>
                  <a:srgbClr val="95A6AD"/>
                </a:solidFill>
                <a:latin typeface="Calibri" pitchFamily="34" charset="0"/>
                <a:ea typeface="Calibri" pitchFamily="34" charset="-122"/>
                <a:cs typeface="Calibri" pitchFamily="34" charset="-120"/>
              </a:rPr>
              <a:t>Caveats stated: N is small; attacker and judge share a model family; outputs are frozen and committed for reproducibility.</a:t>
            </a:r>
            <a:endParaRPr lang="en-US" sz="1200" dirty="0"/>
          </a:p>
        </p:txBody>
      </p:sp>
      <p:sp>
        <p:nvSpPr>
          <p:cNvPr id="23" name="Text 21"/>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rewording is the one class both certificates leave open</a:t>
            </a:r>
            <a:endParaRPr lang="en-US" sz="95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ADDITIONAL IDEA</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2600" b="1" dirty="0">
                <a:solidFill>
                  <a:srgbClr val="EAF0F1"/>
                </a:solidFill>
                <a:latin typeface="Cambria" pitchFamily="34" charset="0"/>
                <a:ea typeface="Cambria" pitchFamily="34" charset="-122"/>
                <a:cs typeface="Cambria" pitchFamily="34" charset="-120"/>
              </a:rPr>
              <a:t>A self-updating attack database.</a:t>
            </a:r>
            <a:endParaRPr lang="en-US" sz="26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25</a:t>
            </a:r>
            <a:endParaRPr lang="en-US" sz="1100" dirty="0"/>
          </a:p>
        </p:txBody>
      </p:sp>
      <p:sp>
        <p:nvSpPr>
          <p:cNvPr id="6" name="Shape 4"/>
          <p:cNvSpPr/>
          <p:nvPr/>
        </p:nvSpPr>
        <p:spPr>
          <a:xfrm>
            <a:off x="566928" y="1645920"/>
            <a:ext cx="1965960" cy="1234440"/>
          </a:xfrm>
          <a:prstGeom prst="roundRect">
            <a:avLst>
              <a:gd name="adj" fmla="val 5926"/>
            </a:avLst>
          </a:prstGeom>
          <a:solidFill>
            <a:srgbClr val="1B2B32"/>
          </a:solidFill>
          <a:ln w="19050">
            <a:solidFill>
              <a:srgbClr val="E97A60"/>
            </a:solidFill>
            <a:prstDash val="solid"/>
          </a:ln>
        </p:spPr>
        <p:txBody>
          <a:bodyPr/>
          <a:lstStyle/>
          <a:p>
            <a:endParaRPr lang="en-IL"/>
          </a:p>
        </p:txBody>
      </p:sp>
      <p:sp>
        <p:nvSpPr>
          <p:cNvPr id="7" name="Text 5"/>
          <p:cNvSpPr/>
          <p:nvPr/>
        </p:nvSpPr>
        <p:spPr>
          <a:xfrm>
            <a:off x="566928" y="1645920"/>
            <a:ext cx="1965960" cy="1234440"/>
          </a:xfrm>
          <a:prstGeom prst="rect">
            <a:avLst/>
          </a:prstGeom>
          <a:noFill/>
          <a:ln/>
        </p:spPr>
        <p:txBody>
          <a:bodyPr wrap="square" rtlCol="0" anchor="ctr"/>
          <a:lstStyle/>
          <a:p>
            <a:pPr marL="0" indent="0" algn="ctr">
              <a:buNone/>
            </a:pPr>
            <a:r>
              <a:rPr lang="en-US" sz="1500" b="1" dirty="0">
                <a:solidFill>
                  <a:srgbClr val="E97A60"/>
                </a:solidFill>
                <a:latin typeface="Calibri" pitchFamily="34" charset="0"/>
                <a:ea typeface="Calibri" pitchFamily="34" charset="-122"/>
                <a:cs typeface="Calibri" pitchFamily="34" charset="-120"/>
              </a:rPr>
              <a:t>New attack</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report /</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monitor / trap</a:t>
            </a:r>
            <a:endParaRPr lang="en-US" sz="1500" dirty="0"/>
          </a:p>
        </p:txBody>
      </p:sp>
      <p:sp>
        <p:nvSpPr>
          <p:cNvPr id="8" name="Text 6"/>
          <p:cNvSpPr/>
          <p:nvPr/>
        </p:nvSpPr>
        <p:spPr>
          <a:xfrm>
            <a:off x="2532888" y="1965960"/>
            <a:ext cx="256032" cy="548640"/>
          </a:xfrm>
          <a:prstGeom prst="rect">
            <a:avLst/>
          </a:prstGeom>
          <a:noFill/>
          <a:ln/>
        </p:spPr>
        <p:txBody>
          <a:bodyPr wrap="square" rtlCol="0" anchor="ctr"/>
          <a:lstStyle/>
          <a:p>
            <a:pPr marL="0" indent="0" algn="ctr">
              <a:buNone/>
            </a:pPr>
            <a:r>
              <a:rPr lang="en-US" sz="1800" dirty="0">
                <a:solidFill>
                  <a:srgbClr val="6E7F87"/>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788920" y="1645920"/>
            <a:ext cx="1965960" cy="1234440"/>
          </a:xfrm>
          <a:prstGeom prst="roundRect">
            <a:avLst>
              <a:gd name="adj" fmla="val 5926"/>
            </a:avLst>
          </a:prstGeom>
          <a:solidFill>
            <a:srgbClr val="1B2B32"/>
          </a:solidFill>
          <a:ln w="19050">
            <a:solidFill>
              <a:srgbClr val="3CB6A6"/>
            </a:solidFill>
            <a:prstDash val="solid"/>
          </a:ln>
        </p:spPr>
        <p:txBody>
          <a:bodyPr/>
          <a:lstStyle/>
          <a:p>
            <a:endParaRPr lang="en-IL"/>
          </a:p>
        </p:txBody>
      </p:sp>
      <p:sp>
        <p:nvSpPr>
          <p:cNvPr id="10" name="Text 8"/>
          <p:cNvSpPr/>
          <p:nvPr/>
        </p:nvSpPr>
        <p:spPr>
          <a:xfrm>
            <a:off x="2788920" y="1645920"/>
            <a:ext cx="1965960" cy="123444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Validate</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really an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attack?</a:t>
            </a:r>
            <a:endParaRPr lang="en-US" sz="1500" dirty="0"/>
          </a:p>
        </p:txBody>
      </p:sp>
      <p:sp>
        <p:nvSpPr>
          <p:cNvPr id="11" name="Text 9"/>
          <p:cNvSpPr/>
          <p:nvPr/>
        </p:nvSpPr>
        <p:spPr>
          <a:xfrm>
            <a:off x="4754880" y="1965960"/>
            <a:ext cx="256032" cy="548640"/>
          </a:xfrm>
          <a:prstGeom prst="rect">
            <a:avLst/>
          </a:prstGeom>
          <a:noFill/>
          <a:ln/>
        </p:spPr>
        <p:txBody>
          <a:bodyPr wrap="square" rtlCol="0" anchor="ctr"/>
          <a:lstStyle/>
          <a:p>
            <a:pPr marL="0" indent="0" algn="ctr">
              <a:buNone/>
            </a:pPr>
            <a:r>
              <a:rPr lang="en-US" sz="1800" dirty="0">
                <a:solidFill>
                  <a:srgbClr val="6E7F87"/>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5010912" y="1645920"/>
            <a:ext cx="1965960" cy="1234440"/>
          </a:xfrm>
          <a:prstGeom prst="roundRect">
            <a:avLst>
              <a:gd name="adj" fmla="val 5926"/>
            </a:avLst>
          </a:prstGeom>
          <a:solidFill>
            <a:srgbClr val="1B2B32"/>
          </a:solidFill>
          <a:ln w="19050">
            <a:solidFill>
              <a:srgbClr val="7D919B"/>
            </a:solidFill>
            <a:prstDash val="solid"/>
          </a:ln>
        </p:spPr>
        <p:txBody>
          <a:bodyPr/>
          <a:lstStyle/>
          <a:p>
            <a:endParaRPr lang="en-IL"/>
          </a:p>
        </p:txBody>
      </p:sp>
      <p:sp>
        <p:nvSpPr>
          <p:cNvPr id="13" name="Text 11"/>
          <p:cNvSpPr/>
          <p:nvPr/>
        </p:nvSpPr>
        <p:spPr>
          <a:xfrm>
            <a:off x="5010912" y="1645920"/>
            <a:ext cx="1965960" cy="1234440"/>
          </a:xfrm>
          <a:prstGeom prst="rect">
            <a:avLst/>
          </a:prstGeom>
          <a:noFill/>
          <a:ln/>
        </p:spPr>
        <p:txBody>
          <a:bodyPr wrap="square" rtlCol="0" anchor="ctr"/>
          <a:lstStyle/>
          <a:p>
            <a:pPr marL="0" indent="0" algn="ctr">
              <a:buNone/>
            </a:pPr>
            <a:r>
              <a:rPr lang="en-US" sz="1500" b="1" dirty="0">
                <a:solidFill>
                  <a:srgbClr val="7D919B"/>
                </a:solidFill>
                <a:latin typeface="Calibri" pitchFamily="34" charset="0"/>
                <a:ea typeface="Calibri" pitchFamily="34" charset="-122"/>
                <a:cs typeface="Calibri" pitchFamily="34" charset="-120"/>
              </a:rPr>
              <a:t>Store</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living attack</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database</a:t>
            </a:r>
            <a:endParaRPr lang="en-US" sz="1500" dirty="0"/>
          </a:p>
        </p:txBody>
      </p:sp>
      <p:sp>
        <p:nvSpPr>
          <p:cNvPr id="14" name="Text 12"/>
          <p:cNvSpPr/>
          <p:nvPr/>
        </p:nvSpPr>
        <p:spPr>
          <a:xfrm>
            <a:off x="6976872" y="1965960"/>
            <a:ext cx="256032" cy="548640"/>
          </a:xfrm>
          <a:prstGeom prst="rect">
            <a:avLst/>
          </a:prstGeom>
          <a:noFill/>
          <a:ln/>
        </p:spPr>
        <p:txBody>
          <a:bodyPr wrap="square" rtlCol="0" anchor="ctr"/>
          <a:lstStyle/>
          <a:p>
            <a:pPr marL="0" indent="0" algn="ctr">
              <a:buNone/>
            </a:pPr>
            <a:r>
              <a:rPr lang="en-US" sz="1800" dirty="0">
                <a:solidFill>
                  <a:srgbClr val="6E7F87"/>
                </a:solidFill>
                <a:latin typeface="Calibri" pitchFamily="34" charset="0"/>
                <a:ea typeface="Calibri" pitchFamily="34" charset="-122"/>
                <a:cs typeface="Calibri" pitchFamily="34" charset="-120"/>
              </a:rPr>
              <a:t>→</a:t>
            </a:r>
            <a:endParaRPr lang="en-US" sz="1800" dirty="0"/>
          </a:p>
        </p:txBody>
      </p:sp>
      <p:sp>
        <p:nvSpPr>
          <p:cNvPr id="15" name="Shape 13"/>
          <p:cNvSpPr/>
          <p:nvPr/>
        </p:nvSpPr>
        <p:spPr>
          <a:xfrm>
            <a:off x="7232904" y="1645920"/>
            <a:ext cx="1965960" cy="1234440"/>
          </a:xfrm>
          <a:prstGeom prst="roundRect">
            <a:avLst>
              <a:gd name="adj" fmla="val 5926"/>
            </a:avLst>
          </a:prstGeom>
          <a:solidFill>
            <a:srgbClr val="1B2B32"/>
          </a:solidFill>
          <a:ln w="19050">
            <a:solidFill>
              <a:srgbClr val="5FA3C0"/>
            </a:solidFill>
            <a:prstDash val="solid"/>
          </a:ln>
        </p:spPr>
        <p:txBody>
          <a:bodyPr/>
          <a:lstStyle/>
          <a:p>
            <a:endParaRPr lang="en-IL"/>
          </a:p>
        </p:txBody>
      </p:sp>
      <p:sp>
        <p:nvSpPr>
          <p:cNvPr id="16" name="Text 14"/>
          <p:cNvSpPr/>
          <p:nvPr/>
        </p:nvSpPr>
        <p:spPr>
          <a:xfrm>
            <a:off x="7232904" y="1645920"/>
            <a:ext cx="1965960" cy="1234440"/>
          </a:xfrm>
          <a:prstGeom prst="rect">
            <a:avLst/>
          </a:prstGeom>
          <a:noFill/>
          <a:ln/>
        </p:spPr>
        <p:txBody>
          <a:bodyPr wrap="square" rtlCol="0" anchor="ctr"/>
          <a:lstStyle/>
          <a:p>
            <a:pPr marL="0" indent="0" algn="ctr">
              <a:buNone/>
            </a:pPr>
            <a:r>
              <a:rPr lang="en-US" sz="1500" b="1" dirty="0">
                <a:solidFill>
                  <a:srgbClr val="5FA3C0"/>
                </a:solidFill>
                <a:latin typeface="Calibri" pitchFamily="34" charset="0"/>
                <a:ea typeface="Calibri" pitchFamily="34" charset="-122"/>
                <a:cs typeface="Calibri" pitchFamily="34" charset="-120"/>
              </a:rPr>
              <a:t>Retrain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fold it in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(~30 s)</a:t>
            </a:r>
            <a:endParaRPr lang="en-US" sz="1500" dirty="0"/>
          </a:p>
        </p:txBody>
      </p:sp>
      <p:sp>
        <p:nvSpPr>
          <p:cNvPr id="17" name="Text 15"/>
          <p:cNvSpPr/>
          <p:nvPr/>
        </p:nvSpPr>
        <p:spPr>
          <a:xfrm>
            <a:off x="9198864" y="1965960"/>
            <a:ext cx="256032" cy="548640"/>
          </a:xfrm>
          <a:prstGeom prst="rect">
            <a:avLst/>
          </a:prstGeom>
          <a:noFill/>
          <a:ln/>
        </p:spPr>
        <p:txBody>
          <a:bodyPr wrap="square" rtlCol="0" anchor="ctr"/>
          <a:lstStyle/>
          <a:p>
            <a:pPr marL="0" indent="0" algn="ctr">
              <a:buNone/>
            </a:pPr>
            <a:r>
              <a:rPr lang="en-US" sz="1800" dirty="0">
                <a:solidFill>
                  <a:srgbClr val="6E7F87"/>
                </a:solidFill>
                <a:latin typeface="Calibri" pitchFamily="34" charset="0"/>
                <a:ea typeface="Calibri" pitchFamily="34" charset="-122"/>
                <a:cs typeface="Calibri" pitchFamily="34" charset="-120"/>
              </a:rPr>
              <a:t>→</a:t>
            </a:r>
            <a:endParaRPr lang="en-US" sz="1800" dirty="0"/>
          </a:p>
        </p:txBody>
      </p:sp>
      <p:sp>
        <p:nvSpPr>
          <p:cNvPr id="18" name="Shape 16"/>
          <p:cNvSpPr/>
          <p:nvPr/>
        </p:nvSpPr>
        <p:spPr>
          <a:xfrm>
            <a:off x="9454896" y="1645920"/>
            <a:ext cx="1965960" cy="1234440"/>
          </a:xfrm>
          <a:prstGeom prst="roundRect">
            <a:avLst>
              <a:gd name="adj" fmla="val 5926"/>
            </a:avLst>
          </a:prstGeom>
          <a:solidFill>
            <a:srgbClr val="1B2B32"/>
          </a:solidFill>
          <a:ln w="19050">
            <a:solidFill>
              <a:srgbClr val="D4AB4E"/>
            </a:solidFill>
            <a:prstDash val="solid"/>
          </a:ln>
        </p:spPr>
        <p:txBody>
          <a:bodyPr/>
          <a:lstStyle/>
          <a:p>
            <a:endParaRPr lang="en-IL"/>
          </a:p>
        </p:txBody>
      </p:sp>
      <p:sp>
        <p:nvSpPr>
          <p:cNvPr id="19" name="Text 17"/>
          <p:cNvSpPr/>
          <p:nvPr/>
        </p:nvSpPr>
        <p:spPr>
          <a:xfrm>
            <a:off x="9454896" y="1645920"/>
            <a:ext cx="1965960" cy="1234440"/>
          </a:xfrm>
          <a:prstGeom prst="rect">
            <a:avLst/>
          </a:prstGeom>
          <a:noFill/>
          <a:ln/>
        </p:spPr>
        <p:txBody>
          <a:bodyPr wrap="square" rtlCol="0" anchor="ctr"/>
          <a:lstStyle/>
          <a:p>
            <a:pPr marL="0" indent="0" algn="ctr">
              <a:buNone/>
            </a:pPr>
            <a:r>
              <a:rPr lang="en-US" sz="1500" b="1" dirty="0">
                <a:solidFill>
                  <a:srgbClr val="D4AB4E"/>
                </a:solidFill>
                <a:latin typeface="Calibri" pitchFamily="34" charset="0"/>
                <a:ea typeface="Calibri" pitchFamily="34" charset="-122"/>
                <a:cs typeface="Calibri" pitchFamily="34" charset="-120"/>
              </a:rPr>
              <a:t>Defended</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 ready for</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the next one</a:t>
            </a:r>
            <a:endParaRPr lang="en-US" sz="1500" dirty="0"/>
          </a:p>
        </p:txBody>
      </p:sp>
      <p:sp>
        <p:nvSpPr>
          <p:cNvPr id="20" name="Shape 18"/>
          <p:cNvSpPr/>
          <p:nvPr/>
        </p:nvSpPr>
        <p:spPr>
          <a:xfrm>
            <a:off x="566928" y="3200400"/>
            <a:ext cx="3520440" cy="2468880"/>
          </a:xfrm>
          <a:prstGeom prst="roundRect">
            <a:avLst>
              <a:gd name="adj" fmla="val 2593"/>
            </a:avLst>
          </a:prstGeom>
          <a:solidFill>
            <a:srgbClr val="1B2B32"/>
          </a:solidFill>
          <a:ln w="12700">
            <a:solidFill>
              <a:srgbClr val="26363D"/>
            </a:solidFill>
            <a:prstDash val="solid"/>
          </a:ln>
        </p:spPr>
        <p:txBody>
          <a:bodyPr/>
          <a:lstStyle/>
          <a:p>
            <a:endParaRPr lang="en-IL"/>
          </a:p>
        </p:txBody>
      </p:sp>
      <p:sp>
        <p:nvSpPr>
          <p:cNvPr id="21" name="Shape 19"/>
          <p:cNvSpPr/>
          <p:nvPr/>
        </p:nvSpPr>
        <p:spPr>
          <a:xfrm>
            <a:off x="566928" y="3328416"/>
            <a:ext cx="54864" cy="2212848"/>
          </a:xfrm>
          <a:prstGeom prst="rect">
            <a:avLst/>
          </a:prstGeom>
          <a:solidFill>
            <a:srgbClr val="3CB6A6"/>
          </a:solidFill>
          <a:ln/>
        </p:spPr>
        <p:txBody>
          <a:bodyPr/>
          <a:lstStyle/>
          <a:p>
            <a:endParaRPr lang="en-IL"/>
          </a:p>
        </p:txBody>
      </p:sp>
      <p:sp>
        <p:nvSpPr>
          <p:cNvPr id="22" name="Text 20"/>
          <p:cNvSpPr/>
          <p:nvPr/>
        </p:nvSpPr>
        <p:spPr>
          <a:xfrm>
            <a:off x="786384" y="3346704"/>
            <a:ext cx="3154680" cy="274320"/>
          </a:xfrm>
          <a:prstGeom prst="rect">
            <a:avLst/>
          </a:prstGeom>
          <a:noFill/>
          <a:ln/>
        </p:spPr>
        <p:txBody>
          <a:bodyPr wrap="square" rtlCol="0" anchor="ctr"/>
          <a:lstStyle/>
          <a:p>
            <a:pPr marL="0" indent="0">
              <a:buNone/>
            </a:pPr>
            <a:r>
              <a:rPr lang="en-US" sz="1050" b="1" kern="0" spc="100" dirty="0">
                <a:solidFill>
                  <a:srgbClr val="3CB6A6"/>
                </a:solidFill>
                <a:latin typeface="Calibri" pitchFamily="34" charset="0"/>
                <a:ea typeface="Calibri" pitchFamily="34" charset="-122"/>
                <a:cs typeface="Calibri" pitchFamily="34" charset="-120"/>
              </a:rPr>
              <a:t>THE IDEA</a:t>
            </a:r>
            <a:endParaRPr lang="en-US" sz="1050" dirty="0"/>
          </a:p>
        </p:txBody>
      </p:sp>
      <p:sp>
        <p:nvSpPr>
          <p:cNvPr id="23" name="Text 21"/>
          <p:cNvSpPr/>
          <p:nvPr/>
        </p:nvSpPr>
        <p:spPr>
          <a:xfrm>
            <a:off x="786384" y="3657600"/>
            <a:ext cx="3118104" cy="186537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A static model ages. A growing database of attacks — fed by user reports, drift monitoring and honeypots — keeps the detector learning tricks it was never designed for.</a:t>
            </a:r>
            <a:endParaRPr lang="en-US" sz="1250" dirty="0"/>
          </a:p>
        </p:txBody>
      </p:sp>
      <p:sp>
        <p:nvSpPr>
          <p:cNvPr id="24" name="Shape 22"/>
          <p:cNvSpPr/>
          <p:nvPr/>
        </p:nvSpPr>
        <p:spPr>
          <a:xfrm>
            <a:off x="4261104" y="3200400"/>
            <a:ext cx="3520440" cy="2468880"/>
          </a:xfrm>
          <a:prstGeom prst="roundRect">
            <a:avLst>
              <a:gd name="adj" fmla="val 2593"/>
            </a:avLst>
          </a:prstGeom>
          <a:solidFill>
            <a:srgbClr val="1B2B32"/>
          </a:solidFill>
          <a:ln w="12700">
            <a:solidFill>
              <a:srgbClr val="26363D"/>
            </a:solidFill>
            <a:prstDash val="solid"/>
          </a:ln>
        </p:spPr>
        <p:txBody>
          <a:bodyPr/>
          <a:lstStyle/>
          <a:p>
            <a:endParaRPr lang="en-IL"/>
          </a:p>
        </p:txBody>
      </p:sp>
      <p:sp>
        <p:nvSpPr>
          <p:cNvPr id="25" name="Shape 23"/>
          <p:cNvSpPr/>
          <p:nvPr/>
        </p:nvSpPr>
        <p:spPr>
          <a:xfrm>
            <a:off x="4261104" y="3328416"/>
            <a:ext cx="54864" cy="2212848"/>
          </a:xfrm>
          <a:prstGeom prst="rect">
            <a:avLst/>
          </a:prstGeom>
          <a:solidFill>
            <a:srgbClr val="5FA3C0"/>
          </a:solidFill>
          <a:ln/>
        </p:spPr>
        <p:txBody>
          <a:bodyPr/>
          <a:lstStyle/>
          <a:p>
            <a:endParaRPr lang="en-IL"/>
          </a:p>
        </p:txBody>
      </p:sp>
      <p:sp>
        <p:nvSpPr>
          <p:cNvPr id="26" name="Text 24"/>
          <p:cNvSpPr/>
          <p:nvPr/>
        </p:nvSpPr>
        <p:spPr>
          <a:xfrm>
            <a:off x="4480560" y="3346704"/>
            <a:ext cx="3154680" cy="274320"/>
          </a:xfrm>
          <a:prstGeom prst="rect">
            <a:avLst/>
          </a:prstGeom>
          <a:noFill/>
          <a:ln/>
        </p:spPr>
        <p:txBody>
          <a:bodyPr wrap="square" rtlCol="0" anchor="ctr"/>
          <a:lstStyle/>
          <a:p>
            <a:pPr marL="0" indent="0">
              <a:buNone/>
            </a:pPr>
            <a:r>
              <a:rPr lang="en-US" sz="1050" b="1" kern="0" spc="100" dirty="0">
                <a:solidFill>
                  <a:srgbClr val="5FA3C0"/>
                </a:solidFill>
                <a:latin typeface="Calibri" pitchFamily="34" charset="0"/>
                <a:ea typeface="Calibri" pitchFamily="34" charset="-122"/>
                <a:cs typeface="Calibri" pitchFamily="34" charset="-120"/>
              </a:rPr>
              <a:t>GROUNDED, NOT HYPOTHETICAL</a:t>
            </a:r>
            <a:endParaRPr lang="en-US" sz="1050" dirty="0"/>
          </a:p>
        </p:txBody>
      </p:sp>
      <p:sp>
        <p:nvSpPr>
          <p:cNvPr id="27" name="Text 25"/>
          <p:cNvSpPr/>
          <p:nvPr/>
        </p:nvSpPr>
        <p:spPr>
          <a:xfrm>
            <a:off x="4480560" y="3657600"/>
            <a:ext cx="3118104" cy="186537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The evolve step already proves retraining works (0.15 → 0.98), and a full retrain costs ~30 s — so the loop is genuinely practical.</a:t>
            </a:r>
            <a:endParaRPr lang="en-US" sz="1250" dirty="0"/>
          </a:p>
        </p:txBody>
      </p:sp>
      <p:sp>
        <p:nvSpPr>
          <p:cNvPr id="28" name="Shape 26"/>
          <p:cNvSpPr/>
          <p:nvPr/>
        </p:nvSpPr>
        <p:spPr>
          <a:xfrm>
            <a:off x="7607808" y="3200400"/>
            <a:ext cx="4005072" cy="2468880"/>
          </a:xfrm>
          <a:prstGeom prst="roundRect">
            <a:avLst>
              <a:gd name="adj" fmla="val 2593"/>
            </a:avLst>
          </a:prstGeom>
          <a:solidFill>
            <a:srgbClr val="1B2B32"/>
          </a:solidFill>
          <a:ln w="12700">
            <a:solidFill>
              <a:srgbClr val="26363D"/>
            </a:solidFill>
            <a:prstDash val="solid"/>
          </a:ln>
        </p:spPr>
        <p:txBody>
          <a:bodyPr/>
          <a:lstStyle/>
          <a:p>
            <a:endParaRPr lang="en-IL"/>
          </a:p>
        </p:txBody>
      </p:sp>
      <p:sp>
        <p:nvSpPr>
          <p:cNvPr id="29" name="Shape 27"/>
          <p:cNvSpPr/>
          <p:nvPr/>
        </p:nvSpPr>
        <p:spPr>
          <a:xfrm>
            <a:off x="7607808" y="3328416"/>
            <a:ext cx="54864" cy="2212848"/>
          </a:xfrm>
          <a:prstGeom prst="rect">
            <a:avLst/>
          </a:prstGeom>
          <a:solidFill>
            <a:srgbClr val="E97A60"/>
          </a:solidFill>
          <a:ln/>
        </p:spPr>
        <p:txBody>
          <a:bodyPr/>
          <a:lstStyle/>
          <a:p>
            <a:endParaRPr lang="en-IL"/>
          </a:p>
        </p:txBody>
      </p:sp>
      <p:sp>
        <p:nvSpPr>
          <p:cNvPr id="30" name="Text 28"/>
          <p:cNvSpPr/>
          <p:nvPr/>
        </p:nvSpPr>
        <p:spPr>
          <a:xfrm>
            <a:off x="7827264" y="3346704"/>
            <a:ext cx="3639312" cy="274320"/>
          </a:xfrm>
          <a:prstGeom prst="rect">
            <a:avLst/>
          </a:prstGeom>
          <a:noFill/>
          <a:ln/>
        </p:spPr>
        <p:txBody>
          <a:bodyPr wrap="square" rtlCol="0" anchor="ctr"/>
          <a:lstStyle/>
          <a:p>
            <a:pPr marL="0" indent="0">
              <a:buNone/>
            </a:pPr>
            <a:r>
              <a:rPr lang="en-US" sz="1050" b="1" kern="0" spc="100" dirty="0">
                <a:solidFill>
                  <a:srgbClr val="E97A60"/>
                </a:solidFill>
                <a:latin typeface="Calibri" pitchFamily="34" charset="0"/>
                <a:ea typeface="Calibri" pitchFamily="34" charset="-122"/>
                <a:cs typeface="Calibri" pitchFamily="34" charset="-120"/>
              </a:rPr>
              <a:t>THE HARD PART</a:t>
            </a:r>
            <a:endParaRPr lang="en-US" sz="1050" dirty="0"/>
          </a:p>
        </p:txBody>
      </p:sp>
      <p:sp>
        <p:nvSpPr>
          <p:cNvPr id="31" name="Text 29"/>
          <p:cNvSpPr/>
          <p:nvPr/>
        </p:nvSpPr>
        <p:spPr>
          <a:xfrm>
            <a:off x="7827264" y="3657600"/>
            <a:ext cx="3602736" cy="186537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Trusting new data. Unvetted input can be poisoned, so every new entry is validated (the LLM / human judge) before it is learned.</a:t>
            </a:r>
            <a:endParaRPr lang="en-US" sz="1250" dirty="0"/>
          </a:p>
        </p:txBody>
      </p:sp>
      <p:sp>
        <p:nvSpPr>
          <p:cNvPr id="32" name="Text 30"/>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from a frozen model to a standing, self-updating process</a:t>
            </a:r>
            <a:endParaRPr lang="en-US" sz="95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DEPLOYMENT</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Small, fast — and only one layer.</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26</a:t>
            </a:r>
            <a:endParaRPr lang="en-US" sz="1100" dirty="0"/>
          </a:p>
        </p:txBody>
      </p:sp>
      <p:sp>
        <p:nvSpPr>
          <p:cNvPr id="6" name="Shape 4"/>
          <p:cNvSpPr/>
          <p:nvPr/>
        </p:nvSpPr>
        <p:spPr>
          <a:xfrm>
            <a:off x="566928" y="2011680"/>
            <a:ext cx="2560320" cy="1828800"/>
          </a:xfrm>
          <a:prstGeom prst="roundRect">
            <a:avLst>
              <a:gd name="adj" fmla="val 4000"/>
            </a:avLst>
          </a:prstGeom>
          <a:solidFill>
            <a:srgbClr val="1B2B32"/>
          </a:solidFill>
          <a:ln w="12700">
            <a:solidFill>
              <a:srgbClr val="26363D"/>
            </a:solidFill>
            <a:prstDash val="solid"/>
          </a:ln>
        </p:spPr>
        <p:txBody>
          <a:bodyPr/>
          <a:lstStyle/>
          <a:p>
            <a:endParaRPr lang="en-IL"/>
          </a:p>
        </p:txBody>
      </p:sp>
      <p:sp>
        <p:nvSpPr>
          <p:cNvPr id="7" name="Text 5"/>
          <p:cNvSpPr/>
          <p:nvPr/>
        </p:nvSpPr>
        <p:spPr>
          <a:xfrm>
            <a:off x="566928" y="2240280"/>
            <a:ext cx="2560320" cy="822960"/>
          </a:xfrm>
          <a:prstGeom prst="rect">
            <a:avLst/>
          </a:prstGeom>
          <a:noFill/>
          <a:ln/>
        </p:spPr>
        <p:txBody>
          <a:bodyPr wrap="square" rtlCol="0" anchor="ctr"/>
          <a:lstStyle/>
          <a:p>
            <a:pPr marL="0" indent="0" algn="ctr">
              <a:buNone/>
            </a:pPr>
            <a:r>
              <a:rPr lang="en-US" sz="3400" b="1" dirty="0">
                <a:solidFill>
                  <a:srgbClr val="3CB6A6"/>
                </a:solidFill>
                <a:latin typeface="Cambria" pitchFamily="34" charset="0"/>
                <a:ea typeface="Cambria" pitchFamily="34" charset="-122"/>
                <a:cs typeface="Cambria" pitchFamily="34" charset="-120"/>
              </a:rPr>
              <a:t>~3 ms</a:t>
            </a:r>
            <a:endParaRPr lang="en-US" sz="3400" dirty="0"/>
          </a:p>
        </p:txBody>
      </p:sp>
      <p:sp>
        <p:nvSpPr>
          <p:cNvPr id="8" name="Text 6"/>
          <p:cNvSpPr/>
          <p:nvPr/>
        </p:nvSpPr>
        <p:spPr>
          <a:xfrm>
            <a:off x="566928" y="3108960"/>
            <a:ext cx="2560320" cy="640080"/>
          </a:xfrm>
          <a:prstGeom prst="rect">
            <a:avLst/>
          </a:prstGeom>
          <a:noFill/>
          <a:ln/>
        </p:spPr>
        <p:txBody>
          <a:bodyPr wrap="square" rtlCol="0" anchor="ctr"/>
          <a:lstStyle/>
          <a:p>
            <a:pPr marL="0" indent="0" algn="ctr">
              <a:buNone/>
            </a:pPr>
            <a:r>
              <a:rPr lang="en-US" sz="1200" dirty="0">
                <a:solidFill>
                  <a:srgbClr val="95A6AD"/>
                </a:solidFill>
                <a:latin typeface="Calibri" pitchFamily="34" charset="0"/>
                <a:ea typeface="Calibri" pitchFamily="34" charset="-122"/>
                <a:cs typeface="Calibri" pitchFamily="34" charset="-120"/>
              </a:rPr>
              <a:t>per email</a:t>
            </a:r>
            <a:endParaRPr lang="en-US" sz="1200" dirty="0"/>
          </a:p>
          <a:p>
            <a:pPr marL="0" indent="0" algn="ctr">
              <a:buNone/>
            </a:pPr>
            <a:r>
              <a:rPr lang="en-US" sz="1200" dirty="0">
                <a:solidFill>
                  <a:srgbClr val="95A6AD"/>
                </a:solidFill>
                <a:latin typeface="Calibri" pitchFamily="34" charset="0"/>
                <a:ea typeface="Calibri" pitchFamily="34" charset="-122"/>
                <a:cs typeface="Calibri" pitchFamily="34" charset="-120"/>
              </a:rPr>
              <a:t>(median)</a:t>
            </a:r>
            <a:endParaRPr lang="en-US" sz="1200" dirty="0"/>
          </a:p>
        </p:txBody>
      </p:sp>
      <p:sp>
        <p:nvSpPr>
          <p:cNvPr id="9" name="Shape 7"/>
          <p:cNvSpPr/>
          <p:nvPr/>
        </p:nvSpPr>
        <p:spPr>
          <a:xfrm>
            <a:off x="4814316" y="2011680"/>
            <a:ext cx="2560320" cy="1828800"/>
          </a:xfrm>
          <a:prstGeom prst="roundRect">
            <a:avLst>
              <a:gd name="adj" fmla="val 4000"/>
            </a:avLst>
          </a:prstGeom>
          <a:solidFill>
            <a:srgbClr val="1B2B32"/>
          </a:solidFill>
          <a:ln w="12700">
            <a:solidFill>
              <a:srgbClr val="26363D"/>
            </a:solidFill>
            <a:prstDash val="solid"/>
          </a:ln>
        </p:spPr>
        <p:txBody>
          <a:bodyPr/>
          <a:lstStyle/>
          <a:p>
            <a:endParaRPr lang="en-IL"/>
          </a:p>
        </p:txBody>
      </p:sp>
      <p:sp>
        <p:nvSpPr>
          <p:cNvPr id="10" name="Text 8"/>
          <p:cNvSpPr/>
          <p:nvPr/>
        </p:nvSpPr>
        <p:spPr>
          <a:xfrm>
            <a:off x="4814316" y="2240280"/>
            <a:ext cx="2560320" cy="822960"/>
          </a:xfrm>
          <a:prstGeom prst="rect">
            <a:avLst/>
          </a:prstGeom>
          <a:noFill/>
          <a:ln/>
        </p:spPr>
        <p:txBody>
          <a:bodyPr wrap="square" rtlCol="0" anchor="ctr"/>
          <a:lstStyle/>
          <a:p>
            <a:pPr marL="0" indent="0" algn="ctr">
              <a:buNone/>
            </a:pPr>
            <a:r>
              <a:rPr lang="en-US" sz="3400" b="1" dirty="0">
                <a:solidFill>
                  <a:srgbClr val="3CB6A6"/>
                </a:solidFill>
                <a:latin typeface="Cambria" pitchFamily="34" charset="0"/>
                <a:ea typeface="Cambria" pitchFamily="34" charset="-122"/>
                <a:cs typeface="Cambria" pitchFamily="34" charset="-120"/>
              </a:rPr>
              <a:t>2.7 MB</a:t>
            </a:r>
            <a:endParaRPr lang="en-US" sz="3400" dirty="0"/>
          </a:p>
        </p:txBody>
      </p:sp>
      <p:sp>
        <p:nvSpPr>
          <p:cNvPr id="11" name="Text 9"/>
          <p:cNvSpPr/>
          <p:nvPr/>
        </p:nvSpPr>
        <p:spPr>
          <a:xfrm>
            <a:off x="4814316" y="3108960"/>
            <a:ext cx="2560320" cy="640080"/>
          </a:xfrm>
          <a:prstGeom prst="rect">
            <a:avLst/>
          </a:prstGeom>
          <a:noFill/>
          <a:ln/>
        </p:spPr>
        <p:txBody>
          <a:bodyPr wrap="square" rtlCol="0" anchor="ctr"/>
          <a:lstStyle/>
          <a:p>
            <a:pPr marL="0" indent="0" algn="ctr">
              <a:buNone/>
            </a:pPr>
            <a:r>
              <a:rPr lang="en-US" sz="1200" dirty="0">
                <a:solidFill>
                  <a:srgbClr val="95A6AD"/>
                </a:solidFill>
                <a:latin typeface="Calibri" pitchFamily="34" charset="0"/>
                <a:ea typeface="Calibri" pitchFamily="34" charset="-122"/>
                <a:cs typeface="Calibri" pitchFamily="34" charset="-120"/>
              </a:rPr>
              <a:t>on disk</a:t>
            </a:r>
            <a:endParaRPr lang="en-US" sz="1200" dirty="0"/>
          </a:p>
        </p:txBody>
      </p:sp>
      <p:sp>
        <p:nvSpPr>
          <p:cNvPr id="15" name="Shape 13"/>
          <p:cNvSpPr/>
          <p:nvPr/>
        </p:nvSpPr>
        <p:spPr>
          <a:xfrm>
            <a:off x="9061704" y="2011680"/>
            <a:ext cx="2560320" cy="1828800"/>
          </a:xfrm>
          <a:prstGeom prst="roundRect">
            <a:avLst>
              <a:gd name="adj" fmla="val 4000"/>
            </a:avLst>
          </a:prstGeom>
          <a:solidFill>
            <a:srgbClr val="1B2B32"/>
          </a:solidFill>
          <a:ln w="12700">
            <a:solidFill>
              <a:srgbClr val="26363D"/>
            </a:solidFill>
            <a:prstDash val="solid"/>
          </a:ln>
        </p:spPr>
        <p:txBody>
          <a:bodyPr/>
          <a:lstStyle/>
          <a:p>
            <a:endParaRPr lang="en-IL"/>
          </a:p>
        </p:txBody>
      </p:sp>
      <p:sp>
        <p:nvSpPr>
          <p:cNvPr id="16" name="Text 14"/>
          <p:cNvSpPr/>
          <p:nvPr/>
        </p:nvSpPr>
        <p:spPr>
          <a:xfrm>
            <a:off x="9061704" y="2240280"/>
            <a:ext cx="2560320" cy="822960"/>
          </a:xfrm>
          <a:prstGeom prst="rect">
            <a:avLst/>
          </a:prstGeom>
          <a:noFill/>
          <a:ln/>
        </p:spPr>
        <p:txBody>
          <a:bodyPr wrap="square" rtlCol="0" anchor="ctr"/>
          <a:lstStyle/>
          <a:p>
            <a:pPr marL="0" indent="0" algn="ctr">
              <a:buNone/>
            </a:pPr>
            <a:r>
              <a:rPr lang="en-US" sz="3400" b="1" dirty="0">
                <a:solidFill>
                  <a:srgbClr val="3CB6A6"/>
                </a:solidFill>
                <a:latin typeface="Cambria" pitchFamily="34" charset="0"/>
                <a:ea typeface="Cambria" pitchFamily="34" charset="-122"/>
                <a:cs typeface="Cambria" pitchFamily="34" charset="-120"/>
              </a:rPr>
              <a:t>~25 s</a:t>
            </a:r>
            <a:endParaRPr lang="en-US" sz="3400" dirty="0"/>
          </a:p>
        </p:txBody>
      </p:sp>
      <p:sp>
        <p:nvSpPr>
          <p:cNvPr id="17" name="Text 15"/>
          <p:cNvSpPr/>
          <p:nvPr/>
        </p:nvSpPr>
        <p:spPr>
          <a:xfrm>
            <a:off x="9061704" y="3108960"/>
            <a:ext cx="2560320" cy="640080"/>
          </a:xfrm>
          <a:prstGeom prst="rect">
            <a:avLst/>
          </a:prstGeom>
          <a:noFill/>
          <a:ln/>
        </p:spPr>
        <p:txBody>
          <a:bodyPr wrap="square" rtlCol="0" anchor="ctr"/>
          <a:lstStyle/>
          <a:p>
            <a:pPr marL="0" indent="0" algn="ctr">
              <a:buNone/>
            </a:pPr>
            <a:r>
              <a:rPr lang="en-US" sz="1200" dirty="0">
                <a:solidFill>
                  <a:srgbClr val="95A6AD"/>
                </a:solidFill>
                <a:latin typeface="Calibri" pitchFamily="34" charset="0"/>
                <a:ea typeface="Calibri" pitchFamily="34" charset="-122"/>
                <a:cs typeface="Calibri" pitchFamily="34" charset="-120"/>
              </a:rPr>
              <a:t>full retrain</a:t>
            </a:r>
            <a:endParaRPr lang="en-US" sz="1200" dirty="0"/>
          </a:p>
        </p:txBody>
      </p:sp>
      <p:sp>
        <p:nvSpPr>
          <p:cNvPr id="18" name="Text 16"/>
          <p:cNvSpPr/>
          <p:nvPr/>
        </p:nvSpPr>
        <p:spPr>
          <a:xfrm>
            <a:off x="566928" y="4297680"/>
            <a:ext cx="11057839" cy="1280160"/>
          </a:xfrm>
          <a:prstGeom prst="rect">
            <a:avLst/>
          </a:prstGeom>
          <a:noFill/>
          <a:ln/>
        </p:spPr>
        <p:txBody>
          <a:bodyPr wrap="square" rtlCol="0" anchor="t"/>
          <a:lstStyle/>
          <a:p>
            <a:pPr marL="0" indent="0">
              <a:buNone/>
            </a:pPr>
            <a:r>
              <a:rPr lang="en-US" sz="1600" b="1" dirty="0">
                <a:solidFill>
                  <a:srgbClr val="EAF0F1"/>
                </a:solidFill>
              </a:rPr>
              <a:t>Small enough to run on the device</a:t>
            </a:r>
            <a:r>
              <a:rPr lang="en-US" sz="1600" dirty="0">
                <a:solidFill>
                  <a:srgbClr val="95A6AD"/>
                </a:solidFill>
              </a:rPr>
              <a:t> — so message content never has to leave it. And it is deliberately </a:t>
            </a:r>
            <a:r>
              <a:rPr lang="en-US" sz="1600" b="1" dirty="0">
                <a:solidFill>
                  <a:srgbClr val="EAF0F1"/>
                </a:solidFill>
              </a:rPr>
              <a:t>one layer of many</a:t>
            </a:r>
            <a:r>
              <a:rPr lang="en-US" sz="1600" dirty="0">
                <a:solidFill>
                  <a:srgbClr val="95A6AD"/>
                </a:solidFill>
              </a:rPr>
              <a:t>: SPF/DKIM, link reputation, the sender detector, sandboxing and user reports all sit around it.</a:t>
            </a:r>
            <a:endParaRPr lang="en-US" sz="1600" dirty="0"/>
          </a:p>
        </p:txBody>
      </p:sp>
      <p:sp>
        <p:nvSpPr>
          <p:cNvPr id="19" name="Text 17"/>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measured, not guessed · MIME / HTML / attachments not yet handled</a:t>
            </a:r>
            <a:endParaRPr lang="en-US" sz="950" dirty="0"/>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THE CORE</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What this project shows.</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27</a:t>
            </a:r>
            <a:endParaRPr lang="en-US" sz="1100" dirty="0"/>
          </a:p>
        </p:txBody>
      </p:sp>
      <p:sp>
        <p:nvSpPr>
          <p:cNvPr id="6" name="Shape 4"/>
          <p:cNvSpPr/>
          <p:nvPr/>
        </p:nvSpPr>
        <p:spPr>
          <a:xfrm>
            <a:off x="566928" y="2103120"/>
            <a:ext cx="3291840" cy="0"/>
          </a:xfrm>
          <a:prstGeom prst="line">
            <a:avLst/>
          </a:prstGeom>
          <a:noFill/>
          <a:ln w="31750">
            <a:solidFill>
              <a:srgbClr val="3CB6A6"/>
            </a:solidFill>
            <a:prstDash val="solid"/>
          </a:ln>
        </p:spPr>
        <p:txBody>
          <a:bodyPr/>
          <a:lstStyle/>
          <a:p>
            <a:endParaRPr lang="en-IL"/>
          </a:p>
        </p:txBody>
      </p:sp>
      <p:sp>
        <p:nvSpPr>
          <p:cNvPr id="7" name="Text 5"/>
          <p:cNvSpPr/>
          <p:nvPr/>
        </p:nvSpPr>
        <p:spPr>
          <a:xfrm>
            <a:off x="566928" y="2240280"/>
            <a:ext cx="3383280" cy="548640"/>
          </a:xfrm>
          <a:prstGeom prst="rect">
            <a:avLst/>
          </a:prstGeom>
          <a:noFill/>
          <a:ln/>
        </p:spPr>
        <p:txBody>
          <a:bodyPr wrap="square" rtlCol="0" anchor="ctr"/>
          <a:lstStyle/>
          <a:p>
            <a:pPr marL="0" indent="0">
              <a:buNone/>
            </a:pPr>
            <a:r>
              <a:rPr lang="en-US" sz="1800" b="1" dirty="0">
                <a:solidFill>
                  <a:srgbClr val="3CB6A6"/>
                </a:solidFill>
                <a:latin typeface="Cambria" pitchFamily="34" charset="0"/>
                <a:ea typeface="Cambria" pitchFamily="34" charset="-122"/>
                <a:cs typeface="Cambria" pitchFamily="34" charset="-120"/>
              </a:rPr>
              <a:t>Full pipeline</a:t>
            </a:r>
            <a:endParaRPr lang="en-US" sz="1800" dirty="0"/>
          </a:p>
        </p:txBody>
      </p:sp>
      <p:sp>
        <p:nvSpPr>
          <p:cNvPr id="8" name="Text 6"/>
          <p:cNvSpPr/>
          <p:nvPr/>
        </p:nvSpPr>
        <p:spPr>
          <a:xfrm>
            <a:off x="566928" y="2834640"/>
            <a:ext cx="3383280" cy="2194560"/>
          </a:xfrm>
          <a:prstGeom prst="rect">
            <a:avLst/>
          </a:prstGeom>
          <a:noFill/>
          <a:ln/>
        </p:spPr>
        <p:txBody>
          <a:bodyPr wrap="square" rtlCol="0" anchor="t"/>
          <a:lstStyle/>
          <a:p>
            <a:pPr marL="0" indent="0">
              <a:lnSpc>
                <a:spcPct val="120000"/>
              </a:lnSpc>
              <a:buNone/>
            </a:pPr>
            <a:r>
              <a:rPr sz="1200" b="1" i="0">
                <a:solidFill>
                  <a:srgbClr val="EAF0F1"/>
                </a:solidFill>
                <a:latin typeface="Calibri"/>
              </a:rPr>
              <a:t>TF-IDF (words + characters) → Logistic Regression</a:t>
            </a:r>
            <a:endParaRPr lang="en-US" sz="1500" dirty="0"/>
          </a:p>
          <a:p>
            <a:r>
              <a:rPr sz="1200" b="0" i="0">
                <a:solidFill>
                  <a:srgbClr val="95A6AD"/>
                </a:solidFill>
                <a:latin typeface="Calibri"/>
              </a:rPr>
              <a:t>+ UTS-39 look-alike-letter cleaner  (certified)</a:t>
            </a:r>
          </a:p>
          <a:p>
            <a:r>
              <a:rPr sz="1200" b="0" i="0">
                <a:solidFill>
                  <a:srgbClr val="95A6AD"/>
                </a:solidFill>
                <a:latin typeface="Calibri"/>
              </a:rPr>
              <a:t>+ one-way monotone safety-net  (certified)</a:t>
            </a:r>
          </a:p>
          <a:p>
            <a:r>
              <a:rPr sz="1200" b="0" i="0">
                <a:solidFill>
                  <a:srgbClr val="95A6AD"/>
                </a:solidFill>
                <a:latin typeface="Calibri"/>
              </a:rPr>
              <a:t>+ retrain on modern mail to fight drift</a:t>
            </a:r>
          </a:p>
        </p:txBody>
      </p:sp>
      <p:sp>
        <p:nvSpPr>
          <p:cNvPr id="9" name="Shape 7"/>
          <p:cNvSpPr/>
          <p:nvPr/>
        </p:nvSpPr>
        <p:spPr>
          <a:xfrm>
            <a:off x="4434840" y="2103120"/>
            <a:ext cx="3291840" cy="0"/>
          </a:xfrm>
          <a:prstGeom prst="line">
            <a:avLst/>
          </a:prstGeom>
          <a:noFill/>
          <a:ln w="31750">
            <a:solidFill>
              <a:srgbClr val="D4AB4E"/>
            </a:solidFill>
            <a:prstDash val="solid"/>
          </a:ln>
        </p:spPr>
        <p:txBody>
          <a:bodyPr/>
          <a:lstStyle/>
          <a:p>
            <a:endParaRPr lang="en-IL"/>
          </a:p>
        </p:txBody>
      </p:sp>
      <p:sp>
        <p:nvSpPr>
          <p:cNvPr id="10" name="Text 8"/>
          <p:cNvSpPr/>
          <p:nvPr/>
        </p:nvSpPr>
        <p:spPr>
          <a:xfrm>
            <a:off x="4434840" y="2240280"/>
            <a:ext cx="3383280" cy="548640"/>
          </a:xfrm>
          <a:prstGeom prst="rect">
            <a:avLst/>
          </a:prstGeom>
          <a:noFill/>
          <a:ln/>
        </p:spPr>
        <p:txBody>
          <a:bodyPr wrap="square" rtlCol="0" anchor="ctr"/>
          <a:lstStyle/>
          <a:p>
            <a:pPr marL="0" indent="0">
              <a:buNone/>
            </a:pPr>
            <a:r>
              <a:rPr lang="en-US" sz="1800" b="1" dirty="0">
                <a:solidFill>
                  <a:srgbClr val="D4AB4E"/>
                </a:solidFill>
                <a:latin typeface="Cambria" pitchFamily="34" charset="0"/>
                <a:ea typeface="Cambria" pitchFamily="34" charset="-122"/>
                <a:cs typeface="Cambria" pitchFamily="34" charset="-120"/>
              </a:rPr>
              <a:t>Attacks</a:t>
            </a:r>
            <a:endParaRPr lang="en-US" sz="1800" dirty="0"/>
          </a:p>
        </p:txBody>
      </p:sp>
      <p:sp>
        <p:nvSpPr>
          <p:cNvPr id="11" name="Text 9"/>
          <p:cNvSpPr/>
          <p:nvPr/>
        </p:nvSpPr>
        <p:spPr>
          <a:xfrm>
            <a:off x="4434840" y="2834640"/>
            <a:ext cx="3383280" cy="2194560"/>
          </a:xfrm>
          <a:prstGeom prst="rect">
            <a:avLst/>
          </a:prstGeom>
          <a:noFill/>
          <a:ln/>
        </p:spPr>
        <p:txBody>
          <a:bodyPr wrap="square" rtlCol="0" anchor="t"/>
          <a:lstStyle/>
          <a:p>
            <a:pPr marL="0" indent="0">
              <a:lnSpc>
                <a:spcPct val="120000"/>
              </a:lnSpc>
              <a:buNone/>
            </a:pPr>
            <a:r>
              <a:rPr lang="en-US" sz="1500" dirty="0">
                <a:solidFill>
                  <a:srgbClr val="EAF0F1"/>
                </a:solidFill>
                <a:latin typeface="Calibri" pitchFamily="34" charset="0"/>
                <a:ea typeface="Calibri" pitchFamily="34" charset="-122"/>
                <a:cs typeface="Calibri" pitchFamily="34" charset="-120"/>
              </a:rPr>
              <a:t>Character level</a:t>
            </a:r>
          </a:p>
          <a:p>
            <a:pPr marL="0" indent="0">
              <a:lnSpc>
                <a:spcPct val="120000"/>
              </a:lnSpc>
              <a:buNone/>
            </a:pPr>
            <a:r>
              <a:rPr lang="en-US" sz="1500" dirty="0">
                <a:solidFill>
                  <a:srgbClr val="EAF0F1"/>
                </a:solidFill>
                <a:latin typeface="Calibri" pitchFamily="34" charset="0"/>
                <a:ea typeface="Calibri" pitchFamily="34" charset="-122"/>
                <a:cs typeface="Calibri" pitchFamily="34" charset="-120"/>
              </a:rPr>
              <a:t>Word level, padding </a:t>
            </a:r>
          </a:p>
          <a:p>
            <a:pPr marL="0" indent="0">
              <a:lnSpc>
                <a:spcPct val="120000"/>
              </a:lnSpc>
              <a:buNone/>
            </a:pPr>
            <a:r>
              <a:rPr lang="en-US" sz="1500" dirty="0">
                <a:solidFill>
                  <a:srgbClr val="EAF0F1"/>
                </a:solidFill>
                <a:latin typeface="Calibri" pitchFamily="34" charset="0"/>
                <a:ea typeface="Calibri" pitchFamily="34" charset="-122"/>
                <a:cs typeface="Calibri" pitchFamily="34" charset="-120"/>
              </a:rPr>
              <a:t>Timeline</a:t>
            </a:r>
            <a:endParaRPr lang="en-US" sz="1500" dirty="0"/>
          </a:p>
        </p:txBody>
      </p:sp>
      <p:sp>
        <p:nvSpPr>
          <p:cNvPr id="12" name="Shape 10"/>
          <p:cNvSpPr/>
          <p:nvPr/>
        </p:nvSpPr>
        <p:spPr>
          <a:xfrm>
            <a:off x="8321040" y="2103120"/>
            <a:ext cx="3291840" cy="0"/>
          </a:xfrm>
          <a:prstGeom prst="line">
            <a:avLst/>
          </a:prstGeom>
          <a:noFill/>
          <a:ln w="31750">
            <a:solidFill>
              <a:srgbClr val="E97A60"/>
            </a:solidFill>
            <a:prstDash val="solid"/>
          </a:ln>
        </p:spPr>
        <p:txBody>
          <a:bodyPr/>
          <a:lstStyle/>
          <a:p>
            <a:endParaRPr lang="en-IL"/>
          </a:p>
        </p:txBody>
      </p:sp>
      <p:sp>
        <p:nvSpPr>
          <p:cNvPr id="13" name="Text 11"/>
          <p:cNvSpPr/>
          <p:nvPr/>
        </p:nvSpPr>
        <p:spPr>
          <a:xfrm>
            <a:off x="8321040" y="2240280"/>
            <a:ext cx="3383280" cy="548640"/>
          </a:xfrm>
          <a:prstGeom prst="rect">
            <a:avLst/>
          </a:prstGeom>
          <a:noFill/>
          <a:ln/>
        </p:spPr>
        <p:txBody>
          <a:bodyPr wrap="square" rtlCol="0" anchor="ctr"/>
          <a:lstStyle/>
          <a:p>
            <a:pPr marL="0" indent="0">
              <a:buNone/>
            </a:pPr>
            <a:r>
              <a:rPr lang="en-US" sz="1800" b="1" dirty="0">
                <a:solidFill>
                  <a:srgbClr val="E97A60"/>
                </a:solidFill>
                <a:latin typeface="Cambria" pitchFamily="34" charset="0"/>
                <a:ea typeface="Cambria" pitchFamily="34" charset="-122"/>
                <a:cs typeface="Cambria" pitchFamily="34" charset="-120"/>
              </a:rPr>
              <a:t>It knows its limits</a:t>
            </a:r>
            <a:endParaRPr lang="en-US" sz="1800" dirty="0"/>
          </a:p>
        </p:txBody>
      </p:sp>
      <p:sp>
        <p:nvSpPr>
          <p:cNvPr id="14" name="Text 12"/>
          <p:cNvSpPr/>
          <p:nvPr/>
        </p:nvSpPr>
        <p:spPr>
          <a:xfrm>
            <a:off x="8321040" y="2834640"/>
            <a:ext cx="3383280" cy="2194560"/>
          </a:xfrm>
          <a:prstGeom prst="rect">
            <a:avLst/>
          </a:prstGeom>
          <a:noFill/>
          <a:ln/>
        </p:spPr>
        <p:txBody>
          <a:bodyPr wrap="square" rtlCol="0" anchor="t"/>
          <a:lstStyle/>
          <a:p>
            <a:pPr marL="0" indent="0">
              <a:lnSpc>
                <a:spcPct val="120000"/>
              </a:lnSpc>
              <a:buNone/>
            </a:pPr>
            <a:r>
              <a:rPr lang="en-US" sz="1500" dirty="0">
                <a:solidFill>
                  <a:srgbClr val="EAF0F1"/>
                </a:solidFill>
                <a:latin typeface="Calibri" pitchFamily="34" charset="0"/>
                <a:ea typeface="Calibri" pitchFamily="34" charset="-122"/>
                <a:cs typeface="Calibri" pitchFamily="34" charset="-120"/>
              </a:rPr>
              <a:t>Reading words alone can't catch everything — which is exactly why it is fused with a detector that reads links and sender.</a:t>
            </a:r>
            <a:endParaRPr lang="en-US" sz="1500" dirty="0"/>
          </a:p>
        </p:txBody>
      </p:sp>
      <p:sp>
        <p:nvSpPr>
          <p:cNvPr id="15" name="Text 13"/>
          <p:cNvSpPr/>
          <p:nvPr/>
        </p:nvSpPr>
        <p:spPr>
          <a:xfrm>
            <a:off x="566928" y="5394960"/>
            <a:ext cx="11057839" cy="640080"/>
          </a:xfrm>
          <a:prstGeom prst="rect">
            <a:avLst/>
          </a:prstGeom>
          <a:noFill/>
          <a:ln/>
        </p:spPr>
        <p:txBody>
          <a:bodyPr wrap="square" rtlCol="0" anchor="ctr"/>
          <a:lstStyle/>
          <a:p>
            <a:pPr marL="0" indent="0" algn="ctr">
              <a:buNone/>
            </a:pPr>
            <a:r>
              <a:rPr lang="en-US" sz="1800" dirty="0">
                <a:solidFill>
                  <a:srgbClr val="95A6AD"/>
                </a:solidFill>
                <a:latin typeface="Calibri" pitchFamily="34" charset="0"/>
                <a:ea typeface="Calibri" pitchFamily="34" charset="-122"/>
                <a:cs typeface="Calibri" pitchFamily="34" charset="-120"/>
              </a:rPr>
              <a:t>The core idea in one line:  </a:t>
            </a:r>
            <a:r>
              <a:rPr lang="en-US" sz="1800" b="1" dirty="0">
                <a:solidFill>
                  <a:srgbClr val="EAF0F1"/>
                </a:solidFill>
                <a:latin typeface="Calibri" pitchFamily="34" charset="0"/>
                <a:ea typeface="Calibri" pitchFamily="34" charset="-122"/>
                <a:cs typeface="Calibri" pitchFamily="34" charset="-120"/>
              </a:rPr>
              <a:t>a near-perfect score is not the same as a safe detector.</a:t>
            </a:r>
            <a:endParaRPr lang="en-US" sz="1800" dirty="0"/>
          </a:p>
        </p:txBody>
      </p:sp>
      <p:sp>
        <p:nvSpPr>
          <p:cNvPr id="16" name="Text 14"/>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a perfect-looking score, stress-tested until it earns trust</a:t>
            </a:r>
            <a:endParaRPr lang="en-US" sz="9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GROUNDED</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2600" b="1" dirty="0">
                <a:solidFill>
                  <a:srgbClr val="EAF0F1"/>
                </a:solidFill>
                <a:latin typeface="Cambria" pitchFamily="34" charset="0"/>
                <a:ea typeface="Cambria" pitchFamily="34" charset="-122"/>
                <a:cs typeface="Cambria" pitchFamily="34" charset="-120"/>
              </a:rPr>
              <a:t>The project in the course pipeline.</a:t>
            </a:r>
            <a:endParaRPr lang="en-US" sz="26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28</a:t>
            </a:r>
            <a:endParaRPr lang="en-US" sz="1100" dirty="0"/>
          </a:p>
        </p:txBody>
      </p:sp>
      <p:sp>
        <p:nvSpPr>
          <p:cNvPr id="6" name="Shape 4"/>
          <p:cNvSpPr/>
          <p:nvPr/>
        </p:nvSpPr>
        <p:spPr>
          <a:xfrm>
            <a:off x="566928" y="2148840"/>
            <a:ext cx="1627632" cy="1371600"/>
          </a:xfrm>
          <a:prstGeom prst="roundRect">
            <a:avLst>
              <a:gd name="adj" fmla="val 5333"/>
            </a:avLst>
          </a:prstGeom>
          <a:solidFill>
            <a:srgbClr val="1B2B32"/>
          </a:solidFill>
          <a:ln w="19050">
            <a:solidFill>
              <a:srgbClr val="3CB6A6"/>
            </a:solidFill>
            <a:prstDash val="solid"/>
          </a:ln>
        </p:spPr>
        <p:txBody>
          <a:bodyPr/>
          <a:lstStyle/>
          <a:p>
            <a:endParaRPr lang="en-IL"/>
          </a:p>
        </p:txBody>
      </p:sp>
      <p:sp>
        <p:nvSpPr>
          <p:cNvPr id="7" name="Text 5"/>
          <p:cNvSpPr/>
          <p:nvPr/>
        </p:nvSpPr>
        <p:spPr>
          <a:xfrm>
            <a:off x="566928" y="2148840"/>
            <a:ext cx="1627632" cy="137160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Data &amp; EDA</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stats · shape</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correlation</a:t>
            </a:r>
            <a:endParaRPr lang="en-US" sz="1500" dirty="0"/>
          </a:p>
        </p:txBody>
      </p:sp>
      <p:sp>
        <p:nvSpPr>
          <p:cNvPr id="8" name="Text 6"/>
          <p:cNvSpPr/>
          <p:nvPr/>
        </p:nvSpPr>
        <p:spPr>
          <a:xfrm>
            <a:off x="2167128" y="2514600"/>
            <a:ext cx="310896" cy="548640"/>
          </a:xfrm>
          <a:prstGeom prst="rect">
            <a:avLst/>
          </a:prstGeom>
          <a:noFill/>
          <a:ln/>
        </p:spPr>
        <p:txBody>
          <a:bodyPr wrap="square" rtlCol="0" anchor="ctr"/>
          <a:lstStyle/>
          <a:p>
            <a:pPr marL="0" indent="0" algn="ctr">
              <a:buNone/>
            </a:pPr>
            <a:r>
              <a:rPr lang="en-US" sz="1600" dirty="0">
                <a:solidFill>
                  <a:srgbClr val="6E7F87"/>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2450592" y="2148840"/>
            <a:ext cx="1627632" cy="1371600"/>
          </a:xfrm>
          <a:prstGeom prst="roundRect">
            <a:avLst>
              <a:gd name="adj" fmla="val 5333"/>
            </a:avLst>
          </a:prstGeom>
          <a:solidFill>
            <a:srgbClr val="1B2B32"/>
          </a:solidFill>
          <a:ln w="19050">
            <a:solidFill>
              <a:srgbClr val="3CB6A6"/>
            </a:solidFill>
            <a:prstDash val="solid"/>
          </a:ln>
        </p:spPr>
        <p:txBody>
          <a:bodyPr/>
          <a:lstStyle/>
          <a:p>
            <a:endParaRPr lang="en-IL"/>
          </a:p>
        </p:txBody>
      </p:sp>
      <p:sp>
        <p:nvSpPr>
          <p:cNvPr id="10" name="Text 8"/>
          <p:cNvSpPr/>
          <p:nvPr/>
        </p:nvSpPr>
        <p:spPr>
          <a:xfrm>
            <a:off x="2450592" y="2148840"/>
            <a:ext cx="1627632" cy="137160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Clustering</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phishing</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campaigns</a:t>
            </a:r>
            <a:endParaRPr lang="en-US" sz="1500" dirty="0"/>
          </a:p>
        </p:txBody>
      </p:sp>
      <p:sp>
        <p:nvSpPr>
          <p:cNvPr id="11" name="Text 9"/>
          <p:cNvSpPr/>
          <p:nvPr/>
        </p:nvSpPr>
        <p:spPr>
          <a:xfrm>
            <a:off x="4050792" y="2514600"/>
            <a:ext cx="310896" cy="548640"/>
          </a:xfrm>
          <a:prstGeom prst="rect">
            <a:avLst/>
          </a:prstGeom>
          <a:noFill/>
          <a:ln/>
        </p:spPr>
        <p:txBody>
          <a:bodyPr wrap="square" rtlCol="0" anchor="ctr"/>
          <a:lstStyle/>
          <a:p>
            <a:pPr marL="0" indent="0" algn="ctr">
              <a:buNone/>
            </a:pPr>
            <a:r>
              <a:rPr lang="en-US" sz="1600" dirty="0">
                <a:solidFill>
                  <a:srgbClr val="6E7F87"/>
                </a:solidFill>
                <a:latin typeface="Calibri" pitchFamily="34" charset="0"/>
                <a:ea typeface="Calibri" pitchFamily="34" charset="-122"/>
                <a:cs typeface="Calibri" pitchFamily="34" charset="-120"/>
              </a:rPr>
              <a:t>→</a:t>
            </a:r>
            <a:endParaRPr lang="en-US" sz="1600" dirty="0"/>
          </a:p>
        </p:txBody>
      </p:sp>
      <p:sp>
        <p:nvSpPr>
          <p:cNvPr id="12" name="Shape 10"/>
          <p:cNvSpPr/>
          <p:nvPr/>
        </p:nvSpPr>
        <p:spPr>
          <a:xfrm>
            <a:off x="4334256" y="2148840"/>
            <a:ext cx="1627632" cy="1371600"/>
          </a:xfrm>
          <a:prstGeom prst="roundRect">
            <a:avLst>
              <a:gd name="adj" fmla="val 5333"/>
            </a:avLst>
          </a:prstGeom>
          <a:solidFill>
            <a:srgbClr val="1B2B32"/>
          </a:solidFill>
          <a:ln w="19050">
            <a:solidFill>
              <a:srgbClr val="3CB6A6"/>
            </a:solidFill>
            <a:prstDash val="solid"/>
          </a:ln>
        </p:spPr>
        <p:txBody>
          <a:bodyPr/>
          <a:lstStyle/>
          <a:p>
            <a:endParaRPr lang="en-IL"/>
          </a:p>
        </p:txBody>
      </p:sp>
      <p:sp>
        <p:nvSpPr>
          <p:cNvPr id="13" name="Text 11"/>
          <p:cNvSpPr/>
          <p:nvPr/>
        </p:nvSpPr>
        <p:spPr>
          <a:xfrm>
            <a:off x="4334256" y="2148840"/>
            <a:ext cx="1627632" cy="137160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Temporal</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drift over</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15 years</a:t>
            </a:r>
            <a:endParaRPr lang="en-US" sz="1500" dirty="0"/>
          </a:p>
        </p:txBody>
      </p:sp>
      <p:sp>
        <p:nvSpPr>
          <p:cNvPr id="14" name="Text 12"/>
          <p:cNvSpPr/>
          <p:nvPr/>
        </p:nvSpPr>
        <p:spPr>
          <a:xfrm>
            <a:off x="5934456" y="2514600"/>
            <a:ext cx="310896" cy="548640"/>
          </a:xfrm>
          <a:prstGeom prst="rect">
            <a:avLst/>
          </a:prstGeom>
          <a:noFill/>
          <a:ln/>
        </p:spPr>
        <p:txBody>
          <a:bodyPr wrap="square" rtlCol="0" anchor="ctr"/>
          <a:lstStyle/>
          <a:p>
            <a:pPr marL="0" indent="0" algn="ctr">
              <a:buNone/>
            </a:pPr>
            <a:r>
              <a:rPr lang="en-US" sz="1600" dirty="0">
                <a:solidFill>
                  <a:srgbClr val="6E7F87"/>
                </a:solidFill>
                <a:latin typeface="Calibri" pitchFamily="34" charset="0"/>
                <a:ea typeface="Calibri" pitchFamily="34" charset="-122"/>
                <a:cs typeface="Calibri" pitchFamily="34" charset="-120"/>
              </a:rPr>
              <a:t>→</a:t>
            </a:r>
            <a:endParaRPr lang="en-US" sz="1600" dirty="0"/>
          </a:p>
        </p:txBody>
      </p:sp>
      <p:sp>
        <p:nvSpPr>
          <p:cNvPr id="15" name="Shape 13"/>
          <p:cNvSpPr/>
          <p:nvPr/>
        </p:nvSpPr>
        <p:spPr>
          <a:xfrm>
            <a:off x="6217920" y="2148840"/>
            <a:ext cx="1627632" cy="1371600"/>
          </a:xfrm>
          <a:prstGeom prst="roundRect">
            <a:avLst>
              <a:gd name="adj" fmla="val 5333"/>
            </a:avLst>
          </a:prstGeom>
          <a:solidFill>
            <a:srgbClr val="1B2B32"/>
          </a:solidFill>
          <a:ln w="19050">
            <a:solidFill>
              <a:srgbClr val="D4AB4E"/>
            </a:solidFill>
            <a:prstDash val="solid"/>
          </a:ln>
        </p:spPr>
        <p:txBody>
          <a:bodyPr/>
          <a:lstStyle/>
          <a:p>
            <a:endParaRPr lang="en-IL"/>
          </a:p>
        </p:txBody>
      </p:sp>
      <p:sp>
        <p:nvSpPr>
          <p:cNvPr id="16" name="Text 14"/>
          <p:cNvSpPr/>
          <p:nvPr/>
        </p:nvSpPr>
        <p:spPr>
          <a:xfrm>
            <a:off x="6217920" y="2148840"/>
            <a:ext cx="1627632" cy="1371600"/>
          </a:xfrm>
          <a:prstGeom prst="rect">
            <a:avLst/>
          </a:prstGeom>
          <a:noFill/>
          <a:ln/>
        </p:spPr>
        <p:txBody>
          <a:bodyPr wrap="square" rtlCol="0" anchor="ctr"/>
          <a:lstStyle/>
          <a:p>
            <a:pPr marL="0" indent="0" algn="ctr">
              <a:buNone/>
            </a:pPr>
            <a:r>
              <a:rPr lang="en-US" sz="1500" b="1" dirty="0">
                <a:solidFill>
                  <a:srgbClr val="D4AB4E"/>
                </a:solidFill>
                <a:latin typeface="Calibri" pitchFamily="34" charset="0"/>
                <a:ea typeface="Calibri" pitchFamily="34" charset="-122"/>
                <a:cs typeface="Calibri" pitchFamily="34" charset="-120"/>
              </a:rPr>
              <a:t>NLP</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TF-IDF ·</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the detector</a:t>
            </a:r>
            <a:endParaRPr lang="en-US" sz="1500" dirty="0"/>
          </a:p>
        </p:txBody>
      </p:sp>
      <p:sp>
        <p:nvSpPr>
          <p:cNvPr id="17" name="Text 15"/>
          <p:cNvSpPr/>
          <p:nvPr/>
        </p:nvSpPr>
        <p:spPr>
          <a:xfrm>
            <a:off x="7818120" y="2514600"/>
            <a:ext cx="310896" cy="548640"/>
          </a:xfrm>
          <a:prstGeom prst="rect">
            <a:avLst/>
          </a:prstGeom>
          <a:noFill/>
          <a:ln/>
        </p:spPr>
        <p:txBody>
          <a:bodyPr wrap="square" rtlCol="0" anchor="ctr"/>
          <a:lstStyle/>
          <a:p>
            <a:pPr marL="0" indent="0" algn="ctr">
              <a:buNone/>
            </a:pPr>
            <a:r>
              <a:rPr lang="en-US" sz="1600" dirty="0">
                <a:solidFill>
                  <a:srgbClr val="6E7F87"/>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8101584" y="2148840"/>
            <a:ext cx="1627632" cy="1371600"/>
          </a:xfrm>
          <a:prstGeom prst="roundRect">
            <a:avLst>
              <a:gd name="adj" fmla="val 5333"/>
            </a:avLst>
          </a:prstGeom>
          <a:solidFill>
            <a:srgbClr val="1B2B32"/>
          </a:solidFill>
          <a:ln w="19050">
            <a:solidFill>
              <a:srgbClr val="D4AB4E"/>
            </a:solidFill>
            <a:prstDash val="solid"/>
          </a:ln>
        </p:spPr>
        <p:txBody>
          <a:bodyPr/>
          <a:lstStyle/>
          <a:p>
            <a:endParaRPr lang="en-IL"/>
          </a:p>
        </p:txBody>
      </p:sp>
      <p:sp>
        <p:nvSpPr>
          <p:cNvPr id="19" name="Text 17"/>
          <p:cNvSpPr/>
          <p:nvPr/>
        </p:nvSpPr>
        <p:spPr>
          <a:xfrm>
            <a:off x="8101584" y="2148840"/>
            <a:ext cx="1627632" cy="1371600"/>
          </a:xfrm>
          <a:prstGeom prst="rect">
            <a:avLst/>
          </a:prstGeom>
          <a:noFill/>
          <a:ln/>
        </p:spPr>
        <p:txBody>
          <a:bodyPr wrap="square" rtlCol="0" anchor="ctr"/>
          <a:lstStyle/>
          <a:p>
            <a:pPr marL="0" indent="0" algn="ctr">
              <a:buNone/>
            </a:pPr>
            <a:r>
              <a:rPr lang="en-US" sz="1500" b="1" dirty="0">
                <a:solidFill>
                  <a:srgbClr val="D4AB4E"/>
                </a:solidFill>
                <a:latin typeface="Calibri" pitchFamily="34" charset="0"/>
                <a:ea typeface="Calibri" pitchFamily="34" charset="-122"/>
                <a:cs typeface="Calibri" pitchFamily="34" charset="-120"/>
              </a:rPr>
              <a:t>Models</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fit + explain</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 metrics</a:t>
            </a:r>
            <a:endParaRPr lang="en-US" sz="1500" dirty="0"/>
          </a:p>
        </p:txBody>
      </p:sp>
      <p:sp>
        <p:nvSpPr>
          <p:cNvPr id="20" name="Text 18"/>
          <p:cNvSpPr/>
          <p:nvPr/>
        </p:nvSpPr>
        <p:spPr>
          <a:xfrm>
            <a:off x="9701784" y="2514600"/>
            <a:ext cx="310896" cy="548640"/>
          </a:xfrm>
          <a:prstGeom prst="rect">
            <a:avLst/>
          </a:prstGeom>
          <a:noFill/>
          <a:ln/>
        </p:spPr>
        <p:txBody>
          <a:bodyPr wrap="square" rtlCol="0" anchor="ctr"/>
          <a:lstStyle/>
          <a:p>
            <a:pPr marL="0" indent="0" algn="ctr">
              <a:buNone/>
            </a:pPr>
            <a:r>
              <a:rPr lang="en-US" sz="1600" dirty="0">
                <a:solidFill>
                  <a:srgbClr val="6E7F87"/>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9985248" y="2148840"/>
            <a:ext cx="1627632" cy="1371600"/>
          </a:xfrm>
          <a:prstGeom prst="roundRect">
            <a:avLst>
              <a:gd name="adj" fmla="val 5333"/>
            </a:avLst>
          </a:prstGeom>
          <a:solidFill>
            <a:srgbClr val="1B2B32"/>
          </a:solidFill>
          <a:ln w="19050">
            <a:solidFill>
              <a:srgbClr val="3CB6A6"/>
            </a:solidFill>
            <a:prstDash val="solid"/>
          </a:ln>
        </p:spPr>
        <p:txBody>
          <a:bodyPr/>
          <a:lstStyle/>
          <a:p>
            <a:endParaRPr lang="en-IL"/>
          </a:p>
        </p:txBody>
      </p:sp>
      <p:sp>
        <p:nvSpPr>
          <p:cNvPr id="22" name="Text 20"/>
          <p:cNvSpPr/>
          <p:nvPr/>
        </p:nvSpPr>
        <p:spPr>
          <a:xfrm>
            <a:off x="9985248" y="2148840"/>
            <a:ext cx="1627632" cy="1371600"/>
          </a:xfrm>
          <a:prstGeom prst="rect">
            <a:avLst/>
          </a:prstGeom>
          <a:noFill/>
          <a:ln/>
        </p:spPr>
        <p:txBody>
          <a:bodyPr wrap="square" rtlCol="0" anchor="ctr"/>
          <a:lstStyle/>
          <a:p>
            <a:pPr marL="0" indent="0" algn="ctr">
              <a:buNone/>
            </a:pPr>
            <a:r>
              <a:rPr lang="en-US" sz="1500" b="1" dirty="0">
                <a:solidFill>
                  <a:srgbClr val="3CB6A6"/>
                </a:solidFill>
                <a:latin typeface="Calibri" pitchFamily="34" charset="0"/>
                <a:ea typeface="Calibri" pitchFamily="34" charset="-122"/>
                <a:cs typeface="Calibri" pitchFamily="34" charset="-120"/>
              </a:rPr>
              <a:t>Improve</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evolve ·</a:t>
            </a:r>
            <a:endParaRPr lang="en-US" sz="1500" dirty="0"/>
          </a:p>
          <a:p>
            <a:pPr marL="0" indent="0" algn="ctr">
              <a:buNone/>
            </a:pPr>
            <a:r>
              <a:rPr lang="en-US" sz="1200" dirty="0">
                <a:solidFill>
                  <a:srgbClr val="95A6AD"/>
                </a:solidFill>
                <a:latin typeface="Calibri" pitchFamily="34" charset="0"/>
                <a:ea typeface="Calibri" pitchFamily="34" charset="-122"/>
                <a:cs typeface="Calibri" pitchFamily="34" charset="-120"/>
              </a:rPr>
              <a:t>feedback</a:t>
            </a:r>
            <a:endParaRPr lang="en-US" sz="1500" dirty="0"/>
          </a:p>
        </p:txBody>
      </p:sp>
      <p:sp>
        <p:nvSpPr>
          <p:cNvPr id="23" name="Text 21"/>
          <p:cNvSpPr/>
          <p:nvPr/>
        </p:nvSpPr>
        <p:spPr>
          <a:xfrm>
            <a:off x="566928" y="4023360"/>
            <a:ext cx="11057839" cy="1645920"/>
          </a:xfrm>
          <a:prstGeom prst="rect">
            <a:avLst/>
          </a:prstGeom>
          <a:noFill/>
          <a:ln/>
        </p:spPr>
        <p:txBody>
          <a:bodyPr wrap="square" rtlCol="0" anchor="t"/>
          <a:lstStyle/>
          <a:p>
            <a:pPr marL="0" indent="0">
              <a:lnSpc>
                <a:spcPct val="115000"/>
              </a:lnSpc>
              <a:buNone/>
            </a:pPr>
            <a:r>
              <a:rPr lang="en-US" sz="1600" dirty="0">
                <a:solidFill>
                  <a:srgbClr val="95A6AD"/>
                </a:solidFill>
                <a:latin typeface="Calibri" pitchFamily="34" charset="0"/>
                <a:ea typeface="Calibri" pitchFamily="34" charset="-122"/>
                <a:cs typeface="Calibri" pitchFamily="34" charset="-120"/>
              </a:rPr>
              <a:t>The course gave a general project pipeline — data statistics, abnormality detection, clustering, segment/temporal analysis, NLP, models, reporting, improvement. </a:t>
            </a:r>
            <a:r>
              <a:rPr lang="en-US" sz="1600" b="1" dirty="0">
                <a:solidFill>
                  <a:srgbClr val="EAF0F1"/>
                </a:solidFill>
                <a:latin typeface="Calibri" pitchFamily="34" charset="0"/>
                <a:ea typeface="Calibri" pitchFamily="34" charset="-122"/>
                <a:cs typeface="Calibri" pitchFamily="34" charset="-120"/>
              </a:rPr>
              <a:t>My project is a deep dive into the NLP + models + improvement stages (gold), touching every earlier box along the way.</a:t>
            </a:r>
            <a:endParaRPr lang="en-US" sz="1600" dirty="0"/>
          </a:p>
        </p:txBody>
      </p:sp>
      <p:sp>
        <p:nvSpPr>
          <p:cNvPr id="24" name="Text 22"/>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one lecture’s pipeline, instantiated end-to-end on phishing text</a:t>
            </a:r>
            <a:endParaRPr lang="en-US" sz="9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GROUNDED</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2600" b="1" dirty="0">
                <a:solidFill>
                  <a:srgbClr val="EAF0F1"/>
                </a:solidFill>
                <a:latin typeface="Cambria" pitchFamily="34" charset="0"/>
                <a:ea typeface="Cambria" pitchFamily="34" charset="-122"/>
                <a:cs typeface="Cambria" pitchFamily="34" charset="-120"/>
              </a:rPr>
              <a:t>Methods drawn from the course.</a:t>
            </a:r>
            <a:endParaRPr lang="en-US" sz="26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29</a:t>
            </a:r>
            <a:endParaRPr lang="en-US" sz="1100" dirty="0"/>
          </a:p>
        </p:txBody>
      </p:sp>
      <p:sp>
        <p:nvSpPr>
          <p:cNvPr id="6" name="Shape 4"/>
          <p:cNvSpPr/>
          <p:nvPr/>
        </p:nvSpPr>
        <p:spPr>
          <a:xfrm>
            <a:off x="566928" y="1691640"/>
            <a:ext cx="5486400" cy="2148840"/>
          </a:xfrm>
          <a:prstGeom prst="roundRect">
            <a:avLst>
              <a:gd name="adj" fmla="val 2979"/>
            </a:avLst>
          </a:prstGeom>
          <a:solidFill>
            <a:srgbClr val="182E38"/>
          </a:solidFill>
          <a:ln/>
        </p:spPr>
        <p:txBody>
          <a:bodyPr/>
          <a:lstStyle/>
          <a:p>
            <a:endParaRPr lang="en-IL"/>
          </a:p>
        </p:txBody>
      </p:sp>
      <p:sp>
        <p:nvSpPr>
          <p:cNvPr id="7" name="Shape 5"/>
          <p:cNvSpPr/>
          <p:nvPr/>
        </p:nvSpPr>
        <p:spPr>
          <a:xfrm>
            <a:off x="566928" y="1819656"/>
            <a:ext cx="54864" cy="1892808"/>
          </a:xfrm>
          <a:prstGeom prst="rect">
            <a:avLst/>
          </a:prstGeom>
          <a:solidFill>
            <a:srgbClr val="5FA3C0"/>
          </a:solidFill>
          <a:ln/>
        </p:spPr>
        <p:txBody>
          <a:bodyPr/>
          <a:lstStyle/>
          <a:p>
            <a:endParaRPr lang="en-IL"/>
          </a:p>
        </p:txBody>
      </p:sp>
      <p:sp>
        <p:nvSpPr>
          <p:cNvPr id="8" name="Text 6"/>
          <p:cNvSpPr/>
          <p:nvPr/>
        </p:nvSpPr>
        <p:spPr>
          <a:xfrm>
            <a:off x="786384" y="1837944"/>
            <a:ext cx="5120640" cy="274320"/>
          </a:xfrm>
          <a:prstGeom prst="rect">
            <a:avLst/>
          </a:prstGeom>
          <a:noFill/>
          <a:ln/>
        </p:spPr>
        <p:txBody>
          <a:bodyPr wrap="square" rtlCol="0" anchor="ctr"/>
          <a:lstStyle/>
          <a:p>
            <a:pPr marL="0" indent="0">
              <a:buNone/>
            </a:pPr>
            <a:r>
              <a:rPr lang="en-US" sz="1050" b="1" kern="0" spc="100" dirty="0">
                <a:solidFill>
                  <a:srgbClr val="5FA3C0"/>
                </a:solidFill>
                <a:latin typeface="Calibri" pitchFamily="34" charset="0"/>
                <a:ea typeface="Calibri" pitchFamily="34" charset="-122"/>
                <a:cs typeface="Calibri" pitchFamily="34" charset="-120"/>
              </a:rPr>
              <a:t>METRICS &amp; THE ACCURACY PARADOX</a:t>
            </a:r>
            <a:endParaRPr lang="en-US" sz="1050" dirty="0"/>
          </a:p>
        </p:txBody>
      </p:sp>
      <p:sp>
        <p:nvSpPr>
          <p:cNvPr id="9" name="Text 7"/>
          <p:cNvSpPr/>
          <p:nvPr/>
        </p:nvSpPr>
        <p:spPr>
          <a:xfrm>
            <a:off x="786384" y="2148840"/>
            <a:ext cx="5084064" cy="154533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The metrics lecture’s warning — a high-accuracy model can catch zero phishing — is why I report F2, MCC, AUC not accuracy, and why the majority baseline (accuracy high, F1 = 0) is in the deck.</a:t>
            </a:r>
            <a:endParaRPr lang="en-US" sz="1250" dirty="0"/>
          </a:p>
        </p:txBody>
      </p:sp>
      <p:sp>
        <p:nvSpPr>
          <p:cNvPr id="10" name="Shape 8"/>
          <p:cNvSpPr/>
          <p:nvPr/>
        </p:nvSpPr>
        <p:spPr>
          <a:xfrm>
            <a:off x="6126480" y="1691640"/>
            <a:ext cx="5486400" cy="2148840"/>
          </a:xfrm>
          <a:prstGeom prst="roundRect">
            <a:avLst>
              <a:gd name="adj" fmla="val 2979"/>
            </a:avLst>
          </a:prstGeom>
          <a:solidFill>
            <a:srgbClr val="16302C"/>
          </a:solidFill>
          <a:ln/>
        </p:spPr>
        <p:txBody>
          <a:bodyPr/>
          <a:lstStyle/>
          <a:p>
            <a:endParaRPr lang="en-IL"/>
          </a:p>
        </p:txBody>
      </p:sp>
      <p:sp>
        <p:nvSpPr>
          <p:cNvPr id="11" name="Shape 9"/>
          <p:cNvSpPr/>
          <p:nvPr/>
        </p:nvSpPr>
        <p:spPr>
          <a:xfrm>
            <a:off x="6126480" y="1819656"/>
            <a:ext cx="54864" cy="1892808"/>
          </a:xfrm>
          <a:prstGeom prst="rect">
            <a:avLst/>
          </a:prstGeom>
          <a:solidFill>
            <a:srgbClr val="3CB6A6"/>
          </a:solidFill>
          <a:ln/>
        </p:spPr>
        <p:txBody>
          <a:bodyPr/>
          <a:lstStyle/>
          <a:p>
            <a:endParaRPr lang="en-IL"/>
          </a:p>
        </p:txBody>
      </p:sp>
      <p:sp>
        <p:nvSpPr>
          <p:cNvPr id="12" name="Text 10"/>
          <p:cNvSpPr/>
          <p:nvPr/>
        </p:nvSpPr>
        <p:spPr>
          <a:xfrm>
            <a:off x="6345936" y="1837944"/>
            <a:ext cx="5120640" cy="274320"/>
          </a:xfrm>
          <a:prstGeom prst="rect">
            <a:avLst/>
          </a:prstGeom>
          <a:noFill/>
          <a:ln/>
        </p:spPr>
        <p:txBody>
          <a:bodyPr wrap="square" rtlCol="0" anchor="ctr"/>
          <a:lstStyle/>
          <a:p>
            <a:pPr marL="0" indent="0">
              <a:buNone/>
            </a:pPr>
            <a:r>
              <a:rPr lang="en-US" sz="1050" b="1" kern="0" spc="100" dirty="0">
                <a:solidFill>
                  <a:srgbClr val="3CB6A6"/>
                </a:solidFill>
                <a:latin typeface="Calibri" pitchFamily="34" charset="0"/>
                <a:ea typeface="Calibri" pitchFamily="34" charset="-122"/>
                <a:cs typeface="Calibri" pitchFamily="34" charset="-120"/>
              </a:rPr>
              <a:t>SPLIT · LEAKAGE · TEMPORAL</a:t>
            </a:r>
            <a:endParaRPr lang="en-US" sz="1050" dirty="0"/>
          </a:p>
        </p:txBody>
      </p:sp>
      <p:sp>
        <p:nvSpPr>
          <p:cNvPr id="13" name="Text 11"/>
          <p:cNvSpPr/>
          <p:nvPr/>
        </p:nvSpPr>
        <p:spPr>
          <a:xfrm>
            <a:off x="6345936" y="2148840"/>
            <a:ext cx="5084064" cy="154533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Stratified 60/20/20 (seed 42), dedupe-before-split, vectoriser fit on train only, and the “no email from the future” rule — the exact leakage discipline taught in class.</a:t>
            </a:r>
            <a:endParaRPr lang="en-US" sz="1250" dirty="0"/>
          </a:p>
        </p:txBody>
      </p:sp>
      <p:sp>
        <p:nvSpPr>
          <p:cNvPr id="14" name="Shape 12"/>
          <p:cNvSpPr/>
          <p:nvPr/>
        </p:nvSpPr>
        <p:spPr>
          <a:xfrm>
            <a:off x="566928" y="3977640"/>
            <a:ext cx="5486400" cy="2148840"/>
          </a:xfrm>
          <a:prstGeom prst="roundRect">
            <a:avLst>
              <a:gd name="adj" fmla="val 2979"/>
            </a:avLst>
          </a:prstGeom>
          <a:solidFill>
            <a:srgbClr val="302A19"/>
          </a:solidFill>
          <a:ln/>
        </p:spPr>
        <p:txBody>
          <a:bodyPr/>
          <a:lstStyle/>
          <a:p>
            <a:endParaRPr lang="en-IL"/>
          </a:p>
        </p:txBody>
      </p:sp>
      <p:sp>
        <p:nvSpPr>
          <p:cNvPr id="15" name="Shape 13"/>
          <p:cNvSpPr/>
          <p:nvPr/>
        </p:nvSpPr>
        <p:spPr>
          <a:xfrm>
            <a:off x="566928" y="4105656"/>
            <a:ext cx="54864" cy="1892808"/>
          </a:xfrm>
          <a:prstGeom prst="rect">
            <a:avLst/>
          </a:prstGeom>
          <a:solidFill>
            <a:srgbClr val="D4AB4E"/>
          </a:solidFill>
          <a:ln/>
        </p:spPr>
        <p:txBody>
          <a:bodyPr/>
          <a:lstStyle/>
          <a:p>
            <a:endParaRPr lang="en-IL"/>
          </a:p>
        </p:txBody>
      </p:sp>
      <p:sp>
        <p:nvSpPr>
          <p:cNvPr id="16" name="Text 14"/>
          <p:cNvSpPr/>
          <p:nvPr/>
        </p:nvSpPr>
        <p:spPr>
          <a:xfrm>
            <a:off x="786384" y="4123944"/>
            <a:ext cx="5120640" cy="274320"/>
          </a:xfrm>
          <a:prstGeom prst="rect">
            <a:avLst/>
          </a:prstGeom>
          <a:noFill/>
          <a:ln/>
        </p:spPr>
        <p:txBody>
          <a:bodyPr wrap="square" rtlCol="0" anchor="ctr"/>
          <a:lstStyle/>
          <a:p>
            <a:pPr marL="0" indent="0">
              <a:buNone/>
            </a:pPr>
            <a:r>
              <a:rPr lang="en-US" sz="1050" b="1" kern="0" spc="100" dirty="0">
                <a:solidFill>
                  <a:srgbClr val="D4AB4E"/>
                </a:solidFill>
                <a:latin typeface="Calibri" pitchFamily="34" charset="0"/>
                <a:ea typeface="Calibri" pitchFamily="34" charset="-122"/>
                <a:cs typeface="Calibri" pitchFamily="34" charset="-120"/>
              </a:rPr>
              <a:t>EDA STATISTICS</a:t>
            </a:r>
            <a:endParaRPr lang="en-US" sz="1050" dirty="0"/>
          </a:p>
        </p:txBody>
      </p:sp>
      <p:sp>
        <p:nvSpPr>
          <p:cNvPr id="17" name="Text 15"/>
          <p:cNvSpPr/>
          <p:nvPr/>
        </p:nvSpPr>
        <p:spPr>
          <a:xfrm>
            <a:off x="786384" y="4434840"/>
            <a:ext cx="5084064" cy="154533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Spearman / Kendall, skewness &amp; kurtosis, median / MAD / IQR, a Mann–Whitney test and a VIF redundancy check — the EDA and statistics lectures, applied to real features.</a:t>
            </a:r>
            <a:endParaRPr lang="en-US" sz="1250" dirty="0"/>
          </a:p>
        </p:txBody>
      </p:sp>
      <p:sp>
        <p:nvSpPr>
          <p:cNvPr id="18" name="Shape 16"/>
          <p:cNvSpPr/>
          <p:nvPr/>
        </p:nvSpPr>
        <p:spPr>
          <a:xfrm>
            <a:off x="6126480" y="3977640"/>
            <a:ext cx="5486400" cy="2148840"/>
          </a:xfrm>
          <a:prstGeom prst="roundRect">
            <a:avLst>
              <a:gd name="adj" fmla="val 2979"/>
            </a:avLst>
          </a:prstGeom>
          <a:solidFill>
            <a:srgbClr val="232B30"/>
          </a:solidFill>
          <a:ln/>
        </p:spPr>
        <p:txBody>
          <a:bodyPr/>
          <a:lstStyle/>
          <a:p>
            <a:endParaRPr lang="en-IL"/>
          </a:p>
        </p:txBody>
      </p:sp>
      <p:sp>
        <p:nvSpPr>
          <p:cNvPr id="19" name="Shape 17"/>
          <p:cNvSpPr/>
          <p:nvPr/>
        </p:nvSpPr>
        <p:spPr>
          <a:xfrm>
            <a:off x="6126480" y="4105656"/>
            <a:ext cx="54864" cy="1892808"/>
          </a:xfrm>
          <a:prstGeom prst="rect">
            <a:avLst/>
          </a:prstGeom>
          <a:solidFill>
            <a:srgbClr val="7D919B"/>
          </a:solidFill>
          <a:ln/>
        </p:spPr>
        <p:txBody>
          <a:bodyPr/>
          <a:lstStyle/>
          <a:p>
            <a:endParaRPr lang="en-IL"/>
          </a:p>
        </p:txBody>
      </p:sp>
      <p:sp>
        <p:nvSpPr>
          <p:cNvPr id="20" name="Text 18"/>
          <p:cNvSpPr/>
          <p:nvPr/>
        </p:nvSpPr>
        <p:spPr>
          <a:xfrm>
            <a:off x="6345936" y="4123944"/>
            <a:ext cx="5120640" cy="274320"/>
          </a:xfrm>
          <a:prstGeom prst="rect">
            <a:avLst/>
          </a:prstGeom>
          <a:noFill/>
          <a:ln/>
        </p:spPr>
        <p:txBody>
          <a:bodyPr wrap="square" rtlCol="0" anchor="ctr"/>
          <a:lstStyle/>
          <a:p>
            <a:pPr marL="0" indent="0">
              <a:buNone/>
            </a:pPr>
            <a:r>
              <a:rPr lang="en-US" sz="1050" b="1" kern="0" spc="100" dirty="0">
                <a:solidFill>
                  <a:srgbClr val="7D919B"/>
                </a:solidFill>
                <a:latin typeface="Calibri" pitchFamily="34" charset="0"/>
                <a:ea typeface="Calibri" pitchFamily="34" charset="-122"/>
                <a:cs typeface="Calibri" pitchFamily="34" charset="-120"/>
              </a:rPr>
              <a:t>EXPLAINABILITY LEVELS</a:t>
            </a:r>
            <a:endParaRPr lang="en-US" sz="1050" dirty="0"/>
          </a:p>
        </p:txBody>
      </p:sp>
      <p:sp>
        <p:nvSpPr>
          <p:cNvPr id="21" name="Text 19"/>
          <p:cNvSpPr/>
          <p:nvPr/>
        </p:nvSpPr>
        <p:spPr>
          <a:xfrm>
            <a:off x="6345936" y="4434840"/>
            <a:ext cx="5084064" cy="154533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The lecture’s three levels — model / feature / instance — are all delivered: global weights, coef × tfidf, and exact per-email contributions. The trust-vs-performance trade-off is my RQ4.</a:t>
            </a:r>
            <a:endParaRPr lang="en-US" sz="1250" dirty="0"/>
          </a:p>
        </p:txBody>
      </p:sp>
      <p:sp>
        <p:nvSpPr>
          <p:cNvPr id="22" name="Text 20"/>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accuracy paradox · stratified split · rank statistics · explainability levels</a:t>
            </a:r>
            <a:endParaRPr lang="en-US" sz="95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GROUNDED</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2600" b="1" dirty="0">
                <a:solidFill>
                  <a:srgbClr val="EAF0F1"/>
                </a:solidFill>
                <a:latin typeface="Cambria" pitchFamily="34" charset="0"/>
                <a:ea typeface="Cambria" pitchFamily="34" charset="-122"/>
                <a:cs typeface="Cambria" pitchFamily="34" charset="-120"/>
              </a:rPr>
              <a:t>Attacks &amp; defences from the taxonomy.</a:t>
            </a:r>
            <a:endParaRPr lang="en-US" sz="26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30</a:t>
            </a:r>
            <a:endParaRPr lang="en-US" sz="1100" dirty="0"/>
          </a:p>
        </p:txBody>
      </p:sp>
      <p:sp>
        <p:nvSpPr>
          <p:cNvPr id="6" name="Shape 4"/>
          <p:cNvSpPr/>
          <p:nvPr/>
        </p:nvSpPr>
        <p:spPr>
          <a:xfrm>
            <a:off x="566928" y="1645920"/>
            <a:ext cx="5486400" cy="1828800"/>
          </a:xfrm>
          <a:prstGeom prst="roundRect">
            <a:avLst>
              <a:gd name="adj" fmla="val 3500"/>
            </a:avLst>
          </a:prstGeom>
          <a:solidFill>
            <a:srgbClr val="34231D"/>
          </a:solidFill>
          <a:ln/>
        </p:spPr>
        <p:txBody>
          <a:bodyPr/>
          <a:lstStyle/>
          <a:p>
            <a:endParaRPr lang="en-IL"/>
          </a:p>
        </p:txBody>
      </p:sp>
      <p:sp>
        <p:nvSpPr>
          <p:cNvPr id="7" name="Shape 5"/>
          <p:cNvSpPr/>
          <p:nvPr/>
        </p:nvSpPr>
        <p:spPr>
          <a:xfrm>
            <a:off x="566928" y="1773936"/>
            <a:ext cx="54864" cy="1572768"/>
          </a:xfrm>
          <a:prstGeom prst="rect">
            <a:avLst/>
          </a:prstGeom>
          <a:solidFill>
            <a:srgbClr val="E97A60"/>
          </a:solidFill>
          <a:ln/>
        </p:spPr>
        <p:txBody>
          <a:bodyPr/>
          <a:lstStyle/>
          <a:p>
            <a:endParaRPr lang="en-IL"/>
          </a:p>
        </p:txBody>
      </p:sp>
      <p:sp>
        <p:nvSpPr>
          <p:cNvPr id="8" name="Text 6"/>
          <p:cNvSpPr/>
          <p:nvPr/>
        </p:nvSpPr>
        <p:spPr>
          <a:xfrm>
            <a:off x="786384" y="1792224"/>
            <a:ext cx="5120640" cy="274320"/>
          </a:xfrm>
          <a:prstGeom prst="rect">
            <a:avLst/>
          </a:prstGeom>
          <a:noFill/>
          <a:ln/>
        </p:spPr>
        <p:txBody>
          <a:bodyPr wrap="square" rtlCol="0" anchor="ctr"/>
          <a:lstStyle/>
          <a:p>
            <a:pPr marL="0" indent="0">
              <a:buNone/>
            </a:pPr>
            <a:r>
              <a:rPr lang="en-US" sz="1050" b="1" kern="0" spc="100" dirty="0">
                <a:solidFill>
                  <a:srgbClr val="E97A60"/>
                </a:solidFill>
                <a:latin typeface="Calibri" pitchFamily="34" charset="0"/>
                <a:ea typeface="Calibri" pitchFamily="34" charset="-122"/>
                <a:cs typeface="Calibri" pitchFamily="34" charset="-120"/>
              </a:rPr>
              <a:t>THE ATTACK TAXONOMY</a:t>
            </a:r>
            <a:endParaRPr lang="en-US" sz="1050" dirty="0"/>
          </a:p>
        </p:txBody>
      </p:sp>
      <p:sp>
        <p:nvSpPr>
          <p:cNvPr id="9" name="Text 7"/>
          <p:cNvSpPr/>
          <p:nvPr/>
        </p:nvSpPr>
        <p:spPr>
          <a:xfrm>
            <a:off x="786384" y="2103120"/>
            <a:ext cx="5084064" cy="122529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Evasion vs poisoning, white/black-box, targeted vs transfer: my homoglyphs are evasion, the importance-guided attack is targeted grey-box, false reports are poisoning, and DistilBERT is the transfer test.</a:t>
            </a:r>
            <a:endParaRPr lang="en-US" sz="1250" dirty="0"/>
          </a:p>
        </p:txBody>
      </p:sp>
      <p:sp>
        <p:nvSpPr>
          <p:cNvPr id="10" name="Shape 8"/>
          <p:cNvSpPr/>
          <p:nvPr/>
        </p:nvSpPr>
        <p:spPr>
          <a:xfrm>
            <a:off x="6126480" y="1645920"/>
            <a:ext cx="5486400" cy="1828800"/>
          </a:xfrm>
          <a:prstGeom prst="roundRect">
            <a:avLst>
              <a:gd name="adj" fmla="val 3500"/>
            </a:avLst>
          </a:prstGeom>
          <a:solidFill>
            <a:srgbClr val="34231D"/>
          </a:solidFill>
          <a:ln/>
        </p:spPr>
        <p:txBody>
          <a:bodyPr/>
          <a:lstStyle/>
          <a:p>
            <a:endParaRPr lang="en-IL"/>
          </a:p>
        </p:txBody>
      </p:sp>
      <p:sp>
        <p:nvSpPr>
          <p:cNvPr id="11" name="Shape 9"/>
          <p:cNvSpPr/>
          <p:nvPr/>
        </p:nvSpPr>
        <p:spPr>
          <a:xfrm>
            <a:off x="6126480" y="1773936"/>
            <a:ext cx="54864" cy="1572768"/>
          </a:xfrm>
          <a:prstGeom prst="rect">
            <a:avLst/>
          </a:prstGeom>
          <a:solidFill>
            <a:srgbClr val="E97A60"/>
          </a:solidFill>
          <a:ln/>
        </p:spPr>
        <p:txBody>
          <a:bodyPr/>
          <a:lstStyle/>
          <a:p>
            <a:endParaRPr lang="en-IL"/>
          </a:p>
        </p:txBody>
      </p:sp>
      <p:sp>
        <p:nvSpPr>
          <p:cNvPr id="12" name="Text 10"/>
          <p:cNvSpPr/>
          <p:nvPr/>
        </p:nvSpPr>
        <p:spPr>
          <a:xfrm>
            <a:off x="6345936" y="1792224"/>
            <a:ext cx="5120640" cy="274320"/>
          </a:xfrm>
          <a:prstGeom prst="rect">
            <a:avLst/>
          </a:prstGeom>
          <a:noFill/>
          <a:ln/>
        </p:spPr>
        <p:txBody>
          <a:bodyPr wrap="square" rtlCol="0" anchor="ctr"/>
          <a:lstStyle/>
          <a:p>
            <a:pPr marL="0" indent="0">
              <a:buNone/>
            </a:pPr>
            <a:r>
              <a:rPr lang="en-US" sz="1050" b="1" kern="0" spc="100" dirty="0">
                <a:solidFill>
                  <a:srgbClr val="E97A60"/>
                </a:solidFill>
                <a:latin typeface="Calibri" pitchFamily="34" charset="0"/>
                <a:ea typeface="Calibri" pitchFamily="34" charset="-122"/>
                <a:cs typeface="Calibri" pitchFamily="34" charset="-120"/>
              </a:rPr>
              <a:t>CHARACTER &amp; TOKENIZATION ATTACKS</a:t>
            </a:r>
            <a:endParaRPr lang="en-US" sz="1050" dirty="0"/>
          </a:p>
        </p:txBody>
      </p:sp>
      <p:sp>
        <p:nvSpPr>
          <p:cNvPr id="13" name="Text 11"/>
          <p:cNvSpPr/>
          <p:nvPr/>
        </p:nvSpPr>
        <p:spPr>
          <a:xfrm>
            <a:off x="6345936" y="2103120"/>
            <a:ext cx="5084064" cy="122529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The NLP-security lecture’s own examples — “Get r1ch qu1ck”, homoglyphs (paypal in Cyrillic), and BPE/WordPiece breaking on perturbed tokens — are exactly my attacks and my DistilBERT sub-word point.</a:t>
            </a:r>
            <a:endParaRPr lang="en-US" sz="1250" dirty="0"/>
          </a:p>
        </p:txBody>
      </p:sp>
      <p:sp>
        <p:nvSpPr>
          <p:cNvPr id="14" name="Shape 12"/>
          <p:cNvSpPr/>
          <p:nvPr/>
        </p:nvSpPr>
        <p:spPr>
          <a:xfrm>
            <a:off x="566928" y="3611880"/>
            <a:ext cx="5486400" cy="1828800"/>
          </a:xfrm>
          <a:prstGeom prst="roundRect">
            <a:avLst>
              <a:gd name="adj" fmla="val 3500"/>
            </a:avLst>
          </a:prstGeom>
          <a:solidFill>
            <a:srgbClr val="16302C"/>
          </a:solidFill>
          <a:ln/>
        </p:spPr>
        <p:txBody>
          <a:bodyPr/>
          <a:lstStyle/>
          <a:p>
            <a:endParaRPr lang="en-IL"/>
          </a:p>
        </p:txBody>
      </p:sp>
      <p:sp>
        <p:nvSpPr>
          <p:cNvPr id="15" name="Shape 13"/>
          <p:cNvSpPr/>
          <p:nvPr/>
        </p:nvSpPr>
        <p:spPr>
          <a:xfrm>
            <a:off x="566928" y="3739896"/>
            <a:ext cx="54864" cy="1572768"/>
          </a:xfrm>
          <a:prstGeom prst="rect">
            <a:avLst/>
          </a:prstGeom>
          <a:solidFill>
            <a:srgbClr val="3CB6A6"/>
          </a:solidFill>
          <a:ln/>
        </p:spPr>
        <p:txBody>
          <a:bodyPr/>
          <a:lstStyle/>
          <a:p>
            <a:endParaRPr lang="en-IL"/>
          </a:p>
        </p:txBody>
      </p:sp>
      <p:sp>
        <p:nvSpPr>
          <p:cNvPr id="16" name="Text 14"/>
          <p:cNvSpPr/>
          <p:nvPr/>
        </p:nvSpPr>
        <p:spPr>
          <a:xfrm>
            <a:off x="786384" y="3758184"/>
            <a:ext cx="5120640" cy="274320"/>
          </a:xfrm>
          <a:prstGeom prst="rect">
            <a:avLst/>
          </a:prstGeom>
          <a:noFill/>
          <a:ln/>
        </p:spPr>
        <p:txBody>
          <a:bodyPr wrap="square" rtlCol="0" anchor="ctr"/>
          <a:lstStyle/>
          <a:p>
            <a:pPr marL="0" indent="0">
              <a:buNone/>
            </a:pPr>
            <a:r>
              <a:rPr lang="en-US" sz="1050" b="1" kern="0" spc="100" dirty="0">
                <a:solidFill>
                  <a:srgbClr val="3CB6A6"/>
                </a:solidFill>
                <a:latin typeface="Calibri" pitchFamily="34" charset="0"/>
                <a:ea typeface="Calibri" pitchFamily="34" charset="-122"/>
                <a:cs typeface="Calibri" pitchFamily="34" charset="-120"/>
              </a:rPr>
              <a:t>NORMALISATION AS THE COUNTERMEASURE</a:t>
            </a:r>
            <a:endParaRPr lang="en-US" sz="1050" dirty="0"/>
          </a:p>
        </p:txBody>
      </p:sp>
      <p:sp>
        <p:nvSpPr>
          <p:cNvPr id="17" name="Text 15"/>
          <p:cNvSpPr/>
          <p:nvPr/>
        </p:nvSpPr>
        <p:spPr>
          <a:xfrm>
            <a:off x="786384" y="4069080"/>
            <a:ext cx="5084064" cy="122529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The lectures name canonicalising homoglyphs and adversarial training as the defences. That is my UTS-39 skeleton + certificate, plus adversarial training — measured against each attack tier.</a:t>
            </a:r>
            <a:endParaRPr lang="en-US" sz="1250" dirty="0"/>
          </a:p>
        </p:txBody>
      </p:sp>
      <p:sp>
        <p:nvSpPr>
          <p:cNvPr id="18" name="Shape 16"/>
          <p:cNvSpPr/>
          <p:nvPr/>
        </p:nvSpPr>
        <p:spPr>
          <a:xfrm>
            <a:off x="6126480" y="3611880"/>
            <a:ext cx="5486400" cy="1828800"/>
          </a:xfrm>
          <a:prstGeom prst="roundRect">
            <a:avLst>
              <a:gd name="adj" fmla="val 3500"/>
            </a:avLst>
          </a:prstGeom>
          <a:solidFill>
            <a:srgbClr val="182E38"/>
          </a:solidFill>
          <a:ln/>
        </p:spPr>
        <p:txBody>
          <a:bodyPr/>
          <a:lstStyle/>
          <a:p>
            <a:endParaRPr lang="en-IL"/>
          </a:p>
        </p:txBody>
      </p:sp>
      <p:sp>
        <p:nvSpPr>
          <p:cNvPr id="19" name="Shape 17"/>
          <p:cNvSpPr/>
          <p:nvPr/>
        </p:nvSpPr>
        <p:spPr>
          <a:xfrm>
            <a:off x="6126480" y="3739896"/>
            <a:ext cx="54864" cy="1572768"/>
          </a:xfrm>
          <a:prstGeom prst="rect">
            <a:avLst/>
          </a:prstGeom>
          <a:solidFill>
            <a:srgbClr val="5FA3C0"/>
          </a:solidFill>
          <a:ln/>
        </p:spPr>
        <p:txBody>
          <a:bodyPr/>
          <a:lstStyle/>
          <a:p>
            <a:endParaRPr lang="en-IL"/>
          </a:p>
        </p:txBody>
      </p:sp>
      <p:sp>
        <p:nvSpPr>
          <p:cNvPr id="20" name="Text 18"/>
          <p:cNvSpPr/>
          <p:nvPr/>
        </p:nvSpPr>
        <p:spPr>
          <a:xfrm>
            <a:off x="6345936" y="3758184"/>
            <a:ext cx="5120640" cy="274320"/>
          </a:xfrm>
          <a:prstGeom prst="rect">
            <a:avLst/>
          </a:prstGeom>
          <a:noFill/>
          <a:ln/>
        </p:spPr>
        <p:txBody>
          <a:bodyPr wrap="square" rtlCol="0" anchor="ctr"/>
          <a:lstStyle/>
          <a:p>
            <a:pPr marL="0" indent="0">
              <a:buNone/>
            </a:pPr>
            <a:r>
              <a:rPr lang="en-US" sz="1050" b="1" kern="0" spc="100" dirty="0">
                <a:solidFill>
                  <a:srgbClr val="5FA3C0"/>
                </a:solidFill>
                <a:latin typeface="Calibri" pitchFamily="34" charset="0"/>
                <a:ea typeface="Calibri" pitchFamily="34" charset="-122"/>
                <a:cs typeface="Calibri" pitchFamily="34" charset="-120"/>
              </a:rPr>
              <a:t>ANOMALY DETECTION (FUTURE WORK)</a:t>
            </a:r>
            <a:endParaRPr lang="en-US" sz="1050" dirty="0"/>
          </a:p>
        </p:txBody>
      </p:sp>
      <p:sp>
        <p:nvSpPr>
          <p:cNvPr id="21" name="Text 19"/>
          <p:cNvSpPr/>
          <p:nvPr/>
        </p:nvSpPr>
        <p:spPr>
          <a:xfrm>
            <a:off x="6345936" y="4069080"/>
            <a:ext cx="5084064" cy="1225296"/>
          </a:xfrm>
          <a:prstGeom prst="rect">
            <a:avLst/>
          </a:prstGeom>
          <a:noFill/>
          <a:ln/>
        </p:spPr>
        <p:txBody>
          <a:bodyPr wrap="square" rtlCol="0" anchor="t"/>
          <a:lstStyle/>
          <a:p>
            <a:pPr marL="0" indent="0">
              <a:lnSpc>
                <a:spcPct val="112000"/>
              </a:lnSpc>
              <a:buNone/>
            </a:pPr>
            <a:r>
              <a:rPr lang="en-US" sz="1250" dirty="0">
                <a:solidFill>
                  <a:srgbClr val="EAF0F1"/>
                </a:solidFill>
                <a:latin typeface="Calibri" pitchFamily="34" charset="0"/>
                <a:ea typeface="Calibri" pitchFamily="34" charset="-122"/>
                <a:cs typeface="Calibri" pitchFamily="34" charset="-120"/>
              </a:rPr>
              <a:t>Isolation Forest, One-Class SVM and Mahalanobis distance from the abnormality lecture are my named next step — an adversarial-input detector for obfuscated mail.</a:t>
            </a:r>
            <a:endParaRPr lang="en-US" sz="1250" dirty="0"/>
          </a:p>
        </p:txBody>
      </p:sp>
      <p:sp>
        <p:nvSpPr>
          <p:cNvPr id="22" name="Text 20"/>
          <p:cNvSpPr/>
          <p:nvPr/>
        </p:nvSpPr>
        <p:spPr>
          <a:xfrm>
            <a:off x="566928" y="5623560"/>
            <a:ext cx="11057839" cy="548640"/>
          </a:xfrm>
          <a:prstGeom prst="rect">
            <a:avLst/>
          </a:prstGeom>
          <a:noFill/>
          <a:ln/>
        </p:spPr>
        <p:txBody>
          <a:bodyPr wrap="square" rtlCol="0" anchor="t"/>
          <a:lstStyle/>
          <a:p>
            <a:pPr marL="0" indent="0">
              <a:buNone/>
            </a:pPr>
            <a:r>
              <a:rPr lang="en-US" sz="1250" i="1" dirty="0">
                <a:solidFill>
                  <a:srgbClr val="95A6AD"/>
                </a:solidFill>
                <a:latin typeface="Calibri" pitchFamily="34" charset="0"/>
                <a:ea typeface="Calibri" pitchFamily="34" charset="-122"/>
                <a:cs typeface="Calibri" pitchFamily="34" charset="-120"/>
              </a:rPr>
              <a:t>The framing for drift comes from the same course: my 2008 model is </a:t>
            </a:r>
            <a:r>
              <a:rPr lang="en-US" sz="1250" b="1" i="1" dirty="0">
                <a:solidFill>
                  <a:srgbClr val="D4AB4E"/>
                </a:solidFill>
                <a:latin typeface="Calibri" pitchFamily="34" charset="0"/>
                <a:ea typeface="Calibri" pitchFamily="34" charset="-122"/>
                <a:cs typeface="Calibri" pitchFamily="34" charset="-120"/>
              </a:rPr>
              <a:t>Taleb’s turkey</a:t>
            </a:r>
            <a:r>
              <a:rPr lang="en-US" sz="1250" i="1" dirty="0">
                <a:solidFill>
                  <a:srgbClr val="95A6AD"/>
                </a:solidFill>
                <a:latin typeface="Calibri" pitchFamily="34" charset="0"/>
                <a:ea typeface="Calibri" pitchFamily="34" charset="-122"/>
                <a:cs typeface="Calibri" pitchFamily="34" charset="-120"/>
              </a:rPr>
              <a:t> — confident right up to Thanksgiving. Relying on the past to predict the future is the inductive trap the abnormality lecture warned about.</a:t>
            </a:r>
            <a:endParaRPr lang="en-US" sz="1250" dirty="0"/>
          </a:p>
        </p:txBody>
      </p:sp>
      <p:sp>
        <p:nvSpPr>
          <p:cNvPr id="23" name="Text 21"/>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evasion · poisoning · transfer · normalisation · Taleb’s turkey — the syllabus, executed</a:t>
            </a:r>
            <a:endParaRPr lang="en-US" sz="95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310896"/>
            <a:ext cx="8229600" cy="274320"/>
          </a:xfrm>
          <a:prstGeom prst="rect">
            <a:avLst/>
          </a:prstGeom>
          <a:noFill/>
          <a:ln/>
        </p:spPr>
        <p:txBody>
          <a:bodyPr wrap="square" rtlCol="0" anchor="ctr"/>
          <a:lstStyle/>
          <a:p>
            <a:pPr marL="0" indent="0">
              <a:buNone/>
            </a:pPr>
            <a:r>
              <a:rPr lang="en-US" sz="1100" b="1" kern="0" spc="200" dirty="0">
                <a:solidFill>
                  <a:srgbClr val="3CB6A6"/>
                </a:solidFill>
                <a:latin typeface="Calibri" pitchFamily="34" charset="0"/>
                <a:ea typeface="Calibri" pitchFamily="34" charset="-122"/>
                <a:cs typeface="Calibri" pitchFamily="34" charset="-120"/>
              </a:rPr>
              <a:t>FUTURE WORK</a:t>
            </a:r>
            <a:endParaRPr lang="en-US" sz="1100" dirty="0"/>
          </a:p>
        </p:txBody>
      </p:sp>
      <p:sp>
        <p:nvSpPr>
          <p:cNvPr id="3" name="Text 1"/>
          <p:cNvSpPr/>
          <p:nvPr/>
        </p:nvSpPr>
        <p:spPr>
          <a:xfrm>
            <a:off x="566928" y="548640"/>
            <a:ext cx="11057839" cy="868680"/>
          </a:xfrm>
          <a:prstGeom prst="rect">
            <a:avLst/>
          </a:prstGeom>
          <a:noFill/>
          <a:ln/>
        </p:spPr>
        <p:txBody>
          <a:bodyPr wrap="square" rtlCol="0" anchor="t"/>
          <a:lstStyle/>
          <a:p>
            <a:pPr marL="0" indent="0">
              <a:buNone/>
            </a:pPr>
            <a:r>
              <a:rPr lang="en-US" sz="3000" b="1" dirty="0">
                <a:solidFill>
                  <a:srgbClr val="EAF0F1"/>
                </a:solidFill>
                <a:latin typeface="Cambria" pitchFamily="34" charset="0"/>
                <a:ea typeface="Cambria" pitchFamily="34" charset="-122"/>
                <a:cs typeface="Cambria" pitchFamily="34" charset="-120"/>
              </a:rPr>
              <a:t>What the papers say could come next.</a:t>
            </a:r>
            <a:endParaRPr lang="en-US" sz="3000" dirty="0"/>
          </a:p>
        </p:txBody>
      </p:sp>
      <p:sp>
        <p:nvSpPr>
          <p:cNvPr id="4" name="Shape 2"/>
          <p:cNvSpPr/>
          <p:nvPr/>
        </p:nvSpPr>
        <p:spPr>
          <a:xfrm>
            <a:off x="566928" y="1389888"/>
            <a:ext cx="1737360" cy="41148"/>
          </a:xfrm>
          <a:prstGeom prst="rect">
            <a:avLst/>
          </a:prstGeom>
          <a:solidFill>
            <a:srgbClr val="3CB6A6"/>
          </a:solidFill>
          <a:ln/>
        </p:spPr>
        <p:txBody>
          <a:bodyPr/>
          <a:lstStyle/>
          <a:p>
            <a:endParaRPr lang="en-IL"/>
          </a:p>
        </p:txBody>
      </p:sp>
      <p:sp>
        <p:nvSpPr>
          <p:cNvPr id="5" name="Text 3"/>
          <p:cNvSpPr/>
          <p:nvPr/>
        </p:nvSpPr>
        <p:spPr>
          <a:xfrm>
            <a:off x="11185855" y="310896"/>
            <a:ext cx="457200" cy="274320"/>
          </a:xfrm>
          <a:prstGeom prst="rect">
            <a:avLst/>
          </a:prstGeom>
          <a:noFill/>
          <a:ln/>
        </p:spPr>
        <p:txBody>
          <a:bodyPr wrap="square" rtlCol="0" anchor="ctr"/>
          <a:lstStyle/>
          <a:p>
            <a:pPr marL="0" indent="0" algn="r">
              <a:buNone/>
            </a:pPr>
            <a:r>
              <a:rPr lang="en-US" sz="1100" dirty="0">
                <a:solidFill>
                  <a:srgbClr val="6E7F87"/>
                </a:solidFill>
                <a:latin typeface="Calibri" pitchFamily="34" charset="0"/>
                <a:ea typeface="Calibri" pitchFamily="34" charset="-122"/>
                <a:cs typeface="Calibri" pitchFamily="34" charset="-120"/>
              </a:rPr>
              <a:t>31</a:t>
            </a:r>
            <a:endParaRPr lang="en-US" sz="1100" dirty="0"/>
          </a:p>
        </p:txBody>
      </p:sp>
      <p:sp>
        <p:nvSpPr>
          <p:cNvPr id="6" name="Shape 4"/>
          <p:cNvSpPr/>
          <p:nvPr/>
        </p:nvSpPr>
        <p:spPr>
          <a:xfrm>
            <a:off x="566928" y="1645920"/>
            <a:ext cx="5486400" cy="1965960"/>
          </a:xfrm>
          <a:prstGeom prst="roundRect">
            <a:avLst>
              <a:gd name="adj" fmla="val 3256"/>
            </a:avLst>
          </a:prstGeom>
          <a:solidFill>
            <a:srgbClr val="16302C"/>
          </a:solidFill>
          <a:ln/>
        </p:spPr>
        <p:txBody>
          <a:bodyPr/>
          <a:lstStyle/>
          <a:p>
            <a:endParaRPr lang="en-IL"/>
          </a:p>
        </p:txBody>
      </p:sp>
      <p:sp>
        <p:nvSpPr>
          <p:cNvPr id="7" name="Shape 5"/>
          <p:cNvSpPr/>
          <p:nvPr/>
        </p:nvSpPr>
        <p:spPr>
          <a:xfrm>
            <a:off x="566928" y="1773936"/>
            <a:ext cx="54864" cy="1709928"/>
          </a:xfrm>
          <a:prstGeom prst="rect">
            <a:avLst/>
          </a:prstGeom>
          <a:solidFill>
            <a:srgbClr val="3CB6A6"/>
          </a:solidFill>
          <a:ln/>
        </p:spPr>
        <p:txBody>
          <a:bodyPr/>
          <a:lstStyle/>
          <a:p>
            <a:endParaRPr lang="en-IL"/>
          </a:p>
        </p:txBody>
      </p:sp>
      <p:sp>
        <p:nvSpPr>
          <p:cNvPr id="8" name="Text 6"/>
          <p:cNvSpPr/>
          <p:nvPr/>
        </p:nvSpPr>
        <p:spPr>
          <a:xfrm>
            <a:off x="786384" y="1792224"/>
            <a:ext cx="5120640" cy="274320"/>
          </a:xfrm>
          <a:prstGeom prst="rect">
            <a:avLst/>
          </a:prstGeom>
          <a:noFill/>
          <a:ln/>
        </p:spPr>
        <p:txBody>
          <a:bodyPr wrap="square" rtlCol="0" anchor="ctr"/>
          <a:lstStyle/>
          <a:p>
            <a:pPr marL="0" indent="0">
              <a:buNone/>
            </a:pPr>
            <a:r>
              <a:rPr lang="en-US" sz="1050" b="1" kern="0" spc="100" dirty="0">
                <a:solidFill>
                  <a:srgbClr val="3CB6A6"/>
                </a:solidFill>
                <a:latin typeface="Calibri" pitchFamily="34" charset="0"/>
                <a:ea typeface="Calibri" pitchFamily="34" charset="-122"/>
                <a:cs typeface="Calibri" pitchFamily="34" charset="-120"/>
              </a:rPr>
              <a:t>BEAT DILUTION WITHOUT THE ACCURACY COST</a:t>
            </a:r>
            <a:endParaRPr lang="en-US" sz="1050" dirty="0"/>
          </a:p>
        </p:txBody>
      </p:sp>
      <p:sp>
        <p:nvSpPr>
          <p:cNvPr id="9" name="Text 7"/>
          <p:cNvSpPr/>
          <p:nvPr/>
        </p:nvSpPr>
        <p:spPr>
          <a:xfrm>
            <a:off x="786384" y="2103120"/>
            <a:ext cx="5084064" cy="1362456"/>
          </a:xfrm>
          <a:prstGeom prst="rect">
            <a:avLst/>
          </a:prstGeom>
          <a:noFill/>
          <a:ln/>
        </p:spPr>
        <p:txBody>
          <a:bodyPr wrap="square" rtlCol="0" anchor="t"/>
          <a:lstStyle/>
          <a:p>
            <a:pPr marL="0" indent="0">
              <a:lnSpc>
                <a:spcPct val="112000"/>
              </a:lnSpc>
              <a:buNone/>
            </a:pPr>
            <a:r>
              <a:rPr lang="en-US" sz="1250" b="1" dirty="0">
                <a:solidFill>
                  <a:srgbClr val="3CB6A6"/>
                </a:solidFill>
                <a:latin typeface="Calibri" pitchFamily="34" charset="0"/>
                <a:ea typeface="Calibri" pitchFamily="34" charset="-122"/>
                <a:cs typeface="Calibri" pitchFamily="34" charset="-120"/>
              </a:rPr>
              <a:t>Fleshman et al. (2018) &amp; Lowd–Meek (2005): </a:t>
            </a:r>
            <a:r>
              <a:rPr lang="en-US" sz="1250" dirty="0">
                <a:solidFill>
                  <a:srgbClr val="EAF0F1"/>
                </a:solidFill>
                <a:latin typeface="Calibri" pitchFamily="34" charset="0"/>
                <a:ea typeface="Calibri" pitchFamily="34" charset="-122"/>
                <a:cs typeface="Calibri" pitchFamily="34" charset="-120"/>
              </a:rPr>
              <a:t>non-negative / multiple-instance models resist good-word padding — so it may be possible to keep the dilution guarantee without losing 9 points of clean F1.</a:t>
            </a:r>
            <a:endParaRPr lang="en-US" sz="1250" dirty="0"/>
          </a:p>
        </p:txBody>
      </p:sp>
      <p:sp>
        <p:nvSpPr>
          <p:cNvPr id="10" name="Shape 8"/>
          <p:cNvSpPr/>
          <p:nvPr/>
        </p:nvSpPr>
        <p:spPr>
          <a:xfrm>
            <a:off x="6126480" y="1645920"/>
            <a:ext cx="5486400" cy="1965960"/>
          </a:xfrm>
          <a:prstGeom prst="roundRect">
            <a:avLst>
              <a:gd name="adj" fmla="val 3256"/>
            </a:avLst>
          </a:prstGeom>
          <a:solidFill>
            <a:srgbClr val="34231D"/>
          </a:solidFill>
          <a:ln/>
        </p:spPr>
        <p:txBody>
          <a:bodyPr/>
          <a:lstStyle/>
          <a:p>
            <a:endParaRPr lang="en-IL"/>
          </a:p>
        </p:txBody>
      </p:sp>
      <p:sp>
        <p:nvSpPr>
          <p:cNvPr id="11" name="Shape 9"/>
          <p:cNvSpPr/>
          <p:nvPr/>
        </p:nvSpPr>
        <p:spPr>
          <a:xfrm>
            <a:off x="6126480" y="1773936"/>
            <a:ext cx="54864" cy="1709928"/>
          </a:xfrm>
          <a:prstGeom prst="rect">
            <a:avLst/>
          </a:prstGeom>
          <a:solidFill>
            <a:srgbClr val="E97A60"/>
          </a:solidFill>
          <a:ln/>
        </p:spPr>
        <p:txBody>
          <a:bodyPr/>
          <a:lstStyle/>
          <a:p>
            <a:endParaRPr lang="en-IL"/>
          </a:p>
        </p:txBody>
      </p:sp>
      <p:sp>
        <p:nvSpPr>
          <p:cNvPr id="12" name="Text 10"/>
          <p:cNvSpPr/>
          <p:nvPr/>
        </p:nvSpPr>
        <p:spPr>
          <a:xfrm>
            <a:off x="6345936" y="1792224"/>
            <a:ext cx="5120640" cy="274320"/>
          </a:xfrm>
          <a:prstGeom prst="rect">
            <a:avLst/>
          </a:prstGeom>
          <a:noFill/>
          <a:ln/>
        </p:spPr>
        <p:txBody>
          <a:bodyPr wrap="square" rtlCol="0" anchor="ctr"/>
          <a:lstStyle/>
          <a:p>
            <a:pPr marL="0" indent="0">
              <a:buNone/>
            </a:pPr>
            <a:r>
              <a:rPr lang="en-US" sz="1050" b="1" kern="0" spc="100" dirty="0">
                <a:solidFill>
                  <a:srgbClr val="E97A60"/>
                </a:solidFill>
                <a:latin typeface="Calibri" pitchFamily="34" charset="0"/>
                <a:ea typeface="Calibri" pitchFamily="34" charset="-122"/>
                <a:cs typeface="Calibri" pitchFamily="34" charset="-120"/>
              </a:rPr>
              <a:t>A STRONGER PARAPHRASE ATTACKER</a:t>
            </a:r>
            <a:endParaRPr lang="en-US" sz="1050" dirty="0"/>
          </a:p>
        </p:txBody>
      </p:sp>
      <p:sp>
        <p:nvSpPr>
          <p:cNvPr id="13" name="Text 11"/>
          <p:cNvSpPr/>
          <p:nvPr/>
        </p:nvSpPr>
        <p:spPr>
          <a:xfrm>
            <a:off x="6345936" y="2103120"/>
            <a:ext cx="5084064" cy="1362456"/>
          </a:xfrm>
          <a:prstGeom prst="rect">
            <a:avLst/>
          </a:prstGeom>
          <a:noFill/>
          <a:ln/>
        </p:spPr>
        <p:txBody>
          <a:bodyPr wrap="square" rtlCol="0" anchor="t"/>
          <a:lstStyle/>
          <a:p>
            <a:pPr marL="0" indent="0">
              <a:lnSpc>
                <a:spcPct val="112000"/>
              </a:lnSpc>
              <a:buNone/>
            </a:pPr>
            <a:r>
              <a:rPr lang="en-US" sz="1250" b="1" dirty="0">
                <a:solidFill>
                  <a:srgbClr val="E97A60"/>
                </a:solidFill>
                <a:latin typeface="Calibri" pitchFamily="34" charset="0"/>
                <a:ea typeface="Calibri" pitchFamily="34" charset="-122"/>
                <a:cs typeface="Calibri" pitchFamily="34" charset="-120"/>
              </a:rPr>
              <a:t>Li et al. (2019) TextBugger / DeepWordBug: </a:t>
            </a:r>
            <a:r>
              <a:rPr lang="en-US" sz="1250" dirty="0">
                <a:solidFill>
                  <a:srgbClr val="EAF0F1"/>
                </a:solidFill>
                <a:latin typeface="Calibri" pitchFamily="34" charset="0"/>
                <a:ea typeface="Calibri" pitchFamily="34" charset="-122"/>
                <a:cs typeface="Calibri" pitchFamily="34" charset="-120"/>
              </a:rPr>
              <a:t>learned, meaning-preserving rewrites at scale — according to them a neural attacker should probe the semantic frontier far harder than my small rule-based probe.</a:t>
            </a:r>
            <a:endParaRPr lang="en-US" sz="1250" dirty="0"/>
          </a:p>
        </p:txBody>
      </p:sp>
      <p:sp>
        <p:nvSpPr>
          <p:cNvPr id="14" name="Shape 12"/>
          <p:cNvSpPr/>
          <p:nvPr/>
        </p:nvSpPr>
        <p:spPr>
          <a:xfrm>
            <a:off x="566928" y="3749040"/>
            <a:ext cx="5486400" cy="1965960"/>
          </a:xfrm>
          <a:prstGeom prst="roundRect">
            <a:avLst>
              <a:gd name="adj" fmla="val 3256"/>
            </a:avLst>
          </a:prstGeom>
          <a:solidFill>
            <a:srgbClr val="302A19"/>
          </a:solidFill>
          <a:ln/>
        </p:spPr>
        <p:txBody>
          <a:bodyPr/>
          <a:lstStyle/>
          <a:p>
            <a:endParaRPr lang="en-IL"/>
          </a:p>
        </p:txBody>
      </p:sp>
      <p:sp>
        <p:nvSpPr>
          <p:cNvPr id="15" name="Shape 13"/>
          <p:cNvSpPr/>
          <p:nvPr/>
        </p:nvSpPr>
        <p:spPr>
          <a:xfrm>
            <a:off x="566928" y="3877056"/>
            <a:ext cx="54864" cy="1709928"/>
          </a:xfrm>
          <a:prstGeom prst="rect">
            <a:avLst/>
          </a:prstGeom>
          <a:solidFill>
            <a:srgbClr val="D4AB4E"/>
          </a:solidFill>
          <a:ln/>
        </p:spPr>
        <p:txBody>
          <a:bodyPr/>
          <a:lstStyle/>
          <a:p>
            <a:endParaRPr lang="en-IL"/>
          </a:p>
        </p:txBody>
      </p:sp>
      <p:sp>
        <p:nvSpPr>
          <p:cNvPr id="16" name="Text 14"/>
          <p:cNvSpPr/>
          <p:nvPr/>
        </p:nvSpPr>
        <p:spPr>
          <a:xfrm>
            <a:off x="786384" y="3895344"/>
            <a:ext cx="5120640" cy="274320"/>
          </a:xfrm>
          <a:prstGeom prst="rect">
            <a:avLst/>
          </a:prstGeom>
          <a:noFill/>
          <a:ln/>
        </p:spPr>
        <p:txBody>
          <a:bodyPr wrap="square" rtlCol="0" anchor="ctr"/>
          <a:lstStyle/>
          <a:p>
            <a:pPr marL="0" indent="0">
              <a:buNone/>
            </a:pPr>
            <a:r>
              <a:rPr lang="en-US" sz="1050" b="1" kern="0" spc="100" dirty="0">
                <a:solidFill>
                  <a:srgbClr val="D4AB4E"/>
                </a:solidFill>
                <a:latin typeface="Calibri" pitchFamily="34" charset="0"/>
                <a:ea typeface="Calibri" pitchFamily="34" charset="-122"/>
                <a:cs typeface="Calibri" pitchFamily="34" charset="-120"/>
              </a:rPr>
              <a:t>CERTIFY AGAINST LETTER SUBSTITUTIONS</a:t>
            </a:r>
            <a:endParaRPr lang="en-US" sz="1050" dirty="0"/>
          </a:p>
        </p:txBody>
      </p:sp>
      <p:sp>
        <p:nvSpPr>
          <p:cNvPr id="17" name="Text 15"/>
          <p:cNvSpPr/>
          <p:nvPr/>
        </p:nvSpPr>
        <p:spPr>
          <a:xfrm>
            <a:off x="786384" y="4206240"/>
            <a:ext cx="5084064" cy="1362456"/>
          </a:xfrm>
          <a:prstGeom prst="rect">
            <a:avLst/>
          </a:prstGeom>
          <a:noFill/>
          <a:ln/>
        </p:spPr>
        <p:txBody>
          <a:bodyPr wrap="square" rtlCol="0" anchor="t"/>
          <a:lstStyle/>
          <a:p>
            <a:pPr marL="0" indent="0">
              <a:lnSpc>
                <a:spcPct val="112000"/>
              </a:lnSpc>
              <a:buNone/>
            </a:pPr>
            <a:r>
              <a:rPr lang="en-US" sz="1250" b="1" dirty="0">
                <a:solidFill>
                  <a:srgbClr val="D4AB4E"/>
                </a:solidFill>
                <a:latin typeface="Calibri" pitchFamily="34" charset="0"/>
                <a:ea typeface="Calibri" pitchFamily="34" charset="-122"/>
                <a:cs typeface="Calibri" pitchFamily="34" charset="-120"/>
              </a:rPr>
              <a:t>Pruthi et al. (2019): </a:t>
            </a:r>
            <a:r>
              <a:rPr lang="en-US" sz="1250" dirty="0">
                <a:solidFill>
                  <a:srgbClr val="EAF0F1"/>
                </a:solidFill>
                <a:latin typeface="Calibri" pitchFamily="34" charset="0"/>
                <a:ea typeface="Calibri" pitchFamily="34" charset="-122"/>
                <a:cs typeface="Calibri" pitchFamily="34" charset="-120"/>
              </a:rPr>
              <a:t>a robust word-recognition stage in front of the classifier — so it may be possible to extend the UTS-39 certificate from look-alikes to typos and misspellings too.</a:t>
            </a:r>
            <a:endParaRPr lang="en-US" sz="1250" dirty="0"/>
          </a:p>
        </p:txBody>
      </p:sp>
      <p:sp>
        <p:nvSpPr>
          <p:cNvPr id="18" name="Shape 16"/>
          <p:cNvSpPr/>
          <p:nvPr/>
        </p:nvSpPr>
        <p:spPr>
          <a:xfrm>
            <a:off x="6126480" y="3749040"/>
            <a:ext cx="5486400" cy="1965960"/>
          </a:xfrm>
          <a:prstGeom prst="roundRect">
            <a:avLst>
              <a:gd name="adj" fmla="val 3256"/>
            </a:avLst>
          </a:prstGeom>
          <a:solidFill>
            <a:srgbClr val="182E38"/>
          </a:solidFill>
          <a:ln/>
        </p:spPr>
        <p:txBody>
          <a:bodyPr/>
          <a:lstStyle/>
          <a:p>
            <a:endParaRPr lang="en-IL"/>
          </a:p>
        </p:txBody>
      </p:sp>
      <p:sp>
        <p:nvSpPr>
          <p:cNvPr id="19" name="Shape 17"/>
          <p:cNvSpPr/>
          <p:nvPr/>
        </p:nvSpPr>
        <p:spPr>
          <a:xfrm>
            <a:off x="6126480" y="3877056"/>
            <a:ext cx="54864" cy="1709928"/>
          </a:xfrm>
          <a:prstGeom prst="rect">
            <a:avLst/>
          </a:prstGeom>
          <a:solidFill>
            <a:srgbClr val="5FA3C0"/>
          </a:solidFill>
          <a:ln/>
        </p:spPr>
        <p:txBody>
          <a:bodyPr/>
          <a:lstStyle/>
          <a:p>
            <a:endParaRPr lang="en-IL"/>
          </a:p>
        </p:txBody>
      </p:sp>
      <p:sp>
        <p:nvSpPr>
          <p:cNvPr id="20" name="Text 18"/>
          <p:cNvSpPr/>
          <p:nvPr/>
        </p:nvSpPr>
        <p:spPr>
          <a:xfrm>
            <a:off x="6345936" y="3895344"/>
            <a:ext cx="5120640" cy="274320"/>
          </a:xfrm>
          <a:prstGeom prst="rect">
            <a:avLst/>
          </a:prstGeom>
          <a:noFill/>
          <a:ln/>
        </p:spPr>
        <p:txBody>
          <a:bodyPr wrap="square" rtlCol="0" anchor="ctr"/>
          <a:lstStyle/>
          <a:p>
            <a:pPr marL="0" indent="0">
              <a:buNone/>
            </a:pPr>
            <a:r>
              <a:rPr lang="en-US" sz="1050" b="1" kern="0" spc="100" dirty="0">
                <a:solidFill>
                  <a:srgbClr val="5FA3C0"/>
                </a:solidFill>
                <a:latin typeface="Calibri" pitchFamily="34" charset="0"/>
                <a:ea typeface="Calibri" pitchFamily="34" charset="-122"/>
                <a:cs typeface="Calibri" pitchFamily="34" charset="-120"/>
              </a:rPr>
              <a:t>FLAG OBFUSCATED MAIL AS ANOMALOUS</a:t>
            </a:r>
            <a:endParaRPr lang="en-US" sz="1050" dirty="0"/>
          </a:p>
        </p:txBody>
      </p:sp>
      <p:sp>
        <p:nvSpPr>
          <p:cNvPr id="21" name="Text 19"/>
          <p:cNvSpPr/>
          <p:nvPr/>
        </p:nvSpPr>
        <p:spPr>
          <a:xfrm>
            <a:off x="6345936" y="4206240"/>
            <a:ext cx="5084064" cy="1362456"/>
          </a:xfrm>
          <a:prstGeom prst="rect">
            <a:avLst/>
          </a:prstGeom>
          <a:noFill/>
          <a:ln/>
        </p:spPr>
        <p:txBody>
          <a:bodyPr wrap="square" rtlCol="0" anchor="t"/>
          <a:lstStyle/>
          <a:p>
            <a:pPr marL="0" indent="0">
              <a:lnSpc>
                <a:spcPct val="112000"/>
              </a:lnSpc>
              <a:buNone/>
            </a:pPr>
            <a:r>
              <a:rPr lang="en-US" sz="1250" b="1" dirty="0">
                <a:solidFill>
                  <a:srgbClr val="5FA3C0"/>
                </a:solidFill>
                <a:latin typeface="Calibri" pitchFamily="34" charset="0"/>
                <a:ea typeface="Calibri" pitchFamily="34" charset="-122"/>
                <a:cs typeface="Calibri" pitchFamily="34" charset="-120"/>
              </a:rPr>
              <a:t>Abnormality lecture (Isolation Forest, One-Class SVM): </a:t>
            </a:r>
            <a:r>
              <a:rPr lang="en-US" sz="1250" dirty="0">
                <a:solidFill>
                  <a:srgbClr val="EAF0F1"/>
                </a:solidFill>
                <a:latin typeface="Calibri" pitchFamily="34" charset="0"/>
                <a:ea typeface="Calibri" pitchFamily="34" charset="-122"/>
                <a:cs typeface="Calibri" pitchFamily="34" charset="-120"/>
              </a:rPr>
              <a:t>obfuscation signatures are measurably rare in ordinary mail (§4.9e), so an adversarial-input detector could catch attacks the classifier misses — then fuse with Gilad.</a:t>
            </a:r>
            <a:endParaRPr lang="en-US" sz="1250" dirty="0"/>
          </a:p>
        </p:txBody>
      </p:sp>
      <p:sp>
        <p:nvSpPr>
          <p:cNvPr id="22" name="Text 20"/>
          <p:cNvSpPr/>
          <p:nvPr/>
        </p:nvSpPr>
        <p:spPr>
          <a:xfrm>
            <a:off x="566928" y="6419088"/>
            <a:ext cx="11057839" cy="274320"/>
          </a:xfrm>
          <a:prstGeom prst="rect">
            <a:avLst/>
          </a:prstGeom>
          <a:noFill/>
          <a:ln/>
        </p:spPr>
        <p:txBody>
          <a:bodyPr wrap="square" rtlCol="0" anchor="ctr"/>
          <a:lstStyle/>
          <a:p>
            <a:pPr marL="0" indent="0">
              <a:buNone/>
            </a:pPr>
            <a:r>
              <a:rPr lang="en-US" sz="950" i="1" dirty="0">
                <a:solidFill>
                  <a:srgbClr val="7C8F98"/>
                </a:solidFill>
                <a:latin typeface="Calibri" pitchFamily="34" charset="0"/>
                <a:ea typeface="Calibri" pitchFamily="34" charset="-122"/>
                <a:cs typeface="Calibri" pitchFamily="34" charset="-120"/>
              </a:rPr>
              <a:t>each direction is grounded in a paper from the report — stated as a possibility, not a result</a:t>
            </a:r>
            <a:endParaRPr lang="en-US" sz="95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F1A20"/>
        </a:solidFill>
        <a:effectLst/>
      </p:bgPr>
    </p:bg>
    <p:spTree>
      <p:nvGrpSpPr>
        <p:cNvPr id="1" name=""/>
        <p:cNvGrpSpPr/>
        <p:nvPr/>
      </p:nvGrpSpPr>
      <p:grpSpPr>
        <a:xfrm>
          <a:off x="0" y="0"/>
          <a:ext cx="0" cy="0"/>
          <a:chOff x="0" y="0"/>
          <a:chExt cx="0" cy="0"/>
        </a:xfrm>
      </p:grpSpPr>
      <p:sp>
        <p:nvSpPr>
          <p:cNvPr id="2" name="Text 0"/>
          <p:cNvSpPr/>
          <p:nvPr/>
        </p:nvSpPr>
        <p:spPr>
          <a:xfrm>
            <a:off x="566928" y="1920240"/>
            <a:ext cx="10058400" cy="365760"/>
          </a:xfrm>
          <a:prstGeom prst="rect">
            <a:avLst/>
          </a:prstGeom>
          <a:noFill/>
          <a:ln/>
        </p:spPr>
        <p:txBody>
          <a:bodyPr wrap="square" rtlCol="0" anchor="ctr"/>
          <a:lstStyle/>
          <a:p>
            <a:pPr marL="0" indent="0">
              <a:buNone/>
            </a:pPr>
            <a:r>
              <a:rPr lang="en-US" sz="1300" b="1" kern="0" spc="300" dirty="0">
                <a:solidFill>
                  <a:srgbClr val="3CB6A6"/>
                </a:solidFill>
                <a:latin typeface="Calibri" pitchFamily="34" charset="0"/>
                <a:ea typeface="Calibri" pitchFamily="34" charset="-122"/>
                <a:cs typeface="Calibri" pitchFamily="34" charset="-120"/>
              </a:rPr>
              <a:t>THANK YOU</a:t>
            </a:r>
            <a:endParaRPr lang="en-US" sz="1300" dirty="0"/>
          </a:p>
        </p:txBody>
      </p:sp>
      <p:sp>
        <p:nvSpPr>
          <p:cNvPr id="3" name="Text 1"/>
          <p:cNvSpPr/>
          <p:nvPr/>
        </p:nvSpPr>
        <p:spPr>
          <a:xfrm>
            <a:off x="566928" y="2377440"/>
            <a:ext cx="10972800" cy="1737360"/>
          </a:xfrm>
          <a:prstGeom prst="rect">
            <a:avLst/>
          </a:prstGeom>
          <a:noFill/>
          <a:ln/>
        </p:spPr>
        <p:txBody>
          <a:bodyPr wrap="square" rtlCol="0" anchor="ctr"/>
          <a:lstStyle/>
          <a:p>
            <a:pPr marL="0" indent="0">
              <a:lnSpc>
                <a:spcPct val="102000"/>
              </a:lnSpc>
              <a:buNone/>
            </a:pPr>
            <a:r>
              <a:rPr lang="en-US" sz="4600" b="1" dirty="0">
                <a:solidFill>
                  <a:srgbClr val="FFFFFF"/>
                </a:solidFill>
                <a:latin typeface="Cambria" pitchFamily="34" charset="0"/>
                <a:ea typeface="Cambria" pitchFamily="34" charset="-122"/>
                <a:cs typeface="Cambria" pitchFamily="34" charset="-120"/>
              </a:rPr>
              <a:t>A near-perfect detector</a:t>
            </a:r>
            <a:endParaRPr lang="en-US" sz="4600" dirty="0"/>
          </a:p>
          <a:p>
            <a:pPr marL="0" indent="0">
              <a:lnSpc>
                <a:spcPct val="102000"/>
              </a:lnSpc>
              <a:buNone/>
            </a:pPr>
            <a:r>
              <a:rPr lang="en-US" sz="4600" b="1" dirty="0">
                <a:solidFill>
                  <a:srgbClr val="FFFFFF"/>
                </a:solidFill>
                <a:latin typeface="Cambria" pitchFamily="34" charset="0"/>
                <a:ea typeface="Cambria" pitchFamily="34" charset="-122"/>
                <a:cs typeface="Cambria" pitchFamily="34" charset="-120"/>
              </a:rPr>
              <a:t>can still be fragile.</a:t>
            </a:r>
            <a:endParaRPr lang="en-US" sz="4600" dirty="0"/>
          </a:p>
        </p:txBody>
      </p:sp>
      <p:sp>
        <p:nvSpPr>
          <p:cNvPr id="5" name="Shape 3"/>
          <p:cNvSpPr/>
          <p:nvPr/>
        </p:nvSpPr>
        <p:spPr>
          <a:xfrm>
            <a:off x="566928" y="5257800"/>
            <a:ext cx="2011680" cy="45720"/>
          </a:xfrm>
          <a:prstGeom prst="rect">
            <a:avLst/>
          </a:prstGeom>
          <a:solidFill>
            <a:srgbClr val="D4AB4E"/>
          </a:solidFill>
          <a:ln/>
        </p:spPr>
        <p:txBody>
          <a:bodyPr/>
          <a:lstStyle/>
          <a:p>
            <a:endParaRPr lang="en-IL"/>
          </a:p>
        </p:txBody>
      </p:sp>
      <p:sp>
        <p:nvSpPr>
          <p:cNvPr id="6" name="Text 4"/>
          <p:cNvSpPr/>
          <p:nvPr/>
        </p:nvSpPr>
        <p:spPr>
          <a:xfrm>
            <a:off x="566928" y="5486400"/>
            <a:ext cx="9144000" cy="82296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Lia Bercovitz</a:t>
            </a:r>
            <a:endParaRPr lang="en-US" sz="2000" dirty="0"/>
          </a:p>
          <a:p>
            <a:pPr marL="0" indent="0">
              <a:buNone/>
            </a:pPr>
            <a:r>
              <a:rPr lang="en-US" sz="1300" dirty="0">
                <a:solidFill>
                  <a:srgbClr val="9FB2BB"/>
                </a:solidFill>
                <a:latin typeface="Calibri" pitchFamily="34" charset="0"/>
                <a:ea typeface="Calibri" pitchFamily="34" charset="-122"/>
                <a:cs typeface="Calibri" pitchFamily="34" charset="-120"/>
              </a:rPr>
              <a:t>PhishFusion · content detector · questions welcome</a:t>
            </a:r>
            <a:endParaRPr lang="en-US" sz="2000" dirty="0"/>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100</TotalTime>
  <Words>15889</Words>
  <Application>Microsoft Office PowerPoint</Application>
  <PresentationFormat>Widescreen</PresentationFormat>
  <Paragraphs>515</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PhishFusion — Content-Based Phishing Detection</dc:title>
  <dc:subject>PptxGenJS Presentation</dc:subject>
  <dc:creator>Lia Bercovitz</dc:creator>
  <cp:lastModifiedBy>Lia Bercovitz</cp:lastModifiedBy>
  <cp:revision>6</cp:revision>
  <dcterms:created xsi:type="dcterms:W3CDTF">2026-07-21T23:19:14Z</dcterms:created>
  <dcterms:modified xsi:type="dcterms:W3CDTF">2026-07-22T01:03:10Z</dcterms:modified>
</cp:coreProperties>
</file>
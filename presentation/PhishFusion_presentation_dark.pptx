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8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9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0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</c:v>
                </c:pt>
              </c:strCache>
            </c:strRef>
          </c:tx>
          <c:spPr>
            <a:solidFill>
              <a:srgbClr val="E97A60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97A6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7A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97A6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97A6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CB6A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97A6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email length</c:v>
                  </c:pt>
                  <c:pt idx="1">
                    <c:v>word count</c:v>
                  </c:pt>
                  <c:pt idx="2">
                    <c:v>digit ratio</c:v>
                  </c:pt>
                  <c:pt idx="3">
                    <c:v>avg word len</c:v>
                  </c:pt>
                  <c:pt idx="4">
                    <c:v>uppercase</c:v>
                  </c:pt>
                  <c:pt idx="5">
                    <c:v>non-ASCII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-0.57</c:v>
                </c:pt>
                <c:pt idx="1">
                  <c:v>-0.53</c:v>
                </c:pt>
                <c:pt idx="2">
                  <c:v>-0.27</c:v>
                </c:pt>
                <c:pt idx="3">
                  <c:v>-0.11</c:v>
                </c:pt>
                <c:pt idx="4">
                  <c:v>0.15</c:v>
                </c:pt>
                <c:pt idx="5">
                  <c:v>-0.05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AF0F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-0.7"/>
        </c:scaling>
        <c:delete val="0"/>
        <c:axPos val="b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vif</c:v>
                </c:pt>
              </c:strCache>
            </c:strRef>
          </c:tx>
          <c:spPr>
            <a:solidFill>
              <a:srgbClr val="E97A60">
                <a:alpha val="100000"/>
              </a:srgbClr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97A6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7A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D91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D919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7D919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7D919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email length</c:v>
                  </c:pt>
                  <c:pt idx="1">
                    <c:v>word count</c:v>
                  </c:pt>
                  <c:pt idx="2">
                    <c:v>avg word len</c:v>
                  </c:pt>
                  <c:pt idx="3">
                    <c:v>digit ratio</c:v>
                  </c:pt>
                  <c:pt idx="4">
                    <c:v>uppercase</c:v>
                  </c:pt>
                  <c:pt idx="5">
                    <c:v>non-ASCII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21.4</c:v>
                </c:pt>
                <c:pt idx="1">
                  <c:v>21.7</c:v>
                </c:pt>
                <c:pt idx="2">
                  <c:v>1.3</c:v>
                </c:pt>
                <c:pt idx="3">
                  <c:v>1.1</c:v>
                </c:pt>
                <c:pt idx="4">
                  <c:v>1.1</c:v>
                </c:pt>
                <c:pt idx="5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EAF0F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</c:scaling>
        <c:delete val="0"/>
        <c:axPos val="b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6E7F87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E7F8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E7F8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D91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D919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7D919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CB6A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Majority</c:v>
                  </c:pt>
                  <c:pt idx="1">
                    <c:v>Keyword list</c:v>
                  </c:pt>
                  <c:pt idx="2">
                    <c:v>Naive Bayes</c:v>
                  </c:pt>
                  <c:pt idx="3">
                    <c:v>Complement NB</c:v>
                  </c:pt>
                  <c:pt idx="4">
                    <c:v>DistilBERT</c:v>
                  </c:pt>
                  <c:pt idx="5">
                    <c:v>Logistic Reg.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0.25</c:v>
                </c:pt>
                <c:pt idx="2">
                  <c:v>0.97</c:v>
                </c:pt>
                <c:pt idx="3">
                  <c:v>0.98</c:v>
                </c:pt>
                <c:pt idx="4">
                  <c:v>0.98</c:v>
                </c:pt>
                <c:pt idx="5">
                  <c:v>0.998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EAF0F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3CB6A6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CB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7A6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</c:v>
                  </c:pt>
                  <c:pt idx="1">
                    <c:v>homoglyph attack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0.99</c:v>
                </c:pt>
                <c:pt idx="1">
                  <c:v>0.71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600" u="none">
                  <a:solidFill>
                    <a:srgbClr val="EAF0F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undefended</c:v>
                </c:pt>
              </c:strCache>
            </c:strRef>
          </c:tx>
          <c:spPr>
            <a:solidFill>
              <a:srgbClr val="6E7F87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homoglyph (seen)</c:v>
                  </c:pt>
                  <c:pt idx="1">
                    <c:v>full-width (unseen)</c:v>
                  </c:pt>
                  <c:pt idx="2">
                    <c:v>adaptive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0.71</c:v>
                </c:pt>
                <c:pt idx="1">
                  <c:v>0.68</c:v>
                </c:pt>
                <c:pt idx="2">
                  <c:v>0.89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normalisation</c:v>
                </c:pt>
              </c:strCache>
            </c:strRef>
          </c:tx>
          <c:spPr>
            <a:solidFill>
              <a:srgbClr val="3CB6A6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homoglyph (seen)</c:v>
                  </c:pt>
                  <c:pt idx="1">
                    <c:v>full-width (unseen)</c:v>
                  </c:pt>
                  <c:pt idx="2">
                    <c:v>adaptive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0.99</c:v>
                </c:pt>
                <c:pt idx="1">
                  <c:v>0.99</c:v>
                </c:pt>
                <c:pt idx="2">
                  <c:v>0.96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adversarial training</c:v>
                </c:pt>
              </c:strCache>
            </c:strRef>
          </c:tx>
          <c:spPr>
            <a:solidFill>
              <a:srgbClr val="D4AB4E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homoglyph (seen)</c:v>
                  </c:pt>
                  <c:pt idx="1">
                    <c:v>full-width (unseen)</c:v>
                  </c:pt>
                  <c:pt idx="2">
                    <c:v>adaptive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</c:v>
                </c:pt>
                <c:pt idx="1">
                  <c:v>0.78</c:v>
                </c:pt>
                <c:pt idx="2">
                  <c:v>0.94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EAF0F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95A6A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7D919B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D91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7A6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8 random edits</c:v>
                  </c:pt>
                  <c:pt idx="1">
                    <c:v>8 targeted edits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0.98</c:v>
                </c:pt>
                <c:pt idx="1">
                  <c:v>0.74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600" u="none">
                  <a:solidFill>
                    <a:srgbClr val="EAF0F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E97A60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97A6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CB6A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hand-made list</c:v>
                  </c:pt>
                  <c:pt idx="1">
                    <c:v>full official list (UTS-39)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</c:v>
                </c:pt>
                <c:pt idx="1">
                  <c:v>0.998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500" u="none">
                  <a:solidFill>
                    <a:srgbClr val="EAF0F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model</c:v>
                </c:pt>
              </c:strCache>
            </c:strRef>
          </c:tx>
          <c:spPr>
            <a:solidFill>
              <a:srgbClr val="E97A60">
                <a:alpha val="100000"/>
              </a:srgbClr>
            </a:solidFill>
            <a:ln w="31750" cap="flat">
              <a:solidFill>
                <a:srgbClr val="E97A60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97A60"/>
              </a:solidFill>
              <a:ln w="9525" cap="flat">
                <a:solidFill>
                  <a:srgbClr val="E97A6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+0</c:v>
                  </c:pt>
                  <c:pt idx="1">
                    <c:v>+10</c:v>
                  </c:pt>
                  <c:pt idx="2">
                    <c:v>+20</c:v>
                  </c:pt>
                  <c:pt idx="3">
                    <c:v>+40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0.998</c:v>
                </c:pt>
                <c:pt idx="1">
                  <c:v>0.632</c:v>
                </c:pt>
                <c:pt idx="2">
                  <c:v>0.365</c:v>
                </c:pt>
                <c:pt idx="3">
                  <c:v>0.129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one-way (monotone) model</c:v>
                </c:pt>
              </c:strCache>
            </c:strRef>
          </c:tx>
          <c:spPr>
            <a:solidFill>
              <a:srgbClr val="3CB6A6">
                <a:alpha val="100000"/>
              </a:srgbClr>
            </a:solidFill>
            <a:ln w="31750" cap="flat">
              <a:solidFill>
                <a:srgbClr val="3CB6A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CB6A6"/>
              </a:solidFill>
              <a:ln w="9525" cap="flat">
                <a:solidFill>
                  <a:srgbClr val="3CB6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+0</c:v>
                  </c:pt>
                  <c:pt idx="1">
                    <c:v>+10</c:v>
                  </c:pt>
                  <c:pt idx="2">
                    <c:v>+20</c:v>
                  </c:pt>
                  <c:pt idx="3">
                    <c:v>+40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0.869</c:v>
                </c:pt>
                <c:pt idx="1">
                  <c:v>0.869</c:v>
                </c:pt>
                <c:pt idx="2">
                  <c:v>0.869</c:v>
                </c:pt>
                <c:pt idx="3">
                  <c:v>0.866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95A6A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 / F1</c:v>
                </c:pt>
              </c:strCache>
            </c:strRef>
          </c:tx>
          <c:spPr>
            <a:solidFill>
              <a:srgbClr val="E97A60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97A6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CB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4AB4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standard diluted</c:v>
                  </c:pt>
                  <c:pt idx="1">
                    <c:v>one-way diluted</c:v>
                  </c:pt>
                  <c:pt idx="2">
                    <c:v>one-way clean F1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0.13</c:v>
                </c:pt>
                <c:pt idx="1">
                  <c:v>0.87</c:v>
                </c:pt>
                <c:pt idx="2">
                  <c:v>0.91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500" u="none">
                  <a:solidFill>
                    <a:srgbClr val="EAF0F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7D919B">
                <a:alpha val="100000"/>
              </a:srgbClr>
            </a:solidFill>
            <a:ln w="31750" cap="flat">
              <a:solidFill>
                <a:srgbClr val="7D919B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7D919B"/>
              </a:solidFill>
              <a:ln w="9525" cap="flat">
                <a:solidFill>
                  <a:srgbClr val="7D91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clean</c:v>
                  </c:pt>
                  <c:pt idx="1">
                    <c:v>homoglyph</c:v>
                  </c:pt>
                  <c:pt idx="2">
                    <c:v>+normalise</c:v>
                  </c:pt>
                  <c:pt idx="3">
                    <c:v>targeted</c:v>
                  </c:pt>
                  <c:pt idx="4">
                    <c:v>UTS-39</c:v>
                  </c:pt>
                  <c:pt idx="5">
                    <c:v>dilution</c:v>
                  </c:pt>
                  <c:pt idx="6">
                    <c:v>monotone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0.93</c:v>
                </c:pt>
                <c:pt idx="2">
                  <c:v>1</c:v>
                </c:pt>
                <c:pt idx="3">
                  <c:v>0.88</c:v>
                </c:pt>
                <c:pt idx="4">
                  <c:v>1</c:v>
                </c:pt>
                <c:pt idx="5">
                  <c:v>0.13</c:v>
                </c:pt>
                <c:pt idx="6">
                  <c:v>0.99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EAF0F1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8"/>
          <c:min val="0"/>
        </c:scaling>
        <c:delete val="0"/>
        <c:axPos val="l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3CB6A6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CB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7A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4AB4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same source (CEAS)</c:v>
                  </c:pt>
                  <c:pt idx="1">
                    <c:v>different sources</c:v>
                  </c:pt>
                  <c:pt idx="2">
                    <c:v>+ re-threshold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0.998</c:v>
                </c:pt>
                <c:pt idx="1">
                  <c:v>0.37</c:v>
                </c:pt>
                <c:pt idx="2">
                  <c:v>0.75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EAF0F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modern scams</c:v>
                </c:pt>
              </c:strCache>
            </c:strRef>
          </c:tx>
          <c:spPr>
            <a:solidFill>
              <a:srgbClr val="3CB6A6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2008 model</c:v>
                  </c:pt>
                  <c:pt idx="1">
                    <c:v>evolved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0.15</c:v>
                </c:pt>
                <c:pt idx="1">
                  <c:v>0.98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old scams (forgetting?)</c:v>
                </c:pt>
              </c:strCache>
            </c:strRef>
          </c:tx>
          <c:spPr>
            <a:solidFill>
              <a:srgbClr val="7D919B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2008 model</c:v>
                  </c:pt>
                  <c:pt idx="1">
                    <c:v>evolved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EAF0F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2"/>
          <c:min val="0"/>
        </c:scaling>
        <c:delete val="0"/>
        <c:axPos val="l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95A6A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6E7F87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EAF0F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E7F8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CB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D919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no report</c:v>
                  </c:pt>
                  <c:pt idx="1">
                    <c:v>same-campaign report</c:v>
                  </c:pt>
                  <c:pt idx="2">
                    <c:v>other reports (blind)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0.15</c:v>
                </c:pt>
                <c:pt idx="1">
                  <c:v>1</c:v>
                </c:pt>
                <c:pt idx="2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EAF0F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2"/>
          <c:min val="0"/>
        </c:scaling>
        <c:delete val="0"/>
        <c:axPos val="l"/>
        <c:majorGridlines>
          <c:spPr>
            <a:ln w="6350" cap="flat">
              <a:solidFill>
                <a:srgbClr val="2636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5A6A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One line: I built the text-only half of a phishing detector — it reads just the words of an email and decides phishing or legitimate. But the real work isn't the score. It's showing that a near-perfect score is fragile, attacking my own model the way a real adversary would, and hardening it until parts are provable. My partner Gilad builds the links/sender half; together they fuse.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Phishing is social engineering: it works on human trust, not code. The persuasion is carried by language, and it comes in a few recognisable flavours — pretending to be authority ('this is IT'), manufacturing urgency ('suspended in 30 minutes'), dangling a reward, or claiming everyone else already complied. That is exactly why an NLP model can catch it: the manipulation is in the words. But it also means the attacker fights back on the text — like 'verify' with a Cyrillic 'e': identical to us, a new unknown word to a word-matcher. Hold that example, it returns as the first attack.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system has two detectors. Mine reads only the email's words. Gilad's reads the links and the sender address. They're combined at the end. The idea: two independent signals, so if an attacker beats one, the other still fires. I strip URLs out of my text on purpose — otherwise my model could cheat using the link, which is Gilad's job. So everything you see is content-only. Fusion is submitted jointly; the rest of this talk is my 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how I worked, and it's the actual contribution. Step one, build a strong, explainable model on a clean pipeline. Step two, study attacks from academic papers and known adversarial techniques. Step three, adapt — design attacks aimed specifically at my model's weak points. Step four, defend — fix each weakness, then attack the fix, and loop. The important framing: every broken version you're about to see is not a failure. Finding and fixing those holes IS the method. A near-perfect score means nothing until someone has tried to break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one email becomes a decision, in five steps. Take subject and body; clean it — strip links and fold look-alike letters; turn it into numbers with TF-IDF over both whole words and character chunks; combine into one feature vector; and classify with Logistic Regression. Three design choices matter: character n-grams give robustness (even 'cl1ck' shares letter-chunks with 'click'); the linear model stays explainable — I can point to the exact words that flagged an email; and URLs are stripped because links are the partner's job. It's simple, fast, and transparent — which the robustness study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data, and the cleaning — which I want to be explicit about. My main set is CEAS_08, about 27,000 emails with both phishing and normal mail from one source. I also hold out other collections for a fairness test, plus real 2023–2025 phishing and recent normal mail to test ageing, and SpamAssassin to re-check. Cleaning, in order: strip links, tidy spacing, cut over-long mail, drop duplicates before splitting, balance to a realistic 35% phishing, split 60/20/20 with a fixed seed, and hash everything so results reproduce exactly. The key choice, gold box: a probe can guess an email's SOURCE 99% of the time, so I deliberately train on one mixed-class source — otherwise the model cheats by recognising provenance instead of the scam. And two quick checks: normal mail is almost all plain text, which is the clean baseline the letter attack breaks; and the dates are clean, no fake 1970 epoch 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modelling I explore a handful of simple, human-readable features — length, word count, digit ratio, share of non-standard characters — and check how they relate. This heatmap is those relationships. Two takeaways: length and word-count are nearly identical (they carry one signal, not two), and length is the feature most tied to the label — phishing emails are shorter, a quick urgent message versus a long legitimate one. I use rank correlation because the features are lopsided, and ranks aren't thrown off by outliers. Note: these features are just for understanding — the model's real power is in the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results to explain. Left: how each simple feature relates to being phishing. Length and word-count stand out and are negative — phishing is shorter and has fewer words. I didn't just eyeball a chart; a Mann–Whitney test confirms the length difference is real with p far below 0.001. Right: a redundancy check called VIF. Length and word-count both score around 21 — anything over 10 means they say the same thing — so I keep them as diagnostics and don't feed both to the model. This is standard EDA done properly: rank stats, a real test, and a redundancy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choice, decided by results not taste. The two grey-left bars are trivial baselines: always-guess-legit and a keyword list — both weak, and the majority one is the accuracy paradox in action: it looks 65% accurate but catches zero phishing, which is why I never rely on accuracy. Then the real models: Naive Bayes variants, DistilBERT, and Logistic Regression, which wins at F1 0.998. Its lead is statistically real. I pick it because it's near-perfect, fast, and — importantly for the rest of the talk — explainable. DistilBERT is kept only as a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clean test set the model is almost perfect: F1 0.998, and only 8 mistakes out of over five thousand emails — the confusion matrix on the right shows how few. Here's the important bit: this is the warning, not the victory. A near-perfect score on clean, single-source data does NOT prove the detector survives the real world. So the rest of the project asks the hard questions — does it survive obfuscation, an adaptive attacker, a different inbox, and the passage of time? From here I attack my own model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pivot of the whole talk. Up to now I've built a detector that looks near-perfect. From here I deliberately switch sides and attack my own model the way a real adversary would, then fix each hole and immediately attack the fix. So for the next few slides, watch for the same three-part structure every time: the attack, the fix, and the result in numbers. Remember — the broken versions are not failures. Finding and closing them is exactly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attack — and it's nearly free for the attacker. I swap ordinary letters for Cyrillic look-alikes that are visually identical. A person reads 'Verify your account' unchanged, but the word-matching model sees brand-new unknown tokens, so the phishing words vanish. THE RESULT: on the word-only model, recall — the share of phishing it catches — drops from 0.99 to 0.71. This is the imperceptible attack the literature warns about (Eger 2019, Boucher 2022), and it costs the attacker almost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fix, shown against the attack. Grey is undefended. THE FIX — teal — is normalisation: I fold look-alike characters back to plain letters before classifying, and add character n-grams. THE RESULT: recall jumps from 0.71 back to ~0.99, and crucially it also repairs a DIFFERENT attack it was never designed for, full-width letters, because the folding is general. Amber is adversarial training — retraining on attacked examples; it's perfect on the family it saw but weaker on the unseen full-width one at 0.78. THE LESSON: a principled input defence generalises; a memorised one doesn't. Used together they cover every family.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far attacks changed letters at random. THE ATTACK now is smarter: it spends its budget only on the words the model relies on most, and uses look-alike letters my hand-made cleaning list happens to miss — the DeepWordBug / TextBugger family. THE RESULT: same effort, 8 edits, but targeted edits cut recall to 0.74 versus 0.98 for random. A typical email flips after just 9 invisible edits, about a quarter of its letters. And it lowers the ceiling of even my fully-defended model to 0.88. This is the honest 'no silver bullet' moment — a capable adversary found the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fix, and it comes with a proof. THE FIX: I swap my hand-made list of look-alike letters for the FULL official list — UTS #39, the same one browsers use to catch fake web addresses. The letters the attacker slipped through are all on it. THE RESULT: recall against the smart attacker goes back to 0.998. And here's the guarantee — the big 100% — even in the worst case, cleaning the attacked email gives back exactly the original text for 100% of phishing emails, 0% with the old list, so the decision provably cannot change. This closes the cheap letter-attack front for good and forces the attacker onto something harder.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the letter tricks shut by proof, the attacker switches to whole words. THE ATTACK is the classic 'good-word attack' (Lowd &amp; Meek 2005): bury the scam under innocent-sounding filler. Because the model simply adds up word-evidence, enough legit words out-vote the scam. THE RESULT: recall collapses from 0.998 to 0.13, the red line. My letter-cleaner is useless here, it's the wrong defence for a new attack. This is a structural weakness of any linear bag-of-words model. The teal line is the fix, which is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 is a second guarantee. THE FIX: I build a model where every word can only add suspicion, never remove it. Then adding text can only push the score up — so padding provably cannot clear a scam. THE RESULT: I checked it directly — zero score-drops, and 100% of flagged phishing stays flagged even after adding 40, 100, or 300 words. The price is honesty: on clean data this one-way model scores 0.91 instead of 0.998, because it can only look for guilt, never innocence. So it's a guaranteed safety net running alongside the main model, not a replacement. That's now two whole attack classes — letters and word-padding — closed by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line is the whole story. Reading left to right: clean is perfect; the homoglyph attack drops it; normalisation restores it; the targeted attacker drops it again; the full official list restores it with a proof; then the word-dilution attack crushes it to 0.13; and the one-way model brings it back to 0.99 with a second proof. Every dip is an attacker getting smarter, every recovery is a defence, and two of those recoveries are guaranteed rather than just measured. The remaining open frontier is full semantic rewording — which needs the fusion.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one-glance summary of the whole robustness study — the same story as the line chart before it, but as a table you can read row by row. Three attacks. Homoglyph, the invisible letter swap: recall 0.99 to 0.71, fixed by normalisation and character n-grams, back to 0.99. Targeted adaptive, aiming edits at the words the model trusts most: it dragged the defended model down to 0.88, closed by the full UTS-39 confusables list — back to 0.998, and certified. Dilution, padding the scam with innocent words: recall collapses 0.998 to 0.13, answered by the monotone one-way model with a floor of 0.87. The key line at the bottom: two of the three defences are guarantees, not just better numbers — look-alike letters and word-padding provably cannot flip a decision. That's the difference between 'it scored well against my attacks' and 'this class of attack is excluded by construction.'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honesty check: space. Trained on one source, tested on totally different collections, F1 falls from 0.998 to 0.37 — that's the real cost of distribution shift, and it's the honest number for the wild, not the flattering in-lab 0.998. But I diagnose it rather than just report it: the out-of-distribution AUC is still 0.78, so the ranking is fine and the model is only under-confident — re-thresholding recovers F1 to 0.75. What genuinely remains is a vocabulary gap: out-of-vocabulary words jump from 7% to 20%. So the headline 0.37 overstates it, but a real domain gap remains — which is the argument for retraining and for fusion.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honesty check: time. On real 2023–2025 phishing, the 2008-trained model catches only 14% — genuine concept drift, the model has aged. And this isn't hypothetical: the obfuscation tricks I defend against are real and growing — mixed-script and zero-width characters are near zero in 2008 phishing but 1.8% and 4% in modern phishing. So the whole robustness study is empirically motivated, not a straw man. The lesson: a lab number has a shelf life; a frozen detector goes blind. The next slide fixes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ageing is fixable. When I add modern scam examples and retrain, recall on modern scams jumps from 15% to 98% — and, importantly, it doesn't forget: still perfect on old scams, and false alarms stay low at under 1%. I do this carefully — I keep the normal-mail source unchanged so the model can't cheat by learning 'old source versus new source' instead of the scam. The message: a detector that's kept current keeps working; a frozen one goes blind.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detector in an organisation sits next to people. If one employee reports a scam, can we catch the rest of that wave? Yes: the system compares the report to every inbox and blocks the near-duplicates — recall on the rest goes from 15% to 100%, with no extra false alarms. I'm honest about it: the genuine campaign effect is the 1.0 versus 0.33 gap; the rest is just 'having a recent example helps.' And the gold box is the point you asked me to stress: attackers increasingly hijack a REAL trusted account and send phishing from a legitimate address. A filter that trusts the sender is fooled — but reading the actual words still spots that something is wrong. Content is the signal that survives a stolen account. One caveat: this only works once look-alike letters are normalised first — so that certified defence is a precondition, not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additional idea, and the one honest open frontier. The attack: an LLM rewrites the scam in new words. The risk with any rewrite is that it stops being a scam — so a second, independent LLM judges whether each rewrite is still phishing before I count it. That's 'LLM-as-a-judge'; it kept 24 of 30. The result: my main model shrugs it off, recall stays 1.0, because its redundant word-and-character features absorb the rewrite. The monotone safety-net model gives a little ground, 0.75 to 0.71 — the honest counterweight to its certificate, since it deliberately has no negative evidence. Caveats: small N, attacker and judge share a model family, and outputs are frozen for reproducibility.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idea that ties the whole talk together: instead of a frozen model, a standing process. A new attack arrives — from a user report, a drift monitor, or a honeypot; it's validated as really being an attack; stored in a living database; folded into a retrain that costs about 30 seconds; and the detector is ready for the next one. It's grounded, not hand-wavy: the evolve step already proved retraining lifts recall 0.15 to 0.98, and retraining is cheap. The hard part is trust — an untrusted stream can be poisoned, so every new entry is judged before it's learned, exactly the poisoning caveat from the human-in-the-loop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numbers, measured not guessed. It classifies an email in about 3 milliseconds, the whole model is under 3 megabytes, it handles hundreds per second per core, and a full retrain takes about 25 seconds. Because it's so small it can run on the phone or mail client itself, so the email content never has to leave the device — good for privacy. And I always frame it as one layer of many: it deliberately ignores the sender and links, so a real deployment surrounds it with other checks and the partner detector. Honest scope: parsing MIME, HTML and attachments is not yet handled.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remember one slide, this one. Three things. One: it works, and honestly — near-perfect on clean data, but every claim is tested against an attacker, not just easy examples. Two: two whole classes of attack are shut with a proof, not just a better score. Three: it knows its limits — reading words alone can't catch everything, which is the whole reason it's fused with the link-and-sender detector. The one-line core: a near-perfect score is not the same as a safe detector. The value of this project is knowing where it fails, and proving where it can't.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show this isn't ad-hoc — it maps straight onto the course's general project pipeline: data and EDA, clustering, temporal analysis, NLP, models, and improvement. My project is a deep dive into the NLP, models, and improvement stages — the gold boxes — while touching every earlier box: I do the statistics and correlation, I look at campaigns as clusters, I study drift over fifteen years. The single box I deliberately leave open is combining separate components — and that is exactly the fusion with Gilad, submitted jointly.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syllabus, executed. Top-left: the metrics lecture warned that high accuracy can mean zero phishing caught — so I report F2, MCC and AUC, and I keep the majority baseline in the deck as a live example. Top-right: the leakage discipline — a stratified 60/20/20 split with a fixed seed, dedupe before splitting, the vectoriser fit on training data only, and the 'no email from the future' rule. Bottom-left: the EDA and statistics — rank correlations, skew and kurtosis, robust spread measures, a Mann–Whitney test, and a VIF redundancy check. Bottom-right: the three levels of explainability — model, feature, and instance — all delivered, with the trust-versus-performance trade-off as my fourth research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attacks and defences also come straight from the course taxonomy. Top-left: the adversarial-ML taxonomy — my homoglyphs are evasion, the importance-guided attack is targeted grey-box, false reports are poisoning, and DistilBERT is the transfer test. Top-right: the NLP-security lecture's own examples — 'Get r1ch qu1ck', Cyrillic 'paypal', and sub-word tokenizers breaking on perturbed tokens — are literally my attacks. Bottom-left: the lectures name normalisation and adversarial training as the defences, which is exactly my UTS-39 certificate plus adversarial training. Bottom-right: anomaly detection — Isolation Forest, One-Class SVM, Mahalanobis — is my named next step. And the framing for drift is the course's too: a 2008 model is Taleb's turkey, confident right up to Thanksgiving.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work, and I've grounded each direction in a specific paper from the report — stated as a possibility, not a claim. One: dilution still costs me nine points of clean F1; Fleshman 2018's non-negative networks and the multiple-instance view of the good-word attack suggest it may be possible to keep the guarantee without that cost. Two: my paraphrase probe was small and rule-based; Li 2019's TextBugger and DeepWordBug show a learned neural attacker could push the semantic frontier much harder. Three: Pruthi 2019 puts a robust word-recognition stage in front of the model, which could extend my certificate from look-alikes to ordinary typos. Four: the abnormality lecture's Isolation Forest and One-Class SVM, plus my finding that obfuscation is rare in normal mail, point to an adversarial-input detector — and above all, the fusion with Gilad. A GPU full-data DistilBERT run is the last loose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close: the contribution isn't the 0.998. It's showing exactly where a near-perfect detector breaks, and hardening it until two whole classes of attack are provably shut. It's honest about what content-only can't do — which is precisely why it fuses with the second detector.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E1922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554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&amp; CYBER · FINAL PROJECT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2011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PhishFusion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content-based phishing detector — and an honest study of how robust it really is.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4251960"/>
            <a:ext cx="2011680" cy="45720"/>
          </a:xfrm>
          <a:prstGeom prst="rect">
            <a:avLst/>
          </a:prstGeom>
          <a:solidFill>
            <a:srgbClr val="D4AB4E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5262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Lia Bercovitz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9FB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 · the content / NLP detector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Phishing as a language-based attack.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0020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is social engineering — it works on human trust, not code. The manipulation lives in the language, so a detector that reads only the text is reading the attack itself.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37744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34231D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2505456"/>
            <a:ext cx="54864" cy="1344168"/>
          </a:xfrm>
          <a:prstGeom prst="rect">
            <a:avLst/>
          </a:prstGeom>
          <a:solidFill>
            <a:srgbClr val="E97A60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505456"/>
            <a:ext cx="22494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" y="2852928"/>
            <a:ext cx="22128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“This is IT — reset your password now.”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01568" y="237744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34231D"/>
          </a:solidFill>
          <a:ln/>
        </p:spPr>
      </p:sp>
      <p:sp>
        <p:nvSpPr>
          <p:cNvPr id="12" name="Shape 10"/>
          <p:cNvSpPr/>
          <p:nvPr/>
        </p:nvSpPr>
        <p:spPr>
          <a:xfrm>
            <a:off x="3401568" y="2505456"/>
            <a:ext cx="54864" cy="1344168"/>
          </a:xfrm>
          <a:prstGeom prst="rect">
            <a:avLst/>
          </a:prstGeom>
          <a:solidFill>
            <a:srgbClr val="E97A60"/>
          </a:solidFill>
          <a:ln/>
        </p:spPr>
      </p:sp>
      <p:sp>
        <p:nvSpPr>
          <p:cNvPr id="13" name="Text 11"/>
          <p:cNvSpPr/>
          <p:nvPr/>
        </p:nvSpPr>
        <p:spPr>
          <a:xfrm>
            <a:off x="3621024" y="2505456"/>
            <a:ext cx="22494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21024" y="2852928"/>
            <a:ext cx="22128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“Your account will be suspended in 30 minutes.”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36208" y="237744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34231D"/>
          </a:solidFill>
          <a:ln/>
        </p:spPr>
      </p:sp>
      <p:sp>
        <p:nvSpPr>
          <p:cNvPr id="16" name="Shape 14"/>
          <p:cNvSpPr/>
          <p:nvPr/>
        </p:nvSpPr>
        <p:spPr>
          <a:xfrm>
            <a:off x="6236208" y="2505456"/>
            <a:ext cx="54864" cy="1344168"/>
          </a:xfrm>
          <a:prstGeom prst="rect">
            <a:avLst/>
          </a:prstGeom>
          <a:solidFill>
            <a:srgbClr val="E97A60"/>
          </a:solidFill>
          <a:ln/>
        </p:spPr>
      </p:sp>
      <p:sp>
        <p:nvSpPr>
          <p:cNvPr id="17" name="Text 15"/>
          <p:cNvSpPr/>
          <p:nvPr/>
        </p:nvSpPr>
        <p:spPr>
          <a:xfrm>
            <a:off x="6455664" y="2505456"/>
            <a:ext cx="22494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55664" y="2852928"/>
            <a:ext cx="22128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“You’ve been selected — claim your prize.”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070848" y="237744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34231D"/>
          </a:solidFill>
          <a:ln/>
        </p:spPr>
      </p:sp>
      <p:sp>
        <p:nvSpPr>
          <p:cNvPr id="20" name="Shape 18"/>
          <p:cNvSpPr/>
          <p:nvPr/>
        </p:nvSpPr>
        <p:spPr>
          <a:xfrm>
            <a:off x="9070848" y="2505456"/>
            <a:ext cx="54864" cy="1344168"/>
          </a:xfrm>
          <a:prstGeom prst="rect">
            <a:avLst/>
          </a:prstGeom>
          <a:solidFill>
            <a:srgbClr val="E97A60"/>
          </a:solidFill>
          <a:ln/>
        </p:spPr>
      </p:sp>
      <p:sp>
        <p:nvSpPr>
          <p:cNvPr id="21" name="Text 19"/>
          <p:cNvSpPr/>
          <p:nvPr/>
        </p:nvSpPr>
        <p:spPr>
          <a:xfrm>
            <a:off x="9290304" y="2505456"/>
            <a:ext cx="22494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PROOF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290304" y="2852928"/>
            <a:ext cx="22128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“All your colleagues have already done it.”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66928" y="448056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pPr indent="0" marL="0">
              <a:buNone/>
            </a:pPr>
            <a:r>
              <a:rPr lang="en-US" sz="1900" dirty="0">
                <a:solidFill>
                  <a:srgbClr val="95A6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looks identical to   </a:t>
            </a:r>
            <a:pPr indent="0" marL="0">
              <a:buNone/>
            </a:pPr>
            <a:r>
              <a:rPr lang="en-US" sz="19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pPr indent="0" marL="0">
              <a:buNone/>
            </a:pPr>
            <a:r>
              <a:rPr lang="en-US" sz="1900" b="1" dirty="0">
                <a:solidFill>
                  <a:srgbClr val="E97A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</a:t>
            </a:r>
            <a:pPr indent="0" marL="0">
              <a:buNone/>
            </a:pPr>
            <a:r>
              <a:rPr lang="en-US" sz="19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rify</a:t>
            </a:r>
            <a:pPr indent="0" marL="0">
              <a:buNone/>
            </a:pPr>
            <a:r>
              <a:rPr lang="en-US" sz="1900" dirty="0">
                <a:solidFill>
                  <a:srgbClr val="95A6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— but one Cyrillic letter is a brand-new word to the model. Hold that thought.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hacking people, not computers — urgency, authority, reward, proof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half of a fused system.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68880"/>
            <a:ext cx="3200400" cy="1554480"/>
          </a:xfrm>
          <a:prstGeom prst="roundRect">
            <a:avLst>
              <a:gd name="adj" fmla="val 4706"/>
            </a:avLst>
          </a:prstGeom>
          <a:solidFill>
            <a:srgbClr val="1B2B32"/>
          </a:solidFill>
          <a:ln w="19050">
            <a:solidFill>
              <a:srgbClr val="3CB6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46888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· language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subject + body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 — Lia)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8620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0" y="2468880"/>
            <a:ext cx="3200400" cy="1554480"/>
          </a:xfrm>
          <a:prstGeom prst="roundRect">
            <a:avLst>
              <a:gd name="adj" fmla="val 4706"/>
            </a:avLst>
          </a:prstGeom>
          <a:solidFill>
            <a:srgbClr val="1B2B32"/>
          </a:solidFill>
          <a:ln w="19050">
            <a:solidFill>
              <a:srgbClr val="7D91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46888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D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 · sender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links + address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(partner — Gilad)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18120" y="288036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8503920" y="2468880"/>
            <a:ext cx="3108960" cy="1554480"/>
          </a:xfrm>
          <a:prstGeom prst="roundRect">
            <a:avLst>
              <a:gd name="adj" fmla="val 4706"/>
            </a:avLst>
          </a:prstGeom>
          <a:solidFill>
            <a:srgbClr val="1B2B32"/>
          </a:solidFill>
          <a:ln w="19050">
            <a:solidFill>
              <a:srgbClr val="D4AB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2468880"/>
            <a:ext cx="3108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Fused decision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signals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457200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 is my individual half. URLs are stripped from the text so the model can't lean on the partner's signal — content only. Two independent signals: when one is defeated, the other still fires.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signals — when one is defeated, the other still fires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Method: build, attack, defend, repeat.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68880"/>
            <a:ext cx="2615184" cy="1737360"/>
          </a:xfrm>
          <a:prstGeom prst="roundRect">
            <a:avLst>
              <a:gd name="adj" fmla="val 4211"/>
            </a:avLst>
          </a:prstGeom>
          <a:solidFill>
            <a:srgbClr val="1B2B32"/>
          </a:solidFill>
          <a:ln w="19050">
            <a:solidFill>
              <a:srgbClr val="7D91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468880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D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build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strong, explainable model on a clean pipeline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86684" y="3063240"/>
            <a:ext cx="2194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401568" y="2468880"/>
            <a:ext cx="2615184" cy="1737360"/>
          </a:xfrm>
          <a:prstGeom prst="roundRect">
            <a:avLst>
              <a:gd name="adj" fmla="val 4211"/>
            </a:avLst>
          </a:prstGeom>
          <a:solidFill>
            <a:srgbClr val="1B2B32"/>
          </a:solidFill>
          <a:ln w="19050">
            <a:solidFill>
              <a:srgbClr val="5FA3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2468880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study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from academic papers and known techniques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21324" y="3063240"/>
            <a:ext cx="2194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36208" y="2468880"/>
            <a:ext cx="2615184" cy="1737360"/>
          </a:xfrm>
          <a:prstGeom prst="roundRect">
            <a:avLst>
              <a:gd name="adj" fmla="val 4211"/>
            </a:avLst>
          </a:prstGeom>
          <a:solidFill>
            <a:srgbClr val="1B2B32"/>
          </a:solidFill>
          <a:ln w="19050">
            <a:solidFill>
              <a:srgbClr val="E97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36208" y="2468880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adapt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attacks aimed at my model's weak spots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55964" y="3063240"/>
            <a:ext cx="2194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070848" y="2468880"/>
            <a:ext cx="2615184" cy="1737360"/>
          </a:xfrm>
          <a:prstGeom prst="roundRect">
            <a:avLst>
              <a:gd name="adj" fmla="val 4211"/>
            </a:avLst>
          </a:prstGeom>
          <a:solidFill>
            <a:srgbClr val="1B2B32"/>
          </a:solidFill>
          <a:ln w="19050">
            <a:solidFill>
              <a:srgbClr val="3CB6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0848" y="2468880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defend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each weakness — then attack the fix. Loop.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466344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vulnerable versions you'll see are not failures. </a:t>
            </a:r>
            <a:pPr indent="0" marL="0">
              <a:buNone/>
            </a:pPr>
            <a:r>
              <a:rPr lang="en-US" sz="16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each weakness and closing it is the whole method — a score means nothing until you've tried to break it.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iterative loop is the contribution, not any single number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classification pipeline.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3317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B2B32"/>
          </a:solidFill>
          <a:ln w="19050">
            <a:solidFill>
              <a:srgbClr val="7D91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3317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D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body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551176" y="2651760"/>
            <a:ext cx="3840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916936" y="23317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B2B32"/>
          </a:solidFill>
          <a:ln w="19050">
            <a:solidFill>
              <a:srgbClr val="7D91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6936" y="23317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D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links,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look-alikes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01184" y="2651760"/>
            <a:ext cx="3840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266944" y="23317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B2B32"/>
          </a:solidFill>
          <a:ln w="19050">
            <a:solidFill>
              <a:srgbClr val="3CB6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66944" y="23317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1–2 grams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char 3–5 grams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251192" y="2651760"/>
            <a:ext cx="3840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616952" y="23317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B2B32"/>
          </a:solidFill>
          <a:ln w="19050">
            <a:solidFill>
              <a:srgbClr val="3CB6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16952" y="23317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combined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vector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0" y="2651760"/>
            <a:ext cx="3840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966960" y="23317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B2B32"/>
          </a:solidFill>
          <a:ln w="19050">
            <a:solidFill>
              <a:srgbClr val="D4AB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66960" y="233172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·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66928" y="397764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160520"/>
            <a:ext cx="146304" cy="146304"/>
          </a:xfrm>
          <a:prstGeom prst="ellipse">
            <a:avLst/>
          </a:prstGeom>
          <a:solidFill>
            <a:srgbClr val="3CB6A6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3977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 n-grams → robustness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133088" y="397764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34256" y="4160520"/>
            <a:ext cx="146304" cy="146304"/>
          </a:xfrm>
          <a:prstGeom prst="ellipse">
            <a:avLst/>
          </a:prstGeom>
          <a:solidFill>
            <a:srgbClr val="5FA3C0"/>
          </a:solidFill>
          <a:ln/>
        </p:spPr>
      </p:sp>
      <p:sp>
        <p:nvSpPr>
          <p:cNvPr id="25" name="Text 23"/>
          <p:cNvSpPr/>
          <p:nvPr/>
        </p:nvSpPr>
        <p:spPr>
          <a:xfrm>
            <a:off x="4590288" y="3977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→ explainable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699248" y="397764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00416" y="4160520"/>
            <a:ext cx="146304" cy="146304"/>
          </a:xfrm>
          <a:prstGeom prst="ellipse">
            <a:avLst/>
          </a:prstGeom>
          <a:solidFill>
            <a:srgbClr val="D4AB4E"/>
          </a:solidFill>
          <a:ln/>
        </p:spPr>
      </p:sp>
      <p:sp>
        <p:nvSpPr>
          <p:cNvPr id="28" name="Text 26"/>
          <p:cNvSpPr/>
          <p:nvPr/>
        </p:nvSpPr>
        <p:spPr>
          <a:xfrm>
            <a:off x="8156448" y="3977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 stripped → partner's job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66928" y="470916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views of the text. </a:t>
            </a:r>
            <a:pPr indent="0" marL="0">
              <a:buNone/>
            </a:pPr>
            <a:r>
              <a:rPr lang="en-US" sz="15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words give a readable, explainable signal; character chunks (‘cl1ck’ still shares ‘lic’, ‘ick’ with ‘click’) give robustness to letter tricks. Corpus: CEAS_08, 26,633 emails, rebalanced to a realistic 35% phishing.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= how important a word/chunk is to this email vs the whole corpus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Datasets, and how I cleaned them.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0020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EMAIL SETS I USED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CEAS_08  </a:t>
            </a:r>
            <a:pPr indent="0" marL="0">
              <a:buNone/>
            </a:pPr>
            <a:r>
              <a:rPr lang="en-US" sz="125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set — both classes, one source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212080" y="196596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26,633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441448"/>
            <a:ext cx="5669280" cy="0"/>
          </a:xfrm>
          <a:prstGeom prst="line">
            <a:avLst/>
          </a:prstGeom>
          <a:noFill/>
          <a:ln w="9525">
            <a:solidFill>
              <a:srgbClr val="26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487168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Nazario / Enron / Ling  </a:t>
            </a:r>
            <a:pPr indent="0" marL="0">
              <a:buNone/>
            </a:pPr>
            <a:r>
              <a:rPr lang="en-US" sz="125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sources — fairness test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12080" y="2487168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2962656"/>
            <a:ext cx="5669280" cy="0"/>
          </a:xfrm>
          <a:prstGeom prst="line">
            <a:avLst/>
          </a:prstGeom>
          <a:noFill/>
          <a:ln w="9525">
            <a:solidFill>
              <a:srgbClr val="26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3008376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phishing 2023–2025  </a:t>
            </a:r>
            <a:pPr indent="0" marL="0">
              <a:buNone/>
            </a:pPr>
            <a:r>
              <a:rPr lang="en-US" sz="125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scams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212080" y="3008376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1,303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3483864"/>
            <a:ext cx="5669280" cy="0"/>
          </a:xfrm>
          <a:prstGeom prst="line">
            <a:avLst/>
          </a:prstGeom>
          <a:noFill/>
          <a:ln w="9525">
            <a:solidFill>
              <a:srgbClr val="26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29584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normal mail 2024  </a:t>
            </a:r>
            <a:pPr indent="0" marL="0">
              <a:buNone/>
            </a:pPr>
            <a:r>
              <a:rPr lang="en-US" sz="125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legit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212080" y="3529584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005072"/>
            <a:ext cx="5669280" cy="0"/>
          </a:xfrm>
          <a:prstGeom prst="line">
            <a:avLst/>
          </a:prstGeom>
          <a:noFill/>
          <a:ln w="9525">
            <a:solidFill>
              <a:srgbClr val="26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050792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SpamAssassin  </a:t>
            </a:r>
            <a:pPr indent="0" marL="0">
              <a:buNone/>
            </a:pPr>
            <a:r>
              <a:rPr lang="en-US" sz="125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set — re-check results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12080" y="4050792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5,809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4526280"/>
            <a:ext cx="5669280" cy="0"/>
          </a:xfrm>
          <a:prstGeom prst="line">
            <a:avLst/>
          </a:prstGeom>
          <a:noFill/>
          <a:ln w="9525">
            <a:solidFill>
              <a:srgbClr val="26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1600200"/>
            <a:ext cx="5074920" cy="2331720"/>
          </a:xfrm>
          <a:prstGeom prst="roundRect">
            <a:avLst>
              <a:gd name="adj" fmla="val 3137"/>
            </a:avLst>
          </a:prstGeom>
          <a:solidFill>
            <a:srgbClr val="1B2B32"/>
          </a:solidFill>
          <a:ln w="19050">
            <a:solidFill>
              <a:srgbClr val="3CB6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73736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CLEANED IT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6656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059168" y="2084832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web links (the partner's signal)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766560" y="239115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59168" y="2391156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 spacing · cut over-long mail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66560" y="2697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59168" y="2697480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duplicates before splitting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766560" y="30038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59168" y="3003804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to a realistic 35% phishing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766560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59168" y="3310128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60 / 20 / 20 with a fixed seed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766560" y="36164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059168" y="3616452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everything → exact reproduction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37960" y="4114800"/>
            <a:ext cx="5074920" cy="1737360"/>
          </a:xfrm>
          <a:prstGeom prst="roundRect">
            <a:avLst>
              <a:gd name="adj" fmla="val 3684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37960" y="4242816"/>
            <a:ext cx="54864" cy="1481328"/>
          </a:xfrm>
          <a:prstGeom prst="rect">
            <a:avLst/>
          </a:prstGeom>
          <a:solidFill>
            <a:srgbClr val="D4AB4E"/>
          </a:solidFill>
          <a:ln/>
        </p:spPr>
      </p:sp>
      <p:sp>
        <p:nvSpPr>
          <p:cNvPr id="38" name="Text 36"/>
          <p:cNvSpPr/>
          <p:nvPr/>
        </p:nvSpPr>
        <p:spPr>
          <a:xfrm>
            <a:off x="6757416" y="4261104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CHOICE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757416" y="4572000"/>
            <a:ext cx="4672584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test can guess an email’s source 99% of the time.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 train on one source (CEAS) that already has both phishing and normal mail — otherwise the model could “cheat” by spotting the source instead of the scam.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66928" y="4114800"/>
            <a:ext cx="5669280" cy="1737360"/>
          </a:xfrm>
          <a:prstGeom prst="roundRect">
            <a:avLst>
              <a:gd name="adj" fmla="val 3684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6928" y="4242816"/>
            <a:ext cx="54864" cy="1481328"/>
          </a:xfrm>
          <a:prstGeom prst="rect">
            <a:avLst/>
          </a:prstGeom>
          <a:solidFill>
            <a:srgbClr val="5FA3C0"/>
          </a:solidFill>
          <a:ln/>
        </p:spPr>
      </p:sp>
      <p:sp>
        <p:nvSpPr>
          <p:cNvPr id="42" name="Text 40"/>
          <p:cNvSpPr/>
          <p:nvPr/>
        </p:nvSpPr>
        <p:spPr>
          <a:xfrm>
            <a:off x="786384" y="426110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QUICK DATA CHECKS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86384" y="4572000"/>
            <a:ext cx="5266944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emails are almost all plain text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clean baseline the look-alike-letter attack later breaks). And the dates are clean — 99.7% fall in 2007–2009, with none of the fake “1970” dates you get when a missing date is filled with a zero.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mixed set, cleaned and hashed so the results reproduce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simple features relate.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pic>
        <p:nvPicPr>
          <p:cNvPr id="6" name="Image 0" descr="./figs/F11_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45920"/>
            <a:ext cx="612648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40880" y="19202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0F1"/>
                </a:solidFill>
              </a:rPr>
              <a:t>What to read here.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95A6AD"/>
                </a:solidFill>
              </a:rPr>
              <a:t>Each cell is how strongly two features move together (Spearman rank correlation).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040880" y="320040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Length and word-count are almost the same thing (deep colour).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Length relates most to the label: phishing mail is shorter.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Most other pairs are weak — little overlap.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040880" y="51206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use rank correlation (not Pearson) because these features are skewed — ranks are outlier-proof.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meta-features are diagnostics only — the real signal is which words appear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findings, tested — not eyeballed.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91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with the phishing label (rank correlation)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201168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691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Redundancy check — VIF (over 10 = repeats another feature)</a:t>
            </a:r>
            <a:endParaRPr lang="en-US" sz="13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400800" y="2011680"/>
          <a:ext cx="54864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00800" y="52120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is shorter — confirmed by a Mann–Whitney test, </a:t>
            </a:r>
            <a:pPr indent="0" marL="0">
              <a:buNone/>
            </a:pPr>
            <a:r>
              <a:rPr lang="en-US" sz="14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≪ 0.001</a:t>
            </a:r>
            <a:pPr indent="0" marL="0">
              <a:buNone/>
            </a:pPr>
            <a:r>
              <a:rPr lang="en-US" sz="14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Length and word-count repeat each other (VIF ≈ 21), so I keep them as notes, not model inputs.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statistics · a proper hypothesis test · a redundancy check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CHOICE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Baselines, then the model — chosen on results.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1828800"/>
          <a:ext cx="7498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58978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 (higher is better)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503920" y="1920240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B6A6"/>
                </a:solidFill>
              </a:rPr>
              <a:t>Why Logistic Regression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EAF0F1"/>
                </a:solidFill>
              </a:rPr>
              <a:t>Best score, and its lead over Complement NB is real (McNemar test, p ≪ 0.001).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95A6AD"/>
                </a:solidFill>
              </a:rPr>
              <a:t>It is fast (~3 ms) and fully explainable — a robustness study needs a transparent model. DistilBERT ties or trails and the attacks don't transfer to it, so it stays a baseline, not the working model.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accuracy paradox: a 'majority' model scores 65% accuracy and catches zero phishing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Near-perfect — and that's the warning.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20116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C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0.998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66928" y="28346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32918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C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0.997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66928" y="4114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20116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C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108960" y="28346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108960" y="32918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+ 4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108960" y="4114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in 5,327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35040" y="1783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— clean test set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03720" y="219456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legit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272016" y="219456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phishing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89320" y="2880360"/>
            <a:ext cx="868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89320" y="4471416"/>
            <a:ext cx="868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03720" y="2514600"/>
            <a:ext cx="2240280" cy="1463040"/>
          </a:xfrm>
          <a:prstGeom prst="roundRect">
            <a:avLst>
              <a:gd name="adj" fmla="val 3750"/>
            </a:avLst>
          </a:prstGeom>
          <a:solidFill>
            <a:srgbClr val="1B2B32"/>
          </a:solidFill>
          <a:ln w="15875">
            <a:solidFill>
              <a:srgbClr val="3CB6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2697480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3C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3,459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903720" y="3410712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272016" y="2514600"/>
            <a:ext cx="2240280" cy="1463040"/>
          </a:xfrm>
          <a:prstGeom prst="roundRect">
            <a:avLst>
              <a:gd name="adj" fmla="val 3750"/>
            </a:avLst>
          </a:prstGeom>
          <a:solidFill>
            <a:srgbClr val="1B2B32"/>
          </a:solidFill>
          <a:ln w="15875">
            <a:solidFill>
              <a:srgbClr val="E97A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72016" y="2697480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97A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272016" y="3410712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03720" y="4105656"/>
            <a:ext cx="2240280" cy="1463040"/>
          </a:xfrm>
          <a:prstGeom prst="roundRect">
            <a:avLst>
              <a:gd name="adj" fmla="val 3750"/>
            </a:avLst>
          </a:prstGeom>
          <a:solidFill>
            <a:srgbClr val="1B2B32"/>
          </a:solidFill>
          <a:ln w="15875">
            <a:solidFill>
              <a:srgbClr val="E97A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03720" y="4288536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97A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6903720" y="500176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72016" y="4105656"/>
            <a:ext cx="2240280" cy="1463040"/>
          </a:xfrm>
          <a:prstGeom prst="roundRect">
            <a:avLst>
              <a:gd name="adj" fmla="val 3750"/>
            </a:avLst>
          </a:prstGeom>
          <a:solidFill>
            <a:srgbClr val="1B2B32"/>
          </a:solidFill>
          <a:ln w="15875">
            <a:solidFill>
              <a:srgbClr val="3CB6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2016" y="4288536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3C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1,860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9272016" y="500176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4846320"/>
            <a:ext cx="5120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near-perfect score is a property of clean, single-source data — not proof it works in the wild.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accuracy paradox: a model can score 65% and catch zero phishing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E1922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737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21945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I attack my own model.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429000"/>
            <a:ext cx="98755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7D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so far built a near-perfect detector. From here I switch sides and attack it the way a real adversary would — then fix each hole, and attack the fix. Each attack that follows is shown three ways: what the attack is, how I fixed it, and the result.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66928" y="484632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1B2B32"/>
          </a:solidFill>
          <a:ln w="15875">
            <a:solidFill>
              <a:srgbClr val="E97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48463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5728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944368" y="484632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1B2B32"/>
          </a:solidFill>
          <a:ln w="15875">
            <a:solidFill>
              <a:srgbClr val="3CB6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48463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73168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321808" y="484632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1B2B32"/>
          </a:solidFill>
          <a:ln w="15875">
            <a:solidFill>
              <a:srgbClr val="D4AB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21808" y="48463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vulnerable versions are not failures — finding and closing them is the point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1 · HOMOGLYPHS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invisible letter swap.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9659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your account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66928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→ caught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swap Latin letters for identical-looking Cyrillic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3474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pPr algn="ctr" indent="0" marL="0">
              <a:buNone/>
            </a:pPr>
            <a:r>
              <a:rPr lang="en-US" sz="2600" dirty="0">
                <a:solidFill>
                  <a:srgbClr val="E97A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</a:t>
            </a:r>
            <a:pPr algn="ctr" indent="0" marL="0">
              <a:buNone/>
            </a:pPr>
            <a:r>
              <a:rPr lang="en-US" sz="2600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rify your </a:t>
            </a:r>
            <a:pPr algn="ctr" indent="0" marL="0">
              <a:buNone/>
            </a:pPr>
            <a:r>
              <a:rPr lang="en-US" sz="2600" dirty="0">
                <a:solidFill>
                  <a:srgbClr val="E97A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</a:t>
            </a:r>
            <a:pPr algn="ctr" indent="0" marL="0">
              <a:buNone/>
            </a:pPr>
            <a:r>
              <a:rPr lang="en-US" sz="2600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cc</a:t>
            </a:r>
            <a:pPr algn="ctr" indent="0" marL="0">
              <a:buNone/>
            </a:pPr>
            <a:r>
              <a:rPr lang="en-US" sz="2600" dirty="0">
                <a:solidFill>
                  <a:srgbClr val="E97A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</a:t>
            </a:r>
            <a:pPr algn="ctr" indent="0" marL="0">
              <a:buNone/>
            </a:pPr>
            <a:r>
              <a:rPr lang="en-US" sz="2600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unt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41148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the same → EVADES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470916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Imperceptible, and nearly free (Eger 2019; Boucher 2022): a look-alike is a new, unknown token, so the phishing words vanish.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562356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word-only recall 0.99 → 0.71.</a:t>
            </a:r>
            <a:endParaRPr lang="en-US" sz="12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400800" y="201168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6400800" y="57150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caught (recall), word-only model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reads the same word; the model sees a different one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1 · DEFENCE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defences — one generalises, one doesn't.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1874520"/>
          <a:ext cx="76809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57607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caught (recall)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595360" y="192024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 n-grams + normalise: fold look-alikes back to plain letters before classifying.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595360" y="28803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 → 0.99. Normalisation even repairs an attack it never saw (full-width), via generic Unicode folding.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595360" y="41148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principled defence generalises; adversarial training memorises (weaker on unseen, 0.78). Stacked, they cover all.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principled defence beats a memorised one on unseen attacks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2 · ADAPTIVE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smarter attacker aims at the weak spots.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1920240"/>
          <a:ext cx="58521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57150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budget (8 edits) — targeting matters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49440" y="1920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 only the model's highest-weight words, using look-alikes my hand-made list happens to miss (DeepWordBug / TextBugger / HotFlip family).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949440" y="32918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8 edits, targeted, cut recall 0.98 → 0.74. A typical email flips after just 9 invisible edits (~23% of letters). Even the fully-defended model drops to 0.88.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form of 'no silver bullet'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2 · DEFENCE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gap — with a guarantee.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201168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D4A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92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phishing is provably unchanged by the whole family of look-alike letters (0% with the old hand-made list).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452628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hand-made list for the full official confusables list (Unicode UTS #39) — the same one browsers use for fake web addresses.</a:t>
            </a:r>
            <a:endParaRPr lang="en-US" sz="12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035040" y="1920240"/>
          <a:ext cx="55778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035040" y="544068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035040" y="571500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vs the targeted attacker 0.88 → 0.998, now certified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arms race ends by raising the cost of attack, not by a lucky score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3 · DILUTION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Hack the words, not the letters.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1828800"/>
          <a:ext cx="74980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58064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innocent words added  →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503920" y="192024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good-word attack (Lowd &amp; Meek 2005): bury the scam under innocent filler until the linear sum tips.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503920" y="329184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0.998 → 0.13. The letter-cleaner does nothing (0.997) — wrong defence for a new kind of attack.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bag-of-words is inherently vulnerable to dilution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3 · DEFENCE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that can't be diluted — at a cost.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1920240"/>
          <a:ext cx="58521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949440" y="1920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one-way model: every word can only ADD suspicion, never subtract it. So adding text can only push the score up — padding provably cannot clear a scam.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949440" y="361188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drops; 100% stay flagged after +40 / +100 / +300 words. Price: clean F1 0.998 → 0.91. A guaranteed safety net, not a replacement.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attack classes now closed by proof: letters, and word-insertion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arms race, in one line.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10972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dip is an attack; each recovery is a defence. Two recoveries (UTS-39, monotone) are guaranteed, not just measured.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fix provoked a smarter attack — two are now closed by proof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attack, and how it was answered.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11680"/>
          <a:ext cx="11057839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926080"/>
                <a:gridCol w="1737360"/>
                <a:gridCol w="2825496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5A6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5A6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5A6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hit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5A6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95A6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2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0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Homoglyph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AF0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letters for look-alikes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97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 → 0.71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AF0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normalisation + char n-grams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CB6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0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/ adaptive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AF0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 edits at the top words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97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0.88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AF0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UTS-39 certificate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CB6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  </a:t>
                      </a:r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D4A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proof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0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AF0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bury the scam in legit filler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97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 → 0.13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AF0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monotone (one-way)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CB6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  </a:t>
                      </a:r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D4AB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proof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48640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 three are now closed by proof, not just a better score — </a:t>
            </a:r>
            <a:pPr indent="0" marL="0">
              <a:buNone/>
            </a:pPr>
            <a:r>
              <a:rPr lang="en-US" sz="150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look-alike letters and word-padding provably cannot flip a decision.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attacks · three defences · two guarantees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 · SPACE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different inbox: cross-corpus.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8745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C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0.998</a:t>
            </a:r>
            <a:pPr indent="0" marL="0">
              <a:buNone/>
            </a:pPr>
            <a:r>
              <a:rPr lang="en-US" sz="3000" dirty="0">
                <a:solidFill>
                  <a:srgbClr val="6E7F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indent="0" marL="0">
              <a:buNone/>
            </a:pPr>
            <a:r>
              <a:rPr lang="en-US" sz="4000" b="1" dirty="0">
                <a:solidFill>
                  <a:srgbClr val="E97A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2788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— trained on CEAS, tested on totally different collections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383280"/>
            <a:ext cx="5486400" cy="1234440"/>
          </a:xfrm>
          <a:prstGeom prst="roundRect">
            <a:avLst>
              <a:gd name="adj" fmla="val 5185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3511296"/>
            <a:ext cx="54864" cy="978408"/>
          </a:xfrm>
          <a:prstGeom prst="rect">
            <a:avLst/>
          </a:prstGeom>
          <a:solidFill>
            <a:srgbClr val="5FA3C0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52958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DIAGNOSED, NOT JUST REPORTED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6384" y="3840480"/>
            <a:ext cx="5084064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total loss: out-of-distribution AUC is still 0.78 and the model is merely under-confident. Re-thresholding recovers F1 to 0.75 — a prior/threshold shift.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4754880"/>
            <a:ext cx="5486400" cy="1234440"/>
          </a:xfrm>
          <a:prstGeom prst="roundRect">
            <a:avLst>
              <a:gd name="adj" fmla="val 5185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4882896"/>
            <a:ext cx="54864" cy="978408"/>
          </a:xfrm>
          <a:prstGeom prst="rect">
            <a:avLst/>
          </a:prstGeom>
          <a:solidFill>
            <a:srgbClr val="E97A6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490118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GAP THAT REMAINS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384" y="5212080"/>
            <a:ext cx="5084064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vocabulary gap: out-of-vocabulary words rise 7% → 20%. The headline 0.37 overstates it, but a domain gap is real.</a:t>
            </a:r>
            <a:endParaRPr lang="en-US" sz="12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400800" y="2011680"/>
          <a:ext cx="52120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400800" y="58064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number for the wild is the cross-source one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numbers do not survive a change of corpus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 · 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different year: concept drift.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201168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97A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14%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66928" y="35204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1,303 real 2023–2025 phishing emails caught by the 2008-trained model — genuine concept drift.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5303520" cy="1874520"/>
          </a:xfrm>
          <a:prstGeom prst="roundRect">
            <a:avLst>
              <a:gd name="adj" fmla="val 3415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2093976"/>
            <a:ext cx="54864" cy="1618488"/>
          </a:xfrm>
          <a:prstGeom prst="rect">
            <a:avLst/>
          </a:prstGeom>
          <a:solidFill>
            <a:srgbClr val="D4AB4E"/>
          </a:solidFill>
          <a:ln/>
        </p:spPr>
      </p:sp>
      <p:sp>
        <p:nvSpPr>
          <p:cNvPr id="10" name="Text 8"/>
          <p:cNvSpPr/>
          <p:nvPr/>
        </p:nvSpPr>
        <p:spPr>
          <a:xfrm>
            <a:off x="6528816" y="211226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IS REAL, NOT A STRAW MAN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8816" y="2423160"/>
            <a:ext cx="4901184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Homoglyph &amp; zero-width obfuscation is ≈ 0% in 2008 phishing but 1.8% / 4.0% in modern phishing — the very tricks I defend against are an emerging technique.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09360" y="3977640"/>
            <a:ext cx="5303520" cy="1874520"/>
          </a:xfrm>
          <a:prstGeom prst="roundRect">
            <a:avLst>
              <a:gd name="adj" fmla="val 3415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4105656"/>
            <a:ext cx="54864" cy="1618488"/>
          </a:xfrm>
          <a:prstGeom prst="rect">
            <a:avLst/>
          </a:prstGeom>
          <a:solidFill>
            <a:srgbClr val="5FA3C0"/>
          </a:solidFill>
          <a:ln/>
        </p:spPr>
      </p:sp>
      <p:sp>
        <p:nvSpPr>
          <p:cNvPr id="14" name="Text 12"/>
          <p:cNvSpPr/>
          <p:nvPr/>
        </p:nvSpPr>
        <p:spPr>
          <a:xfrm>
            <a:off x="6528816" y="412394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28816" y="4434840"/>
            <a:ext cx="4901184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number has a shelf life. This is the strongest single argument that a frozen detector is not enough — and it sets up the fix on the next slide.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in space (corpus) and time (year) — both measured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CURRENT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 it modern scams — it catches up.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182880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585216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caught (recall)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046720" y="2011680"/>
            <a:ext cx="35661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B6A6"/>
                </a:solidFill>
              </a:rPr>
              <a:t>0.15 → 0.98</a:t>
            </a:r>
            <a:endParaRPr lang="en-US" sz="2600" dirty="0"/>
          </a:p>
          <a:p>
            <a:pPr indent="0" marL="0">
              <a:buNone/>
            </a:pPr>
            <a:r>
              <a:rPr lang="en-US" sz="1400" dirty="0">
                <a:solidFill>
                  <a:srgbClr val="EAF0F1"/>
                </a:solidFill>
              </a:rPr>
              <a:t>on modern scams after retraining, with no forgetting (still 1.0 on old scams) and no rise in false alarms (0.7%).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5A6AD"/>
                </a:solidFill>
              </a:rPr>
              <a:t>Done honestly: I keep the normal-mail source unchanged, to avoid a 'cheating' shortcut.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 kept current works; a frozen one goes blind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report protects the whole campaign.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2286000" cy="1051560"/>
          </a:xfrm>
          <a:prstGeom prst="roundRect">
            <a:avLst>
              <a:gd name="adj" fmla="val 6957"/>
            </a:avLst>
          </a:prstGeom>
          <a:solidFill>
            <a:srgbClr val="1B2B32"/>
          </a:solidFill>
          <a:ln w="19050">
            <a:solidFill>
              <a:srgbClr val="E97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00200"/>
            <a:ext cx="2286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flags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880360" y="1874520"/>
            <a:ext cx="384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236976" y="1600200"/>
            <a:ext cx="2286000" cy="1051560"/>
          </a:xfrm>
          <a:prstGeom prst="roundRect">
            <a:avLst>
              <a:gd name="adj" fmla="val 6957"/>
            </a:avLst>
          </a:prstGeom>
          <a:solidFill>
            <a:srgbClr val="1B2B32"/>
          </a:solidFill>
          <a:ln w="19050">
            <a:solidFill>
              <a:srgbClr val="7D91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6976" y="1600200"/>
            <a:ext cx="2286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D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inboxes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550408" y="1874520"/>
            <a:ext cx="384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907024" y="1600200"/>
            <a:ext cx="2286000" cy="1051560"/>
          </a:xfrm>
          <a:prstGeom prst="roundRect">
            <a:avLst>
              <a:gd name="adj" fmla="val 6957"/>
            </a:avLst>
          </a:prstGeom>
          <a:solidFill>
            <a:srgbClr val="1B2B32"/>
          </a:solidFill>
          <a:ln w="19050">
            <a:solidFill>
              <a:srgbClr val="3CB6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07024" y="1600200"/>
            <a:ext cx="2286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copies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0456" y="1874520"/>
            <a:ext cx="384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577072" y="1600200"/>
            <a:ext cx="2286000" cy="1051560"/>
          </a:xfrm>
          <a:prstGeom prst="roundRect">
            <a:avLst>
              <a:gd name="adj" fmla="val 6957"/>
            </a:avLst>
          </a:prstGeom>
          <a:solidFill>
            <a:srgbClr val="1B2B32"/>
          </a:solidFill>
          <a:ln w="19050">
            <a:solidFill>
              <a:srgbClr val="D4AB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600200"/>
            <a:ext cx="2286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example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66928" y="2971800"/>
          <a:ext cx="56692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 the rest of the campaign — real effect is 1.0 vs 0.33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537960" y="2971800"/>
            <a:ext cx="5074920" cy="1234440"/>
          </a:xfrm>
          <a:prstGeom prst="roundRect">
            <a:avLst>
              <a:gd name="adj" fmla="val 5185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37960" y="3099816"/>
            <a:ext cx="54864" cy="97840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21" name="Text 18"/>
          <p:cNvSpPr/>
          <p:nvPr/>
        </p:nvSpPr>
        <p:spPr>
          <a:xfrm>
            <a:off x="6757416" y="3118104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757416" y="3429000"/>
            <a:ext cx="4672584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reports a scam → the system finds and blocks the near-duplicates in every other inbox. One report lifts detection of the rest from 15% to 100%, no extra false alarms.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537960" y="4343400"/>
            <a:ext cx="5074920" cy="1371600"/>
          </a:xfrm>
          <a:prstGeom prst="roundRect">
            <a:avLst>
              <a:gd name="adj" fmla="val 4667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37960" y="4471416"/>
            <a:ext cx="54864" cy="1115568"/>
          </a:xfrm>
          <a:prstGeom prst="rect">
            <a:avLst/>
          </a:prstGeom>
          <a:solidFill>
            <a:srgbClr val="D4AB4E"/>
          </a:solidFill>
          <a:ln/>
        </p:spPr>
      </p:sp>
      <p:sp>
        <p:nvSpPr>
          <p:cNvPr id="25" name="Text 22"/>
          <p:cNvSpPr/>
          <p:nvPr/>
        </p:nvSpPr>
        <p:spPr>
          <a:xfrm>
            <a:off x="6757416" y="4489704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CONTENT MATTERS EVEN MORE NOW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757416" y="4800600"/>
            <a:ext cx="4672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hijack a real, trusted account and send phishing from a legitimate address. A filter that trusts the sender is fooled — reading the words still sees something is wrong.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the signal that survives a stolen account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LLM paraphrase attack, LLM-judged.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B2B32"/>
          </a:solidFill>
          <a:ln w="19050">
            <a:solidFill>
              <a:srgbClr val="E97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4592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rewrites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196596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70248" y="16459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B2B32"/>
          </a:solidFill>
          <a:ln w="19050">
            <a:solidFill>
              <a:srgbClr val="3CB6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70248" y="164592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2nd LLM judges: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phishing?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543800" y="196596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73568" y="16459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B2B32"/>
          </a:solidFill>
          <a:ln w="19050">
            <a:solidFill>
              <a:srgbClr val="7D919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73568" y="1645920"/>
            <a:ext cx="3200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D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attacks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200400"/>
            <a:ext cx="5486400" cy="2286000"/>
          </a:xfrm>
          <a:prstGeom prst="roundRect">
            <a:avLst>
              <a:gd name="adj" fmla="val 2800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3328416"/>
            <a:ext cx="54864" cy="2029968"/>
          </a:xfrm>
          <a:prstGeom prst="rect">
            <a:avLst/>
          </a:prstGeom>
          <a:solidFill>
            <a:srgbClr val="5FA3C0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346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JUDGE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384" y="3657600"/>
            <a:ext cx="5084064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rewrite that stops being a scam mustn’t count as an evasion. A second, independent LLM validates each one — “LLM-as-a-judge.” It kept 24 of 30.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attack class both certificates leave open: full semantic rewording.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75120" y="3200400"/>
            <a:ext cx="4937760" cy="2286000"/>
          </a:xfrm>
          <a:prstGeom prst="roundRect">
            <a:avLst>
              <a:gd name="adj" fmla="val 2800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0" y="3328416"/>
            <a:ext cx="54864" cy="2029968"/>
          </a:xfrm>
          <a:prstGeom prst="rect">
            <a:avLst/>
          </a:prstGeom>
          <a:solidFill>
            <a:srgbClr val="E97A60"/>
          </a:solidFill>
          <a:ln/>
        </p:spPr>
      </p:sp>
      <p:sp>
        <p:nvSpPr>
          <p:cNvPr id="20" name="Text 18"/>
          <p:cNvSpPr/>
          <p:nvPr/>
        </p:nvSpPr>
        <p:spPr>
          <a:xfrm>
            <a:off x="6894576" y="334670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(SMALL PROBE)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94576" y="3657600"/>
            <a:ext cx="4535424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model shrugs it off (recall 1.0).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monotone model gives ground (0.75 → 0.71) — the honest counterweight to its certificate, since it has no negative evidence to fall back on.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stated: N is small; attacker and judge share a model family; outputs are frozen and committed for reproducibility.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rewording is the one class both certificates leave open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self-updating attack database.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1B2B32"/>
          </a:solidFill>
          <a:ln w="19050">
            <a:solidFill>
              <a:srgbClr val="E97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45920"/>
            <a:ext cx="1965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attack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/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/ trap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532888" y="1965960"/>
            <a:ext cx="256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88920" y="16459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1B2B32"/>
          </a:solidFill>
          <a:ln w="19050">
            <a:solidFill>
              <a:srgbClr val="3CB6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8920" y="1645920"/>
            <a:ext cx="1965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really an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1965960"/>
            <a:ext cx="256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10912" y="16459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1B2B32"/>
          </a:solidFill>
          <a:ln w="19050">
            <a:solidFill>
              <a:srgbClr val="7D919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10912" y="1645920"/>
            <a:ext cx="1965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D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attack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76872" y="1965960"/>
            <a:ext cx="256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232904" y="16459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1B2B32"/>
          </a:solidFill>
          <a:ln w="19050">
            <a:solidFill>
              <a:srgbClr val="5FA3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32904" y="1645920"/>
            <a:ext cx="1965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it in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(~30 s)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98864" y="1965960"/>
            <a:ext cx="256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54896" y="16459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1B2B32"/>
          </a:solidFill>
          <a:ln w="19050">
            <a:solidFill>
              <a:srgbClr val="D4AB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54896" y="1645920"/>
            <a:ext cx="1965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ready for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one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520440" cy="2468880"/>
          </a:xfrm>
          <a:prstGeom prst="roundRect">
            <a:avLst>
              <a:gd name="adj" fmla="val 2593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3328416"/>
            <a:ext cx="54864" cy="22128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34670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86384" y="3657600"/>
            <a:ext cx="3118104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static model ages. A growing database of attacks — fed by user reports, drift monitoring and honeypots — keeps the detector learning tricks it was never designed for.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261104" y="3200400"/>
            <a:ext cx="3520440" cy="2468880"/>
          </a:xfrm>
          <a:prstGeom prst="roundRect">
            <a:avLst>
              <a:gd name="adj" fmla="val 2593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61104" y="3328416"/>
            <a:ext cx="54864" cy="2212848"/>
          </a:xfrm>
          <a:prstGeom prst="rect">
            <a:avLst/>
          </a:prstGeom>
          <a:solidFill>
            <a:srgbClr val="5FA3C0"/>
          </a:solidFill>
          <a:ln/>
        </p:spPr>
      </p:sp>
      <p:sp>
        <p:nvSpPr>
          <p:cNvPr id="26" name="Text 24"/>
          <p:cNvSpPr/>
          <p:nvPr/>
        </p:nvSpPr>
        <p:spPr>
          <a:xfrm>
            <a:off x="4480560" y="334670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NOT HYPOTHETICAL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80560" y="3657600"/>
            <a:ext cx="3118104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evolve step already proves retraining works (0.15 → 0.98), and a full retrain costs ~30 s — so the loop is genuinely practical.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607808" y="3200400"/>
            <a:ext cx="4005072" cy="2468880"/>
          </a:xfrm>
          <a:prstGeom prst="roundRect">
            <a:avLst>
              <a:gd name="adj" fmla="val 2593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07808" y="3328416"/>
            <a:ext cx="54864" cy="2212848"/>
          </a:xfrm>
          <a:prstGeom prst="rect">
            <a:avLst/>
          </a:prstGeom>
          <a:solidFill>
            <a:srgbClr val="E97A60"/>
          </a:solidFill>
          <a:ln/>
        </p:spPr>
      </p:sp>
      <p:sp>
        <p:nvSpPr>
          <p:cNvPr id="30" name="Text 28"/>
          <p:cNvSpPr/>
          <p:nvPr/>
        </p:nvSpPr>
        <p:spPr>
          <a:xfrm>
            <a:off x="7827264" y="3346704"/>
            <a:ext cx="3639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827264" y="3657600"/>
            <a:ext cx="3602736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new data. Unvetted input can be poisoned, so every new entry is validated (the LLM / human judge) before it is learned.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frozen model to a standing, self-updating process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Small, fast — and only one layer.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0116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402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ms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66928" y="3108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email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20116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22402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 MB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337560" y="3108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disk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20116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2402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~690/s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126480" y="3108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15400" y="20116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1B2B32"/>
          </a:solidFill>
          <a:ln w="12700">
            <a:solidFill>
              <a:srgbClr val="26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15400" y="22402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C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 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915400" y="3108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retrain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4297680"/>
            <a:ext cx="11057839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AF0F1"/>
                </a:solidFill>
              </a:rPr>
              <a:t>Small enough to run on the device</a:t>
            </a:r>
            <a:pPr indent="0" marL="0">
              <a:buNone/>
            </a:pPr>
            <a:r>
              <a:rPr lang="en-US" sz="1600" dirty="0">
                <a:solidFill>
                  <a:srgbClr val="95A6AD"/>
                </a:solidFill>
              </a:rPr>
              <a:t> — so message content never has to leave it. And it is deliberately </a:t>
            </a:r>
            <a:pPr indent="0" marL="0">
              <a:buNone/>
            </a:pPr>
            <a:r>
              <a:rPr lang="en-US" sz="1600" b="1" dirty="0">
                <a:solidFill>
                  <a:srgbClr val="EAF0F1"/>
                </a:solidFill>
              </a:rPr>
              <a:t>one layer of many</a:t>
            </a:r>
            <a:pPr indent="0" marL="0">
              <a:buNone/>
            </a:pPr>
            <a:r>
              <a:rPr lang="en-US" sz="1600" dirty="0">
                <a:solidFill>
                  <a:srgbClr val="95A6AD"/>
                </a:solidFill>
              </a:rPr>
              <a:t>: SPF/DKIM, link reputation, the sender detector, sandboxing and user reports all sit around it.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guessed · MIME / HTML / attachments not yet handled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shows.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3291840" cy="0"/>
          </a:xfrm>
          <a:prstGeom prst="line">
            <a:avLst/>
          </a:prstGeom>
          <a:noFill/>
          <a:ln w="31750">
            <a:solidFill>
              <a:srgbClr val="3CB6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402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works, honestly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283464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Near-perfect on clean mail (F1 0.998) — and every claim is tested against an attacker who fights back, not just on easy examples.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4840" y="2103120"/>
            <a:ext cx="3291840" cy="0"/>
          </a:xfrm>
          <a:prstGeom prst="line">
            <a:avLst/>
          </a:prstGeom>
          <a:noFill/>
          <a:ln w="31750">
            <a:solidFill>
              <a:srgbClr val="D4AB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22402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attacks shut by proof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34840" y="283464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Look-alike letters and padding provably cannot slip a scam past the detector. A guarantee, not a lucky number.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321040" y="2103120"/>
            <a:ext cx="3291840" cy="0"/>
          </a:xfrm>
          <a:prstGeom prst="line">
            <a:avLst/>
          </a:prstGeom>
          <a:noFill/>
          <a:ln w="31750">
            <a:solidFill>
              <a:srgbClr val="E97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2402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7A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knows its limits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321040" y="283464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words alone can't catch everything — which is exactly why it is fused with a detector that reads links and sender.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539496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 in one line:  </a:t>
            </a:r>
            <a:pPr algn="ctr" indent="0" marL="0">
              <a:buNone/>
            </a:pPr>
            <a:r>
              <a:rPr lang="en-US" sz="180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near-perfect score is not the same as a safe detector.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perfect-looking score, stress-tested until it earns trust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 in the course pipeline.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1B2B32"/>
          </a:solidFill>
          <a:ln w="19050">
            <a:solidFill>
              <a:srgbClr val="3CB6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48840"/>
            <a:ext cx="16276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EDA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· shape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167128" y="2514600"/>
            <a:ext cx="3108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50592" y="21488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1B2B32"/>
          </a:solidFill>
          <a:ln w="19050">
            <a:solidFill>
              <a:srgbClr val="3CB6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50592" y="2148840"/>
            <a:ext cx="16276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050792" y="2514600"/>
            <a:ext cx="3108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34256" y="21488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1B2B32"/>
          </a:solidFill>
          <a:ln w="19050">
            <a:solidFill>
              <a:srgbClr val="3CB6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34256" y="2148840"/>
            <a:ext cx="16276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over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years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34456" y="2514600"/>
            <a:ext cx="3108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17920" y="21488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1B2B32"/>
          </a:solidFill>
          <a:ln w="19050">
            <a:solidFill>
              <a:srgbClr val="D4AB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2148840"/>
            <a:ext cx="16276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·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818120" y="2514600"/>
            <a:ext cx="3108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01584" y="21488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1B2B32"/>
          </a:solidFill>
          <a:ln w="19050">
            <a:solidFill>
              <a:srgbClr val="D4AB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01584" y="2148840"/>
            <a:ext cx="16276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+ explain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metrics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701784" y="2514600"/>
            <a:ext cx="3108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985248" y="21488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1B2B32"/>
          </a:solidFill>
          <a:ln w="19050">
            <a:solidFill>
              <a:srgbClr val="3CB6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85248" y="2148840"/>
            <a:ext cx="16276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·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66928" y="4023360"/>
            <a:ext cx="11057839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gave a general project pipeline — data statistics, abnormality detection, clustering, segment/temporal analysis, NLP, models, reporting, improvement.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project is a deep dive into the NLP + models + improvement stages (gold), touching every earlier box along the way.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box I deliberately leave open is “separate components” — that is the fusion with Gilad.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lecture’s pipeline, instantiated end-to-end on phishing text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drawn from the course.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486400" cy="2148840"/>
          </a:xfrm>
          <a:prstGeom prst="roundRect">
            <a:avLst>
              <a:gd name="adj" fmla="val 2979"/>
            </a:avLst>
          </a:prstGeom>
          <a:solidFill>
            <a:srgbClr val="182E3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19656"/>
            <a:ext cx="54864" cy="1892808"/>
          </a:xfrm>
          <a:prstGeom prst="rect">
            <a:avLst/>
          </a:prstGeom>
          <a:solidFill>
            <a:srgbClr val="5FA3C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THE ACCURACY PARADOX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86384" y="2148840"/>
            <a:ext cx="5084064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metrics lecture’s warning — a high-accuracy model can catch zero phishing — is why I report F2, MCC, AUC not accuracy, and why the majority baseline (accuracy high, F1 = 0) is in the deck.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691640"/>
            <a:ext cx="5486400" cy="2148840"/>
          </a:xfrm>
          <a:prstGeom prst="roundRect">
            <a:avLst>
              <a:gd name="adj" fmla="val 2979"/>
            </a:avLst>
          </a:prstGeom>
          <a:solidFill>
            <a:srgbClr val="16302C"/>
          </a:solidFill>
          <a:ln/>
        </p:spPr>
      </p:sp>
      <p:sp>
        <p:nvSpPr>
          <p:cNvPr id="11" name="Shape 9"/>
          <p:cNvSpPr/>
          <p:nvPr/>
        </p:nvSpPr>
        <p:spPr>
          <a:xfrm>
            <a:off x="6126480" y="1819656"/>
            <a:ext cx="54864" cy="189280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6345936" y="183794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· LEAKAGE · TEMPORAL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345936" y="2148840"/>
            <a:ext cx="5084064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60/20/20 (seed 42), dedupe-before-split, vectoriser fit on train only, and the “no email from the future” rule — the exact leakage discipline taught in class.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977640"/>
            <a:ext cx="5486400" cy="2148840"/>
          </a:xfrm>
          <a:prstGeom prst="roundRect">
            <a:avLst>
              <a:gd name="adj" fmla="val 2979"/>
            </a:avLst>
          </a:prstGeom>
          <a:solidFill>
            <a:srgbClr val="302A19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" y="4105656"/>
            <a:ext cx="54864" cy="1892808"/>
          </a:xfrm>
          <a:prstGeom prst="rect">
            <a:avLst/>
          </a:prstGeom>
          <a:solidFill>
            <a:srgbClr val="D4AB4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STATISTICS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384" y="4434840"/>
            <a:ext cx="5084064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/ Kendall, skewness &amp; kurtosis, median / MAD / IQR, a Mann–Whitney test and a VIF redundancy check — the EDA and statistics lectures, applied to real features.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0" y="3977640"/>
            <a:ext cx="5486400" cy="2148840"/>
          </a:xfrm>
          <a:prstGeom prst="roundRect">
            <a:avLst>
              <a:gd name="adj" fmla="val 2979"/>
            </a:avLst>
          </a:prstGeom>
          <a:solidFill>
            <a:srgbClr val="232B30"/>
          </a:solidFill>
          <a:ln/>
        </p:spPr>
      </p:sp>
      <p:sp>
        <p:nvSpPr>
          <p:cNvPr id="19" name="Shape 17"/>
          <p:cNvSpPr/>
          <p:nvPr/>
        </p:nvSpPr>
        <p:spPr>
          <a:xfrm>
            <a:off x="6126480" y="4105656"/>
            <a:ext cx="54864" cy="1892808"/>
          </a:xfrm>
          <a:prstGeom prst="rect">
            <a:avLst/>
          </a:prstGeom>
          <a:solidFill>
            <a:srgbClr val="7D919B"/>
          </a:solidFill>
          <a:ln/>
        </p:spPr>
      </p:sp>
      <p:sp>
        <p:nvSpPr>
          <p:cNvPr id="20" name="Text 18"/>
          <p:cNvSpPr/>
          <p:nvPr/>
        </p:nvSpPr>
        <p:spPr>
          <a:xfrm>
            <a:off x="6345936" y="412394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7D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LEVELS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45936" y="4434840"/>
            <a:ext cx="5084064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lecture’s three levels — model / feature / instance — are all delivered: global weights, coef × tfidf, and exact per-email contributions. The trust-vs-performance trade-off is my RQ4.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paradox · stratified split · rank statistics · explainability levels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Attacks &amp; defences from the taxonomy.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5486400" cy="1828800"/>
          </a:xfrm>
          <a:prstGeom prst="roundRect">
            <a:avLst>
              <a:gd name="adj" fmla="val 3500"/>
            </a:avLst>
          </a:prstGeom>
          <a:solidFill>
            <a:srgbClr val="34231D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73936"/>
            <a:ext cx="54864" cy="1572768"/>
          </a:xfrm>
          <a:prstGeom prst="rect">
            <a:avLst/>
          </a:prstGeom>
          <a:solidFill>
            <a:srgbClr val="E97A6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 TAXONOMY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86384" y="2103120"/>
            <a:ext cx="5084064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 vs poisoning, white/black-box, targeted vs transfer: my homoglyphs are evasion, the importance-guided attack is targeted grey-box, false reports are poisoning, and DistilBERT is the transfer test.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645920"/>
            <a:ext cx="5486400" cy="1828800"/>
          </a:xfrm>
          <a:prstGeom prst="roundRect">
            <a:avLst>
              <a:gd name="adj" fmla="val 3500"/>
            </a:avLst>
          </a:prstGeom>
          <a:solidFill>
            <a:srgbClr val="34231D"/>
          </a:solidFill>
          <a:ln/>
        </p:spPr>
      </p:sp>
      <p:sp>
        <p:nvSpPr>
          <p:cNvPr id="11" name="Shape 9"/>
          <p:cNvSpPr/>
          <p:nvPr/>
        </p:nvSpPr>
        <p:spPr>
          <a:xfrm>
            <a:off x="6126480" y="1773936"/>
            <a:ext cx="54864" cy="1572768"/>
          </a:xfrm>
          <a:prstGeom prst="rect">
            <a:avLst/>
          </a:prstGeom>
          <a:solidFill>
            <a:srgbClr val="E97A60"/>
          </a:solidFill>
          <a:ln/>
        </p:spPr>
      </p:sp>
      <p:sp>
        <p:nvSpPr>
          <p:cNvPr id="12" name="Text 10"/>
          <p:cNvSpPr/>
          <p:nvPr/>
        </p:nvSpPr>
        <p:spPr>
          <a:xfrm>
            <a:off x="6345936" y="17922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&amp; TOKENIZATION ATTACKS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345936" y="2103120"/>
            <a:ext cx="5084064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NLP-security lecture’s own examples — “Get r1ch qu1ck”, homoglyphs (paypal in Cyrillic), and BPE/WordPiece breaking on perturbed tokens — are exactly my attacks and my DistilBERT sub-word point.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11880"/>
            <a:ext cx="5486400" cy="1828800"/>
          </a:xfrm>
          <a:prstGeom prst="roundRect">
            <a:avLst>
              <a:gd name="adj" fmla="val 3500"/>
            </a:avLst>
          </a:prstGeom>
          <a:solidFill>
            <a:srgbClr val="16302C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" y="3739896"/>
            <a:ext cx="54864" cy="157276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75818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AS THE COUNTERMEASURE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384" y="4069080"/>
            <a:ext cx="5084064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lectures name canonicalising homoglyphs and adversarial training as the defences. That is my UTS-39 skeleton + certificate, plus adversarial training — measured against each attack tier.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0" y="3611880"/>
            <a:ext cx="5486400" cy="1828800"/>
          </a:xfrm>
          <a:prstGeom prst="roundRect">
            <a:avLst>
              <a:gd name="adj" fmla="val 3500"/>
            </a:avLst>
          </a:prstGeom>
          <a:solidFill>
            <a:srgbClr val="182E38"/>
          </a:solidFill>
          <a:ln/>
        </p:spPr>
      </p:sp>
      <p:sp>
        <p:nvSpPr>
          <p:cNvPr id="19" name="Shape 17"/>
          <p:cNvSpPr/>
          <p:nvPr/>
        </p:nvSpPr>
        <p:spPr>
          <a:xfrm>
            <a:off x="6126480" y="3739896"/>
            <a:ext cx="54864" cy="1572768"/>
          </a:xfrm>
          <a:prstGeom prst="rect">
            <a:avLst/>
          </a:prstGeom>
          <a:solidFill>
            <a:srgbClr val="5FA3C0"/>
          </a:solidFill>
          <a:ln/>
        </p:spPr>
      </p:sp>
      <p:sp>
        <p:nvSpPr>
          <p:cNvPr id="20" name="Text 18"/>
          <p:cNvSpPr/>
          <p:nvPr/>
        </p:nvSpPr>
        <p:spPr>
          <a:xfrm>
            <a:off x="6345936" y="375818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(FUTURE WORK)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45936" y="4069080"/>
            <a:ext cx="5084064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Forest, One-Class SVM and Mahalanobis distance from the abnormality lecture are my named next step — an adversarial-input detector for obfuscated mail.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562356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framing for drift comes from the same course: my 2008 model is </a:t>
            </a:r>
            <a:pPr indent="0" marL="0">
              <a:buNone/>
            </a:pPr>
            <a:r>
              <a:rPr lang="en-US" sz="1250" b="1" i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Taleb’s turkey</a:t>
            </a:r>
            <a:pPr indent="0" marL="0">
              <a:buNone/>
            </a:pPr>
            <a:r>
              <a:rPr lang="en-US" sz="1250" i="1" dirty="0">
                <a:solidFill>
                  <a:srgbClr val="95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confident right up to Thanksgiving. Relying on the past to predict the future is the inductive trap the abnormality lecture warned about.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 · poisoning · transfer · normalisation · Taleb’s turkey — the syllabus, executed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papers say could come next.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1737360" cy="4114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5" name="Text 3"/>
          <p:cNvSpPr/>
          <p:nvPr/>
        </p:nvSpPr>
        <p:spPr>
          <a:xfrm>
            <a:off x="11185855" y="3108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5486400" cy="1965960"/>
          </a:xfrm>
          <a:prstGeom prst="roundRect">
            <a:avLst>
              <a:gd name="adj" fmla="val 3256"/>
            </a:avLst>
          </a:prstGeom>
          <a:solidFill>
            <a:srgbClr val="16302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73936"/>
            <a:ext cx="54864" cy="1709928"/>
          </a:xfrm>
          <a:prstGeom prst="rect">
            <a:avLst/>
          </a:prstGeom>
          <a:solidFill>
            <a:srgbClr val="3CB6A6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DILUTION WITHOUT THE ACCURACY COST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86384" y="2103120"/>
            <a:ext cx="5084064" cy="1362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Fleshman et al. (2018) &amp; Lowd–Meek (2005):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non-negative / multiple-instance models resist good-word padding — so it may be possible to keep the dilution guarantee without losing 9 points of clean F1.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645920"/>
            <a:ext cx="5486400" cy="1965960"/>
          </a:xfrm>
          <a:prstGeom prst="roundRect">
            <a:avLst>
              <a:gd name="adj" fmla="val 3256"/>
            </a:avLst>
          </a:prstGeom>
          <a:solidFill>
            <a:srgbClr val="34231D"/>
          </a:solidFill>
          <a:ln/>
        </p:spPr>
      </p:sp>
      <p:sp>
        <p:nvSpPr>
          <p:cNvPr id="11" name="Shape 9"/>
          <p:cNvSpPr/>
          <p:nvPr/>
        </p:nvSpPr>
        <p:spPr>
          <a:xfrm>
            <a:off x="6126480" y="1773936"/>
            <a:ext cx="54864" cy="1709928"/>
          </a:xfrm>
          <a:prstGeom prst="rect">
            <a:avLst/>
          </a:prstGeom>
          <a:solidFill>
            <a:srgbClr val="E97A60"/>
          </a:solidFill>
          <a:ln/>
        </p:spPr>
      </p:sp>
      <p:sp>
        <p:nvSpPr>
          <p:cNvPr id="12" name="Text 10"/>
          <p:cNvSpPr/>
          <p:nvPr/>
        </p:nvSpPr>
        <p:spPr>
          <a:xfrm>
            <a:off x="6345936" y="17922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PARAPHRASE ATTACKER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345936" y="2103120"/>
            <a:ext cx="5084064" cy="1362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9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(2019) TextBugger / DeepWordBug: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learned, meaning-preserving rewrites at scale — according to them a neural attacker should probe the semantic frontier far harder than my small rule-based probe.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486400" cy="1965960"/>
          </a:xfrm>
          <a:prstGeom prst="roundRect">
            <a:avLst>
              <a:gd name="adj" fmla="val 3256"/>
            </a:avLst>
          </a:prstGeom>
          <a:solidFill>
            <a:srgbClr val="302A19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" y="3877056"/>
            <a:ext cx="54864" cy="1709928"/>
          </a:xfrm>
          <a:prstGeom prst="rect">
            <a:avLst/>
          </a:prstGeom>
          <a:solidFill>
            <a:srgbClr val="D4AB4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89534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 AGAINST LETTER SUBSTITUTIONS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384" y="4206240"/>
            <a:ext cx="5084064" cy="1362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D4A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Pruthi et al. (2019):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robust word-recognition stage in front of the classifier — so it may be possible to extend the UTS-39 certificate from look-alikes to typos and misspellings too.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26480" y="3749040"/>
            <a:ext cx="5486400" cy="1965960"/>
          </a:xfrm>
          <a:prstGeom prst="roundRect">
            <a:avLst>
              <a:gd name="adj" fmla="val 3256"/>
            </a:avLst>
          </a:prstGeom>
          <a:solidFill>
            <a:srgbClr val="182E38"/>
          </a:solidFill>
          <a:ln/>
        </p:spPr>
      </p:sp>
      <p:sp>
        <p:nvSpPr>
          <p:cNvPr id="19" name="Shape 17"/>
          <p:cNvSpPr/>
          <p:nvPr/>
        </p:nvSpPr>
        <p:spPr>
          <a:xfrm>
            <a:off x="6126480" y="3877056"/>
            <a:ext cx="54864" cy="1709928"/>
          </a:xfrm>
          <a:prstGeom prst="rect">
            <a:avLst/>
          </a:prstGeom>
          <a:solidFill>
            <a:srgbClr val="5FA3C0"/>
          </a:solidFill>
          <a:ln/>
        </p:spPr>
      </p:sp>
      <p:sp>
        <p:nvSpPr>
          <p:cNvPr id="20" name="Text 18"/>
          <p:cNvSpPr/>
          <p:nvPr/>
        </p:nvSpPr>
        <p:spPr>
          <a:xfrm>
            <a:off x="6345936" y="389534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OBFUSCATED MAIL AS ANOMALOUS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45936" y="4206240"/>
            <a:ext cx="5084064" cy="1362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5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Abnormality lecture (Isolation Forest, One-Class SVM):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A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obfuscation signatures are measurably rare in ordinary mail (§4.9e), so an adversarial-input detector could catch attacks the classifier misses — then fuse with Gilad.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C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direction is grounded in a paper from the report — stated as a possibility, not a result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920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C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237744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near-perfect detector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still be fragile.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66928" y="429768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contribution isn't the score — it's proving where it breaks, and hardening it until two attack classes are closed for good.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6928" y="5257800"/>
            <a:ext cx="2011680" cy="45720"/>
          </a:xfrm>
          <a:prstGeom prst="rect">
            <a:avLst/>
          </a:prstGeom>
          <a:solidFill>
            <a:srgbClr val="D4AB4E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548640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Lia Bercovitz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9FB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PhishFusion · content detector · questions welcome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PhishFusion — Content-Based Phishing Detection</dc:title>
  <dc:subject>PptxGenJS Presentation</dc:subject>
  <dc:creator>Lia Bercovitz</dc:creator>
  <cp:lastModifiedBy>Lia Bercovitz</cp:lastModifiedBy>
  <cp:revision>1</cp:revision>
  <dcterms:created xsi:type="dcterms:W3CDTF">2026-07-21T21:29:15Z</dcterms:created>
  <dcterms:modified xsi:type="dcterms:W3CDTF">2026-07-21T21:29:15Z</dcterms:modified>
</cp:coreProperties>
</file>
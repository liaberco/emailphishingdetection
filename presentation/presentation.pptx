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A20"/>
    <a:srgbClr val="95A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4567" autoAdjust="0"/>
  </p:normalViewPr>
  <p:slideViewPr>
    <p:cSldViewPr snapToGrid="0" snapToObjects="1">
      <p:cViewPr varScale="1">
        <p:scale>
          <a:sx n="104" d="100"/>
          <a:sy n="104" d="100"/>
        </p:scale>
        <p:origin x="24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CB6A6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C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F9-472A-AEEF-7B2337FC6D73}"/>
              </c:ext>
            </c:extLst>
          </c:dPt>
          <c:dPt>
            <c:idx val="1"/>
            <c:invertIfNegative val="0"/>
            <c:bubble3D val="0"/>
            <c:spPr>
              <a:solidFill>
                <a:srgbClr val="E97A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F9-472A-AEEF-7B2337FC6D73}"/>
              </c:ext>
            </c:extLst>
          </c:dPt>
          <c:dPt>
            <c:idx val="2"/>
            <c:invertIfNegative val="0"/>
            <c:bubble3D val="0"/>
            <c:spPr>
              <a:solidFill>
                <a:srgbClr val="3C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F9-472A-AEEF-7B2337FC6D7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attacked</c:v>
                </c:pt>
                <c:pt idx="2">
                  <c:v>+ normalise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</c:v>
                </c:pt>
                <c:pt idx="1">
                  <c:v>0.71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F9-472A-AEEF-7B2337FC6D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97A60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A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0E-4626-A3C3-F6A38266B096}"/>
              </c:ext>
            </c:extLst>
          </c:dPt>
          <c:dPt>
            <c:idx val="1"/>
            <c:invertIfNegative val="0"/>
            <c:bubble3D val="0"/>
            <c:spPr>
              <a:solidFill>
                <a:srgbClr val="3C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0E-4626-A3C3-F6A38266B096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E0E-4626-A3C3-F6A38266B096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hand list</c:v>
                </c:pt>
                <c:pt idx="1">
                  <c:v>UTS-39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0.88</c:v>
                </c:pt>
                <c:pt idx="1">
                  <c:v>0.998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0E-4626-A3C3-F6A38266B0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model</c:v>
                </c:pt>
              </c:strCache>
            </c:strRef>
          </c:tx>
          <c:spPr>
            <a:ln w="31750" cap="flat">
              <a:solidFill>
                <a:srgbClr val="E97A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7A60"/>
              </a:solidFill>
              <a:ln w="9525" cap="flat">
                <a:solidFill>
                  <a:srgbClr val="E97A6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+0</c:v>
                </c:pt>
                <c:pt idx="1">
                  <c:v>+10</c:v>
                </c:pt>
                <c:pt idx="2">
                  <c:v>+20</c:v>
                </c:pt>
                <c:pt idx="3">
                  <c:v>+40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0.998</c:v>
                </c:pt>
                <c:pt idx="1">
                  <c:v>0.63200000000000001</c:v>
                </c:pt>
                <c:pt idx="2">
                  <c:v>0.36499999999999999</c:v>
                </c:pt>
                <c:pt idx="3">
                  <c:v>0.129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B-40E4-9ED5-D313F18B9B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one-way (monotone) model</c:v>
                </c:pt>
              </c:strCache>
            </c:strRef>
          </c:tx>
          <c:spPr>
            <a:ln w="31750" cap="flat">
              <a:solidFill>
                <a:srgbClr val="3CB6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B6A6"/>
              </a:solidFill>
              <a:ln w="9525" cap="flat">
                <a:solidFill>
                  <a:srgbClr val="3CB6A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+0</c:v>
                </c:pt>
                <c:pt idx="1">
                  <c:v>+10</c:v>
                </c:pt>
                <c:pt idx="2">
                  <c:v>+20</c:v>
                </c:pt>
                <c:pt idx="3">
                  <c:v>+40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0.86899999999999999</c:v>
                </c:pt>
                <c:pt idx="1">
                  <c:v>0.86899999999999999</c:v>
                </c:pt>
                <c:pt idx="2">
                  <c:v>0.86899999999999999</c:v>
                </c:pt>
                <c:pt idx="3">
                  <c:v>0.86599999999999999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B-40E4-9ED5-D313F18B9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95A6A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ln w="31750" cap="flat">
              <a:solidFill>
                <a:srgbClr val="7D919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7D919B"/>
              </a:solidFill>
              <a:ln w="9525" cap="flat">
                <a:solidFill>
                  <a:srgbClr val="7D919B"/>
                </a:solidFill>
                <a:prstDash val="solid"/>
                <a:round/>
              </a:ln>
              <a:effectLst/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0.99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70E-4226-BF0F-DB20A6839FC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0.98</a:t>
                    </a:r>
                    <a:endParaRPr lang="en-US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70E-4226-BF0F-DB20A6839FC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dirty="0"/>
                      <a:t>0.87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70E-4226-BF0F-DB20A6839FCE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clean</c:v>
                </c:pt>
                <c:pt idx="1">
                  <c:v>homoglyph</c:v>
                </c:pt>
                <c:pt idx="2">
                  <c:v>+normalise</c:v>
                </c:pt>
                <c:pt idx="3">
                  <c:v>targeted</c:v>
                </c:pt>
                <c:pt idx="4">
                  <c:v>UTS-39</c:v>
                </c:pt>
                <c:pt idx="5">
                  <c:v>dilution</c:v>
                </c:pt>
                <c:pt idx="6">
                  <c:v>monotone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0.93</c:v>
                </c:pt>
                <c:pt idx="2">
                  <c:v>1</c:v>
                </c:pt>
                <c:pt idx="3">
                  <c:v>0.88</c:v>
                </c:pt>
                <c:pt idx="4">
                  <c:v>1</c:v>
                </c:pt>
                <c:pt idx="5">
                  <c:v>0.13</c:v>
                </c:pt>
                <c:pt idx="6">
                  <c:v>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0E-4226-BF0F-DB20A6839FC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8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modern scams</c:v>
                </c:pt>
              </c:strCache>
            </c:strRef>
          </c:tx>
          <c:spPr>
            <a:solidFill>
              <a:srgbClr val="3CB6A6">
                <a:alpha val="100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0.37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CF3-48AA-88EA-37F8C632A68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0.96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CF3-48AA-88EA-37F8C632A686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2008 model</c:v>
                </c:pt>
                <c:pt idx="1">
                  <c:v>evolved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</c:v>
                </c:pt>
                <c:pt idx="1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F3-48AA-88EA-37F8C632A6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old scams</c:v>
                </c:pt>
              </c:strCache>
            </c:strRef>
          </c:tx>
          <c:spPr>
            <a:solidFill>
              <a:srgbClr val="7D919B">
                <a:alpha val="100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0.98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CF3-48AA-88EA-37F8C632A68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0.97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CF3-48AA-88EA-37F8C632A686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2008 model</c:v>
                </c:pt>
                <c:pt idx="1">
                  <c:v>evolved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F3-48AA-88EA-37F8C632A6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5A6A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E7F87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E7F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0C-4EEC-AC06-DA60D45CB87B}"/>
              </c:ext>
            </c:extLst>
          </c:dPt>
          <c:dPt>
            <c:idx val="1"/>
            <c:invertIfNegative val="0"/>
            <c:bubble3D val="0"/>
            <c:spPr>
              <a:solidFill>
                <a:srgbClr val="3C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C-4EEC-AC06-DA60D45CB87B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E0C-4EEC-AC06-DA60D45CB87B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EAF0F1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report</c:v>
                </c:pt>
                <c:pt idx="1">
                  <c:v>same-campaign report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0C-4EEC-AC06-DA60D45CB8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0"/>
        <c:axPos val="l"/>
        <c:majorGridlines>
          <c:spPr>
            <a:ln w="6350" cap="flat">
              <a:solidFill>
                <a:srgbClr val="26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5A6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1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היי לכולם, אני ליה. זה PhishFusion, ואני בניתי חצי ממנו — גלאי התוכן: מודל שקורא רק את המילים של המייל, הנושא והגוף, ומחליט אם זה פישינג — הונאה שמתחזה למישהו שסומכים עליו כדי שתלחצו על קישור או תמסרו סיסמה — או מייל לגיטימי. השותף שלי גלעד בנה את החצי השני, שקורא את הקישורים ואת השולח. מה שהכי חשוב לי: ציון גבוה על דאטה נקי זה קל; השאלה האמיתית היא אם המודל שורד תוקף אמיתי שמנסה לרמות אותו בכוונה. אז רוב ההרצאה היא שאני תוקפת את המודל שלי ואז מחזקת אותו — עד שחלק מההגנות מובטחות מתמטית, לא רק 'עבד לי בבדיקות'.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en-IL" dirty="0" err="1"/>
              <a:t>פישינג</a:t>
            </a:r>
            <a:r>
              <a:rPr lang="en-IL" dirty="0"/>
              <a:t> </a:t>
            </a:r>
            <a:r>
              <a:rPr lang="en-IL" dirty="0" err="1"/>
              <a:t>הוא</a:t>
            </a:r>
            <a:r>
              <a:rPr lang="en-IL" dirty="0"/>
              <a:t> </a:t>
            </a:r>
            <a:r>
              <a:rPr lang="en-IL" b="1" dirty="0" err="1"/>
              <a:t>הנדסה</a:t>
            </a:r>
            <a:r>
              <a:rPr lang="en-IL" b="1" dirty="0"/>
              <a:t> </a:t>
            </a:r>
            <a:r>
              <a:rPr lang="en-IL" b="1" dirty="0" err="1"/>
              <a:t>חברתית</a:t>
            </a:r>
            <a:r>
              <a:rPr lang="he-IL" b="1" dirty="0"/>
              <a:t> כמו שלמדנו בקורס</a:t>
            </a:r>
            <a:r>
              <a:rPr lang="en-IL" b="1" dirty="0"/>
              <a:t> (Social Engineering):</a:t>
            </a:r>
            <a:r>
              <a:rPr lang="en-IL" dirty="0"/>
              <a:t> </a:t>
            </a:r>
            <a:r>
              <a:rPr lang="en-IL" dirty="0" err="1"/>
              <a:t>הוא</a:t>
            </a:r>
            <a:r>
              <a:rPr lang="en-IL" dirty="0"/>
              <a:t> </a:t>
            </a:r>
            <a:r>
              <a:rPr lang="en-IL" dirty="0" err="1"/>
              <a:t>פועל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אמון</a:t>
            </a:r>
            <a:r>
              <a:rPr lang="en-IL" dirty="0"/>
              <a:t> </a:t>
            </a:r>
            <a:r>
              <a:rPr lang="en-IL" dirty="0" err="1"/>
              <a:t>אנושי</a:t>
            </a:r>
            <a:r>
              <a:rPr lang="en-IL" dirty="0"/>
              <a:t> </a:t>
            </a:r>
            <a:r>
              <a:rPr lang="en-IL" dirty="0" err="1"/>
              <a:t>באמצעות</a:t>
            </a:r>
            <a:r>
              <a:rPr lang="en-IL" dirty="0"/>
              <a:t> </a:t>
            </a:r>
            <a:r>
              <a:rPr lang="en-IL" dirty="0" err="1"/>
              <a:t>מילים</a:t>
            </a:r>
            <a:r>
              <a:rPr lang="en-IL" dirty="0"/>
              <a:t>. </a:t>
            </a:r>
            <a:r>
              <a:rPr lang="en-IL" dirty="0" err="1"/>
              <a:t>לכן</a:t>
            </a:r>
            <a:r>
              <a:rPr lang="en-IL" dirty="0"/>
              <a:t>, </a:t>
            </a:r>
            <a:r>
              <a:rPr lang="en-IL" dirty="0" err="1"/>
              <a:t>מודל</a:t>
            </a:r>
            <a:r>
              <a:rPr lang="en-IL" dirty="0"/>
              <a:t> </a:t>
            </a:r>
            <a:r>
              <a:rPr lang="en-IL" dirty="0" err="1"/>
              <a:t>המבוסס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טקסט</a:t>
            </a:r>
            <a:r>
              <a:rPr lang="en-IL" dirty="0"/>
              <a:t> </a:t>
            </a:r>
            <a:r>
              <a:rPr lang="en-IL" dirty="0" err="1"/>
              <a:t>בלבד</a:t>
            </a:r>
            <a:r>
              <a:rPr lang="en-IL" dirty="0"/>
              <a:t> </a:t>
            </a:r>
            <a:r>
              <a:rPr lang="en-IL" dirty="0" err="1"/>
              <a:t>מסוגל</a:t>
            </a:r>
            <a:r>
              <a:rPr lang="en-IL" dirty="0"/>
              <a:t> </a:t>
            </a:r>
            <a:r>
              <a:rPr lang="en-IL" dirty="0" err="1"/>
              <a:t>לקרוא</a:t>
            </a:r>
            <a:r>
              <a:rPr lang="en-IL" dirty="0"/>
              <a:t> </a:t>
            </a:r>
            <a:r>
              <a:rPr lang="en-IL" dirty="0" err="1"/>
              <a:t>ולזהות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ההתקפה</a:t>
            </a:r>
            <a:r>
              <a:rPr lang="en-IL" dirty="0"/>
              <a:t> </a:t>
            </a:r>
            <a:r>
              <a:rPr lang="en-IL" dirty="0" err="1"/>
              <a:t>עצמה</a:t>
            </a:r>
            <a:r>
              <a:rPr lang="en-IL" dirty="0"/>
              <a:t>.</a:t>
            </a:r>
          </a:p>
          <a:p>
            <a:pPr algn="r" rtl="1"/>
            <a:r>
              <a:rPr lang="en-IL" b="1" dirty="0" err="1"/>
              <a:t>ארבעת</a:t>
            </a:r>
            <a:r>
              <a:rPr lang="en-IL" b="1" dirty="0"/>
              <a:t> </a:t>
            </a:r>
            <a:r>
              <a:rPr lang="en-IL" b="1" dirty="0" err="1"/>
              <a:t>מנועי</a:t>
            </a:r>
            <a:r>
              <a:rPr lang="en-IL" b="1" dirty="0"/>
              <a:t> </a:t>
            </a:r>
            <a:r>
              <a:rPr lang="en-IL" b="1" dirty="0" err="1"/>
              <a:t>ההנדסה</a:t>
            </a:r>
            <a:r>
              <a:rPr lang="en-IL" b="1" dirty="0"/>
              <a:t> </a:t>
            </a:r>
            <a:r>
              <a:rPr lang="en-IL" b="1" dirty="0" err="1"/>
              <a:t>החברתית</a:t>
            </a:r>
            <a:r>
              <a:rPr lang="en-IL" b="1" dirty="0"/>
              <a:t> (</a:t>
            </a:r>
            <a:r>
              <a:rPr lang="en-IL" b="1" dirty="0" err="1"/>
              <a:t>טקסטים</a:t>
            </a:r>
            <a:r>
              <a:rPr lang="en-IL" b="1" dirty="0"/>
              <a:t> </a:t>
            </a:r>
            <a:r>
              <a:rPr lang="en-IL" b="1" dirty="0" err="1"/>
              <a:t>אופייניים</a:t>
            </a:r>
            <a:r>
              <a:rPr lang="en-IL" b="1" dirty="0"/>
              <a:t>):</a:t>
            </a:r>
          </a:p>
          <a:p>
            <a:pPr algn="r" rtl="1"/>
            <a:r>
              <a:rPr lang="en-IL" b="1" dirty="0" err="1"/>
              <a:t>סמכות</a:t>
            </a:r>
            <a:r>
              <a:rPr lang="en-IL" b="1" dirty="0"/>
              <a:t> (Authority):</a:t>
            </a:r>
            <a:r>
              <a:rPr lang="en-IL" dirty="0"/>
              <a:t> </a:t>
            </a:r>
            <a:r>
              <a:rPr lang="en-IL" i="1" dirty="0"/>
              <a:t>"</a:t>
            </a:r>
            <a:r>
              <a:rPr lang="en-IL" i="1" dirty="0" err="1"/>
              <a:t>מדור</a:t>
            </a:r>
            <a:r>
              <a:rPr lang="en-IL" i="1" dirty="0"/>
              <a:t> </a:t>
            </a:r>
            <a:r>
              <a:rPr lang="en-IL" i="1" dirty="0" err="1"/>
              <a:t>תמיכה</a:t>
            </a:r>
            <a:r>
              <a:rPr lang="en-IL" i="1" dirty="0"/>
              <a:t> </a:t>
            </a:r>
            <a:r>
              <a:rPr lang="en-IL" i="1" dirty="0" err="1"/>
              <a:t>טכנית</a:t>
            </a:r>
            <a:r>
              <a:rPr lang="en-IL" i="1" dirty="0"/>
              <a:t> — </a:t>
            </a:r>
            <a:r>
              <a:rPr lang="en-IL" i="1" dirty="0" err="1"/>
              <a:t>אפס</a:t>
            </a:r>
            <a:r>
              <a:rPr lang="en-IL" i="1" dirty="0"/>
              <a:t> </a:t>
            </a:r>
            <a:r>
              <a:rPr lang="en-IL" i="1" dirty="0" err="1"/>
              <a:t>את</a:t>
            </a:r>
            <a:r>
              <a:rPr lang="en-IL" i="1" dirty="0"/>
              <a:t> </a:t>
            </a:r>
            <a:r>
              <a:rPr lang="en-IL" i="1" dirty="0" err="1"/>
              <a:t>הסיסמה</a:t>
            </a:r>
            <a:r>
              <a:rPr lang="en-IL" i="1" dirty="0"/>
              <a:t> </a:t>
            </a:r>
            <a:r>
              <a:rPr lang="en-IL" i="1" dirty="0" err="1"/>
              <a:t>עכשיו</a:t>
            </a:r>
            <a:r>
              <a:rPr lang="en-IL" i="1" dirty="0"/>
              <a:t>."</a:t>
            </a:r>
            <a:endParaRPr lang="en-IL" dirty="0"/>
          </a:p>
          <a:p>
            <a:pPr algn="r" rtl="1"/>
            <a:r>
              <a:rPr lang="en-IL" b="1" dirty="0" err="1"/>
              <a:t>דחיפות</a:t>
            </a:r>
            <a:r>
              <a:rPr lang="en-IL" b="1" dirty="0"/>
              <a:t> (Urgency):</a:t>
            </a:r>
            <a:r>
              <a:rPr lang="en-IL" dirty="0"/>
              <a:t> </a:t>
            </a:r>
            <a:r>
              <a:rPr lang="en-IL" i="1" dirty="0"/>
              <a:t>"</a:t>
            </a:r>
            <a:r>
              <a:rPr lang="en-IL" i="1" dirty="0" err="1"/>
              <a:t>החשבון</a:t>
            </a:r>
            <a:r>
              <a:rPr lang="en-IL" i="1" dirty="0"/>
              <a:t> </a:t>
            </a:r>
            <a:r>
              <a:rPr lang="en-IL" i="1" dirty="0" err="1"/>
              <a:t>ייחסם</a:t>
            </a:r>
            <a:r>
              <a:rPr lang="en-IL" i="1" dirty="0"/>
              <a:t> </a:t>
            </a:r>
            <a:r>
              <a:rPr lang="en-IL" i="1" dirty="0" err="1"/>
              <a:t>תוך</a:t>
            </a:r>
            <a:r>
              <a:rPr lang="en-IL" i="1" dirty="0"/>
              <a:t> 30 </a:t>
            </a:r>
            <a:r>
              <a:rPr lang="en-IL" i="1" dirty="0" err="1"/>
              <a:t>דקות</a:t>
            </a:r>
            <a:r>
              <a:rPr lang="en-IL" i="1" dirty="0"/>
              <a:t>."</a:t>
            </a:r>
            <a:endParaRPr lang="en-IL" dirty="0"/>
          </a:p>
          <a:p>
            <a:pPr algn="r" rtl="1"/>
            <a:r>
              <a:rPr lang="en-IL" b="1" dirty="0" err="1"/>
              <a:t>תגמול</a:t>
            </a:r>
            <a:r>
              <a:rPr lang="en-IL" b="1" dirty="0"/>
              <a:t> / </a:t>
            </a:r>
            <a:r>
              <a:rPr lang="en-IL" b="1" dirty="0" err="1"/>
              <a:t>פרס</a:t>
            </a:r>
            <a:r>
              <a:rPr lang="en-IL" b="1" dirty="0"/>
              <a:t> (Reward):</a:t>
            </a:r>
            <a:r>
              <a:rPr lang="en-IL" dirty="0"/>
              <a:t> </a:t>
            </a:r>
            <a:r>
              <a:rPr lang="en-IL" i="1" dirty="0"/>
              <a:t>"</a:t>
            </a:r>
            <a:r>
              <a:rPr lang="en-IL" i="1" dirty="0" err="1"/>
              <a:t>זכית</a:t>
            </a:r>
            <a:r>
              <a:rPr lang="en-IL" i="1" dirty="0"/>
              <a:t>! </a:t>
            </a:r>
            <a:r>
              <a:rPr lang="en-IL" i="1" dirty="0" err="1"/>
              <a:t>לחץ</a:t>
            </a:r>
            <a:r>
              <a:rPr lang="en-IL" i="1" dirty="0"/>
              <a:t> </a:t>
            </a:r>
            <a:r>
              <a:rPr lang="en-IL" i="1" dirty="0" err="1"/>
              <a:t>כאן</a:t>
            </a:r>
            <a:r>
              <a:rPr lang="en-IL" i="1" dirty="0"/>
              <a:t> </a:t>
            </a:r>
            <a:r>
              <a:rPr lang="en-IL" i="1" dirty="0" err="1"/>
              <a:t>לממש</a:t>
            </a:r>
            <a:r>
              <a:rPr lang="en-IL" i="1" dirty="0"/>
              <a:t> </a:t>
            </a:r>
            <a:r>
              <a:rPr lang="en-IL" i="1" dirty="0" err="1"/>
              <a:t>את</a:t>
            </a:r>
            <a:r>
              <a:rPr lang="en-IL" i="1" dirty="0"/>
              <a:t> </a:t>
            </a:r>
            <a:r>
              <a:rPr lang="en-IL" i="1" dirty="0" err="1"/>
              <a:t>הפרס</a:t>
            </a:r>
            <a:r>
              <a:rPr lang="en-IL" i="1" dirty="0"/>
              <a:t>."</a:t>
            </a:r>
            <a:endParaRPr lang="en-IL" dirty="0"/>
          </a:p>
          <a:p>
            <a:pPr algn="r" rtl="1"/>
            <a:r>
              <a:rPr lang="en-IL" b="1" dirty="0" err="1"/>
              <a:t>הוכחה</a:t>
            </a:r>
            <a:r>
              <a:rPr lang="en-IL" b="1" dirty="0"/>
              <a:t> </a:t>
            </a:r>
            <a:r>
              <a:rPr lang="en-IL" b="1" dirty="0" err="1"/>
              <a:t>חברתית</a:t>
            </a:r>
            <a:r>
              <a:rPr lang="en-IL" b="1" dirty="0"/>
              <a:t> (Social Proof):</a:t>
            </a:r>
            <a:r>
              <a:rPr lang="en-IL" dirty="0"/>
              <a:t> </a:t>
            </a:r>
            <a:r>
              <a:rPr lang="en-IL" i="1" dirty="0"/>
              <a:t>"</a:t>
            </a:r>
            <a:r>
              <a:rPr lang="en-IL" i="1" dirty="0" err="1"/>
              <a:t>כולם</a:t>
            </a:r>
            <a:r>
              <a:rPr lang="en-IL" i="1" dirty="0"/>
              <a:t> </a:t>
            </a:r>
            <a:r>
              <a:rPr lang="en-IL" i="1" dirty="0" err="1"/>
              <a:t>כבר</a:t>
            </a:r>
            <a:r>
              <a:rPr lang="en-IL" i="1" dirty="0"/>
              <a:t> </a:t>
            </a:r>
            <a:r>
              <a:rPr lang="en-IL" i="1" dirty="0" err="1"/>
              <a:t>עדכנו</a:t>
            </a:r>
            <a:r>
              <a:rPr lang="en-IL" i="1" dirty="0"/>
              <a:t> </a:t>
            </a:r>
            <a:r>
              <a:rPr lang="en-IL" i="1" dirty="0" err="1"/>
              <a:t>את</a:t>
            </a:r>
            <a:r>
              <a:rPr lang="en-IL" i="1" dirty="0"/>
              <a:t> </a:t>
            </a:r>
            <a:r>
              <a:rPr lang="en-IL" i="1" dirty="0" err="1"/>
              <a:t>הפרטים</a:t>
            </a:r>
            <a:r>
              <a:rPr lang="en-IL" i="1" dirty="0"/>
              <a:t>."</a:t>
            </a:r>
            <a:endParaRPr lang="en-IL" dirty="0"/>
          </a:p>
          <a:p>
            <a:pPr algn="r" rtl="1"/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שלבי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עיבוד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והסיווג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צעדים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קלט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(Email):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קבלת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נושא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גוף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ההודעה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ניקוי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(Clean):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קישורים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(Strip links)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וקיפול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דומים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מבלבלים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(Fold look-alikes).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ייצוג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טקסט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(TF-IDF):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חילוץ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ברמת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(Words)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וברמת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(Character n-grams).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(Union):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לווקטור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תכונות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(One feature vector).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סיווג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(Logistic Reg.):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וסביר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(Explainable)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המחשב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הסתברות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נוסחאות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והסבר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מתמטי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נוסחת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TF-IDF: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L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TF</m:t>
                      </m:r>
                      <m:r>
                        <m:rPr>
                          <m:nor/>
                        </m:rPr>
                        <a:rPr lang="en-IL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nor/>
                        </m:rPr>
                        <a:rPr lang="en-IL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IDF</m:t>
                      </m:r>
                      <m:d>
                        <m:dPr>
                          <m:ctrlP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</m:d>
                      <m:r>
                        <a:rPr lang="en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IL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tf</m:t>
                      </m:r>
                      <m:d>
                        <m:dPr>
                          <m:ctrlP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</m:d>
                      <m:r>
                        <a:rPr lang="en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func>
                        <m:funcPr>
                          <m:ctrlP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  <m:r>
                                <a:rPr lang="en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IL" sz="120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df</m:t>
                              </m:r>
                              <m:d>
                                <m:dPr>
                                  <m:ctrlPr>
                                    <a:rPr lang="en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 algn="r" rtl="1"/>
                <a:r>
                  <a:rPr lang="en-IL" sz="1200" i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חשובה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במסמך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הנוכחי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לשכיחות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בכלל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הקורפוס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"suspended"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תבלוט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"the"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תבלוט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חישוב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הציון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(Score):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L" sz="1200" i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score</m:t>
                      </m:r>
                      <m:r>
                        <a:rPr lang="en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𝜎</m:t>
                      </m:r>
                      <m:d>
                        <m:dPr>
                          <m:ctrlPr>
                            <a:rPr lang="en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IL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𝐰</m:t>
                          </m:r>
                          <m:r>
                            <a:rPr lang="en-IL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⋅</m:t>
                          </m:r>
                          <m:r>
                            <a:rPr lang="en-IL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𝐱</m:t>
                          </m:r>
                          <m:r>
                            <a:rPr lang="en-IL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IL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 algn="r" rtl="1"/>
                <a:r>
                  <a:rPr lang="en-IL" sz="1200" i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סכום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המשקלים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מוכפל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ה-TF-IDF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ונדחס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(Squash)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באמצעות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פונקציית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סיגמואיד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להסתברות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ל-1.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ונתוני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הקורפוס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חשיבות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ה-Character n-grams: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מעניק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טריקים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—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המותקפת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cl1ck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עדיין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חולקת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lic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ו-ick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המקורית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click.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סביבת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הניסוי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(Corpus):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בסיס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CEAS_08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הכולל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כ-27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שעבר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מחדש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מציאותי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35%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בשורה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התחתונה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/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הלקח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בתחתית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השקופית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הלולאה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האדוורסרית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התרומה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המרכזית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נבחר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מסביר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(Explainable) —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להצביע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בדיוק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והתווים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שהובילו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להחלטה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שלבי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עיבוד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והסיווג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צעדים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קלט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(Email):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קבלת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נושא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גוף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ההודעה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ניקוי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(Clean):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קישורים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(Strip links)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וקיפול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דומים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מבלבלים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(Fold look-alikes).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ייצוג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טקסט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(TF-IDF):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חילוץ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ברמת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(Words)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וברמת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(Character n-grams).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(Union):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לווקטור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תכונות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(One feature vector).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סיווג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(Logistic Reg.):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וסביר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(Explainable)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המחשב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הסתברות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נוסחאות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והסבר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מתמטי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נוסחת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TF-IDF: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"TF−IDF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(𝑡,𝑑)=</a:t>
                </a:r>
                <a:r>
                  <a:rPr lang="en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"tf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(𝑡,𝑑)×log⁡(𝑁/"df" (𝑡)))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 algn="r" rtl="1"/>
                <a:r>
                  <a:rPr lang="en-IL" sz="1200" i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חשובה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במסמך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הנוכחי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לשכיחות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בכלל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הקורפוס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"suspended"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תבלוט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"the"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תבלוט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חישוב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הציון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(Score):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"score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"=𝜎(</a:t>
                </a:r>
                <a:r>
                  <a:rPr lang="en-IL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𝐰</a:t>
                </a:r>
                <a:r>
                  <a:rPr lang="en-IL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⋅</a:t>
                </a:r>
                <a:r>
                  <a:rPr lang="en-IL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</a:t>
                </a:r>
                <a:r>
                  <a:rPr lang="en-IL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+𝑏)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 algn="r" rtl="1"/>
                <a:r>
                  <a:rPr lang="en-IL" sz="1200" i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סכום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המשקלים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מוכפל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ה-TF-IDF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ונדחס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(Squash)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באמצעות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פונקציית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סיגמואיד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להסתברות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ל-1.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ונתוני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הקורפוס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חשיבות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ה-Character n-grams: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מעניק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טריקים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—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המותקפת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cl1ck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עדיין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חולקת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lic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ו-ick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המקורית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click.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סביבת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הניסוי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(Corpus):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בסיס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CEAS_08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הכולל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כ-27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שעבר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מחדש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מציאותי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35%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בשורה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התחתונה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/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הלקח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בתחתית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השקופית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הלולאה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האדוורסרית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התרומה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המרכזית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נבחר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מסביר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(Explainable) —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להצביע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בדיוק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והתווים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שהובילו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להחלטה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C5F9-D409-8D45-6EF4-5458DD9D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AADF8-982F-42AF-C013-538D8B1AB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BD1B4-F862-1A20-20D6-868E81093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IL" b="1" dirty="0"/>
              <a:t>1. </a:t>
            </a:r>
            <a:r>
              <a:rPr lang="en-IL" b="1" dirty="0" err="1"/>
              <a:t>טקסונומיית</a:t>
            </a:r>
            <a:r>
              <a:rPr lang="en-IL" b="1" dirty="0"/>
              <a:t> </a:t>
            </a:r>
            <a:r>
              <a:rPr lang="en-IL" b="1" dirty="0" err="1"/>
              <a:t>ההתקפות</a:t>
            </a:r>
            <a:r>
              <a:rPr lang="en-IL" b="1" dirty="0"/>
              <a:t> </a:t>
            </a:r>
            <a:r>
              <a:rPr lang="en-IL" b="1" dirty="0" err="1"/>
              <a:t>וההגנות</a:t>
            </a:r>
            <a:r>
              <a:rPr lang="en-IL" b="1" dirty="0"/>
              <a:t> </a:t>
            </a:r>
            <a:r>
              <a:rPr lang="en-IL" b="1" dirty="0" err="1"/>
              <a:t>מהקורס</a:t>
            </a:r>
            <a:endParaRPr lang="en-IL" b="1" dirty="0"/>
          </a:p>
          <a:p>
            <a:pPr algn="r" rtl="1"/>
            <a:r>
              <a:rPr lang="en-IL" b="1" dirty="0" err="1"/>
              <a:t>סיווג</a:t>
            </a:r>
            <a:r>
              <a:rPr lang="en-IL" b="1" dirty="0"/>
              <a:t> </a:t>
            </a:r>
            <a:r>
              <a:rPr lang="en-IL" b="1" dirty="0" err="1"/>
              <a:t>ההתקפות</a:t>
            </a:r>
            <a:r>
              <a:rPr lang="en-IL" b="1" dirty="0"/>
              <a:t> (Attack Taxonomy):</a:t>
            </a:r>
            <a:endParaRPr lang="en-IL" dirty="0"/>
          </a:p>
          <a:p>
            <a:pPr lvl="1" algn="r" rtl="1"/>
            <a:r>
              <a:rPr lang="en-IL" b="1" dirty="0" err="1"/>
              <a:t>התחמקות</a:t>
            </a:r>
            <a:r>
              <a:rPr lang="en-IL" b="1" dirty="0"/>
              <a:t> (Evasion):</a:t>
            </a:r>
            <a:r>
              <a:rPr lang="en-IL" dirty="0"/>
              <a:t> </a:t>
            </a:r>
            <a:r>
              <a:rPr lang="en-IL" dirty="0" err="1"/>
              <a:t>אותיות</a:t>
            </a:r>
            <a:r>
              <a:rPr lang="en-IL" dirty="0"/>
              <a:t> </a:t>
            </a:r>
            <a:r>
              <a:rPr lang="en-IL" dirty="0" err="1"/>
              <a:t>מבלבלות</a:t>
            </a:r>
            <a:r>
              <a:rPr lang="en-IL" dirty="0"/>
              <a:t> (Homoglyph).</a:t>
            </a:r>
          </a:p>
          <a:p>
            <a:pPr lvl="1" algn="r" rtl="1"/>
            <a:r>
              <a:rPr lang="en-IL" b="1" dirty="0" err="1"/>
              <a:t>התחמקות</a:t>
            </a:r>
            <a:r>
              <a:rPr lang="en-IL" b="1" dirty="0"/>
              <a:t> </a:t>
            </a:r>
            <a:r>
              <a:rPr lang="en-IL" b="1" dirty="0" err="1"/>
              <a:t>קופסה-אפורה</a:t>
            </a:r>
            <a:r>
              <a:rPr lang="en-IL" b="1" dirty="0"/>
              <a:t> </a:t>
            </a:r>
            <a:r>
              <a:rPr lang="en-IL" b="1" dirty="0" err="1"/>
              <a:t>ממוקדת</a:t>
            </a:r>
            <a:r>
              <a:rPr lang="en-IL" b="1" dirty="0"/>
              <a:t> (Targeted Grey-box Evasion):</a:t>
            </a:r>
            <a:r>
              <a:rPr lang="en-IL" dirty="0"/>
              <a:t> </a:t>
            </a:r>
            <a:r>
              <a:rPr lang="en-IL" dirty="0" err="1"/>
              <a:t>התקפה</a:t>
            </a:r>
            <a:r>
              <a:rPr lang="en-IL" dirty="0"/>
              <a:t> </a:t>
            </a:r>
            <a:r>
              <a:rPr lang="en-IL" dirty="0" err="1"/>
              <a:t>המונחית</a:t>
            </a:r>
            <a:r>
              <a:rPr lang="en-IL" dirty="0"/>
              <a:t> </a:t>
            </a:r>
            <a:r>
              <a:rPr lang="en-IL" dirty="0" err="1"/>
              <a:t>לפי</a:t>
            </a:r>
            <a:r>
              <a:rPr lang="en-IL" dirty="0"/>
              <a:t> </a:t>
            </a:r>
            <a:r>
              <a:rPr lang="en-IL" dirty="0" err="1"/>
              <a:t>חשיבות</a:t>
            </a:r>
            <a:r>
              <a:rPr lang="en-IL" dirty="0"/>
              <a:t> </a:t>
            </a:r>
            <a:r>
              <a:rPr lang="en-IL" dirty="0" err="1"/>
              <a:t>מילים</a:t>
            </a:r>
            <a:r>
              <a:rPr lang="en-IL" dirty="0"/>
              <a:t> (Importance-guided).</a:t>
            </a:r>
          </a:p>
          <a:p>
            <a:pPr lvl="1" algn="r" rtl="1"/>
            <a:r>
              <a:rPr lang="en-IL" b="1" dirty="0" err="1"/>
              <a:t>הרעלה</a:t>
            </a:r>
            <a:r>
              <a:rPr lang="en-IL" b="1" dirty="0"/>
              <a:t> (Poisoning):</a:t>
            </a:r>
            <a:r>
              <a:rPr lang="en-IL" dirty="0"/>
              <a:t> </a:t>
            </a:r>
            <a:r>
              <a:rPr lang="en-IL" dirty="0" err="1"/>
              <a:t>דיווחים</a:t>
            </a:r>
            <a:r>
              <a:rPr lang="en-IL" dirty="0"/>
              <a:t> </a:t>
            </a:r>
            <a:r>
              <a:rPr lang="en-IL" dirty="0" err="1"/>
              <a:t>מזויפים</a:t>
            </a:r>
            <a:r>
              <a:rPr lang="en-IL" dirty="0"/>
              <a:t> (False reports) </a:t>
            </a:r>
            <a:r>
              <a:rPr lang="en-IL" dirty="0" err="1"/>
              <a:t>המרעילים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נתוני</a:t>
            </a:r>
            <a:r>
              <a:rPr lang="en-IL" dirty="0"/>
              <a:t> </a:t>
            </a:r>
            <a:r>
              <a:rPr lang="en-IL" dirty="0" err="1"/>
              <a:t>האימון</a:t>
            </a:r>
            <a:r>
              <a:rPr lang="en-IL" dirty="0"/>
              <a:t>.</a:t>
            </a:r>
          </a:p>
          <a:p>
            <a:pPr lvl="1" algn="r" rtl="1"/>
            <a:r>
              <a:rPr lang="en-IL" b="1" dirty="0" err="1"/>
              <a:t>העברה</a:t>
            </a:r>
            <a:r>
              <a:rPr lang="en-IL" b="1" dirty="0"/>
              <a:t> (Transfer):</a:t>
            </a:r>
            <a:r>
              <a:rPr lang="en-IL" dirty="0"/>
              <a:t> </a:t>
            </a:r>
            <a:r>
              <a:rPr lang="en-IL" dirty="0" err="1"/>
              <a:t>בדיקת</a:t>
            </a:r>
            <a:r>
              <a:rPr lang="en-IL" dirty="0"/>
              <a:t> </a:t>
            </a:r>
            <a:r>
              <a:rPr lang="en-IL" dirty="0" err="1"/>
              <a:t>ההתקפה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מודל</a:t>
            </a:r>
            <a:r>
              <a:rPr lang="en-IL" dirty="0"/>
              <a:t> </a:t>
            </a:r>
            <a:r>
              <a:rPr lang="en-IL" dirty="0" err="1"/>
              <a:t>שונה</a:t>
            </a:r>
            <a:r>
              <a:rPr lang="en-IL" dirty="0"/>
              <a:t> </a:t>
            </a:r>
            <a:r>
              <a:rPr lang="en-IL" dirty="0" err="1"/>
              <a:t>כמו</a:t>
            </a:r>
            <a:r>
              <a:rPr lang="en-IL" dirty="0"/>
              <a:t> </a:t>
            </a:r>
            <a:r>
              <a:rPr lang="en-IL" dirty="0" err="1"/>
              <a:t>DistilBERT</a:t>
            </a:r>
            <a:r>
              <a:rPr lang="en-IL" dirty="0"/>
              <a:t>.</a:t>
            </a:r>
          </a:p>
          <a:p>
            <a:pPr lvl="1" algn="r" rtl="1"/>
            <a:r>
              <a:rPr lang="en-IL" b="1" dirty="0" err="1"/>
              <a:t>דוגמאות</a:t>
            </a:r>
            <a:r>
              <a:rPr lang="en-IL" b="1" dirty="0"/>
              <a:t> </a:t>
            </a:r>
            <a:r>
              <a:rPr lang="en-IL" b="1" dirty="0" err="1"/>
              <a:t>מההרצאה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התקפות</a:t>
            </a:r>
            <a:r>
              <a:rPr lang="en-IL" dirty="0"/>
              <a:t> </a:t>
            </a:r>
            <a:r>
              <a:rPr lang="en-IL" dirty="0" err="1"/>
              <a:t>תוים</a:t>
            </a:r>
            <a:r>
              <a:rPr lang="en-IL" dirty="0"/>
              <a:t> </a:t>
            </a:r>
            <a:r>
              <a:rPr lang="en-IL" dirty="0" err="1"/>
              <a:t>כמו</a:t>
            </a:r>
            <a:r>
              <a:rPr lang="en-IL" dirty="0"/>
              <a:t> </a:t>
            </a:r>
            <a:r>
              <a:rPr lang="en-I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 r1ch qu1ck</a:t>
            </a:r>
            <a:r>
              <a:rPr lang="en-IL" dirty="0"/>
              <a:t> ו-</a:t>
            </a:r>
            <a:r>
              <a:rPr lang="en-I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paypal</a:t>
            </a:r>
            <a:r>
              <a:rPr lang="en-IL" dirty="0"/>
              <a:t> </a:t>
            </a:r>
            <a:r>
              <a:rPr lang="en-IL" dirty="0" err="1"/>
              <a:t>באותיות</a:t>
            </a:r>
            <a:r>
              <a:rPr lang="en-IL" dirty="0"/>
              <a:t> </a:t>
            </a:r>
            <a:r>
              <a:rPr lang="en-IL" dirty="0" err="1"/>
              <a:t>קיריליות</a:t>
            </a:r>
            <a:r>
              <a:rPr lang="en-IL" dirty="0"/>
              <a:t> </a:t>
            </a:r>
            <a:r>
              <a:rPr lang="en-IL" dirty="0" err="1"/>
              <a:t>הן</a:t>
            </a:r>
            <a:r>
              <a:rPr lang="en-IL" dirty="0"/>
              <a:t> </a:t>
            </a:r>
            <a:r>
              <a:rPr lang="en-IL" dirty="0" err="1"/>
              <a:t>בדיוק</a:t>
            </a:r>
            <a:r>
              <a:rPr lang="en-IL" dirty="0"/>
              <a:t> </a:t>
            </a:r>
            <a:r>
              <a:rPr lang="en-IL" dirty="0" err="1"/>
              <a:t>הדוגמאות</a:t>
            </a:r>
            <a:r>
              <a:rPr lang="en-IL" dirty="0"/>
              <a:t> </a:t>
            </a:r>
            <a:r>
              <a:rPr lang="en-IL" dirty="0" err="1"/>
              <a:t>שהוצגו</a:t>
            </a:r>
            <a:r>
              <a:rPr lang="en-IL" dirty="0"/>
              <a:t> </a:t>
            </a:r>
            <a:r>
              <a:rPr lang="en-IL" dirty="0" err="1"/>
              <a:t>בהרצאת</a:t>
            </a:r>
            <a:r>
              <a:rPr lang="en-IL" dirty="0"/>
              <a:t> NLP-security!</a:t>
            </a:r>
          </a:p>
          <a:p>
            <a:pPr algn="r" rtl="1"/>
            <a:r>
              <a:rPr lang="en-IL" b="1" dirty="0" err="1"/>
              <a:t>ההגנות</a:t>
            </a:r>
            <a:r>
              <a:rPr lang="en-IL" b="1" dirty="0"/>
              <a:t> </a:t>
            </a:r>
            <a:r>
              <a:rPr lang="en-IL" b="1" dirty="0" err="1"/>
              <a:t>המוזכרות</a:t>
            </a:r>
            <a:r>
              <a:rPr lang="en-IL" b="1" dirty="0"/>
              <a:t> </a:t>
            </a:r>
            <a:r>
              <a:rPr lang="en-IL" b="1" dirty="0" err="1"/>
              <a:t>בכיתה</a:t>
            </a:r>
            <a:r>
              <a:rPr lang="en-IL" b="1" dirty="0"/>
              <a:t> (Defences Named in Class):</a:t>
            </a:r>
            <a:endParaRPr lang="en-IL" dirty="0"/>
          </a:p>
          <a:p>
            <a:pPr lvl="1" algn="r" rtl="1"/>
            <a:r>
              <a:rPr lang="en-IL" dirty="0" err="1"/>
              <a:t>קנוניזציה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אותיות</a:t>
            </a:r>
            <a:r>
              <a:rPr lang="en-IL" dirty="0"/>
              <a:t> </a:t>
            </a:r>
            <a:r>
              <a:rPr lang="en-IL" dirty="0" err="1"/>
              <a:t>מבלבלות</a:t>
            </a:r>
            <a:r>
              <a:rPr lang="en-IL" dirty="0"/>
              <a:t> (</a:t>
            </a:r>
            <a:r>
              <a:rPr lang="en-IL" dirty="0" err="1"/>
              <a:t>Canonicalising</a:t>
            </a:r>
            <a:r>
              <a:rPr lang="en-IL" dirty="0"/>
              <a:t> homoglyphs) + </a:t>
            </a:r>
            <a:r>
              <a:rPr lang="en-IL" dirty="0" err="1"/>
              <a:t>אימון</a:t>
            </a:r>
            <a:r>
              <a:rPr lang="en-IL" dirty="0"/>
              <a:t> </a:t>
            </a:r>
            <a:r>
              <a:rPr lang="en-IL" dirty="0" err="1"/>
              <a:t>אדברסרי</a:t>
            </a:r>
            <a:r>
              <a:rPr lang="en-IL" dirty="0"/>
              <a:t> (Adversarial training) = </a:t>
            </a:r>
            <a:r>
              <a:rPr lang="en-IL" dirty="0" err="1"/>
              <a:t>הגנת</a:t>
            </a:r>
            <a:r>
              <a:rPr lang="en-IL" dirty="0"/>
              <a:t> ה-UTS-39 </a:t>
            </a:r>
            <a:r>
              <a:rPr lang="en-IL" dirty="0" err="1"/>
              <a:t>המוכחת</a:t>
            </a:r>
            <a:r>
              <a:rPr lang="en-IL" dirty="0"/>
              <a:t> </a:t>
            </a:r>
            <a:r>
              <a:rPr lang="en-IL" dirty="0" err="1"/>
              <a:t>שלי</a:t>
            </a:r>
            <a:r>
              <a:rPr lang="en-IL" dirty="0"/>
              <a:t> + </a:t>
            </a:r>
            <a:r>
              <a:rPr lang="en-IL" dirty="0" err="1"/>
              <a:t>אימון</a:t>
            </a:r>
            <a:r>
              <a:rPr lang="en-IL" dirty="0"/>
              <a:t> </a:t>
            </a:r>
            <a:r>
              <a:rPr lang="en-IL" dirty="0" err="1"/>
              <a:t>אדברסרי</a:t>
            </a:r>
            <a:r>
              <a:rPr lang="en-IL" dirty="0"/>
              <a:t>, </a:t>
            </a:r>
            <a:r>
              <a:rPr lang="en-IL" dirty="0" err="1"/>
              <a:t>שנמדדו</a:t>
            </a:r>
            <a:r>
              <a:rPr lang="en-IL" dirty="0"/>
              <a:t> </a:t>
            </a:r>
            <a:r>
              <a:rPr lang="en-IL" dirty="0" err="1"/>
              <a:t>לכל</a:t>
            </a:r>
            <a:r>
              <a:rPr lang="en-IL" dirty="0"/>
              <a:t> </a:t>
            </a:r>
            <a:r>
              <a:rPr lang="en-IL" dirty="0" err="1"/>
              <a:t>דרג</a:t>
            </a:r>
            <a:r>
              <a:rPr lang="en-IL" dirty="0"/>
              <a:t> </a:t>
            </a:r>
            <a:r>
              <a:rPr lang="en-IL" dirty="0" err="1"/>
              <a:t>התקפה</a:t>
            </a:r>
            <a:r>
              <a:rPr lang="en-IL" dirty="0"/>
              <a:t>.</a:t>
            </a:r>
          </a:p>
          <a:p>
            <a:pPr algn="r" rtl="1"/>
            <a:r>
              <a:rPr lang="en-IL" b="1" dirty="0"/>
              <a:t>2. </a:t>
            </a:r>
            <a:r>
              <a:rPr lang="en-IL" b="1" dirty="0" err="1"/>
              <a:t>בשורה</a:t>
            </a:r>
            <a:r>
              <a:rPr lang="en-IL" b="1" dirty="0"/>
              <a:t> </a:t>
            </a:r>
            <a:r>
              <a:rPr lang="en-IL" b="1" dirty="0" err="1"/>
              <a:t>התחתונה</a:t>
            </a:r>
            <a:r>
              <a:rPr lang="en-IL" b="1" dirty="0"/>
              <a:t> / </a:t>
            </a:r>
            <a:r>
              <a:rPr lang="en-IL" b="1" dirty="0" err="1"/>
              <a:t>הלקח</a:t>
            </a:r>
            <a:r>
              <a:rPr lang="en-IL" b="1" dirty="0"/>
              <a:t> (</a:t>
            </a:r>
            <a:r>
              <a:rPr lang="en-IL" b="1" dirty="0" err="1"/>
              <a:t>בתחתית</a:t>
            </a:r>
            <a:r>
              <a:rPr lang="en-IL" b="1" dirty="0"/>
              <a:t> </a:t>
            </a:r>
            <a:r>
              <a:rPr lang="en-IL" b="1" dirty="0" err="1"/>
              <a:t>השקופית</a:t>
            </a:r>
            <a:r>
              <a:rPr lang="en-IL" b="1" dirty="0"/>
              <a:t>):</a:t>
            </a:r>
            <a:endParaRPr lang="en-IL" dirty="0"/>
          </a:p>
          <a:p>
            <a:pPr algn="r" rtl="1"/>
            <a:r>
              <a:rPr lang="en-IL" b="1" dirty="0" err="1"/>
              <a:t>על</a:t>
            </a:r>
            <a:r>
              <a:rPr lang="en-IL" b="1" dirty="0"/>
              <a:t> </a:t>
            </a:r>
            <a:r>
              <a:rPr lang="en-IL" b="1" dirty="0" err="1"/>
              <a:t>הזחלנה</a:t>
            </a:r>
            <a:r>
              <a:rPr lang="en-IL" b="1" dirty="0"/>
              <a:t> (Concept Drift) </a:t>
            </a:r>
            <a:r>
              <a:rPr lang="en-IL" b="1" dirty="0" err="1"/>
              <a:t>וחומר</a:t>
            </a:r>
            <a:r>
              <a:rPr lang="en-IL" b="1" dirty="0"/>
              <a:t> </a:t>
            </a:r>
            <a:r>
              <a:rPr lang="en-IL" b="1" dirty="0" err="1"/>
              <a:t>הקורס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מודל</a:t>
            </a:r>
            <a:r>
              <a:rPr lang="en-IL" dirty="0"/>
              <a:t> </a:t>
            </a:r>
            <a:r>
              <a:rPr lang="en-IL" dirty="0" err="1"/>
              <a:t>שאומן</a:t>
            </a:r>
            <a:r>
              <a:rPr lang="en-IL" dirty="0"/>
              <a:t> ב-2008 </a:t>
            </a:r>
            <a:r>
              <a:rPr lang="en-IL" dirty="0" err="1"/>
              <a:t>הוא</a:t>
            </a:r>
            <a:r>
              <a:rPr lang="en-IL" dirty="0"/>
              <a:t> </a:t>
            </a:r>
            <a:r>
              <a:rPr lang="en-IL" dirty="0" err="1"/>
              <a:t>כמו</a:t>
            </a:r>
            <a:r>
              <a:rPr lang="en-IL" dirty="0"/>
              <a:t> "</a:t>
            </a:r>
            <a:r>
              <a:rPr lang="en-IL" dirty="0" err="1"/>
              <a:t>התרנגול</a:t>
            </a:r>
            <a:r>
              <a:rPr lang="en-IL" dirty="0"/>
              <a:t> </a:t>
            </a:r>
            <a:r>
              <a:rPr lang="en-IL" dirty="0" err="1"/>
              <a:t>הודו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טאלב</a:t>
            </a:r>
            <a:r>
              <a:rPr lang="en-IL" dirty="0"/>
              <a:t>" (Taleb's Turkey) — </a:t>
            </a:r>
            <a:r>
              <a:rPr lang="en-IL" dirty="0" err="1"/>
              <a:t>מואכל</a:t>
            </a:r>
            <a:r>
              <a:rPr lang="en-IL" dirty="0"/>
              <a:t> </a:t>
            </a:r>
            <a:r>
              <a:rPr lang="en-IL" dirty="0" err="1"/>
              <a:t>כל</a:t>
            </a:r>
            <a:r>
              <a:rPr lang="en-IL" dirty="0"/>
              <a:t> </a:t>
            </a:r>
            <a:r>
              <a:rPr lang="en-IL" dirty="0" err="1"/>
              <a:t>יום</a:t>
            </a:r>
            <a:r>
              <a:rPr lang="en-IL" dirty="0"/>
              <a:t> </a:t>
            </a:r>
            <a:r>
              <a:rPr lang="en-IL" dirty="0" err="1"/>
              <a:t>ובטוח</a:t>
            </a:r>
            <a:r>
              <a:rPr lang="en-IL" dirty="0"/>
              <a:t> </a:t>
            </a:r>
            <a:r>
              <a:rPr lang="en-IL" dirty="0" err="1"/>
              <a:t>בעצמו</a:t>
            </a:r>
            <a:r>
              <a:rPr lang="en-IL" dirty="0"/>
              <a:t> </a:t>
            </a:r>
            <a:r>
              <a:rPr lang="en-IL" dirty="0" err="1"/>
              <a:t>לחלוטין</a:t>
            </a:r>
            <a:r>
              <a:rPr lang="en-IL" dirty="0"/>
              <a:t>, </a:t>
            </a:r>
            <a:r>
              <a:rPr lang="en-IL" dirty="0" err="1"/>
              <a:t>עד</a:t>
            </a:r>
            <a:r>
              <a:rPr lang="en-IL" dirty="0"/>
              <a:t> </a:t>
            </a:r>
            <a:r>
              <a:rPr lang="en-IL" dirty="0" err="1"/>
              <a:t>שמגיע</a:t>
            </a:r>
            <a:r>
              <a:rPr lang="en-IL" dirty="0"/>
              <a:t> </a:t>
            </a:r>
            <a:r>
              <a:rPr lang="en-IL" dirty="0" err="1"/>
              <a:t>חג</a:t>
            </a:r>
            <a:r>
              <a:rPr lang="en-IL" dirty="0"/>
              <a:t> </a:t>
            </a:r>
            <a:r>
              <a:rPr lang="en-IL" dirty="0" err="1"/>
              <a:t>ההודיה</a:t>
            </a:r>
            <a:r>
              <a:rPr lang="en-IL" dirty="0"/>
              <a:t> </a:t>
            </a:r>
            <a:r>
              <a:rPr lang="en-IL" dirty="0" err="1"/>
              <a:t>והעבר</a:t>
            </a:r>
            <a:r>
              <a:rPr lang="en-IL" dirty="0"/>
              <a:t> </a:t>
            </a:r>
            <a:r>
              <a:rPr lang="en-IL" dirty="0" err="1"/>
              <a:t>מפסיק</a:t>
            </a:r>
            <a:r>
              <a:rPr lang="en-IL" dirty="0"/>
              <a:t> </a:t>
            </a:r>
            <a:r>
              <a:rPr lang="en-IL" dirty="0" err="1"/>
              <a:t>לחזות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העתיד</a:t>
            </a:r>
            <a:r>
              <a:rPr lang="en-IL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8A05F-0315-85BC-47B0-4BDC85DA5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2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en-IL" b="1" dirty="0" err="1"/>
                  <a:t>בסיסי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</a:t>
                </a:r>
                <a:r>
                  <a:rPr lang="en-IL" b="1" dirty="0" err="1"/>
                  <a:t>ששימשו</a:t>
                </a:r>
                <a:r>
                  <a:rPr lang="en-IL" b="1" dirty="0"/>
                  <a:t> </a:t>
                </a:r>
                <a:r>
                  <a:rPr lang="en-IL" b="1" dirty="0" err="1"/>
                  <a:t>במחקר</a:t>
                </a:r>
                <a:r>
                  <a:rPr lang="en-IL" b="1" dirty="0"/>
                  <a:t>:</a:t>
                </a:r>
              </a:p>
              <a:p>
                <a:pPr algn="r" rtl="1"/>
                <a:r>
                  <a:rPr lang="en-IL" b="1" dirty="0"/>
                  <a:t>CEAS_08 (</a:t>
                </a:r>
                <a:r>
                  <a:rPr lang="en-IL" b="1" dirty="0" err="1"/>
                  <a:t>סט</a:t>
                </a:r>
                <a:r>
                  <a:rPr lang="en-IL" b="1" dirty="0"/>
                  <a:t> </a:t>
                </a:r>
                <a:r>
                  <a:rPr lang="en-IL" b="1" dirty="0" err="1"/>
                  <a:t>מרכזי</a:t>
                </a:r>
                <a:r>
                  <a:rPr lang="en-IL" b="1" dirty="0"/>
                  <a:t>):</a:t>
                </a:r>
                <a:r>
                  <a:rPr lang="en-IL" dirty="0"/>
                  <a:t> </a:t>
                </a:r>
                <a:r>
                  <a:rPr lang="en-IL" dirty="0" err="1"/>
                  <a:t>מכיל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שתי</a:t>
                </a:r>
                <a:r>
                  <a:rPr lang="en-IL" dirty="0"/>
                  <a:t> </a:t>
                </a:r>
                <a:r>
                  <a:rPr lang="en-IL" dirty="0" err="1"/>
                  <a:t>המחלקות</a:t>
                </a:r>
                <a:r>
                  <a:rPr lang="en-IL" dirty="0"/>
                  <a:t> (</a:t>
                </a:r>
                <a:r>
                  <a:rPr lang="en-IL" dirty="0" err="1"/>
                  <a:t>לגיטימי</a:t>
                </a:r>
                <a:r>
                  <a:rPr lang="en-IL" dirty="0"/>
                  <a:t> </a:t>
                </a:r>
                <a:r>
                  <a:rPr lang="en-IL" dirty="0" err="1"/>
                  <a:t>ופישינג</a:t>
                </a:r>
                <a:r>
                  <a:rPr lang="en-IL" dirty="0"/>
                  <a:t>) </a:t>
                </a:r>
                <a:r>
                  <a:rPr lang="en-IL" dirty="0" err="1"/>
                  <a:t>ממקור</a:t>
                </a:r>
                <a:r>
                  <a:rPr lang="en-IL" dirty="0"/>
                  <a:t> </a:t>
                </a:r>
                <a:r>
                  <a:rPr lang="en-IL" dirty="0" err="1"/>
                  <a:t>יחיד</a:t>
                </a:r>
                <a:r>
                  <a:rPr lang="en-IL" dirty="0"/>
                  <a:t> — </a:t>
                </a:r>
                <a:r>
                  <a:rPr lang="en-IL" b="1" dirty="0"/>
                  <a:t>26,633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/>
                  <a:t>Nazario / Enron / Ling:</a:t>
                </a:r>
                <a:r>
                  <a:rPr lang="en-IL" dirty="0"/>
                  <a:t> </a:t>
                </a:r>
                <a:r>
                  <a:rPr lang="en-IL" dirty="0" err="1"/>
                  <a:t>מקורות</a:t>
                </a:r>
                <a:r>
                  <a:rPr lang="en-IL" dirty="0"/>
                  <a:t> </a:t>
                </a:r>
                <a:r>
                  <a:rPr lang="en-IL" dirty="0" err="1"/>
                  <a:t>נוספים</a:t>
                </a:r>
                <a:r>
                  <a:rPr lang="en-IL" dirty="0"/>
                  <a:t> </a:t>
                </a:r>
                <a:r>
                  <a:rPr lang="en-IL" dirty="0" err="1"/>
                  <a:t>המשמשים</a:t>
                </a:r>
                <a:r>
                  <a:rPr lang="en-IL" dirty="0"/>
                  <a:t> </a:t>
                </a:r>
                <a:r>
                  <a:rPr lang="en-IL" dirty="0" err="1"/>
                  <a:t>למבחן</a:t>
                </a:r>
                <a:r>
                  <a:rPr lang="en-IL" dirty="0"/>
                  <a:t> </a:t>
                </a:r>
                <a:r>
                  <a:rPr lang="en-IL" dirty="0" err="1"/>
                  <a:t>הוגנות</a:t>
                </a:r>
                <a:r>
                  <a:rPr lang="en-IL" dirty="0"/>
                  <a:t> </a:t>
                </a:r>
                <a:r>
                  <a:rPr lang="en-IL" dirty="0" err="1"/>
                  <a:t>בלבד</a:t>
                </a:r>
                <a:r>
                  <a:rPr lang="en-IL" dirty="0"/>
                  <a:t> (Test only).</a:t>
                </a:r>
              </a:p>
              <a:p>
                <a:pPr algn="r" rtl="1"/>
                <a:r>
                  <a:rPr lang="en-IL" b="1" dirty="0"/>
                  <a:t>Real phishing 2023–2025:</a:t>
                </a:r>
                <a:r>
                  <a:rPr lang="en-IL" dirty="0"/>
                  <a:t> </a:t>
                </a:r>
                <a:r>
                  <a:rPr lang="en-IL" dirty="0" err="1"/>
                  <a:t>תרמיות</a:t>
                </a:r>
                <a:r>
                  <a:rPr lang="en-IL" dirty="0"/>
                  <a:t> </a:t>
                </a:r>
                <a:r>
                  <a:rPr lang="en-IL" dirty="0" err="1"/>
                  <a:t>מודרניות</a:t>
                </a:r>
                <a:r>
                  <a:rPr lang="en-IL" dirty="0"/>
                  <a:t> </a:t>
                </a:r>
                <a:r>
                  <a:rPr lang="en-IL" dirty="0" err="1"/>
                  <a:t>לבדיקת</a:t>
                </a:r>
                <a:r>
                  <a:rPr lang="en-IL" dirty="0"/>
                  <a:t> </a:t>
                </a:r>
                <a:r>
                  <a:rPr lang="en-IL" dirty="0" err="1"/>
                  <a:t>התיישנות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 — </a:t>
                </a:r>
                <a:r>
                  <a:rPr lang="en-IL" b="1" dirty="0"/>
                  <a:t>1,303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/>
                  <a:t>Recent normal mail 2024: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לגיטימיים</a:t>
                </a:r>
                <a:r>
                  <a:rPr lang="en-IL" dirty="0"/>
                  <a:t> </a:t>
                </a:r>
                <a:r>
                  <a:rPr lang="en-IL" dirty="0" err="1"/>
                  <a:t>מודרניים</a:t>
                </a:r>
                <a:r>
                  <a:rPr lang="en-IL" dirty="0"/>
                  <a:t> — </a:t>
                </a:r>
                <a:r>
                  <a:rPr lang="en-IL" b="1" dirty="0"/>
                  <a:t>3,000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  <a:endParaRPr lang="he-IL" dirty="0"/>
              </a:p>
              <a:p>
                <a:pPr algn="r" rtl="1"/>
                <a:endParaRPr lang="en-IL" dirty="0"/>
              </a:p>
              <a:p>
                <a:pPr algn="r" rtl="1"/>
                <a:r>
                  <a:rPr lang="en-IL" b="1" dirty="0" err="1"/>
                  <a:t>שלבי</a:t>
                </a:r>
                <a:r>
                  <a:rPr lang="en-IL" b="1" dirty="0"/>
                  <a:t> </a:t>
                </a:r>
                <a:r>
                  <a:rPr lang="en-IL" b="1" dirty="0" err="1"/>
                  <a:t>ניקוי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(How I Cleaned It):</a:t>
                </a:r>
              </a:p>
              <a:p>
                <a:pPr algn="r" rtl="1"/>
                <a:r>
                  <a:rPr lang="en-IL" b="1" dirty="0" err="1"/>
                  <a:t>הסרת</a:t>
                </a:r>
                <a:r>
                  <a:rPr lang="en-IL" b="1" dirty="0"/>
                  <a:t> </a:t>
                </a:r>
                <a:r>
                  <a:rPr lang="en-IL" b="1" dirty="0" err="1"/>
                  <a:t>קישורי</a:t>
                </a:r>
                <a:r>
                  <a:rPr lang="en-IL" b="1" dirty="0"/>
                  <a:t> </a:t>
                </a:r>
                <a:r>
                  <a:rPr lang="en-IL" b="1" dirty="0" err="1"/>
                  <a:t>אינטרנט</a:t>
                </a:r>
                <a:r>
                  <a:rPr lang="en-IL" b="1" dirty="0"/>
                  <a:t> (Strip web links):</a:t>
                </a:r>
                <a:r>
                  <a:rPr lang="en-IL" dirty="0"/>
                  <a:t> </a:t>
                </a:r>
                <a:r>
                  <a:rPr lang="en-IL" dirty="0" err="1"/>
                  <a:t>השארת</a:t>
                </a:r>
                <a:r>
                  <a:rPr lang="en-IL" dirty="0"/>
                  <a:t> </a:t>
                </a:r>
                <a:r>
                  <a:rPr lang="en-IL" dirty="0" err="1"/>
                  <a:t>הסיגנל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הקישורים</a:t>
                </a:r>
                <a:r>
                  <a:rPr lang="en-IL" dirty="0"/>
                  <a:t> </a:t>
                </a:r>
                <a:r>
                  <a:rPr lang="en-IL" dirty="0" err="1"/>
                  <a:t>לשותף</a:t>
                </a:r>
                <a:r>
                  <a:rPr lang="en-IL" dirty="0"/>
                  <a:t>/</a:t>
                </a:r>
                <a:r>
                  <a:rPr lang="en-IL" dirty="0" err="1"/>
                  <a:t>לגלאי</a:t>
                </a:r>
                <a:r>
                  <a:rPr lang="en-IL" dirty="0"/>
                  <a:t> </a:t>
                </a:r>
                <a:r>
                  <a:rPr lang="en-IL" dirty="0" err="1"/>
                  <a:t>השני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סידור</a:t>
                </a:r>
                <a:r>
                  <a:rPr lang="en-IL" b="1" dirty="0"/>
                  <a:t> </a:t>
                </a:r>
                <a:r>
                  <a:rPr lang="en-IL" b="1" dirty="0" err="1"/>
                  <a:t>מרווחים</a:t>
                </a:r>
                <a:r>
                  <a:rPr lang="en-IL" b="1" dirty="0"/>
                  <a:t> (Tidy spacing):</a:t>
                </a:r>
                <a:r>
                  <a:rPr lang="en-IL" dirty="0"/>
                  <a:t> </a:t>
                </a:r>
                <a:r>
                  <a:rPr lang="en-IL" dirty="0" err="1"/>
                  <a:t>חיתוך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ארוכים</a:t>
                </a:r>
                <a:r>
                  <a:rPr lang="en-IL" dirty="0"/>
                  <a:t> </a:t>
                </a:r>
                <a:r>
                  <a:rPr lang="en-IL" dirty="0" err="1"/>
                  <a:t>מדי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הסרת</a:t>
                </a:r>
                <a:r>
                  <a:rPr lang="en-IL" b="1" dirty="0"/>
                  <a:t> </a:t>
                </a:r>
                <a:r>
                  <a:rPr lang="en-IL" b="1" dirty="0" err="1"/>
                  <a:t>כפילויות</a:t>
                </a:r>
                <a:r>
                  <a:rPr lang="en-IL" b="1" dirty="0"/>
                  <a:t> (Drop duplicates):</a:t>
                </a:r>
                <a:r>
                  <a:rPr lang="en-IL" dirty="0"/>
                  <a:t> </a:t>
                </a:r>
                <a:r>
                  <a:rPr lang="en-IL" dirty="0" err="1"/>
                  <a:t>הסרת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כפולים</a:t>
                </a:r>
                <a:r>
                  <a:rPr lang="en-IL" dirty="0"/>
                  <a:t> </a:t>
                </a:r>
                <a:r>
                  <a:rPr lang="en-IL" b="1" dirty="0" err="1"/>
                  <a:t>לפני</a:t>
                </a:r>
                <a:r>
                  <a:rPr lang="en-IL" dirty="0"/>
                  <a:t> </a:t>
                </a:r>
                <a:r>
                  <a:rPr lang="en-IL" dirty="0" err="1"/>
                  <a:t>חלוקת</a:t>
                </a:r>
                <a:r>
                  <a:rPr lang="en-IL" dirty="0"/>
                  <a:t> </a:t>
                </a:r>
                <a:r>
                  <a:rPr lang="en-IL" dirty="0" err="1"/>
                  <a:t>הנתונים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איזון</a:t>
                </a:r>
                <a:r>
                  <a:rPr lang="en-IL" b="1" dirty="0"/>
                  <a:t> </a:t>
                </a:r>
                <a:r>
                  <a:rPr lang="en-IL" b="1" dirty="0" err="1"/>
                  <a:t>יחס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:</a:t>
                </a:r>
                <a:r>
                  <a:rPr lang="en-IL" dirty="0"/>
                  <a:t> </a:t>
                </a:r>
                <a:r>
                  <a:rPr lang="en-IL" dirty="0" err="1"/>
                  <a:t>איזון</a:t>
                </a:r>
                <a:r>
                  <a:rPr lang="en-IL" dirty="0"/>
                  <a:t> </a:t>
                </a:r>
                <a:r>
                  <a:rPr lang="en-IL" dirty="0" err="1"/>
                  <a:t>ליחס</a:t>
                </a:r>
                <a:r>
                  <a:rPr lang="en-IL" dirty="0"/>
                  <a:t> </a:t>
                </a:r>
                <a:r>
                  <a:rPr lang="en-IL" dirty="0" err="1"/>
                  <a:t>מציאותי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b="1" dirty="0"/>
                  <a:t>35% </a:t>
                </a:r>
                <a:r>
                  <a:rPr lang="en-IL" b="1" dirty="0" err="1"/>
                  <a:t>פישינג</a:t>
                </a:r>
                <a:r>
                  <a:rPr lang="en-IL" dirty="0"/>
                  <a:t> (</a:t>
                </a:r>
                <a:r>
                  <a:rPr lang="en-IL" dirty="0" err="1"/>
                  <a:t>רוב</a:t>
                </a:r>
                <a:r>
                  <a:rPr lang="en-IL" dirty="0"/>
                  <a:t> </a:t>
                </a:r>
                <a:r>
                  <a:rPr lang="en-IL" dirty="0" err="1"/>
                  <a:t>המיילים</a:t>
                </a:r>
                <a:r>
                  <a:rPr lang="en-IL" dirty="0"/>
                  <a:t> </a:t>
                </a:r>
                <a:r>
                  <a:rPr lang="en-IL" dirty="0" err="1"/>
                  <a:t>בתיבה</a:t>
                </a:r>
                <a:r>
                  <a:rPr lang="en-IL" dirty="0"/>
                  <a:t> </a:t>
                </a:r>
                <a:r>
                  <a:rPr lang="en-IL" dirty="0" err="1"/>
                  <a:t>אמיתית</a:t>
                </a:r>
                <a:r>
                  <a:rPr lang="en-IL" dirty="0"/>
                  <a:t> </a:t>
                </a:r>
                <a:r>
                  <a:rPr lang="en-IL" dirty="0" err="1"/>
                  <a:t>הם</a:t>
                </a:r>
                <a:r>
                  <a:rPr lang="en-IL" dirty="0"/>
                  <a:t> </a:t>
                </a:r>
                <a:r>
                  <a:rPr lang="en-IL" dirty="0" err="1"/>
                  <a:t>לגיטימיים</a:t>
                </a:r>
                <a:r>
                  <a:rPr lang="en-IL" dirty="0"/>
                  <a:t>).</a:t>
                </a:r>
              </a:p>
              <a:p>
                <a:pPr algn="r" rtl="1"/>
                <a:r>
                  <a:rPr lang="en-IL" b="1" dirty="0" err="1"/>
                  <a:t>חלוקת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(Split):</a:t>
                </a:r>
                <a:r>
                  <a:rPr lang="en-IL" dirty="0"/>
                  <a:t> </a:t>
                </a:r>
                <a:r>
                  <a:rPr lang="en-IL" dirty="0" err="1"/>
                  <a:t>חלוקה</a:t>
                </a:r>
                <a:r>
                  <a:rPr lang="en-IL" dirty="0"/>
                  <a:t> ל-60% </a:t>
                </a:r>
                <a:r>
                  <a:rPr lang="en-IL" dirty="0" err="1"/>
                  <a:t>אימון</a:t>
                </a:r>
                <a:r>
                  <a:rPr lang="en-IL" dirty="0"/>
                  <a:t> / 20% </a:t>
                </a:r>
                <a:r>
                  <a:rPr lang="en-IL" dirty="0" err="1"/>
                  <a:t>ולידציה</a:t>
                </a:r>
                <a:r>
                  <a:rPr lang="en-IL" dirty="0"/>
                  <a:t> / 20% </a:t>
                </a:r>
                <a:r>
                  <a:rPr lang="en-IL" dirty="0" err="1"/>
                  <a:t>טסט</a:t>
                </a:r>
                <a:r>
                  <a:rPr lang="en-IL" dirty="0"/>
                  <a:t> </a:t>
                </a:r>
                <a:r>
                  <a:rPr lang="en-IL" dirty="0" err="1"/>
                  <a:t>עם</a:t>
                </a:r>
                <a:r>
                  <a:rPr lang="en-IL" dirty="0"/>
                  <a:t> Fixed Seed </a:t>
                </a:r>
                <a:r>
                  <a:rPr lang="en-IL" dirty="0" err="1"/>
                  <a:t>לשחזור</a:t>
                </a:r>
                <a:r>
                  <a:rPr lang="en-IL" dirty="0"/>
                  <a:t> </a:t>
                </a:r>
                <a:r>
                  <a:rPr lang="en-IL" dirty="0" err="1"/>
                  <a:t>מדויק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האשינג</a:t>
                </a:r>
                <a:r>
                  <a:rPr lang="en-IL" b="1" dirty="0"/>
                  <a:t> (Hash everything):</a:t>
                </a:r>
                <a:r>
                  <a:rPr lang="en-IL" dirty="0"/>
                  <a:t> </a:t>
                </a:r>
                <a:r>
                  <a:rPr lang="en-IL" dirty="0" err="1"/>
                  <a:t>יצירת</a:t>
                </a:r>
                <a:r>
                  <a:rPr lang="en-IL" dirty="0"/>
                  <a:t> </a:t>
                </a:r>
                <a:r>
                  <a:rPr lang="en-IL" dirty="0" err="1"/>
                  <a:t>טביעת</a:t>
                </a:r>
                <a:r>
                  <a:rPr lang="en-IL" dirty="0"/>
                  <a:t> </a:t>
                </a:r>
                <a:r>
                  <a:rPr lang="en-IL" dirty="0" err="1"/>
                  <a:t>אצבע</a:t>
                </a:r>
                <a:r>
                  <a:rPr lang="en-IL" dirty="0"/>
                  <a:t> </a:t>
                </a:r>
                <a:r>
                  <a:rPr lang="en-IL" dirty="0" err="1"/>
                  <a:t>לכל</a:t>
                </a:r>
                <a:r>
                  <a:rPr lang="en-IL" dirty="0"/>
                  <a:t> </a:t>
                </a:r>
                <a:r>
                  <a:rPr lang="en-IL" dirty="0" err="1"/>
                  <a:t>קובץ</a:t>
                </a:r>
                <a:r>
                  <a:rPr lang="en-IL" dirty="0"/>
                  <a:t> </a:t>
                </a:r>
                <a:r>
                  <a:rPr lang="en-IL" dirty="0" err="1"/>
                  <a:t>להבטחת</a:t>
                </a:r>
                <a:r>
                  <a:rPr lang="en-IL" dirty="0"/>
                  <a:t> </a:t>
                </a:r>
                <a:r>
                  <a:rPr lang="en-IL" dirty="0" err="1"/>
                  <a:t>שחזור</a:t>
                </a:r>
                <a:r>
                  <a:rPr lang="en-IL" dirty="0"/>
                  <a:t> </a:t>
                </a:r>
                <a:r>
                  <a:rPr lang="en-IL" dirty="0" err="1"/>
                  <a:t>תוצאות</a:t>
                </a:r>
                <a:r>
                  <a:rPr lang="en-IL" dirty="0"/>
                  <a:t> </a:t>
                </a:r>
                <a:r>
                  <a:rPr lang="en-IL" dirty="0" err="1"/>
                  <a:t>מדויק</a:t>
                </a:r>
                <a:r>
                  <a:rPr lang="en-IL" dirty="0"/>
                  <a:t> (Exact reproduction).</a:t>
                </a:r>
              </a:p>
              <a:p>
                <a:pPr algn="r" rtl="1"/>
                <a:endParaRPr lang="he-IL" b="1" dirty="0"/>
              </a:p>
              <a:p>
                <a:pPr algn="r" rtl="1"/>
                <a:r>
                  <a:rPr lang="en-IL" b="1" dirty="0" err="1"/>
                  <a:t>בדיקות</a:t>
                </a:r>
                <a:r>
                  <a:rPr lang="en-IL" b="1" dirty="0"/>
                  <a:t> </a:t>
                </a:r>
                <a:r>
                  <a:rPr lang="en-IL" b="1" dirty="0" err="1"/>
                  <a:t>והחלטות</a:t>
                </a:r>
                <a:r>
                  <a:rPr lang="en-IL" b="1" dirty="0"/>
                  <a:t> </a:t>
                </a:r>
                <a:r>
                  <a:rPr lang="he-IL" b="1" dirty="0"/>
                  <a:t>חשובות</a:t>
                </a:r>
                <a:r>
                  <a:rPr lang="en-IL" b="1" dirty="0"/>
                  <a:t>:</a:t>
                </a:r>
              </a:p>
              <a:p>
                <a:pPr algn="r" rtl="1"/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הבחירה</a:t>
                </a:r>
                <a:r>
                  <a:rPr lang="en-IL" b="1" dirty="0"/>
                  <a:t> </a:t>
                </a:r>
                <a:r>
                  <a:rPr lang="en-IL" b="1" dirty="0" err="1"/>
                  <a:t>הקריטית</a:t>
                </a:r>
                <a:r>
                  <a:rPr lang="en-IL" b="1" dirty="0"/>
                  <a:t> — </a:t>
                </a:r>
                <a:r>
                  <a:rPr lang="en-IL" b="1" dirty="0" err="1"/>
                  <a:t>הימנעות</a:t>
                </a:r>
                <a:r>
                  <a:rPr lang="en-IL" b="1" dirty="0"/>
                  <a:t> </a:t>
                </a:r>
                <a:r>
                  <a:rPr lang="en-IL" b="1" dirty="0" err="1"/>
                  <a:t>מקיצורי</a:t>
                </a:r>
                <a:r>
                  <a:rPr lang="en-IL" b="1" dirty="0"/>
                  <a:t> </a:t>
                </a:r>
                <a:r>
                  <a:rPr lang="en-IL" b="1" dirty="0" err="1"/>
                  <a:t>דרך</a:t>
                </a:r>
                <a:r>
                  <a:rPr lang="en-IL" b="1" dirty="0"/>
                  <a:t> (Avoid a Shortcut):</a:t>
                </a:r>
                <a:endParaRPr lang="en-IL" dirty="0"/>
              </a:p>
              <a:p>
                <a:pPr lvl="1" algn="r" rtl="1"/>
                <a:r>
                  <a:rPr lang="en-IL" dirty="0" err="1"/>
                  <a:t>גלאי</a:t>
                </a:r>
                <a:r>
                  <a:rPr lang="en-IL" dirty="0"/>
                  <a:t> </a:t>
                </a:r>
                <a:r>
                  <a:rPr lang="en-IL" dirty="0" err="1"/>
                  <a:t>ניסיוני</a:t>
                </a:r>
                <a:r>
                  <a:rPr lang="en-IL" dirty="0"/>
                  <a:t> </a:t>
                </a:r>
                <a:r>
                  <a:rPr lang="en-IL" dirty="0" err="1"/>
                  <a:t>יכול</a:t>
                </a:r>
                <a:r>
                  <a:rPr lang="en-IL" dirty="0"/>
                  <a:t> </a:t>
                </a:r>
                <a:r>
                  <a:rPr lang="en-IL" dirty="0" err="1"/>
                  <a:t>לזהות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b="1" dirty="0" err="1"/>
                  <a:t>מקור</a:t>
                </a:r>
                <a:r>
                  <a:rPr lang="en-IL" b="1" dirty="0"/>
                  <a:t> </a:t>
                </a:r>
                <a:r>
                  <a:rPr lang="en-IL" b="1" dirty="0" err="1"/>
                  <a:t>המייל</a:t>
                </a:r>
                <a:r>
                  <a:rPr lang="en-IL" b="1" dirty="0"/>
                  <a:t> ב-99% </a:t>
                </a:r>
                <a:r>
                  <a:rPr lang="en-IL" b="1" dirty="0" err="1"/>
                  <a:t>מהמקרים</a:t>
                </a:r>
                <a:r>
                  <a:rPr lang="en-IL" dirty="0"/>
                  <a:t>.</a:t>
                </a:r>
              </a:p>
              <a:p>
                <a:pPr lvl="1" algn="r" rtl="1"/>
                <a:r>
                  <a:rPr lang="en-IL" dirty="0" err="1"/>
                  <a:t>אם</a:t>
                </a:r>
                <a:r>
                  <a:rPr lang="en-IL" dirty="0"/>
                  <a:t> </a:t>
                </a:r>
                <a:r>
                  <a:rPr lang="en-IL" dirty="0" err="1"/>
                  <a:t>מערבבים</a:t>
                </a:r>
                <a:r>
                  <a:rPr lang="en-IL" dirty="0"/>
                  <a:t> </a:t>
                </a:r>
                <a:r>
                  <a:rPr lang="en-IL" dirty="0" err="1"/>
                  <a:t>מקורות</a:t>
                </a:r>
                <a:r>
                  <a:rPr lang="en-IL" dirty="0"/>
                  <a:t> </a:t>
                </a:r>
                <a:r>
                  <a:rPr lang="en-IL" dirty="0" err="1"/>
                  <a:t>שונים</a:t>
                </a:r>
                <a:r>
                  <a:rPr lang="en-IL" dirty="0"/>
                  <a:t>, </a:t>
                </a:r>
                <a:r>
                  <a:rPr lang="en-IL" dirty="0" err="1"/>
                  <a:t>המודל</a:t>
                </a:r>
                <a:r>
                  <a:rPr lang="en-IL" dirty="0"/>
                  <a:t> </a:t>
                </a:r>
                <a:r>
                  <a:rPr lang="en-IL" dirty="0" err="1"/>
                  <a:t>עלול</a:t>
                </a:r>
                <a:r>
                  <a:rPr lang="en-IL" dirty="0"/>
                  <a:t> "</a:t>
                </a:r>
                <a:r>
                  <a:rPr lang="en-IL" dirty="0" err="1"/>
                  <a:t>לרמות</a:t>
                </a:r>
                <a:r>
                  <a:rPr lang="en-IL" dirty="0"/>
                  <a:t>" </a:t>
                </a:r>
                <a:r>
                  <a:rPr lang="en-IL" dirty="0" err="1"/>
                  <a:t>ולהבחין</a:t>
                </a:r>
                <a:r>
                  <a:rPr lang="en-IL" dirty="0"/>
                  <a:t> </a:t>
                </a:r>
                <a:r>
                  <a:rPr lang="en-IL" dirty="0" err="1"/>
                  <a:t>לפי</a:t>
                </a:r>
                <a:r>
                  <a:rPr lang="en-IL" dirty="0"/>
                  <a:t> </a:t>
                </a:r>
                <a:r>
                  <a:rPr lang="en-IL" dirty="0" err="1"/>
                  <a:t>סגנון</a:t>
                </a:r>
                <a:r>
                  <a:rPr lang="en-IL" dirty="0"/>
                  <a:t> </a:t>
                </a:r>
                <a:r>
                  <a:rPr lang="en-IL" dirty="0" err="1"/>
                  <a:t>המקור</a:t>
                </a:r>
                <a:r>
                  <a:rPr lang="en-IL" dirty="0"/>
                  <a:t> </a:t>
                </a:r>
                <a:r>
                  <a:rPr lang="en-IL" dirty="0" err="1"/>
                  <a:t>ולא</a:t>
                </a:r>
                <a:r>
                  <a:rPr lang="en-IL" dirty="0"/>
                  <a:t> </a:t>
                </a:r>
                <a:r>
                  <a:rPr lang="en-IL" dirty="0" err="1"/>
                  <a:t>לפי</a:t>
                </a:r>
                <a:r>
                  <a:rPr lang="en-IL" dirty="0"/>
                  <a:t> </a:t>
                </a:r>
                <a:r>
                  <a:rPr lang="en-IL" dirty="0" err="1"/>
                  <a:t>התרמית</a:t>
                </a:r>
                <a:r>
                  <a:rPr lang="en-IL" dirty="0"/>
                  <a:t> </a:t>
                </a:r>
                <a:r>
                  <a:rPr lang="en-IL" dirty="0" err="1"/>
                  <a:t>עצמה</a:t>
                </a:r>
                <a:r>
                  <a:rPr lang="en-IL" dirty="0"/>
                  <a:t>.</a:t>
                </a:r>
              </a:p>
              <a:p>
                <a:pPr lvl="1" algn="r" rtl="1"/>
                <a:r>
                  <a:rPr lang="en-IL" b="1" dirty="0" err="1"/>
                  <a:t>הפתרון</a:t>
                </a:r>
                <a:r>
                  <a:rPr lang="en-IL" b="1" dirty="0"/>
                  <a:t>:</a:t>
                </a:r>
                <a:r>
                  <a:rPr lang="en-IL" dirty="0"/>
                  <a:t> </a:t>
                </a:r>
                <a:r>
                  <a:rPr lang="en-IL" dirty="0" err="1"/>
                  <a:t>אימון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סט</a:t>
                </a:r>
                <a:r>
                  <a:rPr lang="en-IL" dirty="0"/>
                  <a:t> </a:t>
                </a:r>
                <a:r>
                  <a:rPr lang="en-IL" dirty="0" err="1"/>
                  <a:t>מעורב</a:t>
                </a:r>
                <a:r>
                  <a:rPr lang="en-IL" dirty="0"/>
                  <a:t> </a:t>
                </a:r>
                <a:r>
                  <a:rPr lang="en-IL" dirty="0" err="1"/>
                  <a:t>ממקור</a:t>
                </a:r>
                <a:r>
                  <a:rPr lang="en-IL" dirty="0"/>
                  <a:t> </a:t>
                </a:r>
                <a:r>
                  <a:rPr lang="en-IL" dirty="0" err="1"/>
                  <a:t>יחיד</a:t>
                </a:r>
                <a:r>
                  <a:rPr lang="en-IL" dirty="0"/>
                  <a:t> (CEAS) </a:t>
                </a:r>
                <a:r>
                  <a:rPr lang="en-IL" dirty="0" err="1"/>
                  <a:t>המכיל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שתי</a:t>
                </a:r>
                <a:r>
                  <a:rPr lang="en-IL" dirty="0"/>
                  <a:t> </a:t>
                </a:r>
                <a:r>
                  <a:rPr lang="en-IL" dirty="0" err="1"/>
                  <a:t>המחלקות</a:t>
                </a:r>
                <a:r>
                  <a:rPr lang="en-IL" dirty="0"/>
                  <a:t>.</a:t>
                </a:r>
                <a:endParaRPr lang="he-IL" dirty="0"/>
              </a:p>
              <a:p>
                <a:pPr lvl="1" algn="r" rtl="1"/>
                <a:endParaRPr lang="he-IL" dirty="0"/>
              </a:p>
              <a:p>
                <a:pPr lvl="1" algn="r" rtl="1"/>
                <a:r>
                  <a:rPr lang="he-IL" dirty="0"/>
                  <a:t>דברים חשובים שעברתי עליהם בדרך:</a:t>
                </a:r>
                <a:br>
                  <a:rPr lang="en-US" dirty="0"/>
                </a:br>
                <a:r>
                  <a:rPr lang="he-IL" dirty="0"/>
                  <a:t>- הסתכלתי על </a:t>
                </a:r>
                <a:r>
                  <a:rPr lang="en-US" dirty="0"/>
                  <a:t>META-FEATURES</a:t>
                </a:r>
                <a:r>
                  <a:rPr lang="he-IL" dirty="0"/>
                  <a:t> כדי לנתח ולהבין את הדאטה שקיבלתי: אורך, כמות מילים, יחס ספרות, יחס </a:t>
                </a:r>
                <a:r>
                  <a:rPr lang="en-US" dirty="0"/>
                  <a:t>UPPER CASE</a:t>
                </a:r>
                <a:r>
                  <a:rPr lang="he-IL" dirty="0"/>
                  <a:t>, יחס תווים שהם לא </a:t>
                </a:r>
                <a:r>
                  <a:rPr lang="he-IL" dirty="0" err="1"/>
                  <a:t>אסקי</a:t>
                </a:r>
                <a:r>
                  <a:rPr lang="he-IL" dirty="0"/>
                  <a:t>, כמות קישורים </a:t>
                </a:r>
                <a:r>
                  <a:rPr lang="he-IL" dirty="0" err="1"/>
                  <a:t>וכו</a:t>
                </a:r>
                <a:endParaRPr lang="he-IL" dirty="0"/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מדדתי את ה</a:t>
                </a:r>
                <a:r>
                  <a:rPr lang="en-US" dirty="0"/>
                  <a:t>SKEWNESS</a:t>
                </a:r>
                <a:r>
                  <a:rPr lang="he-IL" dirty="0"/>
                  <a:t> של כל מאפיין – כמה זה לצדדים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מאפייני היחס גיליתי שהם רחוקים מאוד מהתפלגות נורמלית.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כל הודעת דואל נחתכה לאורך מקסימלי לעיבוד מקדים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החיתוך כדי למצוא </a:t>
                </a:r>
                <a:r>
                  <a:rPr lang="en-US" dirty="0"/>
                  <a:t>OUTLIERS</a:t>
                </a:r>
                <a:r>
                  <a:rPr lang="he-IL" dirty="0"/>
                  <a:t> ובדיקת חריגים </a:t>
                </a:r>
                <a:r>
                  <a:rPr lang="en-US" dirty="0"/>
                  <a:t>IQR</a:t>
                </a:r>
                <a:r>
                  <a:rPr lang="he-IL" dirty="0"/>
                  <a:t>\</a:t>
                </a:r>
                <a:r>
                  <a:rPr lang="en-US" dirty="0"/>
                  <a:t>MAD</a:t>
                </a:r>
                <a:r>
                  <a:rPr lang="he-IL" dirty="0"/>
                  <a:t> </a:t>
                </a:r>
                <a:r>
                  <a:rPr lang="he-IL" dirty="0" err="1"/>
                  <a:t>עלהאורך</a:t>
                </a:r>
                <a:r>
                  <a:rPr lang="he-IL" dirty="0"/>
                  <a:t> לא זיהתה כמעט עוד חריגים נוספים.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בגלל </a:t>
                </a:r>
                <a:r>
                  <a:rPr lang="he-IL" dirty="0" err="1"/>
                  <a:t>ההתפלוגיות</a:t>
                </a:r>
                <a:r>
                  <a:rPr lang="he-IL" dirty="0"/>
                  <a:t> הלא נורמליות, עם זנב כבד, בחרתי להשתמש במדד קורלציה של </a:t>
                </a:r>
                <a:r>
                  <a:rPr lang="he-IL" dirty="0" err="1"/>
                  <a:t>ספירמן</a:t>
                </a:r>
                <a:r>
                  <a:rPr lang="he-IL" dirty="0"/>
                  <a:t> ושימוש בחציון במקום ממוצע. בגלל </a:t>
                </a:r>
                <a:r>
                  <a:rPr lang="he-IL" dirty="0" err="1"/>
                  <a:t>שספירמן</a:t>
                </a:r>
                <a:r>
                  <a:rPr lang="he-IL" dirty="0"/>
                  <a:t> מודד קשר מונוטוני ללא הנחות של נורמליות וליניאריות.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>
                    <a:solidFill>
                      <a:schemeClr val="bg2"/>
                    </a:solidFill>
                  </a:rPr>
                  <a:t>מצאתי שהודעות </a:t>
                </a:r>
                <a:r>
                  <a:rPr lang="he-IL" dirty="0" err="1">
                    <a:solidFill>
                      <a:schemeClr val="bg2"/>
                    </a:solidFill>
                  </a:rPr>
                  <a:t>פישינג</a:t>
                </a:r>
                <a:r>
                  <a:rPr lang="he-IL" dirty="0">
                    <a:solidFill>
                      <a:schemeClr val="bg2"/>
                    </a:solidFill>
                  </a:rPr>
                  <a:t> קצרות יותר מהודעות לגיטימיות – נדבר על זה תכף. מתאם </a:t>
                </a:r>
                <a:r>
                  <a:rPr lang="he-IL" dirty="0" err="1">
                    <a:solidFill>
                      <a:schemeClr val="bg2"/>
                    </a:solidFill>
                  </a:rPr>
                  <a:t>ספירמן</a:t>
                </a:r>
                <a:r>
                  <a:rPr lang="he-IL" dirty="0">
                    <a:solidFill>
                      <a:schemeClr val="bg2"/>
                    </a:solidFill>
                  </a:rPr>
                  <a:t> של מינוס 0.57 עבור תווים ו0.53 עבור כמות מילים.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>
                    <a:solidFill>
                      <a:schemeClr val="bg2"/>
                    </a:solidFill>
                  </a:rPr>
                  <a:t>עשיתי מבחן מאן–ויטני דחה את השערת האפס של </a:t>
                </a:r>
                <a:r>
                  <a:rPr lang="he-IL" dirty="0" err="1">
                    <a:solidFill>
                      <a:schemeClr val="bg2"/>
                    </a:solidFill>
                  </a:rPr>
                  <a:t>התפלוגויות</a:t>
                </a:r>
                <a:r>
                  <a:rPr lang="he-IL" dirty="0">
                    <a:solidFill>
                      <a:schemeClr val="bg2"/>
                    </a:solidFill>
                  </a:rPr>
                  <a:t> שוות בערך </a:t>
                </a:r>
                <a:r>
                  <a:rPr lang="en-US" dirty="0">
                    <a:solidFill>
                      <a:schemeClr val="bg2"/>
                    </a:solidFill>
                  </a:rPr>
                  <a:t>P</a:t>
                </a:r>
                <a:r>
                  <a:rPr lang="he-IL" dirty="0">
                    <a:solidFill>
                      <a:schemeClr val="bg2"/>
                    </a:solidFill>
                  </a:rPr>
                  <a:t> קטן ממש מ0.001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en-US" dirty="0">
                    <a:solidFill>
                      <a:schemeClr val="bg2"/>
                    </a:solidFill>
                  </a:rPr>
                  <a:t>REDUNDANCY</a:t>
                </a:r>
                <a:r>
                  <a:rPr lang="he-IL" dirty="0">
                    <a:solidFill>
                      <a:schemeClr val="bg2"/>
                    </a:solidFill>
                  </a:rPr>
                  <a:t> זיהיתי באמצעות מתאם דירוג וממד </a:t>
                </a:r>
                <a:r>
                  <a:rPr lang="en-US" dirty="0">
                    <a:solidFill>
                      <a:schemeClr val="bg2"/>
                    </a:solidFill>
                  </a:rPr>
                  <a:t>VIF</a:t>
                </a:r>
                <a:r>
                  <a:rPr lang="he-IL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ספירת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ואורך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ההודעה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הראו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מתאם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כמעט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מושלם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lang="en-IL" sz="1200" i="1" kern="12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  <m:r>
                      <a:rPr lang="en-IL" sz="1200" i="0" kern="1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r>
                      <a:rPr lang="en-IL" sz="1200" i="0" kern="1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97</m:t>
                    </m:r>
                  </m:oMath>
                </a14:m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ערך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VIF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IL" sz="1200" kern="12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r>
                      <a:rPr lang="en-IL" sz="1200" i="0" kern="120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21</m:t>
                    </m:r>
                  </m:oMath>
                </a14:m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כל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endParaRPr lang="he-IL" sz="1200" kern="1200" dirty="0">
                  <a:solidFill>
                    <a:schemeClr val="bg2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628650" lvl="1" indent="-171450" algn="r" rtl="1">
                  <a:buFontTx/>
                  <a:buChar char="-"/>
                </a:pPr>
                <a:r>
                  <a:rPr lang="en-IL" dirty="0" err="1"/>
                  <a:t>הוחלט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להזין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משתני</a:t>
                </a:r>
                <a:r>
                  <a:rPr lang="en-IL" dirty="0"/>
                  <a:t> </a:t>
                </a:r>
                <a:r>
                  <a:rPr lang="en-IL" dirty="0" err="1"/>
                  <a:t>המטה-דאטה</a:t>
                </a:r>
                <a:r>
                  <a:rPr lang="en-IL" dirty="0"/>
                  <a:t> </a:t>
                </a:r>
                <a:r>
                  <a:rPr lang="en-IL" dirty="0" err="1"/>
                  <a:t>הללו</a:t>
                </a:r>
                <a:r>
                  <a:rPr lang="en-IL" dirty="0"/>
                  <a:t> </a:t>
                </a:r>
                <a:r>
                  <a:rPr lang="en-IL" dirty="0" err="1"/>
                  <a:t>למודל</a:t>
                </a:r>
                <a:r>
                  <a:rPr lang="en-IL" dirty="0"/>
                  <a:t> </a:t>
                </a:r>
                <a:r>
                  <a:rPr lang="en-IL" dirty="0" err="1"/>
                  <a:t>אלא</a:t>
                </a:r>
                <a:r>
                  <a:rPr lang="en-IL" dirty="0"/>
                  <a:t> </a:t>
                </a:r>
                <a:r>
                  <a:rPr lang="en-IL" dirty="0" err="1"/>
                  <a:t>להשאירם</a:t>
                </a:r>
                <a:r>
                  <a:rPr lang="en-IL" dirty="0"/>
                  <a:t> </a:t>
                </a:r>
                <a:r>
                  <a:rPr lang="en-IL" dirty="0" err="1"/>
                  <a:t>למטרות</a:t>
                </a:r>
                <a:r>
                  <a:rPr lang="en-IL" dirty="0"/>
                  <a:t> </a:t>
                </a:r>
                <a:r>
                  <a:rPr lang="en-IL" dirty="0" err="1"/>
                  <a:t>אבחון</a:t>
                </a:r>
                <a:r>
                  <a:rPr lang="en-IL" dirty="0"/>
                  <a:t> </a:t>
                </a:r>
                <a:r>
                  <a:rPr lang="en-IL" dirty="0" err="1"/>
                  <a:t>בלבד</a:t>
                </a:r>
                <a:r>
                  <a:rPr lang="en-IL" dirty="0"/>
                  <a:t>, </a:t>
                </a:r>
                <a:r>
                  <a:rPr lang="en-IL" dirty="0" err="1"/>
                  <a:t>כדי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לפצל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המשקל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אותות</a:t>
                </a:r>
                <a:r>
                  <a:rPr lang="en-IL" dirty="0"/>
                  <a:t> </a:t>
                </a:r>
                <a:r>
                  <a:rPr lang="en-IL" dirty="0" err="1"/>
                  <a:t>כמעט</a:t>
                </a:r>
                <a:r>
                  <a:rPr lang="en-IL" dirty="0"/>
                  <a:t> </a:t>
                </a:r>
                <a:r>
                  <a:rPr lang="en-IL" dirty="0" err="1"/>
                  <a:t>זהים</a:t>
                </a:r>
                <a:endParaRPr lang="he-IL" dirty="0"/>
              </a:p>
              <a:p>
                <a:pPr marL="628650" lvl="1" indent="-171450" algn="r" rtl="1">
                  <a:buFontTx/>
                  <a:buChar char="-"/>
                </a:pPr>
                <a:endParaRPr lang="he-IL" dirty="0"/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ניתוח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ואיכות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(Temporal Analysis)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לוודא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מבחינת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וראיתי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שכמעט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כולם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(99.7%)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נופלים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בטווח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המצופה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הפרויקט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2007-2009.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חיפשתי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אקטיבי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שנובעים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מבאג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שנקרא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מלכודת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יוניקס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(Unix-epoch trap).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המושג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שבו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מחשב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מוצא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אז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שמתורגם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אוטומטית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ל-1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בינואר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1970.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לוודא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ילמד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להשתמש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ב"מיילים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מ-1970"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כקיצור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לזיהוי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מ-34,000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שסרקתי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מצאתי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אפילו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הודעה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שסבלה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מתקלת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ה-1970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שמעיד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נקי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נתקלתי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בקומץ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קטן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הודעות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(כ-0.3%)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מומצאים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הגיוניים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2086)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כותרות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מזויפות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התוקפים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(RFC-822 spoofing).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לעוות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גרפי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הזמנים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סיננתי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מניתוח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התאריכים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במחלקות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(Class Imbalance)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במקום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להשתמש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שמחולק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50/50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לגיטימיים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בחרתי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לאזן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מחדש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שרוב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לגיטימיים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יהווה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35%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ההיגיון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כאן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היגיון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מעשי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בתיבת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מוחלט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ההודעות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שאנחנו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מקבלים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רגילות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לאמן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סביבה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שמדמה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מציאות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מעבדה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מלאכותי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שעבדתי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מאוזנים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לבחון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מתמודד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השוויתי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Naive Bayes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הקלאסי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(Multinomial)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שנקרא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Complement Naive Bayes (CNB),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ספציפית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לתקן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הטיות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שניהם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תרחישים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בלבד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ועד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ל-50%.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הניסוי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התיאוריה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יפה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כשהפישינג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(5%),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ה-CNB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ניצח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בפער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מובהק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לעומת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שהתקרבתי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50/50,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היתרון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נעלם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לגמרי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הקלאסי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שמוכיח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עובד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כ"מתקן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". </a:t>
                </a:r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הנדסת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וטרנספורמציות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(Feature Engineering &amp; Creation)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בשלב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הראשון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הפכתי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טקסט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הגולמי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למספרים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לקרוא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וקטורי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TF-IDF.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המושג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אומר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גבוה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הנוכחי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יחסית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חשבון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סיסמה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תקבל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משקל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גדול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").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הסתפקתי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ייצרתי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ב-3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דרכים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קריאת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שלמות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סינון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עצירה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– Stop Words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אבטחתית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קריאה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ואותיות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(Character n-grams),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ובסוף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עשיתי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(Union)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השיטות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לווקטור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תכונות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מרבית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ילמד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רעשי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השתמשתי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בפרמטרים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min_df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ו-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max_features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המשמעות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שסיננתי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קיצוני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והגבלתי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זוכר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מהחלטות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התכנון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המרכזיות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בפרויקט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להימנע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לחלוטין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מהורדת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ממדים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(Dimensionality reduction,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SVD).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לשמור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(Explainability).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להגיע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שבו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ספציפי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להסתכל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החישוב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ולהצביע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בדיוק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ולומר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המשקל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סיווגתי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שהייתה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נמחקת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הממדים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457200" lvl="1" indent="0" algn="r" rtl="1">
                  <a:buFontTx/>
                  <a:buNone/>
                </a:pPr>
                <a:endParaRPr lang="en-US" dirty="0"/>
              </a:p>
              <a:p>
                <a:pPr lvl="1" algn="r" rtl="1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en-IL" b="1" dirty="0" err="1"/>
                  <a:t>בסיסי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</a:t>
                </a:r>
                <a:r>
                  <a:rPr lang="en-IL" b="1" dirty="0" err="1"/>
                  <a:t>ששימשו</a:t>
                </a:r>
                <a:r>
                  <a:rPr lang="en-IL" b="1" dirty="0"/>
                  <a:t> </a:t>
                </a:r>
                <a:r>
                  <a:rPr lang="en-IL" b="1" dirty="0" err="1"/>
                  <a:t>במחקר</a:t>
                </a:r>
                <a:r>
                  <a:rPr lang="en-IL" b="1" dirty="0"/>
                  <a:t>:</a:t>
                </a:r>
              </a:p>
              <a:p>
                <a:pPr algn="r" rtl="1"/>
                <a:r>
                  <a:rPr lang="en-IL" b="1" dirty="0"/>
                  <a:t>CEAS_08 (</a:t>
                </a:r>
                <a:r>
                  <a:rPr lang="en-IL" b="1" dirty="0" err="1"/>
                  <a:t>סט</a:t>
                </a:r>
                <a:r>
                  <a:rPr lang="en-IL" b="1" dirty="0"/>
                  <a:t> </a:t>
                </a:r>
                <a:r>
                  <a:rPr lang="en-IL" b="1" dirty="0" err="1"/>
                  <a:t>מרכזי</a:t>
                </a:r>
                <a:r>
                  <a:rPr lang="en-IL" b="1" dirty="0"/>
                  <a:t>):</a:t>
                </a:r>
                <a:r>
                  <a:rPr lang="en-IL" dirty="0"/>
                  <a:t> </a:t>
                </a:r>
                <a:r>
                  <a:rPr lang="en-IL" dirty="0" err="1"/>
                  <a:t>מכיל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שתי</a:t>
                </a:r>
                <a:r>
                  <a:rPr lang="en-IL" dirty="0"/>
                  <a:t> </a:t>
                </a:r>
                <a:r>
                  <a:rPr lang="en-IL" dirty="0" err="1"/>
                  <a:t>המחלקות</a:t>
                </a:r>
                <a:r>
                  <a:rPr lang="en-IL" dirty="0"/>
                  <a:t> (</a:t>
                </a:r>
                <a:r>
                  <a:rPr lang="en-IL" dirty="0" err="1"/>
                  <a:t>לגיטימי</a:t>
                </a:r>
                <a:r>
                  <a:rPr lang="en-IL" dirty="0"/>
                  <a:t> </a:t>
                </a:r>
                <a:r>
                  <a:rPr lang="en-IL" dirty="0" err="1"/>
                  <a:t>ופישינג</a:t>
                </a:r>
                <a:r>
                  <a:rPr lang="en-IL" dirty="0"/>
                  <a:t>) </a:t>
                </a:r>
                <a:r>
                  <a:rPr lang="en-IL" dirty="0" err="1"/>
                  <a:t>ממקור</a:t>
                </a:r>
                <a:r>
                  <a:rPr lang="en-IL" dirty="0"/>
                  <a:t> </a:t>
                </a:r>
                <a:r>
                  <a:rPr lang="en-IL" dirty="0" err="1"/>
                  <a:t>יחיד</a:t>
                </a:r>
                <a:r>
                  <a:rPr lang="en-IL" dirty="0"/>
                  <a:t> — </a:t>
                </a:r>
                <a:r>
                  <a:rPr lang="en-IL" b="1" dirty="0"/>
                  <a:t>26,633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/>
                  <a:t>Nazario / Enron / Ling:</a:t>
                </a:r>
                <a:r>
                  <a:rPr lang="en-IL" dirty="0"/>
                  <a:t> </a:t>
                </a:r>
                <a:r>
                  <a:rPr lang="en-IL" dirty="0" err="1"/>
                  <a:t>מקורות</a:t>
                </a:r>
                <a:r>
                  <a:rPr lang="en-IL" dirty="0"/>
                  <a:t> </a:t>
                </a:r>
                <a:r>
                  <a:rPr lang="en-IL" dirty="0" err="1"/>
                  <a:t>נוספים</a:t>
                </a:r>
                <a:r>
                  <a:rPr lang="en-IL" dirty="0"/>
                  <a:t> </a:t>
                </a:r>
                <a:r>
                  <a:rPr lang="en-IL" dirty="0" err="1"/>
                  <a:t>המשמשים</a:t>
                </a:r>
                <a:r>
                  <a:rPr lang="en-IL" dirty="0"/>
                  <a:t> </a:t>
                </a:r>
                <a:r>
                  <a:rPr lang="en-IL" dirty="0" err="1"/>
                  <a:t>למבחן</a:t>
                </a:r>
                <a:r>
                  <a:rPr lang="en-IL" dirty="0"/>
                  <a:t> </a:t>
                </a:r>
                <a:r>
                  <a:rPr lang="en-IL" dirty="0" err="1"/>
                  <a:t>הוגנות</a:t>
                </a:r>
                <a:r>
                  <a:rPr lang="en-IL" dirty="0"/>
                  <a:t> </a:t>
                </a:r>
                <a:r>
                  <a:rPr lang="en-IL" dirty="0" err="1"/>
                  <a:t>בלבד</a:t>
                </a:r>
                <a:r>
                  <a:rPr lang="en-IL" dirty="0"/>
                  <a:t> (Test only).</a:t>
                </a:r>
              </a:p>
              <a:p>
                <a:pPr algn="r" rtl="1"/>
                <a:r>
                  <a:rPr lang="en-IL" b="1" dirty="0"/>
                  <a:t>Real phishing 2023–2025:</a:t>
                </a:r>
                <a:r>
                  <a:rPr lang="en-IL" dirty="0"/>
                  <a:t> </a:t>
                </a:r>
                <a:r>
                  <a:rPr lang="en-IL" dirty="0" err="1"/>
                  <a:t>תרמיות</a:t>
                </a:r>
                <a:r>
                  <a:rPr lang="en-IL" dirty="0"/>
                  <a:t> </a:t>
                </a:r>
                <a:r>
                  <a:rPr lang="en-IL" dirty="0" err="1"/>
                  <a:t>מודרניות</a:t>
                </a:r>
                <a:r>
                  <a:rPr lang="en-IL" dirty="0"/>
                  <a:t> </a:t>
                </a:r>
                <a:r>
                  <a:rPr lang="en-IL" dirty="0" err="1"/>
                  <a:t>לבדיקת</a:t>
                </a:r>
                <a:r>
                  <a:rPr lang="en-IL" dirty="0"/>
                  <a:t> </a:t>
                </a:r>
                <a:r>
                  <a:rPr lang="en-IL" dirty="0" err="1"/>
                  <a:t>התיישנות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 — </a:t>
                </a:r>
                <a:r>
                  <a:rPr lang="en-IL" b="1" dirty="0"/>
                  <a:t>1,303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/>
                  <a:t>Recent normal mail 2024: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לגיטימיים</a:t>
                </a:r>
                <a:r>
                  <a:rPr lang="en-IL" dirty="0"/>
                  <a:t> </a:t>
                </a:r>
                <a:r>
                  <a:rPr lang="en-IL" dirty="0" err="1"/>
                  <a:t>מודרניים</a:t>
                </a:r>
                <a:r>
                  <a:rPr lang="en-IL" dirty="0"/>
                  <a:t> — </a:t>
                </a:r>
                <a:r>
                  <a:rPr lang="en-IL" b="1" dirty="0"/>
                  <a:t>3,000 </a:t>
                </a:r>
                <a:r>
                  <a:rPr lang="en-IL" b="1" dirty="0" err="1"/>
                  <a:t>מיילים</a:t>
                </a:r>
                <a:r>
                  <a:rPr lang="en-IL" dirty="0"/>
                  <a:t>.</a:t>
                </a:r>
                <a:endParaRPr lang="he-IL" dirty="0"/>
              </a:p>
              <a:p>
                <a:pPr algn="r" rtl="1"/>
                <a:endParaRPr lang="en-IL" dirty="0"/>
              </a:p>
              <a:p>
                <a:pPr algn="r" rtl="1"/>
                <a:r>
                  <a:rPr lang="en-IL" b="1" dirty="0" err="1"/>
                  <a:t>שלבי</a:t>
                </a:r>
                <a:r>
                  <a:rPr lang="en-IL" b="1" dirty="0"/>
                  <a:t> </a:t>
                </a:r>
                <a:r>
                  <a:rPr lang="en-IL" b="1" dirty="0" err="1"/>
                  <a:t>ניקוי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(How I Cleaned It):</a:t>
                </a:r>
              </a:p>
              <a:p>
                <a:pPr algn="r" rtl="1"/>
                <a:r>
                  <a:rPr lang="en-IL" b="1" dirty="0" err="1"/>
                  <a:t>הסרת</a:t>
                </a:r>
                <a:r>
                  <a:rPr lang="en-IL" b="1" dirty="0"/>
                  <a:t> </a:t>
                </a:r>
                <a:r>
                  <a:rPr lang="en-IL" b="1" dirty="0" err="1"/>
                  <a:t>קישורי</a:t>
                </a:r>
                <a:r>
                  <a:rPr lang="en-IL" b="1" dirty="0"/>
                  <a:t> </a:t>
                </a:r>
                <a:r>
                  <a:rPr lang="en-IL" b="1" dirty="0" err="1"/>
                  <a:t>אינטרנט</a:t>
                </a:r>
                <a:r>
                  <a:rPr lang="en-IL" b="1" dirty="0"/>
                  <a:t> (Strip web links):</a:t>
                </a:r>
                <a:r>
                  <a:rPr lang="en-IL" dirty="0"/>
                  <a:t> </a:t>
                </a:r>
                <a:r>
                  <a:rPr lang="en-IL" dirty="0" err="1"/>
                  <a:t>השארת</a:t>
                </a:r>
                <a:r>
                  <a:rPr lang="en-IL" dirty="0"/>
                  <a:t> </a:t>
                </a:r>
                <a:r>
                  <a:rPr lang="en-IL" dirty="0" err="1"/>
                  <a:t>הסיגנל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הקישורים</a:t>
                </a:r>
                <a:r>
                  <a:rPr lang="en-IL" dirty="0"/>
                  <a:t> </a:t>
                </a:r>
                <a:r>
                  <a:rPr lang="en-IL" dirty="0" err="1"/>
                  <a:t>לשותף</a:t>
                </a:r>
                <a:r>
                  <a:rPr lang="en-IL" dirty="0"/>
                  <a:t>/</a:t>
                </a:r>
                <a:r>
                  <a:rPr lang="en-IL" dirty="0" err="1"/>
                  <a:t>לגלאי</a:t>
                </a:r>
                <a:r>
                  <a:rPr lang="en-IL" dirty="0"/>
                  <a:t> </a:t>
                </a:r>
                <a:r>
                  <a:rPr lang="en-IL" dirty="0" err="1"/>
                  <a:t>השני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סידור</a:t>
                </a:r>
                <a:r>
                  <a:rPr lang="en-IL" b="1" dirty="0"/>
                  <a:t> </a:t>
                </a:r>
                <a:r>
                  <a:rPr lang="en-IL" b="1" dirty="0" err="1"/>
                  <a:t>מרווחים</a:t>
                </a:r>
                <a:r>
                  <a:rPr lang="en-IL" b="1" dirty="0"/>
                  <a:t> (Tidy spacing):</a:t>
                </a:r>
                <a:r>
                  <a:rPr lang="en-IL" dirty="0"/>
                  <a:t> </a:t>
                </a:r>
                <a:r>
                  <a:rPr lang="en-IL" dirty="0" err="1"/>
                  <a:t>חיתוך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ארוכים</a:t>
                </a:r>
                <a:r>
                  <a:rPr lang="en-IL" dirty="0"/>
                  <a:t> </a:t>
                </a:r>
                <a:r>
                  <a:rPr lang="en-IL" dirty="0" err="1"/>
                  <a:t>מדי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הסרת</a:t>
                </a:r>
                <a:r>
                  <a:rPr lang="en-IL" b="1" dirty="0"/>
                  <a:t> </a:t>
                </a:r>
                <a:r>
                  <a:rPr lang="en-IL" b="1" dirty="0" err="1"/>
                  <a:t>כפילויות</a:t>
                </a:r>
                <a:r>
                  <a:rPr lang="en-IL" b="1" dirty="0"/>
                  <a:t> (Drop duplicates):</a:t>
                </a:r>
                <a:r>
                  <a:rPr lang="en-IL" dirty="0"/>
                  <a:t> </a:t>
                </a:r>
                <a:r>
                  <a:rPr lang="en-IL" dirty="0" err="1"/>
                  <a:t>הסרת</a:t>
                </a:r>
                <a:r>
                  <a:rPr lang="en-IL" dirty="0"/>
                  <a:t> </a:t>
                </a:r>
                <a:r>
                  <a:rPr lang="en-IL" dirty="0" err="1"/>
                  <a:t>מיילים</a:t>
                </a:r>
                <a:r>
                  <a:rPr lang="en-IL" dirty="0"/>
                  <a:t> </a:t>
                </a:r>
                <a:r>
                  <a:rPr lang="en-IL" dirty="0" err="1"/>
                  <a:t>כפולים</a:t>
                </a:r>
                <a:r>
                  <a:rPr lang="en-IL" dirty="0"/>
                  <a:t> </a:t>
                </a:r>
                <a:r>
                  <a:rPr lang="en-IL" b="1" dirty="0" err="1"/>
                  <a:t>לפני</a:t>
                </a:r>
                <a:r>
                  <a:rPr lang="en-IL" dirty="0"/>
                  <a:t> </a:t>
                </a:r>
                <a:r>
                  <a:rPr lang="en-IL" dirty="0" err="1"/>
                  <a:t>חלוקת</a:t>
                </a:r>
                <a:r>
                  <a:rPr lang="en-IL" dirty="0"/>
                  <a:t> </a:t>
                </a:r>
                <a:r>
                  <a:rPr lang="en-IL" dirty="0" err="1"/>
                  <a:t>הנתונים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איזון</a:t>
                </a:r>
                <a:r>
                  <a:rPr lang="en-IL" b="1" dirty="0"/>
                  <a:t> </a:t>
                </a:r>
                <a:r>
                  <a:rPr lang="en-IL" b="1" dirty="0" err="1"/>
                  <a:t>יחס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:</a:t>
                </a:r>
                <a:r>
                  <a:rPr lang="en-IL" dirty="0"/>
                  <a:t> </a:t>
                </a:r>
                <a:r>
                  <a:rPr lang="en-IL" dirty="0" err="1"/>
                  <a:t>איזון</a:t>
                </a:r>
                <a:r>
                  <a:rPr lang="en-IL" dirty="0"/>
                  <a:t> </a:t>
                </a:r>
                <a:r>
                  <a:rPr lang="en-IL" dirty="0" err="1"/>
                  <a:t>ליחס</a:t>
                </a:r>
                <a:r>
                  <a:rPr lang="en-IL" dirty="0"/>
                  <a:t> </a:t>
                </a:r>
                <a:r>
                  <a:rPr lang="en-IL" dirty="0" err="1"/>
                  <a:t>מציאותי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b="1" dirty="0"/>
                  <a:t>35% </a:t>
                </a:r>
                <a:r>
                  <a:rPr lang="en-IL" b="1" dirty="0" err="1"/>
                  <a:t>פישינג</a:t>
                </a:r>
                <a:r>
                  <a:rPr lang="en-IL" dirty="0"/>
                  <a:t> (</a:t>
                </a:r>
                <a:r>
                  <a:rPr lang="en-IL" dirty="0" err="1"/>
                  <a:t>רוב</a:t>
                </a:r>
                <a:r>
                  <a:rPr lang="en-IL" dirty="0"/>
                  <a:t> </a:t>
                </a:r>
                <a:r>
                  <a:rPr lang="en-IL" dirty="0" err="1"/>
                  <a:t>המיילים</a:t>
                </a:r>
                <a:r>
                  <a:rPr lang="en-IL" dirty="0"/>
                  <a:t> </a:t>
                </a:r>
                <a:r>
                  <a:rPr lang="en-IL" dirty="0" err="1"/>
                  <a:t>בתיבה</a:t>
                </a:r>
                <a:r>
                  <a:rPr lang="en-IL" dirty="0"/>
                  <a:t> </a:t>
                </a:r>
                <a:r>
                  <a:rPr lang="en-IL" dirty="0" err="1"/>
                  <a:t>אמיתית</a:t>
                </a:r>
                <a:r>
                  <a:rPr lang="en-IL" dirty="0"/>
                  <a:t> </a:t>
                </a:r>
                <a:r>
                  <a:rPr lang="en-IL" dirty="0" err="1"/>
                  <a:t>הם</a:t>
                </a:r>
                <a:r>
                  <a:rPr lang="en-IL" dirty="0"/>
                  <a:t> </a:t>
                </a:r>
                <a:r>
                  <a:rPr lang="en-IL" dirty="0" err="1"/>
                  <a:t>לגיטימיים</a:t>
                </a:r>
                <a:r>
                  <a:rPr lang="en-IL" dirty="0"/>
                  <a:t>).</a:t>
                </a:r>
              </a:p>
              <a:p>
                <a:pPr algn="r" rtl="1"/>
                <a:r>
                  <a:rPr lang="en-IL" b="1" dirty="0" err="1"/>
                  <a:t>חלוקת</a:t>
                </a:r>
                <a:r>
                  <a:rPr lang="en-IL" b="1" dirty="0"/>
                  <a:t> </a:t>
                </a:r>
                <a:r>
                  <a:rPr lang="en-IL" b="1" dirty="0" err="1"/>
                  <a:t>הנתונים</a:t>
                </a:r>
                <a:r>
                  <a:rPr lang="en-IL" b="1" dirty="0"/>
                  <a:t> (Split):</a:t>
                </a:r>
                <a:r>
                  <a:rPr lang="en-IL" dirty="0"/>
                  <a:t> </a:t>
                </a:r>
                <a:r>
                  <a:rPr lang="en-IL" dirty="0" err="1"/>
                  <a:t>חלוקה</a:t>
                </a:r>
                <a:r>
                  <a:rPr lang="en-IL" dirty="0"/>
                  <a:t> ל-60% </a:t>
                </a:r>
                <a:r>
                  <a:rPr lang="en-IL" dirty="0" err="1"/>
                  <a:t>אימון</a:t>
                </a:r>
                <a:r>
                  <a:rPr lang="en-IL" dirty="0"/>
                  <a:t> / 20% </a:t>
                </a:r>
                <a:r>
                  <a:rPr lang="en-IL" dirty="0" err="1"/>
                  <a:t>ולידציה</a:t>
                </a:r>
                <a:r>
                  <a:rPr lang="en-IL" dirty="0"/>
                  <a:t> / 20% </a:t>
                </a:r>
                <a:r>
                  <a:rPr lang="en-IL" dirty="0" err="1"/>
                  <a:t>טסט</a:t>
                </a:r>
                <a:r>
                  <a:rPr lang="en-IL" dirty="0"/>
                  <a:t> </a:t>
                </a:r>
                <a:r>
                  <a:rPr lang="en-IL" dirty="0" err="1"/>
                  <a:t>עם</a:t>
                </a:r>
                <a:r>
                  <a:rPr lang="en-IL" dirty="0"/>
                  <a:t> Fixed Seed </a:t>
                </a:r>
                <a:r>
                  <a:rPr lang="en-IL" dirty="0" err="1"/>
                  <a:t>לשחזור</a:t>
                </a:r>
                <a:r>
                  <a:rPr lang="en-IL" dirty="0"/>
                  <a:t> </a:t>
                </a:r>
                <a:r>
                  <a:rPr lang="en-IL" dirty="0" err="1"/>
                  <a:t>מדויק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האשינג</a:t>
                </a:r>
                <a:r>
                  <a:rPr lang="en-IL" b="1" dirty="0"/>
                  <a:t> (Hash everything):</a:t>
                </a:r>
                <a:r>
                  <a:rPr lang="en-IL" dirty="0"/>
                  <a:t> </a:t>
                </a:r>
                <a:r>
                  <a:rPr lang="en-IL" dirty="0" err="1"/>
                  <a:t>יצירת</a:t>
                </a:r>
                <a:r>
                  <a:rPr lang="en-IL" dirty="0"/>
                  <a:t> </a:t>
                </a:r>
                <a:r>
                  <a:rPr lang="en-IL" dirty="0" err="1"/>
                  <a:t>טביעת</a:t>
                </a:r>
                <a:r>
                  <a:rPr lang="en-IL" dirty="0"/>
                  <a:t> </a:t>
                </a:r>
                <a:r>
                  <a:rPr lang="en-IL" dirty="0" err="1"/>
                  <a:t>אצבע</a:t>
                </a:r>
                <a:r>
                  <a:rPr lang="en-IL" dirty="0"/>
                  <a:t> </a:t>
                </a:r>
                <a:r>
                  <a:rPr lang="en-IL" dirty="0" err="1"/>
                  <a:t>לכל</a:t>
                </a:r>
                <a:r>
                  <a:rPr lang="en-IL" dirty="0"/>
                  <a:t> </a:t>
                </a:r>
                <a:r>
                  <a:rPr lang="en-IL" dirty="0" err="1"/>
                  <a:t>קובץ</a:t>
                </a:r>
                <a:r>
                  <a:rPr lang="en-IL" dirty="0"/>
                  <a:t> </a:t>
                </a:r>
                <a:r>
                  <a:rPr lang="en-IL" dirty="0" err="1"/>
                  <a:t>להבטחת</a:t>
                </a:r>
                <a:r>
                  <a:rPr lang="en-IL" dirty="0"/>
                  <a:t> </a:t>
                </a:r>
                <a:r>
                  <a:rPr lang="en-IL" dirty="0" err="1"/>
                  <a:t>שחזור</a:t>
                </a:r>
                <a:r>
                  <a:rPr lang="en-IL" dirty="0"/>
                  <a:t> </a:t>
                </a:r>
                <a:r>
                  <a:rPr lang="en-IL" dirty="0" err="1"/>
                  <a:t>תוצאות</a:t>
                </a:r>
                <a:r>
                  <a:rPr lang="en-IL" dirty="0"/>
                  <a:t> </a:t>
                </a:r>
                <a:r>
                  <a:rPr lang="en-IL" dirty="0" err="1"/>
                  <a:t>מדויק</a:t>
                </a:r>
                <a:r>
                  <a:rPr lang="en-IL" dirty="0"/>
                  <a:t> (Exact reproduction).</a:t>
                </a:r>
              </a:p>
              <a:p>
                <a:pPr algn="r" rtl="1"/>
                <a:endParaRPr lang="he-IL" b="1" dirty="0"/>
              </a:p>
              <a:p>
                <a:pPr algn="r" rtl="1"/>
                <a:r>
                  <a:rPr lang="en-IL" b="1" dirty="0" err="1"/>
                  <a:t>בדיקות</a:t>
                </a:r>
                <a:r>
                  <a:rPr lang="en-IL" b="1" dirty="0"/>
                  <a:t> </a:t>
                </a:r>
                <a:r>
                  <a:rPr lang="en-IL" b="1" dirty="0" err="1"/>
                  <a:t>והחלטות</a:t>
                </a:r>
                <a:r>
                  <a:rPr lang="en-IL" b="1" dirty="0"/>
                  <a:t> </a:t>
                </a:r>
                <a:r>
                  <a:rPr lang="he-IL" b="1" dirty="0"/>
                  <a:t>חשובות</a:t>
                </a:r>
                <a:r>
                  <a:rPr lang="en-IL" b="1" dirty="0"/>
                  <a:t>:</a:t>
                </a:r>
              </a:p>
              <a:p>
                <a:pPr algn="r" rtl="1"/>
                <a:r>
                  <a:rPr lang="en-IL" dirty="0"/>
                  <a:t>.</a:t>
                </a:r>
              </a:p>
              <a:p>
                <a:pPr algn="r" rtl="1"/>
                <a:r>
                  <a:rPr lang="en-IL" b="1" dirty="0" err="1"/>
                  <a:t>הבחירה</a:t>
                </a:r>
                <a:r>
                  <a:rPr lang="en-IL" b="1" dirty="0"/>
                  <a:t> </a:t>
                </a:r>
                <a:r>
                  <a:rPr lang="en-IL" b="1" dirty="0" err="1"/>
                  <a:t>הקריטית</a:t>
                </a:r>
                <a:r>
                  <a:rPr lang="en-IL" b="1" dirty="0"/>
                  <a:t> — </a:t>
                </a:r>
                <a:r>
                  <a:rPr lang="en-IL" b="1" dirty="0" err="1"/>
                  <a:t>הימנעות</a:t>
                </a:r>
                <a:r>
                  <a:rPr lang="en-IL" b="1" dirty="0"/>
                  <a:t> </a:t>
                </a:r>
                <a:r>
                  <a:rPr lang="en-IL" b="1" dirty="0" err="1"/>
                  <a:t>מקיצורי</a:t>
                </a:r>
                <a:r>
                  <a:rPr lang="en-IL" b="1" dirty="0"/>
                  <a:t> </a:t>
                </a:r>
                <a:r>
                  <a:rPr lang="en-IL" b="1" dirty="0" err="1"/>
                  <a:t>דרך</a:t>
                </a:r>
                <a:r>
                  <a:rPr lang="en-IL" b="1" dirty="0"/>
                  <a:t> (Avoid a Shortcut):</a:t>
                </a:r>
                <a:endParaRPr lang="en-IL" dirty="0"/>
              </a:p>
              <a:p>
                <a:pPr lvl="1" algn="r" rtl="1"/>
                <a:r>
                  <a:rPr lang="en-IL" dirty="0" err="1"/>
                  <a:t>גלאי</a:t>
                </a:r>
                <a:r>
                  <a:rPr lang="en-IL" dirty="0"/>
                  <a:t> </a:t>
                </a:r>
                <a:r>
                  <a:rPr lang="en-IL" dirty="0" err="1"/>
                  <a:t>ניסיוני</a:t>
                </a:r>
                <a:r>
                  <a:rPr lang="en-IL" dirty="0"/>
                  <a:t> </a:t>
                </a:r>
                <a:r>
                  <a:rPr lang="en-IL" dirty="0" err="1"/>
                  <a:t>יכול</a:t>
                </a:r>
                <a:r>
                  <a:rPr lang="en-IL" dirty="0"/>
                  <a:t> </a:t>
                </a:r>
                <a:r>
                  <a:rPr lang="en-IL" dirty="0" err="1"/>
                  <a:t>לזהות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b="1" dirty="0" err="1"/>
                  <a:t>מקור</a:t>
                </a:r>
                <a:r>
                  <a:rPr lang="en-IL" b="1" dirty="0"/>
                  <a:t> </a:t>
                </a:r>
                <a:r>
                  <a:rPr lang="en-IL" b="1" dirty="0" err="1"/>
                  <a:t>המייל</a:t>
                </a:r>
                <a:r>
                  <a:rPr lang="en-IL" b="1" dirty="0"/>
                  <a:t> ב-99% </a:t>
                </a:r>
                <a:r>
                  <a:rPr lang="en-IL" b="1" dirty="0" err="1"/>
                  <a:t>מהמקרים</a:t>
                </a:r>
                <a:r>
                  <a:rPr lang="en-IL" dirty="0"/>
                  <a:t>.</a:t>
                </a:r>
              </a:p>
              <a:p>
                <a:pPr lvl="1" algn="r" rtl="1"/>
                <a:r>
                  <a:rPr lang="en-IL" dirty="0" err="1"/>
                  <a:t>אם</a:t>
                </a:r>
                <a:r>
                  <a:rPr lang="en-IL" dirty="0"/>
                  <a:t> </a:t>
                </a:r>
                <a:r>
                  <a:rPr lang="en-IL" dirty="0" err="1"/>
                  <a:t>מערבבים</a:t>
                </a:r>
                <a:r>
                  <a:rPr lang="en-IL" dirty="0"/>
                  <a:t> </a:t>
                </a:r>
                <a:r>
                  <a:rPr lang="en-IL" dirty="0" err="1"/>
                  <a:t>מקורות</a:t>
                </a:r>
                <a:r>
                  <a:rPr lang="en-IL" dirty="0"/>
                  <a:t> </a:t>
                </a:r>
                <a:r>
                  <a:rPr lang="en-IL" dirty="0" err="1"/>
                  <a:t>שונים</a:t>
                </a:r>
                <a:r>
                  <a:rPr lang="en-IL" dirty="0"/>
                  <a:t>, </a:t>
                </a:r>
                <a:r>
                  <a:rPr lang="en-IL" dirty="0" err="1"/>
                  <a:t>המודל</a:t>
                </a:r>
                <a:r>
                  <a:rPr lang="en-IL" dirty="0"/>
                  <a:t> </a:t>
                </a:r>
                <a:r>
                  <a:rPr lang="en-IL" dirty="0" err="1"/>
                  <a:t>עלול</a:t>
                </a:r>
                <a:r>
                  <a:rPr lang="en-IL" dirty="0"/>
                  <a:t> "</a:t>
                </a:r>
                <a:r>
                  <a:rPr lang="en-IL" dirty="0" err="1"/>
                  <a:t>לרמות</a:t>
                </a:r>
                <a:r>
                  <a:rPr lang="en-IL" dirty="0"/>
                  <a:t>" </a:t>
                </a:r>
                <a:r>
                  <a:rPr lang="en-IL" dirty="0" err="1"/>
                  <a:t>ולהבחין</a:t>
                </a:r>
                <a:r>
                  <a:rPr lang="en-IL" dirty="0"/>
                  <a:t> </a:t>
                </a:r>
                <a:r>
                  <a:rPr lang="en-IL" dirty="0" err="1"/>
                  <a:t>לפי</a:t>
                </a:r>
                <a:r>
                  <a:rPr lang="en-IL" dirty="0"/>
                  <a:t> </a:t>
                </a:r>
                <a:r>
                  <a:rPr lang="en-IL" dirty="0" err="1"/>
                  <a:t>סגנון</a:t>
                </a:r>
                <a:r>
                  <a:rPr lang="en-IL" dirty="0"/>
                  <a:t> </a:t>
                </a:r>
                <a:r>
                  <a:rPr lang="en-IL" dirty="0" err="1"/>
                  <a:t>המקור</a:t>
                </a:r>
                <a:r>
                  <a:rPr lang="en-IL" dirty="0"/>
                  <a:t> </a:t>
                </a:r>
                <a:r>
                  <a:rPr lang="en-IL" dirty="0" err="1"/>
                  <a:t>ולא</a:t>
                </a:r>
                <a:r>
                  <a:rPr lang="en-IL" dirty="0"/>
                  <a:t> </a:t>
                </a:r>
                <a:r>
                  <a:rPr lang="en-IL" dirty="0" err="1"/>
                  <a:t>לפי</a:t>
                </a:r>
                <a:r>
                  <a:rPr lang="en-IL" dirty="0"/>
                  <a:t> </a:t>
                </a:r>
                <a:r>
                  <a:rPr lang="en-IL" dirty="0" err="1"/>
                  <a:t>התרמית</a:t>
                </a:r>
                <a:r>
                  <a:rPr lang="en-IL" dirty="0"/>
                  <a:t> </a:t>
                </a:r>
                <a:r>
                  <a:rPr lang="en-IL" dirty="0" err="1"/>
                  <a:t>עצמה</a:t>
                </a:r>
                <a:r>
                  <a:rPr lang="en-IL" dirty="0"/>
                  <a:t>.</a:t>
                </a:r>
              </a:p>
              <a:p>
                <a:pPr lvl="1" algn="r" rtl="1"/>
                <a:r>
                  <a:rPr lang="en-IL" b="1" dirty="0" err="1"/>
                  <a:t>הפתרון</a:t>
                </a:r>
                <a:r>
                  <a:rPr lang="en-IL" b="1" dirty="0"/>
                  <a:t>:</a:t>
                </a:r>
                <a:r>
                  <a:rPr lang="en-IL" dirty="0"/>
                  <a:t> </a:t>
                </a:r>
                <a:r>
                  <a:rPr lang="en-IL" dirty="0" err="1"/>
                  <a:t>אימון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סט</a:t>
                </a:r>
                <a:r>
                  <a:rPr lang="en-IL" dirty="0"/>
                  <a:t> </a:t>
                </a:r>
                <a:r>
                  <a:rPr lang="en-IL" dirty="0" err="1"/>
                  <a:t>מעורב</a:t>
                </a:r>
                <a:r>
                  <a:rPr lang="en-IL" dirty="0"/>
                  <a:t> </a:t>
                </a:r>
                <a:r>
                  <a:rPr lang="en-IL" dirty="0" err="1"/>
                  <a:t>ממקור</a:t>
                </a:r>
                <a:r>
                  <a:rPr lang="en-IL" dirty="0"/>
                  <a:t> </a:t>
                </a:r>
                <a:r>
                  <a:rPr lang="en-IL" dirty="0" err="1"/>
                  <a:t>יחיד</a:t>
                </a:r>
                <a:r>
                  <a:rPr lang="en-IL" dirty="0"/>
                  <a:t> (CEAS) </a:t>
                </a:r>
                <a:r>
                  <a:rPr lang="en-IL" dirty="0" err="1"/>
                  <a:t>המכיל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שתי</a:t>
                </a:r>
                <a:r>
                  <a:rPr lang="en-IL" dirty="0"/>
                  <a:t> </a:t>
                </a:r>
                <a:r>
                  <a:rPr lang="en-IL" dirty="0" err="1"/>
                  <a:t>המחלקות</a:t>
                </a:r>
                <a:r>
                  <a:rPr lang="en-IL" dirty="0"/>
                  <a:t>.</a:t>
                </a:r>
                <a:endParaRPr lang="he-IL" dirty="0"/>
              </a:p>
              <a:p>
                <a:pPr lvl="1" algn="r" rtl="1"/>
                <a:endParaRPr lang="he-IL" dirty="0"/>
              </a:p>
              <a:p>
                <a:pPr lvl="1" algn="r" rtl="1"/>
                <a:r>
                  <a:rPr lang="he-IL" dirty="0"/>
                  <a:t>דברים חשובים שעברתי עליהם בדרך:</a:t>
                </a:r>
                <a:br>
                  <a:rPr lang="en-US" dirty="0"/>
                </a:br>
                <a:r>
                  <a:rPr lang="he-IL" dirty="0"/>
                  <a:t>- הסתכלתי על </a:t>
                </a:r>
                <a:r>
                  <a:rPr lang="en-US" dirty="0"/>
                  <a:t>META-FEATURES</a:t>
                </a:r>
                <a:r>
                  <a:rPr lang="he-IL" dirty="0"/>
                  <a:t> כדי לנתח ולהבין את הדאטה שקיבלתי: אורך, כמות מילים, יחס ספרות, יחס </a:t>
                </a:r>
                <a:r>
                  <a:rPr lang="en-US" dirty="0"/>
                  <a:t>UPPER CASE</a:t>
                </a:r>
                <a:r>
                  <a:rPr lang="he-IL" dirty="0"/>
                  <a:t>, יחס תווים שהם לא </a:t>
                </a:r>
                <a:r>
                  <a:rPr lang="he-IL" dirty="0" err="1"/>
                  <a:t>אסקי</a:t>
                </a:r>
                <a:r>
                  <a:rPr lang="he-IL" dirty="0"/>
                  <a:t>, כמות קישורים </a:t>
                </a:r>
                <a:r>
                  <a:rPr lang="he-IL" dirty="0" err="1"/>
                  <a:t>וכו</a:t>
                </a:r>
                <a:endParaRPr lang="he-IL" dirty="0"/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מדדתי את ה</a:t>
                </a:r>
                <a:r>
                  <a:rPr lang="en-US" dirty="0"/>
                  <a:t>SKEWNESS</a:t>
                </a:r>
                <a:r>
                  <a:rPr lang="he-IL" dirty="0"/>
                  <a:t> של כל מאפיין – כמה זה לצדדים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מאפייני היחס גיליתי שהם רחוקים מאוד מהתפלגות נורמלית.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כל הודעת דואל נחתכה לאורך מקסימלי לעיבוד מקדים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החיתוך כדי למצוא </a:t>
                </a:r>
                <a:r>
                  <a:rPr lang="en-US" dirty="0"/>
                  <a:t>OUTLIERS</a:t>
                </a:r>
                <a:r>
                  <a:rPr lang="he-IL" dirty="0"/>
                  <a:t> ובדיקת חריגים </a:t>
                </a:r>
                <a:r>
                  <a:rPr lang="en-US" dirty="0"/>
                  <a:t>IQR</a:t>
                </a:r>
                <a:r>
                  <a:rPr lang="he-IL" dirty="0"/>
                  <a:t>\</a:t>
                </a:r>
                <a:r>
                  <a:rPr lang="en-US" dirty="0"/>
                  <a:t>MAD</a:t>
                </a:r>
                <a:r>
                  <a:rPr lang="he-IL" dirty="0"/>
                  <a:t> </a:t>
                </a:r>
                <a:r>
                  <a:rPr lang="he-IL" dirty="0" err="1"/>
                  <a:t>עלהאורך</a:t>
                </a:r>
                <a:r>
                  <a:rPr lang="he-IL" dirty="0"/>
                  <a:t> לא זיהתה כמעט עוד חריגים נוספים.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/>
                  <a:t>בגלל </a:t>
                </a:r>
                <a:r>
                  <a:rPr lang="he-IL" dirty="0" err="1"/>
                  <a:t>ההתפלוגיות</a:t>
                </a:r>
                <a:r>
                  <a:rPr lang="he-IL" dirty="0"/>
                  <a:t> הלא נורמליות, עם זנב כבד, בחרתי להשתמש במדד קורלציה של </a:t>
                </a:r>
                <a:r>
                  <a:rPr lang="he-IL" dirty="0" err="1"/>
                  <a:t>ספירמן</a:t>
                </a:r>
                <a:r>
                  <a:rPr lang="he-IL" dirty="0"/>
                  <a:t> ושימוש בחציון במקום ממוצע. בגלל </a:t>
                </a:r>
                <a:r>
                  <a:rPr lang="he-IL" dirty="0" err="1"/>
                  <a:t>שספירמן</a:t>
                </a:r>
                <a:r>
                  <a:rPr lang="he-IL" dirty="0"/>
                  <a:t> מודד קשר מונוטוני ללא הנחות של נורמליות וליניאריות.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>
                    <a:solidFill>
                      <a:schemeClr val="bg2"/>
                    </a:solidFill>
                  </a:rPr>
                  <a:t>מצאתי שהודעות </a:t>
                </a:r>
                <a:r>
                  <a:rPr lang="he-IL" dirty="0" err="1">
                    <a:solidFill>
                      <a:schemeClr val="bg2"/>
                    </a:solidFill>
                  </a:rPr>
                  <a:t>פישינג</a:t>
                </a:r>
                <a:r>
                  <a:rPr lang="he-IL" dirty="0">
                    <a:solidFill>
                      <a:schemeClr val="bg2"/>
                    </a:solidFill>
                  </a:rPr>
                  <a:t> קצרות יותר מהודעות לגיטימיות – נדבר על זה תכף. מתאם </a:t>
                </a:r>
                <a:r>
                  <a:rPr lang="he-IL" dirty="0" err="1">
                    <a:solidFill>
                      <a:schemeClr val="bg2"/>
                    </a:solidFill>
                  </a:rPr>
                  <a:t>ספירמן</a:t>
                </a:r>
                <a:r>
                  <a:rPr lang="he-IL" dirty="0">
                    <a:solidFill>
                      <a:schemeClr val="bg2"/>
                    </a:solidFill>
                  </a:rPr>
                  <a:t> של מינוס 0.57 עבור תווים ו0.53 עבור כמות מילים.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he-IL" dirty="0">
                    <a:solidFill>
                      <a:schemeClr val="bg2"/>
                    </a:solidFill>
                  </a:rPr>
                  <a:t>עשיתי מבחן מאן–ויטני דחה את השערת האפס של </a:t>
                </a:r>
                <a:r>
                  <a:rPr lang="he-IL" dirty="0" err="1">
                    <a:solidFill>
                      <a:schemeClr val="bg2"/>
                    </a:solidFill>
                  </a:rPr>
                  <a:t>התפלוגויות</a:t>
                </a:r>
                <a:r>
                  <a:rPr lang="he-IL" dirty="0">
                    <a:solidFill>
                      <a:schemeClr val="bg2"/>
                    </a:solidFill>
                  </a:rPr>
                  <a:t> שוות בערך </a:t>
                </a:r>
                <a:r>
                  <a:rPr lang="en-US" dirty="0">
                    <a:solidFill>
                      <a:schemeClr val="bg2"/>
                    </a:solidFill>
                  </a:rPr>
                  <a:t>P</a:t>
                </a:r>
                <a:r>
                  <a:rPr lang="he-IL" dirty="0">
                    <a:solidFill>
                      <a:schemeClr val="bg2"/>
                    </a:solidFill>
                  </a:rPr>
                  <a:t> קטן ממש מ0.001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en-US" dirty="0">
                    <a:solidFill>
                      <a:schemeClr val="bg2"/>
                    </a:solidFill>
                  </a:rPr>
                  <a:t>REDUNDANCY</a:t>
                </a:r>
                <a:r>
                  <a:rPr lang="he-IL" dirty="0">
                    <a:solidFill>
                      <a:schemeClr val="bg2"/>
                    </a:solidFill>
                  </a:rPr>
                  <a:t> זיהיתי באמצעות מתאם דירוג וממד </a:t>
                </a:r>
                <a:r>
                  <a:rPr lang="en-US" dirty="0">
                    <a:solidFill>
                      <a:schemeClr val="bg2"/>
                    </a:solidFill>
                  </a:rPr>
                  <a:t>VIF</a:t>
                </a:r>
                <a:r>
                  <a:rPr lang="he-IL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628650" lvl="1" indent="-171450" algn="r" rtl="1">
                  <a:buFontTx/>
                  <a:buChar char="-"/>
                </a:pP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ספירת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ואורך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ההודעה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הראו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מתאם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כמעט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מושלם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i="0" kern="1200">
                    <a:solidFill>
                      <a:schemeClr val="bg2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𝜌≈0.97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ערך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VIF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i="0" kern="1200">
                    <a:solidFill>
                      <a:schemeClr val="bg2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≈21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כל</a:t>
                </a:r>
                <a:r>
                  <a:rPr lang="en-IL" sz="1200" kern="1200" dirty="0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bg2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endParaRPr lang="he-IL" sz="1200" kern="1200" dirty="0">
                  <a:solidFill>
                    <a:schemeClr val="bg2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628650" lvl="1" indent="-171450" algn="r" rtl="1">
                  <a:buFontTx/>
                  <a:buChar char="-"/>
                </a:pPr>
                <a:r>
                  <a:rPr lang="en-IL" dirty="0" err="1"/>
                  <a:t>הוחלט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להזין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משתני</a:t>
                </a:r>
                <a:r>
                  <a:rPr lang="en-IL" dirty="0"/>
                  <a:t> </a:t>
                </a:r>
                <a:r>
                  <a:rPr lang="en-IL" dirty="0" err="1"/>
                  <a:t>המטה-דאטה</a:t>
                </a:r>
                <a:r>
                  <a:rPr lang="en-IL" dirty="0"/>
                  <a:t> </a:t>
                </a:r>
                <a:r>
                  <a:rPr lang="en-IL" dirty="0" err="1"/>
                  <a:t>הללו</a:t>
                </a:r>
                <a:r>
                  <a:rPr lang="en-IL" dirty="0"/>
                  <a:t> </a:t>
                </a:r>
                <a:r>
                  <a:rPr lang="en-IL" dirty="0" err="1"/>
                  <a:t>למודל</a:t>
                </a:r>
                <a:r>
                  <a:rPr lang="en-IL" dirty="0"/>
                  <a:t> </a:t>
                </a:r>
                <a:r>
                  <a:rPr lang="en-IL" dirty="0" err="1"/>
                  <a:t>אלא</a:t>
                </a:r>
                <a:r>
                  <a:rPr lang="en-IL" dirty="0"/>
                  <a:t> </a:t>
                </a:r>
                <a:r>
                  <a:rPr lang="en-IL" dirty="0" err="1"/>
                  <a:t>להשאירם</a:t>
                </a:r>
                <a:r>
                  <a:rPr lang="en-IL" dirty="0"/>
                  <a:t> </a:t>
                </a:r>
                <a:r>
                  <a:rPr lang="en-IL" dirty="0" err="1"/>
                  <a:t>למטרות</a:t>
                </a:r>
                <a:r>
                  <a:rPr lang="en-IL" dirty="0"/>
                  <a:t> </a:t>
                </a:r>
                <a:r>
                  <a:rPr lang="en-IL" dirty="0" err="1"/>
                  <a:t>אבחון</a:t>
                </a:r>
                <a:r>
                  <a:rPr lang="en-IL" dirty="0"/>
                  <a:t> </a:t>
                </a:r>
                <a:r>
                  <a:rPr lang="en-IL" dirty="0" err="1"/>
                  <a:t>בלבד</a:t>
                </a:r>
                <a:r>
                  <a:rPr lang="en-IL" dirty="0"/>
                  <a:t>, </a:t>
                </a:r>
                <a:r>
                  <a:rPr lang="en-IL" dirty="0" err="1"/>
                  <a:t>כדי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לפצל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המשקל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אותות</a:t>
                </a:r>
                <a:r>
                  <a:rPr lang="en-IL" dirty="0"/>
                  <a:t> </a:t>
                </a:r>
                <a:r>
                  <a:rPr lang="en-IL" dirty="0" err="1"/>
                  <a:t>כמעט</a:t>
                </a:r>
                <a:r>
                  <a:rPr lang="en-IL" dirty="0"/>
                  <a:t> </a:t>
                </a:r>
                <a:r>
                  <a:rPr lang="en-IL" dirty="0" err="1"/>
                  <a:t>זהים</a:t>
                </a:r>
                <a:endParaRPr lang="he-IL" dirty="0"/>
              </a:p>
              <a:p>
                <a:pPr marL="628650" lvl="1" indent="-171450" algn="r" rtl="1">
                  <a:buFontTx/>
                  <a:buChar char="-"/>
                </a:pPr>
                <a:endParaRPr lang="he-IL" dirty="0"/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ניתוח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ואיכות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(Temporal Analysis)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לוודא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מבחינת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לוחות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וראיתי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שכמעט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כולם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(99.7%)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נופלים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בטווח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המצופה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הפרויקט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2007-2009.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חיפשתי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אקטיבי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שנובעים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מבאג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שנקרא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מלכודת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זמן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יוניקס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(Unix-epoch trap).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המושג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שבו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מחשב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מוצא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אז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שמתורגם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אוטומטית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ל-1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בינואר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1970.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לוודא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ילמד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להשתמש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ב"מיילים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מ-1970"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כקיצור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לזיהוי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מ-34,000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שסרקתי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מצאתי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אפילו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הודעה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שסבלה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מתקלת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ה-1970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שמעיד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נקי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נתקלתי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בקומץ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קטן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הודעות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(כ-0.3%)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תאריכים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מומצאים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הגיוניים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2086)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כותרות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מזויפות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התוקפים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(RFC-822 spoofing).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לעוות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גרפי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הזמנים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סיננתי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מניתוח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התאריכים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במחלקות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(Class Imbalance)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במקום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להשתמש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שמחולק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50/50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לגיטימיים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בחרתי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לאזן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מחדש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שרוב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לגיטימיים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יהווה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35%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מהדאטה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ההיגיון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כאן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היגיון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מעשי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בתיבת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מוחלט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ההודעות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שאנחנו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מקבלים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רגילות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לאמן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סביבה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שמדמה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מציאות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מעבדה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מלאכותי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שעבדתי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מאוזנים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לבחון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מתמודד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השוויתי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Naive Bayes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הקלאסי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(Multinomial)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שנקרא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Complement Naive Bayes (CNB),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ספציפית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לתקן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הטיות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שניהם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תרחישים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מ-5%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בלבד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ועד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ל-50%.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הניסוי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התיאוריה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יפה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כשהפישינג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(5%),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ה-CNB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ניצח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בפער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מובהק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לעומת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שהתקרבתי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50/50,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היתרון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נעלם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לגמרי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הקלאסי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שמוכיח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אכן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עובד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כ"מתקן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חוסר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איזון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". </a:t>
                </a:r>
              </a:p>
              <a:p>
                <a:pPr algn="r" rtl="1"/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7.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הנדסת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וטרנספורמציות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(Feature Engineering &amp; Creation)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בשלב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הראשון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הפכתי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טקסט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הגולמי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למספרים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לקרוא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וקטורי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TF-IDF.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המושג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אומר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שהאלגוריתם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ציון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גבוה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הנוכחי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יחסית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בשאר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חשבון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סיסמה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תקבל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משקל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גדול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נפוצה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").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הסתפקתי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ייצרתי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ב-3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דרכים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קריאת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שלמות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סינון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עצירה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– Stop Words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אבטחתית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קריאה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תווים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ואותיות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(Character n-grams),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ובסוף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עשיתי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איחוד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(Union)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השיטות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הללו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לווקטור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תכונות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לקבל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עמידות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מרבית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ילמד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רעשי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רקע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השתמשתי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בפרמטרים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min_df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ו-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max_features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המשמעות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שסיננתי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החוצה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נדירות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באופן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קיצוני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והגבלתי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זוכר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מהחלטות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התכנון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המרכזיות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ביותר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בפרויקט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להימנע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לחלוטין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מהורדת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ממדים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(Dimensionality reduction,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בעזרת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SVD).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למרות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מאפיינים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חשוב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לשמור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מודל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ליניארי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שניתן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להסבר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(Explainability).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רציתי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להגיע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למצב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שבו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לקחת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ספציפי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להסתכל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החישוב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ולהצביע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בדיוק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אחת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ולומר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"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המשקל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המילה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סיווגתי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–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יכולת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שהייתה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נמחקת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דוחס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הממדים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algn="r" rtl="1"/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457200" lvl="1" indent="0" algn="r" rtl="1">
                  <a:buFontTx/>
                  <a:buNone/>
                </a:pPr>
                <a:endParaRPr lang="en-US" dirty="0"/>
              </a:p>
              <a:p>
                <a:pPr lvl="1" algn="r" rtl="1"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לפני המודל אני עושה </a:t>
                </a:r>
                <a:r>
                  <a:rPr lang="en-US" dirty="0"/>
                  <a:t>EDA</a:t>
                </a:r>
                <a:r>
                  <a:rPr lang="he-IL" dirty="0"/>
                  <a:t> כדי להכיר את הדאטה כמו שאמרתי קודם, מפת חום שמראה קורלציה בין התכונות.</a:t>
                </a:r>
              </a:p>
              <a:p>
                <a:pPr algn="r" rtl="1"/>
                <a:r>
                  <a:rPr lang="en-IL" dirty="0" err="1"/>
                  <a:t>השתמשתי</a:t>
                </a:r>
                <a:r>
                  <a:rPr lang="en-IL" dirty="0"/>
                  <a:t> </a:t>
                </a:r>
                <a:r>
                  <a:rPr lang="en-IL" dirty="0" err="1"/>
                  <a:t>במתאם</a:t>
                </a:r>
                <a:r>
                  <a:rPr lang="en-IL" dirty="0"/>
                  <a:t> </a:t>
                </a:r>
                <a:r>
                  <a:rPr lang="en-IL" dirty="0" err="1"/>
                  <a:t>דירוג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ספירמן</a:t>
                </a:r>
                <a:r>
                  <a:rPr lang="en-IL" dirty="0"/>
                  <a:t> (Spearman rank correlation) </a:t>
                </a:r>
                <a:r>
                  <a:rPr lang="en-IL" dirty="0" err="1"/>
                  <a:t>ולא</a:t>
                </a:r>
                <a:r>
                  <a:rPr lang="en-IL" dirty="0"/>
                  <a:t> </a:t>
                </a:r>
                <a:r>
                  <a:rPr lang="en-IL" dirty="0" err="1"/>
                  <a:t>במתאם</a:t>
                </a:r>
                <a:r>
                  <a:rPr lang="en-IL" dirty="0"/>
                  <a:t> </a:t>
                </a:r>
                <a:r>
                  <a:rPr lang="en-IL" dirty="0" err="1"/>
                  <a:t>פירסון</a:t>
                </a:r>
                <a:r>
                  <a:rPr lang="en-IL" dirty="0"/>
                  <a:t> </a:t>
                </a:r>
                <a:r>
                  <a:rPr lang="he-IL" dirty="0" err="1"/>
                  <a:t>בגללל</a:t>
                </a:r>
                <a:r>
                  <a:rPr lang="en-IL" dirty="0"/>
                  <a:t> </a:t>
                </a:r>
                <a:r>
                  <a:rPr lang="en-IL" dirty="0" err="1"/>
                  <a:t>שהתפלגות</a:t>
                </a:r>
                <a:r>
                  <a:rPr lang="en-IL" dirty="0"/>
                  <a:t> </a:t>
                </a:r>
                <a:r>
                  <a:rPr lang="en-IL" dirty="0" err="1"/>
                  <a:t>הנתונים</a:t>
                </a:r>
                <a:r>
                  <a:rPr lang="en-IL" dirty="0"/>
                  <a:t> </a:t>
                </a:r>
                <a:r>
                  <a:rPr lang="en-IL" dirty="0" err="1"/>
                  <a:t>נטויה</a:t>
                </a:r>
                <a:r>
                  <a:rPr lang="en-IL" dirty="0"/>
                  <a:t> (Skewed). </a:t>
                </a:r>
                <a:r>
                  <a:rPr lang="en-IL" dirty="0" err="1"/>
                  <a:t>התבססות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דירוג</a:t>
                </a:r>
                <a:r>
                  <a:rPr lang="en-IL" dirty="0"/>
                  <a:t> (Rank) </a:t>
                </a:r>
                <a:r>
                  <a:rPr lang="en-IL" dirty="0" err="1"/>
                  <a:t>עמידה</a:t>
                </a:r>
                <a:r>
                  <a:rPr lang="en-IL" dirty="0"/>
                  <a:t> </a:t>
                </a:r>
                <a:r>
                  <a:rPr lang="en-IL" dirty="0" err="1"/>
                  <a:t>יותר</a:t>
                </a:r>
                <a:r>
                  <a:rPr lang="en-IL" dirty="0"/>
                  <a:t> </a:t>
                </a:r>
                <a:r>
                  <a:rPr lang="en-IL" dirty="0" err="1"/>
                  <a:t>ומתעלמת</a:t>
                </a:r>
                <a:r>
                  <a:rPr lang="en-IL" dirty="0"/>
                  <a:t> </a:t>
                </a:r>
                <a:r>
                  <a:rPr lang="he-IL" dirty="0"/>
                  <a:t>מ</a:t>
                </a:r>
                <a:r>
                  <a:rPr lang="en-IL" dirty="0"/>
                  <a:t> (Outliers).</a:t>
                </a:r>
                <a:endParaRPr lang="he-IL" dirty="0"/>
              </a:p>
              <a:p>
                <a:pPr algn="r" rtl="1"/>
                <a:r>
                  <a:rPr lang="en-US" dirty="0" err="1"/>
                  <a:t>בעזרת</a:t>
                </a:r>
                <a:r>
                  <a:rPr lang="en-US" dirty="0"/>
                  <a:t> </a:t>
                </a:r>
                <a:r>
                  <a:rPr lang="en-US" dirty="0" err="1"/>
                  <a:t>קורלציית</a:t>
                </a:r>
                <a:r>
                  <a:rPr lang="en-US" dirty="0"/>
                  <a:t> </a:t>
                </a:r>
                <a:r>
                  <a:rPr lang="en-US" dirty="0" err="1"/>
                  <a:t>דירוג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ספירמן</a:t>
                </a:r>
                <a:r>
                  <a:rPr lang="en-US" dirty="0"/>
                  <a:t>: '</a:t>
                </a:r>
                <a:r>
                  <a:rPr lang="en-US" dirty="0" err="1"/>
                  <a:t>דירוג</a:t>
                </a:r>
                <a:r>
                  <a:rPr lang="en-US" dirty="0"/>
                  <a:t>' </a:t>
                </a:r>
                <a:r>
                  <a:rPr lang="en-US" dirty="0" err="1"/>
                  <a:t>אומר</a:t>
                </a:r>
                <a:r>
                  <a:rPr lang="en-US" dirty="0"/>
                  <a:t> </a:t>
                </a:r>
                <a:r>
                  <a:rPr lang="en-US" dirty="0" err="1"/>
                  <a:t>שאני</a:t>
                </a:r>
                <a:r>
                  <a:rPr lang="en-US" dirty="0"/>
                  <a:t> </a:t>
                </a:r>
                <a:r>
                  <a:rPr lang="en-US" dirty="0" err="1"/>
                  <a:t>משווה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הסדר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הערכים</a:t>
                </a:r>
                <a:r>
                  <a:rPr lang="en-US" dirty="0"/>
                  <a:t>, </a:t>
                </a:r>
                <a:r>
                  <a:rPr lang="en-US" dirty="0" err="1"/>
                  <a:t>לא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המספרים</a:t>
                </a:r>
                <a:r>
                  <a:rPr lang="en-US" dirty="0"/>
                  <a:t> </a:t>
                </a:r>
                <a:r>
                  <a:rPr lang="en-US" dirty="0" err="1"/>
                  <a:t>הגולמיים</a:t>
                </a:r>
                <a:r>
                  <a:rPr lang="en-US" dirty="0"/>
                  <a:t>, </a:t>
                </a:r>
                <a:r>
                  <a:rPr lang="en-US" dirty="0" err="1"/>
                  <a:t>וזה</a:t>
                </a:r>
                <a:r>
                  <a:rPr lang="en-US" dirty="0"/>
                  <a:t> </a:t>
                </a:r>
                <a:r>
                  <a:rPr lang="en-US" dirty="0" err="1"/>
                  <a:t>בטוח</a:t>
                </a:r>
                <a:r>
                  <a:rPr lang="en-US" dirty="0"/>
                  <a:t> </a:t>
                </a:r>
                <a:r>
                  <a:rPr lang="en-US" dirty="0" err="1"/>
                  <a:t>יותר</a:t>
                </a:r>
                <a:r>
                  <a:rPr lang="en-US" dirty="0"/>
                  <a:t> </a:t>
                </a:r>
                <a:r>
                  <a:rPr lang="en-US" dirty="0" err="1"/>
                  <a:t>כשהדאטה</a:t>
                </a:r>
                <a:r>
                  <a:rPr lang="en-US" dirty="0"/>
                  <a:t> </a:t>
                </a:r>
                <a:r>
                  <a:rPr lang="en-US" dirty="0" err="1"/>
                  <a:t>עקום</a:t>
                </a:r>
                <a:r>
                  <a:rPr lang="en-US" dirty="0"/>
                  <a:t> </a:t>
                </a:r>
                <a:r>
                  <a:rPr lang="en-US" dirty="0" err="1"/>
                  <a:t>או</a:t>
                </a:r>
                <a:r>
                  <a:rPr lang="en-US" dirty="0"/>
                  <a:t> </a:t>
                </a:r>
                <a:r>
                  <a:rPr lang="en-US" dirty="0" err="1"/>
                  <a:t>יש</a:t>
                </a:r>
                <a:r>
                  <a:rPr lang="en-US" dirty="0"/>
                  <a:t> </a:t>
                </a:r>
                <a:r>
                  <a:rPr lang="en-US" dirty="0" err="1"/>
                  <a:t>בו</a:t>
                </a:r>
                <a:r>
                  <a:rPr lang="en-US" dirty="0"/>
                  <a:t> </a:t>
                </a:r>
                <a:r>
                  <a:rPr lang="en-US" dirty="0" err="1"/>
                  <a:t>חריגים</a:t>
                </a:r>
                <a:endParaRPr lang="he-IL" dirty="0"/>
              </a:p>
              <a:p>
                <a:pPr algn="r" rtl="1"/>
                <a:r>
                  <a:rPr lang="en-US" dirty="0"/>
                  <a:t>
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מאן-ויטני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(Mann-Whitney U Test)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המבחן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סטטיסטי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משתמשת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להשוות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קבוצות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ולבדוק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ביניהן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הבדל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כשהנתונים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מתפלגים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נורמלית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ו"מושלמת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עקומת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פעמון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השתמשתי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בזה כדי לבדוק אם הודעות </a:t>
                </a:r>
                <a:r>
                  <a:rPr lang="he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קצרות מהודעות</a:t>
                </a:r>
                <a:r>
                  <a:rPr lang="he-IL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kern="1200" baseline="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רגיליות</a:t>
                </a:r>
                <a:r>
                  <a:rPr lang="he-IL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בוודאות ושזה לא במקרה. 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שהאורך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התפלג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נורמלית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ארוכים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שמשכו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המבחן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שאימיילי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סיכוי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קלוש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IL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≪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001</m:t>
                    </m:r>
                  </m:oMath>
                </a14:m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שההבדל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en-IL" b="1" dirty="0" err="1"/>
                  <a:t>מדד</a:t>
                </a:r>
                <a:r>
                  <a:rPr lang="en-IL" b="1" dirty="0"/>
                  <a:t> VIF (Variance Inflation Factor)</a:t>
                </a:r>
              </a:p>
              <a:p>
                <a:pPr algn="r" rtl="1"/>
                <a:r>
                  <a:rPr lang="en-IL" b="1" dirty="0" err="1"/>
                  <a:t>מה</a:t>
                </a:r>
                <a:r>
                  <a:rPr lang="en-IL" b="1" dirty="0"/>
                  <a:t> </a:t>
                </a:r>
                <a:r>
                  <a:rPr lang="en-IL" b="1" dirty="0" err="1"/>
                  <a:t>זה</a:t>
                </a:r>
                <a:r>
                  <a:rPr lang="en-IL" b="1" dirty="0"/>
                  <a:t> </a:t>
                </a:r>
                <a:r>
                  <a:rPr lang="en-IL" b="1" dirty="0" err="1"/>
                  <a:t>המדד</a:t>
                </a:r>
                <a:r>
                  <a:rPr lang="en-IL" b="1" dirty="0"/>
                  <a:t> </a:t>
                </a:r>
                <a:r>
                  <a:rPr lang="en-IL" b="1" dirty="0" err="1"/>
                  <a:t>הזה</a:t>
                </a:r>
                <a:r>
                  <a:rPr lang="en-IL" b="1" dirty="0"/>
                  <a:t> (</a:t>
                </a:r>
                <a:r>
                  <a:rPr lang="en-IL" b="1" dirty="0" err="1"/>
                  <a:t>במילים</a:t>
                </a:r>
                <a:r>
                  <a:rPr lang="en-IL" b="1" dirty="0"/>
                  <a:t> </a:t>
                </a:r>
                <a:r>
                  <a:rPr lang="en-IL" b="1" dirty="0" err="1"/>
                  <a:t>שלי</a:t>
                </a:r>
                <a:r>
                  <a:rPr lang="en-IL" b="1" dirty="0"/>
                  <a:t>):</a:t>
                </a:r>
                <a:r>
                  <a:rPr lang="en-IL" dirty="0"/>
                  <a:t> </a:t>
                </a:r>
                <a:r>
                  <a:rPr lang="en-IL" dirty="0" err="1"/>
                  <a:t>מדד</a:t>
                </a:r>
                <a:r>
                  <a:rPr lang="en-IL" dirty="0"/>
                  <a:t> </a:t>
                </a:r>
                <a:r>
                  <a:rPr lang="en-IL" dirty="0" err="1"/>
                  <a:t>שבעזרתו</a:t>
                </a:r>
                <a:r>
                  <a:rPr lang="en-IL" dirty="0"/>
                  <a:t> </a:t>
                </a:r>
                <a:r>
                  <a:rPr lang="en-IL" dirty="0" err="1"/>
                  <a:t>אני</a:t>
                </a:r>
                <a:r>
                  <a:rPr lang="en-IL" dirty="0"/>
                  <a:t> </a:t>
                </a:r>
                <a:r>
                  <a:rPr lang="en-IL" dirty="0" err="1"/>
                  <a:t>מגלה</a:t>
                </a:r>
                <a:r>
                  <a:rPr lang="en-IL" dirty="0"/>
                  <a:t> </a:t>
                </a:r>
                <a:r>
                  <a:rPr lang="en-IL" dirty="0" err="1"/>
                  <a:t>כפילויות</a:t>
                </a:r>
                <a:r>
                  <a:rPr lang="en-IL" dirty="0"/>
                  <a:t> </a:t>
                </a:r>
                <a:r>
                  <a:rPr lang="en-IL" dirty="0" err="1"/>
                  <a:t>בדאטה</a:t>
                </a:r>
                <a:r>
                  <a:rPr lang="en-IL" dirty="0"/>
                  <a:t> </a:t>
                </a:r>
                <a:r>
                  <a:rPr lang="en-IL" dirty="0" err="1"/>
                  <a:t>שלי</a:t>
                </a:r>
                <a:r>
                  <a:rPr lang="en-IL" dirty="0"/>
                  <a:t>, </a:t>
                </a:r>
                <a:r>
                  <a:rPr lang="en-IL" dirty="0" err="1"/>
                  <a:t>ובודקת</a:t>
                </a:r>
                <a:r>
                  <a:rPr lang="en-IL" dirty="0"/>
                  <a:t> </a:t>
                </a:r>
                <a:r>
                  <a:rPr lang="en-IL" dirty="0" err="1"/>
                  <a:t>האם</a:t>
                </a:r>
                <a:r>
                  <a:rPr lang="en-IL" dirty="0"/>
                  <a:t> </a:t>
                </a:r>
                <a:r>
                  <a:rPr lang="en-IL" dirty="0" err="1"/>
                  <a:t>אחד</a:t>
                </a:r>
                <a:r>
                  <a:rPr lang="en-IL" dirty="0"/>
                  <a:t> </a:t>
                </a:r>
                <a:r>
                  <a:rPr lang="en-IL" dirty="0" err="1"/>
                  <a:t>המאפיינים</a:t>
                </a:r>
                <a:r>
                  <a:rPr lang="en-IL" dirty="0"/>
                  <a:t> </a:t>
                </a:r>
                <a:r>
                  <a:rPr lang="en-IL" dirty="0" err="1"/>
                  <a:t>בעצם</a:t>
                </a:r>
                <a:r>
                  <a:rPr lang="en-IL" dirty="0"/>
                  <a:t> </a:t>
                </a:r>
                <a:r>
                  <a:rPr lang="en-IL" dirty="0" err="1"/>
                  <a:t>מיותר</a:t>
                </a:r>
                <a:r>
                  <a:rPr lang="en-IL" dirty="0"/>
                  <a:t> </a:t>
                </a:r>
                <a:r>
                  <a:rPr lang="en-IL" dirty="0" err="1"/>
                  <a:t>לגמרי</a:t>
                </a:r>
                <a:r>
                  <a:rPr lang="en-IL" dirty="0"/>
                  <a:t> </a:t>
                </a:r>
                <a:r>
                  <a:rPr lang="en-IL" dirty="0" err="1"/>
                  <a:t>כי</a:t>
                </a:r>
                <a:r>
                  <a:rPr lang="en-IL" dirty="0"/>
                  <a:t> </a:t>
                </a:r>
                <a:r>
                  <a:rPr lang="en-IL" dirty="0" err="1"/>
                  <a:t>אפשר</a:t>
                </a:r>
                <a:r>
                  <a:rPr lang="en-IL" dirty="0"/>
                  <a:t> </a:t>
                </a:r>
                <a:r>
                  <a:rPr lang="en-IL" dirty="0" err="1"/>
                  <a:t>להסיק</a:t>
                </a:r>
                <a:r>
                  <a:rPr lang="en-IL" dirty="0"/>
                  <a:t> </a:t>
                </a:r>
                <a:r>
                  <a:rPr lang="en-IL" dirty="0" err="1"/>
                  <a:t>אותו</a:t>
                </a:r>
                <a:r>
                  <a:rPr lang="en-IL" dirty="0"/>
                  <a:t> </a:t>
                </a:r>
                <a:r>
                  <a:rPr lang="en-IL" dirty="0" err="1"/>
                  <a:t>בדיוק</a:t>
                </a:r>
                <a:r>
                  <a:rPr lang="en-IL" dirty="0"/>
                  <a:t> </a:t>
                </a:r>
                <a:r>
                  <a:rPr lang="en-IL" dirty="0" err="1"/>
                  <a:t>ממאפיינים</a:t>
                </a:r>
                <a:r>
                  <a:rPr lang="en-IL" dirty="0"/>
                  <a:t> </a:t>
                </a:r>
                <a:r>
                  <a:rPr lang="en-IL" dirty="0" err="1"/>
                  <a:t>אחרים</a:t>
                </a:r>
                <a:r>
                  <a:rPr lang="en-IL" dirty="0"/>
                  <a:t> </a:t>
                </a:r>
                <a:r>
                  <a:rPr lang="en-IL" dirty="0" err="1"/>
                  <a:t>שכבר</a:t>
                </a:r>
                <a:r>
                  <a:rPr lang="en-IL" dirty="0"/>
                  <a:t> </a:t>
                </a:r>
                <a:r>
                  <a:rPr lang="en-IL" dirty="0" err="1"/>
                  <a:t>יש</a:t>
                </a:r>
                <a:r>
                  <a:rPr lang="en-IL" dirty="0"/>
                  <a:t> </a:t>
                </a:r>
                <a:r>
                  <a:rPr lang="en-IL" dirty="0" err="1"/>
                  <a:t>לי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he-IL" b="1" dirty="0"/>
                  <a:t>השתמשתי כי </a:t>
                </a:r>
                <a:r>
                  <a:rPr lang="en-IL" dirty="0" err="1"/>
                  <a:t>המדד</a:t>
                </a:r>
                <a:r>
                  <a:rPr lang="en-IL" dirty="0"/>
                  <a:t> </a:t>
                </a:r>
                <a:r>
                  <a:rPr lang="en-IL" dirty="0" err="1"/>
                  <a:t>הזה</a:t>
                </a:r>
                <a:r>
                  <a:rPr lang="en-IL" dirty="0"/>
                  <a:t> </a:t>
                </a:r>
                <a:r>
                  <a:rPr lang="en-IL" dirty="0" err="1"/>
                  <a:t>הראה</a:t>
                </a:r>
                <a:r>
                  <a:rPr lang="en-IL" dirty="0"/>
                  <a:t> </a:t>
                </a:r>
                <a:r>
                  <a:rPr lang="en-IL" dirty="0" err="1"/>
                  <a:t>לי</a:t>
                </a:r>
                <a:r>
                  <a:rPr lang="en-IL" dirty="0"/>
                  <a:t> </a:t>
                </a:r>
                <a:r>
                  <a:rPr lang="en-IL" dirty="0" err="1"/>
                  <a:t>ש"אורך</a:t>
                </a:r>
                <a:r>
                  <a:rPr lang="en-IL" dirty="0"/>
                  <a:t> </a:t>
                </a:r>
                <a:r>
                  <a:rPr lang="en-IL" dirty="0" err="1"/>
                  <a:t>ההודעה</a:t>
                </a:r>
                <a:r>
                  <a:rPr lang="en-IL" dirty="0"/>
                  <a:t> </a:t>
                </a:r>
                <a:r>
                  <a:rPr lang="en-IL" dirty="0" err="1"/>
                  <a:t>בתווים</a:t>
                </a:r>
                <a:r>
                  <a:rPr lang="en-IL" dirty="0"/>
                  <a:t>" </a:t>
                </a:r>
                <a:r>
                  <a:rPr lang="he-IL" dirty="0"/>
                  <a:t>כמות</a:t>
                </a:r>
                <a:r>
                  <a:rPr lang="en-IL" dirty="0"/>
                  <a:t> </a:t>
                </a:r>
                <a:r>
                  <a:rPr lang="en-IL" dirty="0" err="1"/>
                  <a:t>המילים</a:t>
                </a:r>
                <a:r>
                  <a:rPr lang="en-IL" dirty="0"/>
                  <a:t>" </a:t>
                </a:r>
                <a:r>
                  <a:rPr lang="en-IL" dirty="0" err="1"/>
                  <a:t>הם</a:t>
                </a:r>
                <a:r>
                  <a:rPr lang="en-IL" dirty="0"/>
                  <a:t> </a:t>
                </a:r>
                <a:r>
                  <a:rPr lang="en-IL" dirty="0" err="1"/>
                  <a:t>למעשה</a:t>
                </a:r>
                <a:r>
                  <a:rPr lang="en-IL" dirty="0"/>
                  <a:t> </a:t>
                </a:r>
                <a:r>
                  <a:rPr lang="en-IL" dirty="0" err="1"/>
                  <a:t>אותו</a:t>
                </a:r>
                <a:r>
                  <a:rPr lang="en-IL" dirty="0"/>
                  <a:t> </a:t>
                </a:r>
                <a:r>
                  <a:rPr lang="en-IL" dirty="0" err="1"/>
                  <a:t>נתון</a:t>
                </a:r>
                <a:r>
                  <a:rPr lang="en-IL" dirty="0"/>
                  <a:t> , </a:t>
                </a:r>
                <a:r>
                  <a:rPr lang="en-IL" dirty="0" err="1"/>
                  <a:t>ושניהם</a:t>
                </a:r>
                <a:r>
                  <a:rPr lang="en-IL" dirty="0"/>
                  <a:t> </a:t>
                </a:r>
                <a:r>
                  <a:rPr lang="en-IL" dirty="0" err="1"/>
                  <a:t>קיבלו</a:t>
                </a:r>
                <a:r>
                  <a:rPr lang="en-IL" dirty="0"/>
                  <a:t> </a:t>
                </a:r>
                <a:r>
                  <a:rPr lang="en-IL" dirty="0" err="1"/>
                  <a:t>ציון</a:t>
                </a:r>
                <a:r>
                  <a:rPr lang="en-IL" dirty="0"/>
                  <a:t> VIF </a:t>
                </a:r>
                <a:r>
                  <a:rPr lang="en-IL" dirty="0" err="1"/>
                  <a:t>גבוה</a:t>
                </a:r>
                <a:r>
                  <a:rPr lang="en-IL" dirty="0"/>
                  <a:t> </a:t>
                </a:r>
                <a:r>
                  <a:rPr lang="en-IL" dirty="0" err="1"/>
                  <a:t>מאוד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כ-21. </a:t>
                </a:r>
                <a:r>
                  <a:rPr lang="en-IL" dirty="0" err="1"/>
                  <a:t>בעקבות</a:t>
                </a:r>
                <a:r>
                  <a:rPr lang="en-IL" dirty="0"/>
                  <a:t> </a:t>
                </a:r>
                <a:r>
                  <a:rPr lang="en-IL" dirty="0" err="1"/>
                  <a:t>ההבנה</a:t>
                </a:r>
                <a:r>
                  <a:rPr lang="en-IL" dirty="0"/>
                  <a:t> </a:t>
                </a:r>
                <a:r>
                  <a:rPr lang="en-IL" dirty="0" err="1"/>
                  <a:t>הזו</a:t>
                </a:r>
                <a:r>
                  <a:rPr lang="en-IL" dirty="0"/>
                  <a:t>, </a:t>
                </a:r>
                <a:r>
                  <a:rPr lang="en-IL" dirty="0" err="1"/>
                  <a:t>החלטתי</a:t>
                </a:r>
                <a:r>
                  <a:rPr lang="en-IL" dirty="0"/>
                  <a:t> </a:t>
                </a:r>
                <a:r>
                  <a:rPr lang="en-IL" dirty="0" err="1"/>
                  <a:t>שאני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מכניסה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המאפיינים</a:t>
                </a:r>
                <a:r>
                  <a:rPr lang="en-IL" dirty="0"/>
                  <a:t> </a:t>
                </a:r>
                <a:r>
                  <a:rPr lang="en-IL" dirty="0" err="1"/>
                  <a:t>האלו</a:t>
                </a:r>
                <a:r>
                  <a:rPr lang="en-IL" dirty="0"/>
                  <a:t> </a:t>
                </a:r>
                <a:r>
                  <a:rPr lang="en-IL" dirty="0" err="1"/>
                  <a:t>כקלט</a:t>
                </a:r>
                <a:r>
                  <a:rPr lang="en-IL" dirty="0"/>
                  <a:t> </a:t>
                </a:r>
                <a:r>
                  <a:rPr lang="en-IL" dirty="0" err="1"/>
                  <a:t>שמלמד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, </a:t>
                </a:r>
                <a:r>
                  <a:rPr lang="en-IL" dirty="0" err="1"/>
                  <a:t>כדי</a:t>
                </a:r>
                <a:r>
                  <a:rPr lang="en-IL" dirty="0"/>
                  <a:t> </a:t>
                </a:r>
                <a:r>
                  <a:rPr lang="en-IL" dirty="0" err="1"/>
                  <a:t>למנוע</a:t>
                </a:r>
                <a:r>
                  <a:rPr lang="en-IL" dirty="0"/>
                  <a:t> </a:t>
                </a:r>
                <a:r>
                  <a:rPr lang="en-IL" dirty="0" err="1"/>
                  <a:t>ממנו</a:t>
                </a:r>
                <a:r>
                  <a:rPr lang="en-IL" dirty="0"/>
                  <a:t> </a:t>
                </a:r>
                <a:r>
                  <a:rPr lang="en-IL" dirty="0" err="1"/>
                  <a:t>לפצל</a:t>
                </a:r>
                <a:r>
                  <a:rPr lang="en-IL" dirty="0"/>
                  <a:t> </a:t>
                </a:r>
                <a:r>
                  <a:rPr lang="en-IL" dirty="0" err="1"/>
                  <a:t>משקלים</a:t>
                </a:r>
                <a:r>
                  <a:rPr lang="en-IL" dirty="0"/>
                  <a:t> </a:t>
                </a:r>
                <a:r>
                  <a:rPr lang="en-IL" dirty="0" err="1"/>
                  <a:t>בין</a:t>
                </a:r>
                <a:r>
                  <a:rPr lang="en-IL" dirty="0"/>
                  <a:t> </a:t>
                </a:r>
                <a:r>
                  <a:rPr lang="en-IL" dirty="0" err="1"/>
                  <a:t>כפילויות</a:t>
                </a:r>
                <a:r>
                  <a:rPr lang="en-IL" dirty="0"/>
                  <a:t> </a:t>
                </a:r>
                <a:r>
                  <a:rPr lang="en-IL" dirty="0" err="1"/>
                  <a:t>וכדי</a:t>
                </a:r>
                <a:r>
                  <a:rPr lang="en-IL" dirty="0"/>
                  <a:t> </a:t>
                </a:r>
                <a:r>
                  <a:rPr lang="en-IL" dirty="0" err="1"/>
                  <a:t>לשמור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היכולת</a:t>
                </a:r>
                <a:r>
                  <a:rPr lang="en-IL" dirty="0"/>
                  <a:t> </a:t>
                </a:r>
                <a:r>
                  <a:rPr lang="en-IL" dirty="0" err="1"/>
                  <a:t>שלי</a:t>
                </a:r>
                <a:r>
                  <a:rPr lang="en-IL" dirty="0"/>
                  <a:t> </a:t>
                </a:r>
                <a:r>
                  <a:rPr lang="en-IL" dirty="0" err="1"/>
                  <a:t>להסביר</a:t>
                </a:r>
                <a:r>
                  <a:rPr lang="en-IL" dirty="0"/>
                  <a:t> </a:t>
                </a:r>
                <a:r>
                  <a:rPr lang="en-IL" dirty="0" err="1"/>
                  <a:t>במדויק</a:t>
                </a:r>
                <a:r>
                  <a:rPr lang="en-IL" dirty="0"/>
                  <a:t> </a:t>
                </a:r>
                <a:r>
                  <a:rPr lang="en-IL" dirty="0" err="1"/>
                  <a:t>איך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 </a:t>
                </a:r>
                <a:r>
                  <a:rPr lang="en-IL" dirty="0" err="1"/>
                  <a:t>קיבל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ההחלטה</a:t>
                </a:r>
                <a:r>
                  <a:rPr lang="en-IL" dirty="0"/>
                  <a:t> </a:t>
                </a:r>
                <a:r>
                  <a:rPr lang="en-IL" dirty="0" err="1"/>
                  <a:t>שלו</a:t>
                </a:r>
                <a:r>
                  <a:rPr lang="en-IL" dirty="0"/>
                  <a:t> </a:t>
                </a:r>
              </a:p>
              <a:p>
                <a:pPr algn="r" rtl="1"/>
                <a:r>
                  <a:rPr lang="en-US" dirty="0"/>
                  <a:t>
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לפני המודל אני עושה </a:t>
                </a:r>
                <a:r>
                  <a:rPr lang="en-US" dirty="0"/>
                  <a:t>EDA</a:t>
                </a:r>
                <a:r>
                  <a:rPr lang="he-IL" dirty="0"/>
                  <a:t> כדי להכיר את הדאטה כמו שאמרתי קודם, מפת חום שמראה קורלציה בין התכונות.</a:t>
                </a:r>
              </a:p>
              <a:p>
                <a:pPr algn="r" rtl="1"/>
                <a:r>
                  <a:rPr lang="en-IL" dirty="0" err="1"/>
                  <a:t>השתמשתי</a:t>
                </a:r>
                <a:r>
                  <a:rPr lang="en-IL" dirty="0"/>
                  <a:t> </a:t>
                </a:r>
                <a:r>
                  <a:rPr lang="en-IL" dirty="0" err="1"/>
                  <a:t>במתאם</a:t>
                </a:r>
                <a:r>
                  <a:rPr lang="en-IL" dirty="0"/>
                  <a:t> </a:t>
                </a:r>
                <a:r>
                  <a:rPr lang="en-IL" dirty="0" err="1"/>
                  <a:t>דירוג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</a:t>
                </a:r>
                <a:r>
                  <a:rPr lang="en-IL" dirty="0" err="1"/>
                  <a:t>ספירמן</a:t>
                </a:r>
                <a:r>
                  <a:rPr lang="en-IL" dirty="0"/>
                  <a:t> (Spearman rank correlation) </a:t>
                </a:r>
                <a:r>
                  <a:rPr lang="en-IL" dirty="0" err="1"/>
                  <a:t>ולא</a:t>
                </a:r>
                <a:r>
                  <a:rPr lang="en-IL" dirty="0"/>
                  <a:t> </a:t>
                </a:r>
                <a:r>
                  <a:rPr lang="en-IL" dirty="0" err="1"/>
                  <a:t>במתאם</a:t>
                </a:r>
                <a:r>
                  <a:rPr lang="en-IL" dirty="0"/>
                  <a:t> </a:t>
                </a:r>
                <a:r>
                  <a:rPr lang="en-IL" dirty="0" err="1"/>
                  <a:t>פירסון</a:t>
                </a:r>
                <a:r>
                  <a:rPr lang="en-IL" dirty="0"/>
                  <a:t> </a:t>
                </a:r>
                <a:r>
                  <a:rPr lang="he-IL" dirty="0" err="1"/>
                  <a:t>בגללל</a:t>
                </a:r>
                <a:r>
                  <a:rPr lang="en-IL" dirty="0"/>
                  <a:t> </a:t>
                </a:r>
                <a:r>
                  <a:rPr lang="en-IL" dirty="0" err="1"/>
                  <a:t>שהתפלגות</a:t>
                </a:r>
                <a:r>
                  <a:rPr lang="en-IL" dirty="0"/>
                  <a:t> </a:t>
                </a:r>
                <a:r>
                  <a:rPr lang="en-IL" dirty="0" err="1"/>
                  <a:t>הנתונים</a:t>
                </a:r>
                <a:r>
                  <a:rPr lang="en-IL" dirty="0"/>
                  <a:t> </a:t>
                </a:r>
                <a:r>
                  <a:rPr lang="en-IL" dirty="0" err="1"/>
                  <a:t>נטויה</a:t>
                </a:r>
                <a:r>
                  <a:rPr lang="en-IL" dirty="0"/>
                  <a:t> (Skewed). </a:t>
                </a:r>
                <a:r>
                  <a:rPr lang="en-IL" dirty="0" err="1"/>
                  <a:t>התבססות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דירוג</a:t>
                </a:r>
                <a:r>
                  <a:rPr lang="en-IL" dirty="0"/>
                  <a:t> (Rank) </a:t>
                </a:r>
                <a:r>
                  <a:rPr lang="en-IL" dirty="0" err="1"/>
                  <a:t>עמידה</a:t>
                </a:r>
                <a:r>
                  <a:rPr lang="en-IL" dirty="0"/>
                  <a:t> </a:t>
                </a:r>
                <a:r>
                  <a:rPr lang="en-IL" dirty="0" err="1"/>
                  <a:t>יותר</a:t>
                </a:r>
                <a:r>
                  <a:rPr lang="en-IL" dirty="0"/>
                  <a:t> </a:t>
                </a:r>
                <a:r>
                  <a:rPr lang="en-IL" dirty="0" err="1"/>
                  <a:t>ומתעלמת</a:t>
                </a:r>
                <a:r>
                  <a:rPr lang="en-IL" dirty="0"/>
                  <a:t> </a:t>
                </a:r>
                <a:r>
                  <a:rPr lang="he-IL" dirty="0"/>
                  <a:t>מ</a:t>
                </a:r>
                <a:r>
                  <a:rPr lang="en-IL" dirty="0"/>
                  <a:t> (Outliers).</a:t>
                </a:r>
                <a:endParaRPr lang="he-IL" dirty="0"/>
              </a:p>
              <a:p>
                <a:pPr algn="r" rtl="1"/>
                <a:r>
                  <a:rPr lang="en-US" dirty="0" err="1"/>
                  <a:t>בעזרת</a:t>
                </a:r>
                <a:r>
                  <a:rPr lang="en-US" dirty="0"/>
                  <a:t> </a:t>
                </a:r>
                <a:r>
                  <a:rPr lang="en-US" dirty="0" err="1"/>
                  <a:t>קורלציית</a:t>
                </a:r>
                <a:r>
                  <a:rPr lang="en-US" dirty="0"/>
                  <a:t> </a:t>
                </a:r>
                <a:r>
                  <a:rPr lang="en-US" dirty="0" err="1"/>
                  <a:t>דירוג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ספירמן</a:t>
                </a:r>
                <a:r>
                  <a:rPr lang="en-US" dirty="0"/>
                  <a:t>: '</a:t>
                </a:r>
                <a:r>
                  <a:rPr lang="en-US" dirty="0" err="1"/>
                  <a:t>דירוג</a:t>
                </a:r>
                <a:r>
                  <a:rPr lang="en-US" dirty="0"/>
                  <a:t>' </a:t>
                </a:r>
                <a:r>
                  <a:rPr lang="en-US" dirty="0" err="1"/>
                  <a:t>אומר</a:t>
                </a:r>
                <a:r>
                  <a:rPr lang="en-US" dirty="0"/>
                  <a:t> </a:t>
                </a:r>
                <a:r>
                  <a:rPr lang="en-US" dirty="0" err="1"/>
                  <a:t>שאני</a:t>
                </a:r>
                <a:r>
                  <a:rPr lang="en-US" dirty="0"/>
                  <a:t> </a:t>
                </a:r>
                <a:r>
                  <a:rPr lang="en-US" dirty="0" err="1"/>
                  <a:t>משווה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הסדר</a:t>
                </a:r>
                <a:r>
                  <a:rPr lang="en-US" dirty="0"/>
                  <a:t> </a:t>
                </a:r>
                <a:r>
                  <a:rPr lang="en-US" dirty="0" err="1"/>
                  <a:t>של</a:t>
                </a:r>
                <a:r>
                  <a:rPr lang="en-US" dirty="0"/>
                  <a:t> </a:t>
                </a:r>
                <a:r>
                  <a:rPr lang="en-US" dirty="0" err="1"/>
                  <a:t>הערכים</a:t>
                </a:r>
                <a:r>
                  <a:rPr lang="en-US" dirty="0"/>
                  <a:t>, </a:t>
                </a:r>
                <a:r>
                  <a:rPr lang="en-US" dirty="0" err="1"/>
                  <a:t>לא</a:t>
                </a:r>
                <a:r>
                  <a:rPr lang="en-US" dirty="0"/>
                  <a:t> </a:t>
                </a:r>
                <a:r>
                  <a:rPr lang="en-US" dirty="0" err="1"/>
                  <a:t>את</a:t>
                </a:r>
                <a:r>
                  <a:rPr lang="en-US" dirty="0"/>
                  <a:t> </a:t>
                </a:r>
                <a:r>
                  <a:rPr lang="en-US" dirty="0" err="1"/>
                  <a:t>המספרים</a:t>
                </a:r>
                <a:r>
                  <a:rPr lang="en-US" dirty="0"/>
                  <a:t> </a:t>
                </a:r>
                <a:r>
                  <a:rPr lang="en-US" dirty="0" err="1"/>
                  <a:t>הגולמיים</a:t>
                </a:r>
                <a:r>
                  <a:rPr lang="en-US" dirty="0"/>
                  <a:t>, </a:t>
                </a:r>
                <a:r>
                  <a:rPr lang="en-US" dirty="0" err="1"/>
                  <a:t>וזה</a:t>
                </a:r>
                <a:r>
                  <a:rPr lang="en-US" dirty="0"/>
                  <a:t> </a:t>
                </a:r>
                <a:r>
                  <a:rPr lang="en-US" dirty="0" err="1"/>
                  <a:t>בטוח</a:t>
                </a:r>
                <a:r>
                  <a:rPr lang="en-US" dirty="0"/>
                  <a:t> </a:t>
                </a:r>
                <a:r>
                  <a:rPr lang="en-US" dirty="0" err="1"/>
                  <a:t>יותר</a:t>
                </a:r>
                <a:r>
                  <a:rPr lang="en-US" dirty="0"/>
                  <a:t> </a:t>
                </a:r>
                <a:r>
                  <a:rPr lang="en-US" dirty="0" err="1"/>
                  <a:t>כשהדאטה</a:t>
                </a:r>
                <a:r>
                  <a:rPr lang="en-US" dirty="0"/>
                  <a:t> </a:t>
                </a:r>
                <a:r>
                  <a:rPr lang="en-US" dirty="0" err="1"/>
                  <a:t>עקום</a:t>
                </a:r>
                <a:r>
                  <a:rPr lang="en-US" dirty="0"/>
                  <a:t> </a:t>
                </a:r>
                <a:r>
                  <a:rPr lang="en-US" dirty="0" err="1"/>
                  <a:t>או</a:t>
                </a:r>
                <a:r>
                  <a:rPr lang="en-US" dirty="0"/>
                  <a:t> </a:t>
                </a:r>
                <a:r>
                  <a:rPr lang="en-US" dirty="0" err="1"/>
                  <a:t>יש</a:t>
                </a:r>
                <a:r>
                  <a:rPr lang="en-US" dirty="0"/>
                  <a:t> </a:t>
                </a:r>
                <a:r>
                  <a:rPr lang="en-US" dirty="0" err="1"/>
                  <a:t>בו</a:t>
                </a:r>
                <a:r>
                  <a:rPr lang="en-US" dirty="0"/>
                  <a:t> </a:t>
                </a:r>
                <a:r>
                  <a:rPr lang="en-US" dirty="0" err="1"/>
                  <a:t>חריגים</a:t>
                </a:r>
                <a:endParaRPr lang="he-IL" dirty="0"/>
              </a:p>
              <a:p>
                <a:pPr algn="r" rtl="1"/>
                <a:r>
                  <a:rPr lang="en-US" dirty="0"/>
                  <a:t>
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מאן-ויטני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(Mann-Whitney U Test)</a:t>
                </a:r>
              </a:p>
              <a:p>
                <a:pPr algn="r" rtl="1"/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המבחן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r" rtl="1"/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במילים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פשוטות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זהו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מבחן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סטטיסטי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אני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משתמשת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כדי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להשוות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קבוצות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ולבדוק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יש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ביניהן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הבדל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אמיתי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גם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כשהנתונים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מתפלגים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נורמלית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ו"מושלמת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כמו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עקומת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פעמון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השתמשתי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בזה כדי לבדוק אם הודעות </a:t>
                </a:r>
                <a:r>
                  <a:rPr lang="he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פישינג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קצרות מהודעות</a:t>
                </a:r>
                <a:r>
                  <a:rPr lang="he-IL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kern="1200" baseline="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רגיליות</a:t>
                </a:r>
                <a:r>
                  <a:rPr lang="he-IL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בוודאות ושזה לא במקרה. </a:t>
                </a:r>
                <a:r>
                  <a:rPr lang="he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בגלל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שהאורך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לא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התפלג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בצורה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נורמלית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היו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מיילים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ארוכים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שמשכו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הנתונים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המבחן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הראה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שאימיילי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הפישינג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קצרים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משמעותית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עם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סיכוי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קלוש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מאוד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ערך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𝑝≪0.001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שההבדל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הזה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נוצר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בטעות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en-IL" b="1" dirty="0" err="1"/>
                  <a:t>מדד</a:t>
                </a:r>
                <a:r>
                  <a:rPr lang="en-IL" b="1" dirty="0"/>
                  <a:t> VIF (Variance Inflation Factor)</a:t>
                </a:r>
              </a:p>
              <a:p>
                <a:pPr algn="r" rtl="1"/>
                <a:r>
                  <a:rPr lang="en-IL" b="1" dirty="0" err="1"/>
                  <a:t>מה</a:t>
                </a:r>
                <a:r>
                  <a:rPr lang="en-IL" b="1" dirty="0"/>
                  <a:t> </a:t>
                </a:r>
                <a:r>
                  <a:rPr lang="en-IL" b="1" dirty="0" err="1"/>
                  <a:t>זה</a:t>
                </a:r>
                <a:r>
                  <a:rPr lang="en-IL" b="1" dirty="0"/>
                  <a:t> </a:t>
                </a:r>
                <a:r>
                  <a:rPr lang="en-IL" b="1" dirty="0" err="1"/>
                  <a:t>המדד</a:t>
                </a:r>
                <a:r>
                  <a:rPr lang="en-IL" b="1" dirty="0"/>
                  <a:t> </a:t>
                </a:r>
                <a:r>
                  <a:rPr lang="en-IL" b="1" dirty="0" err="1"/>
                  <a:t>הזה</a:t>
                </a:r>
                <a:r>
                  <a:rPr lang="en-IL" b="1" dirty="0"/>
                  <a:t> (</a:t>
                </a:r>
                <a:r>
                  <a:rPr lang="en-IL" b="1" dirty="0" err="1"/>
                  <a:t>במילים</a:t>
                </a:r>
                <a:r>
                  <a:rPr lang="en-IL" b="1" dirty="0"/>
                  <a:t> </a:t>
                </a:r>
                <a:r>
                  <a:rPr lang="en-IL" b="1" dirty="0" err="1"/>
                  <a:t>שלי</a:t>
                </a:r>
                <a:r>
                  <a:rPr lang="en-IL" b="1" dirty="0"/>
                  <a:t>):</a:t>
                </a:r>
                <a:r>
                  <a:rPr lang="en-IL" dirty="0"/>
                  <a:t> </a:t>
                </a:r>
                <a:r>
                  <a:rPr lang="en-IL" dirty="0" err="1"/>
                  <a:t>מדד</a:t>
                </a:r>
                <a:r>
                  <a:rPr lang="en-IL" dirty="0"/>
                  <a:t> </a:t>
                </a:r>
                <a:r>
                  <a:rPr lang="en-IL" dirty="0" err="1"/>
                  <a:t>שבעזרתו</a:t>
                </a:r>
                <a:r>
                  <a:rPr lang="en-IL" dirty="0"/>
                  <a:t> </a:t>
                </a:r>
                <a:r>
                  <a:rPr lang="en-IL" dirty="0" err="1"/>
                  <a:t>אני</a:t>
                </a:r>
                <a:r>
                  <a:rPr lang="en-IL" dirty="0"/>
                  <a:t> </a:t>
                </a:r>
                <a:r>
                  <a:rPr lang="en-IL" dirty="0" err="1"/>
                  <a:t>מגלה</a:t>
                </a:r>
                <a:r>
                  <a:rPr lang="en-IL" dirty="0"/>
                  <a:t> </a:t>
                </a:r>
                <a:r>
                  <a:rPr lang="en-IL" dirty="0" err="1"/>
                  <a:t>כפילויות</a:t>
                </a:r>
                <a:r>
                  <a:rPr lang="en-IL" dirty="0"/>
                  <a:t> </a:t>
                </a:r>
                <a:r>
                  <a:rPr lang="en-IL" dirty="0" err="1"/>
                  <a:t>בדאטה</a:t>
                </a:r>
                <a:r>
                  <a:rPr lang="en-IL" dirty="0"/>
                  <a:t> </a:t>
                </a:r>
                <a:r>
                  <a:rPr lang="en-IL" dirty="0" err="1"/>
                  <a:t>שלי</a:t>
                </a:r>
                <a:r>
                  <a:rPr lang="en-IL" dirty="0"/>
                  <a:t>, </a:t>
                </a:r>
                <a:r>
                  <a:rPr lang="en-IL" dirty="0" err="1"/>
                  <a:t>ובודקת</a:t>
                </a:r>
                <a:r>
                  <a:rPr lang="en-IL" dirty="0"/>
                  <a:t> </a:t>
                </a:r>
                <a:r>
                  <a:rPr lang="en-IL" dirty="0" err="1"/>
                  <a:t>האם</a:t>
                </a:r>
                <a:r>
                  <a:rPr lang="en-IL" dirty="0"/>
                  <a:t> </a:t>
                </a:r>
                <a:r>
                  <a:rPr lang="en-IL" dirty="0" err="1"/>
                  <a:t>אחד</a:t>
                </a:r>
                <a:r>
                  <a:rPr lang="en-IL" dirty="0"/>
                  <a:t> </a:t>
                </a:r>
                <a:r>
                  <a:rPr lang="en-IL" dirty="0" err="1"/>
                  <a:t>המאפיינים</a:t>
                </a:r>
                <a:r>
                  <a:rPr lang="en-IL" dirty="0"/>
                  <a:t> </a:t>
                </a:r>
                <a:r>
                  <a:rPr lang="en-IL" dirty="0" err="1"/>
                  <a:t>בעצם</a:t>
                </a:r>
                <a:r>
                  <a:rPr lang="en-IL" dirty="0"/>
                  <a:t> </a:t>
                </a:r>
                <a:r>
                  <a:rPr lang="en-IL" dirty="0" err="1"/>
                  <a:t>מיותר</a:t>
                </a:r>
                <a:r>
                  <a:rPr lang="en-IL" dirty="0"/>
                  <a:t> </a:t>
                </a:r>
                <a:r>
                  <a:rPr lang="en-IL" dirty="0" err="1"/>
                  <a:t>לגמרי</a:t>
                </a:r>
                <a:r>
                  <a:rPr lang="en-IL" dirty="0"/>
                  <a:t> </a:t>
                </a:r>
                <a:r>
                  <a:rPr lang="en-IL" dirty="0" err="1"/>
                  <a:t>כי</a:t>
                </a:r>
                <a:r>
                  <a:rPr lang="en-IL" dirty="0"/>
                  <a:t> </a:t>
                </a:r>
                <a:r>
                  <a:rPr lang="en-IL" dirty="0" err="1"/>
                  <a:t>אפשר</a:t>
                </a:r>
                <a:r>
                  <a:rPr lang="en-IL" dirty="0"/>
                  <a:t> </a:t>
                </a:r>
                <a:r>
                  <a:rPr lang="en-IL" dirty="0" err="1"/>
                  <a:t>להסיק</a:t>
                </a:r>
                <a:r>
                  <a:rPr lang="en-IL" dirty="0"/>
                  <a:t> </a:t>
                </a:r>
                <a:r>
                  <a:rPr lang="en-IL" dirty="0" err="1"/>
                  <a:t>אותו</a:t>
                </a:r>
                <a:r>
                  <a:rPr lang="en-IL" dirty="0"/>
                  <a:t> </a:t>
                </a:r>
                <a:r>
                  <a:rPr lang="en-IL" dirty="0" err="1"/>
                  <a:t>בדיוק</a:t>
                </a:r>
                <a:r>
                  <a:rPr lang="en-IL" dirty="0"/>
                  <a:t> </a:t>
                </a:r>
                <a:r>
                  <a:rPr lang="en-IL" dirty="0" err="1"/>
                  <a:t>ממאפיינים</a:t>
                </a:r>
                <a:r>
                  <a:rPr lang="en-IL" dirty="0"/>
                  <a:t> </a:t>
                </a:r>
                <a:r>
                  <a:rPr lang="en-IL" dirty="0" err="1"/>
                  <a:t>אחרים</a:t>
                </a:r>
                <a:r>
                  <a:rPr lang="en-IL" dirty="0"/>
                  <a:t> </a:t>
                </a:r>
                <a:r>
                  <a:rPr lang="en-IL" dirty="0" err="1"/>
                  <a:t>שכבר</a:t>
                </a:r>
                <a:r>
                  <a:rPr lang="en-IL" dirty="0"/>
                  <a:t> </a:t>
                </a:r>
                <a:r>
                  <a:rPr lang="en-IL" dirty="0" err="1"/>
                  <a:t>יש</a:t>
                </a:r>
                <a:r>
                  <a:rPr lang="en-IL" dirty="0"/>
                  <a:t> </a:t>
                </a:r>
                <a:r>
                  <a:rPr lang="en-IL" dirty="0" err="1"/>
                  <a:t>לי</a:t>
                </a:r>
                <a:r>
                  <a:rPr lang="en-IL" dirty="0"/>
                  <a:t>.</a:t>
                </a:r>
              </a:p>
              <a:p>
                <a:pPr algn="r" rtl="1"/>
                <a:r>
                  <a:rPr lang="he-IL" b="1" dirty="0"/>
                  <a:t>השתמשתי כי </a:t>
                </a:r>
                <a:r>
                  <a:rPr lang="en-IL" dirty="0" err="1"/>
                  <a:t>המדד</a:t>
                </a:r>
                <a:r>
                  <a:rPr lang="en-IL" dirty="0"/>
                  <a:t> </a:t>
                </a:r>
                <a:r>
                  <a:rPr lang="en-IL" dirty="0" err="1"/>
                  <a:t>הזה</a:t>
                </a:r>
                <a:r>
                  <a:rPr lang="en-IL" dirty="0"/>
                  <a:t> </a:t>
                </a:r>
                <a:r>
                  <a:rPr lang="en-IL" dirty="0" err="1"/>
                  <a:t>הראה</a:t>
                </a:r>
                <a:r>
                  <a:rPr lang="en-IL" dirty="0"/>
                  <a:t> </a:t>
                </a:r>
                <a:r>
                  <a:rPr lang="en-IL" dirty="0" err="1"/>
                  <a:t>לי</a:t>
                </a:r>
                <a:r>
                  <a:rPr lang="en-IL" dirty="0"/>
                  <a:t> </a:t>
                </a:r>
                <a:r>
                  <a:rPr lang="en-IL" dirty="0" err="1"/>
                  <a:t>ש"אורך</a:t>
                </a:r>
                <a:r>
                  <a:rPr lang="en-IL" dirty="0"/>
                  <a:t> </a:t>
                </a:r>
                <a:r>
                  <a:rPr lang="en-IL" dirty="0" err="1"/>
                  <a:t>ההודעה</a:t>
                </a:r>
                <a:r>
                  <a:rPr lang="en-IL" dirty="0"/>
                  <a:t> </a:t>
                </a:r>
                <a:r>
                  <a:rPr lang="en-IL" dirty="0" err="1"/>
                  <a:t>בתווים</a:t>
                </a:r>
                <a:r>
                  <a:rPr lang="en-IL" dirty="0"/>
                  <a:t>" </a:t>
                </a:r>
                <a:r>
                  <a:rPr lang="he-IL" dirty="0"/>
                  <a:t>כמות</a:t>
                </a:r>
                <a:r>
                  <a:rPr lang="en-IL" dirty="0"/>
                  <a:t> </a:t>
                </a:r>
                <a:r>
                  <a:rPr lang="en-IL" dirty="0" err="1"/>
                  <a:t>המילים</a:t>
                </a:r>
                <a:r>
                  <a:rPr lang="en-IL" dirty="0"/>
                  <a:t>" </a:t>
                </a:r>
                <a:r>
                  <a:rPr lang="en-IL" dirty="0" err="1"/>
                  <a:t>הם</a:t>
                </a:r>
                <a:r>
                  <a:rPr lang="en-IL" dirty="0"/>
                  <a:t> </a:t>
                </a:r>
                <a:r>
                  <a:rPr lang="en-IL" dirty="0" err="1"/>
                  <a:t>למעשה</a:t>
                </a:r>
                <a:r>
                  <a:rPr lang="en-IL" dirty="0"/>
                  <a:t> </a:t>
                </a:r>
                <a:r>
                  <a:rPr lang="en-IL" dirty="0" err="1"/>
                  <a:t>אותו</a:t>
                </a:r>
                <a:r>
                  <a:rPr lang="en-IL" dirty="0"/>
                  <a:t> </a:t>
                </a:r>
                <a:r>
                  <a:rPr lang="en-IL" dirty="0" err="1"/>
                  <a:t>נתון</a:t>
                </a:r>
                <a:r>
                  <a:rPr lang="en-IL" dirty="0"/>
                  <a:t> , </a:t>
                </a:r>
                <a:r>
                  <a:rPr lang="en-IL" dirty="0" err="1"/>
                  <a:t>ושניהם</a:t>
                </a:r>
                <a:r>
                  <a:rPr lang="en-IL" dirty="0"/>
                  <a:t> </a:t>
                </a:r>
                <a:r>
                  <a:rPr lang="en-IL" dirty="0" err="1"/>
                  <a:t>קיבלו</a:t>
                </a:r>
                <a:r>
                  <a:rPr lang="en-IL" dirty="0"/>
                  <a:t> </a:t>
                </a:r>
                <a:r>
                  <a:rPr lang="en-IL" dirty="0" err="1"/>
                  <a:t>ציון</a:t>
                </a:r>
                <a:r>
                  <a:rPr lang="en-IL" dirty="0"/>
                  <a:t> VIF </a:t>
                </a:r>
                <a:r>
                  <a:rPr lang="en-IL" dirty="0" err="1"/>
                  <a:t>גבוה</a:t>
                </a:r>
                <a:r>
                  <a:rPr lang="en-IL" dirty="0"/>
                  <a:t> </a:t>
                </a:r>
                <a:r>
                  <a:rPr lang="en-IL" dirty="0" err="1"/>
                  <a:t>מאוד</a:t>
                </a:r>
                <a:r>
                  <a:rPr lang="en-IL" dirty="0"/>
                  <a:t> </a:t>
                </a:r>
                <a:r>
                  <a:rPr lang="en-IL" dirty="0" err="1"/>
                  <a:t>של</a:t>
                </a:r>
                <a:r>
                  <a:rPr lang="en-IL" dirty="0"/>
                  <a:t> כ-21. </a:t>
                </a:r>
                <a:r>
                  <a:rPr lang="en-IL" dirty="0" err="1"/>
                  <a:t>בעקבות</a:t>
                </a:r>
                <a:r>
                  <a:rPr lang="en-IL" dirty="0"/>
                  <a:t> </a:t>
                </a:r>
                <a:r>
                  <a:rPr lang="en-IL" dirty="0" err="1"/>
                  <a:t>ההבנה</a:t>
                </a:r>
                <a:r>
                  <a:rPr lang="en-IL" dirty="0"/>
                  <a:t> </a:t>
                </a:r>
                <a:r>
                  <a:rPr lang="en-IL" dirty="0" err="1"/>
                  <a:t>הזו</a:t>
                </a:r>
                <a:r>
                  <a:rPr lang="en-IL" dirty="0"/>
                  <a:t>, </a:t>
                </a:r>
                <a:r>
                  <a:rPr lang="en-IL" dirty="0" err="1"/>
                  <a:t>החלטתי</a:t>
                </a:r>
                <a:r>
                  <a:rPr lang="en-IL" dirty="0"/>
                  <a:t> </a:t>
                </a:r>
                <a:r>
                  <a:rPr lang="en-IL" dirty="0" err="1"/>
                  <a:t>שאני</a:t>
                </a:r>
                <a:r>
                  <a:rPr lang="en-IL" dirty="0"/>
                  <a:t> </a:t>
                </a:r>
                <a:r>
                  <a:rPr lang="en-IL" dirty="0" err="1"/>
                  <a:t>לא</a:t>
                </a:r>
                <a:r>
                  <a:rPr lang="en-IL" dirty="0"/>
                  <a:t> </a:t>
                </a:r>
                <a:r>
                  <a:rPr lang="en-IL" dirty="0" err="1"/>
                  <a:t>מכניסה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המאפיינים</a:t>
                </a:r>
                <a:r>
                  <a:rPr lang="en-IL" dirty="0"/>
                  <a:t> </a:t>
                </a:r>
                <a:r>
                  <a:rPr lang="en-IL" dirty="0" err="1"/>
                  <a:t>האלו</a:t>
                </a:r>
                <a:r>
                  <a:rPr lang="en-IL" dirty="0"/>
                  <a:t> </a:t>
                </a:r>
                <a:r>
                  <a:rPr lang="en-IL" dirty="0" err="1"/>
                  <a:t>כקלט</a:t>
                </a:r>
                <a:r>
                  <a:rPr lang="en-IL" dirty="0"/>
                  <a:t> </a:t>
                </a:r>
                <a:r>
                  <a:rPr lang="en-IL" dirty="0" err="1"/>
                  <a:t>שמלמד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, </a:t>
                </a:r>
                <a:r>
                  <a:rPr lang="en-IL" dirty="0" err="1"/>
                  <a:t>כדי</a:t>
                </a:r>
                <a:r>
                  <a:rPr lang="en-IL" dirty="0"/>
                  <a:t> </a:t>
                </a:r>
                <a:r>
                  <a:rPr lang="en-IL" dirty="0" err="1"/>
                  <a:t>למנוע</a:t>
                </a:r>
                <a:r>
                  <a:rPr lang="en-IL" dirty="0"/>
                  <a:t> </a:t>
                </a:r>
                <a:r>
                  <a:rPr lang="en-IL" dirty="0" err="1"/>
                  <a:t>ממנו</a:t>
                </a:r>
                <a:r>
                  <a:rPr lang="en-IL" dirty="0"/>
                  <a:t> </a:t>
                </a:r>
                <a:r>
                  <a:rPr lang="en-IL" dirty="0" err="1"/>
                  <a:t>לפצל</a:t>
                </a:r>
                <a:r>
                  <a:rPr lang="en-IL" dirty="0"/>
                  <a:t> </a:t>
                </a:r>
                <a:r>
                  <a:rPr lang="en-IL" dirty="0" err="1"/>
                  <a:t>משקלים</a:t>
                </a:r>
                <a:r>
                  <a:rPr lang="en-IL" dirty="0"/>
                  <a:t> </a:t>
                </a:r>
                <a:r>
                  <a:rPr lang="en-IL" dirty="0" err="1"/>
                  <a:t>בין</a:t>
                </a:r>
                <a:r>
                  <a:rPr lang="en-IL" dirty="0"/>
                  <a:t> </a:t>
                </a:r>
                <a:r>
                  <a:rPr lang="en-IL" dirty="0" err="1"/>
                  <a:t>כפילויות</a:t>
                </a:r>
                <a:r>
                  <a:rPr lang="en-IL" dirty="0"/>
                  <a:t> </a:t>
                </a:r>
                <a:r>
                  <a:rPr lang="en-IL" dirty="0" err="1"/>
                  <a:t>וכדי</a:t>
                </a:r>
                <a:r>
                  <a:rPr lang="en-IL" dirty="0"/>
                  <a:t> </a:t>
                </a:r>
                <a:r>
                  <a:rPr lang="en-IL" dirty="0" err="1"/>
                  <a:t>לשמור</a:t>
                </a:r>
                <a:r>
                  <a:rPr lang="en-IL" dirty="0"/>
                  <a:t> </a:t>
                </a:r>
                <a:r>
                  <a:rPr lang="en-IL" dirty="0" err="1"/>
                  <a:t>על</a:t>
                </a:r>
                <a:r>
                  <a:rPr lang="en-IL" dirty="0"/>
                  <a:t> </a:t>
                </a:r>
                <a:r>
                  <a:rPr lang="en-IL" dirty="0" err="1"/>
                  <a:t>היכולת</a:t>
                </a:r>
                <a:r>
                  <a:rPr lang="en-IL" dirty="0"/>
                  <a:t> </a:t>
                </a:r>
                <a:r>
                  <a:rPr lang="en-IL" dirty="0" err="1"/>
                  <a:t>שלי</a:t>
                </a:r>
                <a:r>
                  <a:rPr lang="en-IL" dirty="0"/>
                  <a:t> </a:t>
                </a:r>
                <a:r>
                  <a:rPr lang="en-IL" dirty="0" err="1"/>
                  <a:t>להסביר</a:t>
                </a:r>
                <a:r>
                  <a:rPr lang="en-IL" dirty="0"/>
                  <a:t> </a:t>
                </a:r>
                <a:r>
                  <a:rPr lang="en-IL" dirty="0" err="1"/>
                  <a:t>במדויק</a:t>
                </a:r>
                <a:r>
                  <a:rPr lang="en-IL" dirty="0"/>
                  <a:t> </a:t>
                </a:r>
                <a:r>
                  <a:rPr lang="en-IL" dirty="0" err="1"/>
                  <a:t>איך</a:t>
                </a:r>
                <a:r>
                  <a:rPr lang="en-IL" dirty="0"/>
                  <a:t> </a:t>
                </a:r>
                <a:r>
                  <a:rPr lang="en-IL" dirty="0" err="1"/>
                  <a:t>המודל</a:t>
                </a:r>
                <a:r>
                  <a:rPr lang="en-IL" dirty="0"/>
                  <a:t> </a:t>
                </a:r>
                <a:r>
                  <a:rPr lang="en-IL" dirty="0" err="1"/>
                  <a:t>קיבל</a:t>
                </a:r>
                <a:r>
                  <a:rPr lang="en-IL" dirty="0"/>
                  <a:t> </a:t>
                </a:r>
                <a:r>
                  <a:rPr lang="en-IL" dirty="0" err="1"/>
                  <a:t>את</a:t>
                </a:r>
                <a:r>
                  <a:rPr lang="en-IL" dirty="0"/>
                  <a:t> </a:t>
                </a:r>
                <a:r>
                  <a:rPr lang="en-IL" dirty="0" err="1"/>
                  <a:t>ההחלטה</a:t>
                </a:r>
                <a:r>
                  <a:rPr lang="en-IL" dirty="0"/>
                  <a:t> </a:t>
                </a:r>
                <a:r>
                  <a:rPr lang="en-IL" dirty="0" err="1"/>
                  <a:t>שלו</a:t>
                </a:r>
                <a:r>
                  <a:rPr lang="en-IL" dirty="0"/>
                  <a:t> </a:t>
                </a:r>
              </a:p>
              <a:p>
                <a:pPr algn="r" rtl="1"/>
                <a:r>
                  <a:rPr lang="en-US" dirty="0"/>
                  <a:t>
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he-IL" dirty="0"/>
              <a:t>אציג את התוצאות:</a:t>
            </a:r>
          </a:p>
          <a:p>
            <a:pPr algn="r" rtl="1"/>
            <a:r>
              <a:rPr lang="he-IL" dirty="0"/>
              <a:t>טובות מדי נכון? אני לוקחת את זה כאזהרה.</a:t>
            </a:r>
          </a:p>
          <a:p>
            <a:pPr algn="r" rtl="1"/>
            <a:r>
              <a:rPr lang="he-IL" dirty="0"/>
              <a:t>יש פה רק 8 טעויות מתוך 5000 אימיילים – 4 זה המקרה הגרוע</a:t>
            </a:r>
          </a:p>
          <a:p>
            <a:pPr algn="r" rtl="1"/>
            <a:r>
              <a:rPr lang="en-US" dirty="0"/>
              <a:t>
</a:t>
            </a:r>
            <a:r>
              <a:rPr lang="en-US" dirty="0" err="1"/>
              <a:t>רגרסיה</a:t>
            </a:r>
            <a:r>
              <a:rPr lang="en-US" dirty="0"/>
              <a:t> לוגיסטית ניצחה כל בסיס, </a:t>
            </a:r>
            <a:r>
              <a:rPr lang="en-US" dirty="0" err="1"/>
              <a:t>כוללkeyword</a:t>
            </a:r>
            <a:r>
              <a:rPr lang="en-US" dirty="0"/>
              <a:t> list </a:t>
            </a:r>
            <a:r>
              <a:rPr lang="he-IL" dirty="0"/>
              <a:t> </a:t>
            </a:r>
            <a:r>
              <a:rPr lang="en-US" dirty="0"/>
              <a:t>ו-</a:t>
            </a:r>
            <a:r>
              <a:rPr lang="en-US" dirty="0" err="1"/>
              <a:t>DistilBERT</a:t>
            </a:r>
            <a:r>
              <a:rPr lang="en-US" dirty="0"/>
              <a:t>; ואני אף פעם לא סומכת על דיוק גולמי בגלל פרדוקס הדיוק — מודל שתמיד אומר 'לגיטימי' נראה 65% מדויק אבל תופס אפס </a:t>
            </a:r>
            <a:r>
              <a:rPr lang="en-US" dirty="0" err="1"/>
              <a:t>פישינג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en-US" dirty="0" err="1"/>
              <a:t>ציון</a:t>
            </a:r>
            <a:r>
              <a:rPr lang="en-US" dirty="0"/>
              <a:t> כמעט מושלם על דאטה נקי ממקור יחיד לא </a:t>
            </a:r>
            <a:r>
              <a:rPr lang="en-US" dirty="0" err="1"/>
              <a:t>מוכיח</a:t>
            </a:r>
            <a:r>
              <a:rPr lang="en-US" dirty="0"/>
              <a:t> </a:t>
            </a:r>
            <a:r>
              <a:rPr lang="he-IL" dirty="0"/>
              <a:t>ביטחון</a:t>
            </a:r>
            <a:r>
              <a:rPr lang="en-US" dirty="0"/>
              <a:t> בעולם האמיתי, אז מכאן אני תוקפת בכוונה את </a:t>
            </a:r>
            <a:r>
              <a:rPr lang="en-US" dirty="0" err="1"/>
              <a:t>המודל</a:t>
            </a:r>
            <a:r>
              <a:rPr lang="en-US" dirty="0"/>
              <a:t> </a:t>
            </a:r>
            <a:r>
              <a:rPr lang="en-US" dirty="0" err="1"/>
              <a:t>של</a:t>
            </a:r>
            <a:r>
              <a:rPr lang="he-IL" dirty="0"/>
              <a:t>י</a:t>
            </a:r>
            <a:endParaRPr lang="en-US" dirty="0"/>
          </a:p>
          <a:p>
            <a:pPr algn="r" rtl="1"/>
            <a:r>
              <a:rPr lang="he-IL" b="1" u="sng" dirty="0"/>
              <a:t>הגדרות</a:t>
            </a:r>
            <a:r>
              <a:rPr lang="he-IL" dirty="0"/>
              <a:t>:</a:t>
            </a:r>
            <a:br>
              <a:rPr lang="en-US" dirty="0"/>
            </a:br>
            <a:r>
              <a:rPr lang="en-US" b="1" dirty="0"/>
              <a:t>F1</a:t>
            </a:r>
            <a:r>
              <a:rPr lang="he-IL" dirty="0"/>
              <a:t>: מתוך כל הפעמים שהמודל חזה חיובי (אמר שמצא </a:t>
            </a:r>
            <a:r>
              <a:rPr lang="he-IL" dirty="0" err="1"/>
              <a:t>פישינג</a:t>
            </a:r>
            <a:r>
              <a:rPr lang="he-IL" dirty="0"/>
              <a:t>), כמה פעמים הוא באמת צדק ולא עשה אזעקת שווא (עושה ממוצע הרמוני בין </a:t>
            </a:r>
            <a:r>
              <a:rPr lang="en-US" dirty="0"/>
              <a:t>recall </a:t>
            </a:r>
            <a:r>
              <a:rPr lang="he-IL" dirty="0"/>
              <a:t>ל</a:t>
            </a:r>
            <a:r>
              <a:rPr lang="en-US" dirty="0" err="1"/>
              <a:t>presicision</a:t>
            </a:r>
            <a:r>
              <a:rPr lang="he-IL" dirty="0"/>
              <a:t>)</a:t>
            </a:r>
          </a:p>
          <a:p>
            <a:pPr algn="r" rtl="1"/>
            <a:endParaRPr lang="he-IL" dirty="0"/>
          </a:p>
          <a:p>
            <a:pPr algn="r" rtl="1"/>
            <a:r>
              <a:rPr lang="en-US" b="1" dirty="0"/>
              <a:t>AUC</a:t>
            </a:r>
            <a:r>
              <a:rPr lang="he-IL" dirty="0"/>
              <a:t>: </a:t>
            </a:r>
            <a:r>
              <a:rPr lang="en-US" dirty="0"/>
              <a:t>area under curve</a:t>
            </a:r>
            <a:r>
              <a:rPr lang="he-IL" dirty="0"/>
              <a:t>: בודק את היכולת של המודל להפריד בין שתי המחלקות על פני כל ה</a:t>
            </a:r>
            <a:r>
              <a:rPr lang="en-US" dirty="0" err="1"/>
              <a:t>threshholds</a:t>
            </a:r>
            <a:r>
              <a:rPr lang="he-IL" dirty="0"/>
              <a:t>. לדוגמה: אם ניקח דוגמת </a:t>
            </a:r>
            <a:r>
              <a:rPr lang="he-IL" dirty="0" err="1"/>
              <a:t>פישינג</a:t>
            </a:r>
            <a:r>
              <a:rPr lang="he-IL" dirty="0"/>
              <a:t> ודוגמה של אימייל אמיתי המדד הזה הוא ההסתברות שהמודל ייתן </a:t>
            </a:r>
            <a:r>
              <a:rPr lang="he-IL" dirty="0" err="1"/>
              <a:t>לפישינג</a:t>
            </a:r>
            <a:r>
              <a:rPr lang="he-IL" dirty="0"/>
              <a:t> גבוה יותר מהאמיתי.</a:t>
            </a:r>
          </a:p>
          <a:p>
            <a:pPr algn="r" rtl="1"/>
            <a:endParaRPr lang="he-IL" dirty="0"/>
          </a:p>
          <a:p>
            <a:pPr algn="r" rtl="1"/>
            <a:r>
              <a:rPr lang="en-US" b="1" dirty="0"/>
              <a:t>MCC</a:t>
            </a:r>
            <a:r>
              <a:rPr lang="he-IL" b="0" dirty="0"/>
              <a:t>:</a:t>
            </a:r>
            <a:r>
              <a:rPr lang="en-US" b="0" dirty="0"/>
              <a:t> </a:t>
            </a:r>
            <a:r>
              <a:rPr lang="he-IL" b="0" dirty="0"/>
              <a:t>חשוב לנו ואמין לנו כי הוא לוקח בחשבון מצב שבו הנתונים לא מאוזנים – כמו במקרה שלנו שיש לנו 35 אחוז </a:t>
            </a:r>
            <a:r>
              <a:rPr lang="he-IL" b="0" dirty="0" err="1"/>
              <a:t>פישינג</a:t>
            </a:r>
            <a:r>
              <a:rPr lang="he-IL" b="0" dirty="0"/>
              <a:t> מהלמידה. רוצים 1 שזה הכי טוב, 0 זה ניחוש אקראי, ומינוס 1 זה פשוט תמיד לטעות</a:t>
            </a:r>
          </a:p>
          <a:p>
            <a:pPr algn="r" rtl="1"/>
            <a:endParaRPr lang="he-IL" b="1" dirty="0"/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he-IL" b="1" dirty="0"/>
              <a:t>ההתקפה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מאיזה מאמר ראיתי את ההתקפה?</a:t>
            </a:r>
          </a:p>
          <a:p>
            <a:pPr algn="r" rtl="1"/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Eger 2019; Boucher 2022</a:t>
            </a:r>
            <a:endParaRPr lang="he-IL" sz="1200" dirty="0">
              <a:solidFill>
                <a:srgbClr val="95A6A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r" rtl="1"/>
            <a:r>
              <a:rPr lang="he-IL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תוסיפי משפט מה כתוב אצלם האם יש משהו מעניין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החלפת אותיות לטיניות רגילות באותיות </a:t>
            </a:r>
            <a:r>
              <a:rPr lang="he-IL" dirty="0" err="1"/>
              <a:t>הסריליות</a:t>
            </a:r>
            <a:r>
              <a:rPr lang="he-IL" dirty="0"/>
              <a:t> שנראות אותו דבר אבל לא נחשבות אותה אות.</a:t>
            </a:r>
          </a:p>
          <a:p>
            <a:pPr algn="r" rtl="1"/>
            <a:r>
              <a:rPr lang="he-IL" dirty="0"/>
              <a:t>המודל שלי משווה את הטקסט שקיבל – מילה </a:t>
            </a:r>
            <a:r>
              <a:rPr lang="he-IL" dirty="0" err="1"/>
              <a:t>מילה</a:t>
            </a:r>
            <a:r>
              <a:rPr lang="he-IL" dirty="0"/>
              <a:t> – למילים שהוא כבר מכיר ולמד ויודע שהן סימן למתקפה, אבל הוא לא מזהה את המילים.</a:t>
            </a:r>
          </a:p>
          <a:p>
            <a:pPr algn="r" rtl="1"/>
            <a:r>
              <a:rPr lang="he-IL" dirty="0"/>
              <a:t>ככה מילות </a:t>
            </a:r>
            <a:r>
              <a:rPr lang="he-IL" dirty="0" err="1"/>
              <a:t>הפישינג</a:t>
            </a:r>
            <a:r>
              <a:rPr lang="he-IL" dirty="0"/>
              <a:t> נעלמות מהמודל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התיקון:</a:t>
            </a:r>
          </a:p>
          <a:p>
            <a:pPr algn="r" rtl="1"/>
            <a:r>
              <a:rPr lang="he-IL" dirty="0"/>
              <a:t>נורמליזציה – לפני הסיווג אני עושה </a:t>
            </a:r>
            <a:r>
              <a:rPr lang="en-US" dirty="0"/>
              <a:t>fold</a:t>
            </a:r>
            <a:r>
              <a:rPr lang="he-IL" dirty="0"/>
              <a:t> לכל אות </a:t>
            </a:r>
            <a:r>
              <a:rPr lang="he-IL" dirty="0" err="1"/>
              <a:t>סרילית</a:t>
            </a:r>
            <a:r>
              <a:rPr lang="he-IL" dirty="0"/>
              <a:t> חזרה לאות האמיתית שלה באנגלית. </a:t>
            </a:r>
          </a:p>
          <a:p>
            <a:pPr algn="r" rtl="1"/>
            <a:r>
              <a:rPr lang="he-IL" dirty="0"/>
              <a:t>זה עיבוד קטן שמוסיפים לפני הסיווג, לא שינוי המודל כולו, פשוט מחזירה את המודל למצב ללא ההתקפה. </a:t>
            </a:r>
          </a:p>
          <a:p>
            <a:pPr algn="r" rtl="1"/>
            <a:r>
              <a:rPr lang="en-US" dirty="0"/>
              <a:t>N-grams</a:t>
            </a:r>
            <a:r>
              <a:rPr lang="he-IL" dirty="0"/>
              <a:t>: הוספה של זה. זה פותר גם בעיה אחרת עבור אותיות שאני לא אזהה בהמשך – אדבר על זה בהמשך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</a:t>
            </a:r>
            <a:r>
              <a:rPr lang="en-US" dirty="0"/>
              <a:t>recall</a:t>
            </a:r>
            <a:r>
              <a:rPr lang="he-IL" dirty="0"/>
              <a:t> חזר להיות 0.99. עדיין טוב מדי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The lesson: a principled </a:t>
            </a:r>
            <a:r>
              <a:rPr lang="en-US" dirty="0" err="1"/>
              <a:t>defence</a:t>
            </a:r>
            <a:r>
              <a:rPr lang="en-US" dirty="0"/>
              <a:t> </a:t>
            </a:r>
            <a:r>
              <a:rPr lang="en-US" dirty="0" err="1"/>
              <a:t>generalises</a:t>
            </a:r>
            <a:r>
              <a:rPr lang="en-US" dirty="0"/>
              <a:t> to new attacks; adversarial training (retraining on attacked examples) only </a:t>
            </a:r>
            <a:r>
              <a:rPr lang="en-US" dirty="0" err="1"/>
              <a:t>memorises</a:t>
            </a:r>
            <a:r>
              <a:rPr lang="en-US" dirty="0"/>
              <a:t> the family it saw. Even an adaptive attacker who fights the </a:t>
            </a:r>
            <a:r>
              <a:rPr lang="en-US" dirty="0" err="1"/>
              <a:t>defence</a:t>
            </a:r>
            <a:r>
              <a:rPr lang="en-US" dirty="0"/>
              <a:t> only pulls it to about 0.96.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dirty="0"/>
              <a:t>ההתקפה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עכשיו התוקף חכם יותר. ההתקפה היא יותר מותאמת למילים שאנחנו נותנים להם משקלים גבוהים יותר. נניח את הגרוע מכל.</a:t>
            </a:r>
          </a:p>
          <a:p>
            <a:pPr algn="r" rtl="1"/>
            <a:r>
              <a:rPr lang="he-IL" dirty="0"/>
              <a:t>עכשיו במקום שינויים אקראיים התוקף קודם מוצא את המילים שהמודל שלי הכי נשען עליהן ומשנה את המילים בדרכים שהרשימה הסופית שלי פספסה – הגיוני שיקרה.</a:t>
            </a:r>
          </a:p>
          <a:p>
            <a:pPr algn="r" rtl="1"/>
            <a:r>
              <a:rPr lang="he-IL" dirty="0"/>
              <a:t>עם מרחק </a:t>
            </a:r>
            <a:r>
              <a:rPr lang="he-IL" dirty="0" err="1"/>
              <a:t>לווינשטיין</a:t>
            </a:r>
            <a:r>
              <a:rPr lang="he-IL" dirty="0"/>
              <a:t> של 8 (מספר השינויים שנעשו בין המקורי לקיים – הכנסות מחיקות החלפות) הוריד את ה</a:t>
            </a:r>
            <a:r>
              <a:rPr lang="en-US" dirty="0"/>
              <a:t>recall</a:t>
            </a:r>
            <a:r>
              <a:rPr lang="he-IL" dirty="0"/>
              <a:t> ל0.74.</a:t>
            </a:r>
          </a:p>
          <a:p>
            <a:pPr algn="r" rtl="1"/>
            <a:r>
              <a:rPr lang="he-IL" dirty="0"/>
              <a:t>מייל טיפוסי משנה 9 לרוב.</a:t>
            </a:r>
          </a:p>
          <a:p>
            <a:pPr algn="r" rtl="1"/>
            <a:r>
              <a:rPr lang="he-IL" dirty="0"/>
              <a:t>המודל המוגן שלי לאחר ההגנה שעשיתי לפני שקופית מגיע רק ל0.88 </a:t>
            </a:r>
            <a:r>
              <a:rPr lang="en-US" dirty="0"/>
              <a:t>recall</a:t>
            </a:r>
            <a:r>
              <a:rPr lang="he-IL" dirty="0"/>
              <a:t>.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התיקון:</a:t>
            </a:r>
          </a:p>
          <a:p>
            <a:pPr algn="r" rtl="1"/>
            <a:r>
              <a:rPr lang="en-IL" b="1" dirty="0" err="1"/>
              <a:t>החלפת</a:t>
            </a:r>
            <a:r>
              <a:rPr lang="en-IL" b="1" dirty="0"/>
              <a:t> </a:t>
            </a:r>
            <a:r>
              <a:rPr lang="en-IL" b="1" dirty="0" err="1"/>
              <a:t>הרשימה</a:t>
            </a:r>
            <a:r>
              <a:rPr lang="en-IL" b="1" dirty="0"/>
              <a:t> </a:t>
            </a:r>
            <a:r>
              <a:rPr lang="en-IL" b="1" dirty="0" err="1"/>
              <a:t>הידנית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מחליפים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הרשימה</a:t>
            </a:r>
            <a:r>
              <a:rPr lang="en-IL" dirty="0"/>
              <a:t> </a:t>
            </a:r>
            <a:r>
              <a:rPr lang="en-IL" dirty="0" err="1"/>
              <a:t>הידנית</a:t>
            </a:r>
            <a:r>
              <a:rPr lang="en-IL" dirty="0"/>
              <a:t> </a:t>
            </a:r>
            <a:r>
              <a:rPr lang="en-IL" dirty="0" err="1"/>
              <a:t>החלקית</a:t>
            </a:r>
            <a:r>
              <a:rPr lang="en-IL" dirty="0"/>
              <a:t> </a:t>
            </a:r>
            <a:r>
              <a:rPr lang="en-IL" dirty="0" err="1"/>
              <a:t>ברשימת</a:t>
            </a:r>
            <a:r>
              <a:rPr lang="en-IL" dirty="0"/>
              <a:t> </a:t>
            </a:r>
            <a:r>
              <a:rPr lang="en-IL" dirty="0" err="1"/>
              <a:t>האותיות</a:t>
            </a:r>
            <a:r>
              <a:rPr lang="en-IL" dirty="0"/>
              <a:t> </a:t>
            </a:r>
            <a:r>
              <a:rPr lang="en-IL" dirty="0" err="1"/>
              <a:t>המבלבלות</a:t>
            </a:r>
            <a:r>
              <a:rPr lang="en-IL" dirty="0"/>
              <a:t> </a:t>
            </a:r>
            <a:r>
              <a:rPr lang="en-IL" dirty="0" err="1"/>
              <a:t>הרשמית</a:t>
            </a:r>
            <a:r>
              <a:rPr lang="en-IL" dirty="0"/>
              <a:t> </a:t>
            </a:r>
            <a:r>
              <a:rPr lang="en-IL" dirty="0" err="1"/>
              <a:t>והמלאה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יוניקוד</a:t>
            </a:r>
            <a:r>
              <a:rPr lang="en-IL" dirty="0"/>
              <a:t> – </a:t>
            </a:r>
            <a:r>
              <a:rPr lang="en-IL" b="1" dirty="0"/>
              <a:t>Unicode UTS #39</a:t>
            </a:r>
            <a:r>
              <a:rPr lang="en-IL" dirty="0"/>
              <a:t> (</a:t>
            </a:r>
            <a:r>
              <a:rPr lang="en-IL" dirty="0" err="1"/>
              <a:t>אותה</a:t>
            </a:r>
            <a:r>
              <a:rPr lang="en-IL" dirty="0"/>
              <a:t> </a:t>
            </a:r>
            <a:r>
              <a:rPr lang="en-IL" dirty="0" err="1"/>
              <a:t>רשימה</a:t>
            </a:r>
            <a:r>
              <a:rPr lang="en-IL" dirty="0"/>
              <a:t> </a:t>
            </a:r>
            <a:r>
              <a:rPr lang="en-IL" dirty="0" err="1"/>
              <a:t>שדפדפנים</a:t>
            </a:r>
            <a:r>
              <a:rPr lang="en-IL" dirty="0"/>
              <a:t> </a:t>
            </a:r>
            <a:r>
              <a:rPr lang="en-IL" dirty="0" err="1"/>
              <a:t>משתמשים</a:t>
            </a:r>
            <a:r>
              <a:rPr lang="en-IL" dirty="0"/>
              <a:t> </a:t>
            </a:r>
            <a:r>
              <a:rPr lang="en-IL" dirty="0" err="1"/>
              <a:t>בה</a:t>
            </a:r>
            <a:r>
              <a:rPr lang="en-IL" dirty="0"/>
              <a:t> </a:t>
            </a:r>
            <a:r>
              <a:rPr lang="en-IL" dirty="0" err="1"/>
              <a:t>כדי</a:t>
            </a:r>
            <a:r>
              <a:rPr lang="en-IL" dirty="0"/>
              <a:t> </a:t>
            </a:r>
            <a:r>
              <a:rPr lang="en-IL" dirty="0" err="1"/>
              <a:t>לחסום</a:t>
            </a:r>
            <a:r>
              <a:rPr lang="en-IL" dirty="0"/>
              <a:t> </a:t>
            </a:r>
            <a:r>
              <a:rPr lang="en-IL" dirty="0" err="1"/>
              <a:t>כתובות</a:t>
            </a:r>
            <a:r>
              <a:rPr lang="en-IL" dirty="0"/>
              <a:t> </a:t>
            </a:r>
            <a:r>
              <a:rPr lang="en-IL" dirty="0" err="1"/>
              <a:t>אתרים</a:t>
            </a:r>
            <a:r>
              <a:rPr lang="en-IL" dirty="0"/>
              <a:t> </a:t>
            </a:r>
            <a:r>
              <a:rPr lang="en-IL" dirty="0" err="1"/>
              <a:t>מזויפות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תוצאה: ה</a:t>
            </a:r>
            <a:r>
              <a:rPr lang="en-US" dirty="0"/>
              <a:t>recall </a:t>
            </a:r>
            <a:r>
              <a:rPr lang="he-IL" dirty="0"/>
              <a:t> חוזר להיות גבוה חזרה0.98</a:t>
            </a:r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he-IL" b="1" dirty="0"/>
              <a:t>התקפה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מאיזה מאמר:</a:t>
            </a:r>
          </a:p>
          <a:p>
            <a:pPr algn="r" rtl="1"/>
            <a:r>
              <a:rPr lang="en-US" dirty="0"/>
              <a:t>(Lowd &amp; Meek 2005):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עכשיו ההתקפה היא לא ברמת התווים, אלא ברמת המילה.</a:t>
            </a:r>
            <a:br>
              <a:rPr lang="en-US" dirty="0"/>
            </a:br>
            <a:r>
              <a:rPr lang="he-IL" dirty="0"/>
              <a:t>תקפת </a:t>
            </a:r>
            <a:r>
              <a:rPr lang="en-US" dirty="0"/>
              <a:t>PADDING</a:t>
            </a:r>
            <a:r>
              <a:rPr lang="he-IL" dirty="0"/>
              <a:t> המייל במילים חיוביות – נשמעות נורמליות ותמימות (עם משקל שלילי) שגורמת למשקל שלנו </a:t>
            </a:r>
            <a:r>
              <a:rPr lang="he-IL" dirty="0" err="1"/>
              <a:t>להיותמוטה</a:t>
            </a:r>
            <a:r>
              <a:rPr lang="he-IL" dirty="0"/>
              <a:t> לא נכון.</a:t>
            </a:r>
          </a:p>
          <a:p>
            <a:pPr algn="r" rtl="1"/>
            <a:r>
              <a:rPr lang="he-IL" dirty="0"/>
              <a:t>וככה ה</a:t>
            </a:r>
            <a:r>
              <a:rPr lang="en-US" dirty="0"/>
              <a:t>recall</a:t>
            </a:r>
            <a:r>
              <a:rPr lang="he-IL" dirty="0"/>
              <a:t> קורס ככל שאני מוסיפה יותר מילים כאלו – ניתן לראות בגרף. עבור 20 מילים אני כבר ב0.37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התיקון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נבנה פתרון שהוא חד כיווני שיכול לנטרל את הבעיה הזאת לגמרי.</a:t>
            </a:r>
          </a:p>
          <a:p>
            <a:pPr algn="r" rtl="1"/>
            <a:r>
              <a:rPr lang="he-IL" dirty="0"/>
              <a:t>עבור כל מילה, היא יכולה רק להוסיף חשד ולא להוריד.</a:t>
            </a:r>
          </a:p>
          <a:p>
            <a:pPr algn="r" rtl="1"/>
            <a:r>
              <a:rPr lang="he-IL" dirty="0"/>
              <a:t>כך אנו לא נתייחס למילים התמימות כמו שנתייחס למילים הבעייתיות.</a:t>
            </a:r>
          </a:p>
          <a:p>
            <a:pPr algn="r" rtl="1"/>
            <a:r>
              <a:rPr lang="he-IL" dirty="0"/>
              <a:t>המודל המונוטוני שומר על </a:t>
            </a:r>
            <a:r>
              <a:rPr lang="en-US" dirty="0"/>
              <a:t>recall</a:t>
            </a:r>
            <a:r>
              <a:rPr lang="he-IL" dirty="0"/>
              <a:t> של 0.87</a:t>
            </a:r>
            <a:r>
              <a:rPr lang="en-US" dirty="0"/>
              <a:t> </a:t>
            </a:r>
          </a:p>
          <a:p>
            <a:pPr algn="r" rtl="1"/>
            <a:endParaRPr lang="en-US" dirty="0"/>
          </a:p>
          <a:p>
            <a:pPr algn="r" rtl="1"/>
            <a:r>
              <a:rPr lang="he-IL" dirty="0"/>
              <a:t>ה</a:t>
            </a:r>
            <a:r>
              <a:rPr lang="en-US" b="1" dirty="0"/>
              <a:t>trade off</a:t>
            </a:r>
            <a:r>
              <a:rPr lang="he-IL" b="1" dirty="0"/>
              <a:t> </a:t>
            </a:r>
            <a:r>
              <a:rPr lang="he-IL" dirty="0"/>
              <a:t>כאן הוא שה</a:t>
            </a:r>
            <a:r>
              <a:rPr lang="en-US" dirty="0"/>
              <a:t>F1</a:t>
            </a:r>
            <a:r>
              <a:rPr lang="he-IL" dirty="0"/>
              <a:t> יורד ל0.91 במקום 0.98 על מילים תמימות בגלל שהמודל יכול רק לחפש אשמה ולא לתמימות.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הערה חשובה:</a:t>
            </a:r>
          </a:p>
          <a:p>
            <a:pPr algn="r" rtl="1"/>
            <a:r>
              <a:rPr lang="en-IL" dirty="0" err="1"/>
              <a:t>פועל</a:t>
            </a:r>
            <a:r>
              <a:rPr lang="en-IL" dirty="0"/>
              <a:t> </a:t>
            </a:r>
            <a:r>
              <a:rPr lang="en-IL" dirty="0" err="1"/>
              <a:t>כרשת</a:t>
            </a:r>
            <a:r>
              <a:rPr lang="en-IL" dirty="0"/>
              <a:t> </a:t>
            </a:r>
            <a:r>
              <a:rPr lang="en-IL" dirty="0" err="1"/>
              <a:t>ביטחון</a:t>
            </a:r>
            <a:r>
              <a:rPr lang="en-IL" dirty="0"/>
              <a:t> </a:t>
            </a:r>
            <a:r>
              <a:rPr lang="en-IL" dirty="0" err="1"/>
              <a:t>במקביל</a:t>
            </a:r>
            <a:r>
              <a:rPr lang="en-IL" dirty="0"/>
              <a:t> </a:t>
            </a:r>
            <a:r>
              <a:rPr lang="en-IL" dirty="0" err="1"/>
              <a:t>למודל</a:t>
            </a:r>
            <a:r>
              <a:rPr lang="en-IL" dirty="0"/>
              <a:t> </a:t>
            </a:r>
            <a:r>
              <a:rPr lang="en-IL" dirty="0" err="1"/>
              <a:t>המרכזי</a:t>
            </a:r>
            <a:r>
              <a:rPr lang="en-IL" dirty="0"/>
              <a:t>, </a:t>
            </a:r>
            <a:r>
              <a:rPr lang="en-IL" dirty="0" err="1"/>
              <a:t>ולא</a:t>
            </a:r>
            <a:r>
              <a:rPr lang="en-IL" dirty="0"/>
              <a:t> </a:t>
            </a:r>
            <a:r>
              <a:rPr lang="en-IL" dirty="0" err="1"/>
              <a:t>כמחליף</a:t>
            </a:r>
            <a:r>
              <a:rPr lang="en-IL" dirty="0"/>
              <a:t> </a:t>
            </a:r>
            <a:r>
              <a:rPr lang="en-IL" dirty="0" err="1"/>
              <a:t>מלא</a:t>
            </a:r>
            <a:r>
              <a:rPr lang="en-IL" dirty="0"/>
              <a:t> </a:t>
            </a:r>
            <a:r>
              <a:rPr lang="en-IL" dirty="0" err="1"/>
              <a:t>שלו</a:t>
            </a:r>
            <a:r>
              <a:rPr lang="en-IL" dirty="0"/>
              <a:t>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התוצאה הסופית מצליחה לייצג את המודל מספיק טוב ולהראות שהוא לא חסין כמו שהיה בהתחלה</a:t>
                </a:r>
              </a:p>
              <a:p>
                <a:r>
                  <a:rPr lang="he-IL" dirty="0"/>
                  <a:t>חשוב לציין ולזכור שזה שכבה מתוך חצי פרויקט. </a:t>
                </a:r>
              </a:p>
              <a:p>
                <a:endParaRPr lang="he-IL" dirty="0"/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אותיות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מבלבלות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(Homoglyph):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99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71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99</m:t>
                    </m:r>
                  </m:oMath>
                </a14:m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התקפה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ממוקדת</a:t>
                </a:r>
                <a:r>
                  <a:rPr lang="he-IL" sz="1200" b="1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שמניחה את המילים האינפורמטיביות של המודל שלי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(Targeted):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88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998</m:t>
                    </m:r>
                  </m:oMath>
                </a14:m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מאושר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ומוכח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דילול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מילים תמימות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(Dilution):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998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13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IL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87</m:t>
                    </m:r>
                  </m:oMath>
                </a14:m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מאושר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ומוכח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התוצאה הסופית מצליחה לייצג את המודל מספיק טוב ולהראות שהוא לא חסין כמו שהיה בהתחלה</a:t>
                </a:r>
              </a:p>
              <a:p>
                <a:r>
                  <a:rPr lang="he-IL" dirty="0"/>
                  <a:t>חשוב לציין ולזכור שזה שכבה מתוך חצי פרויקט. </a:t>
                </a:r>
              </a:p>
              <a:p>
                <a:endParaRPr lang="he-IL" dirty="0"/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אותיות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מבלבלות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(Homoglyph):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0.99→0.71→0.99</a:t>
                </a:r>
                <a:endParaRPr lang="en-IL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התקפה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ממוקדת</a:t>
                </a:r>
                <a:r>
                  <a:rPr lang="he-IL" sz="1200" b="1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שמניחה את המילים האינפורמטיביות של המודל שלי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(Targeted):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→0.88→0.998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מאושר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ומוכח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דילול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מילים</a:t>
                </a:r>
                <a:r>
                  <a:rPr lang="he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– מילים תמימות</a:t>
                </a:r>
                <a:r>
                  <a:rPr lang="en-IL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(Dilution):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0.998→0.13→0.87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מאושר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L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ומוכח</a:t>
                </a:r>
                <a:r>
                  <a:rPr lang="en-IL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he-IL" dirty="0"/>
          </a:p>
          <a:p>
            <a:pPr algn="r" rtl="1"/>
            <a:r>
              <a:rPr lang="he-IL" dirty="0"/>
              <a:t>עד עכשיו האימון והבדיקה היו על אותו סט נתונים – כמובן שלא היה </a:t>
            </a:r>
            <a:r>
              <a:rPr lang="en-US" dirty="0"/>
              <a:t>leakage</a:t>
            </a:r>
            <a:r>
              <a:rPr lang="he-IL" dirty="0"/>
              <a:t> כי חילקתי ללמידה </a:t>
            </a:r>
            <a:r>
              <a:rPr lang="he-IL" dirty="0" err="1"/>
              <a:t>וכו</a:t>
            </a:r>
            <a:r>
              <a:rPr lang="he-IL" dirty="0"/>
              <a:t>, ווידאתי בהתחלה שאין כפילויות, דברים שתלויים ודומים </a:t>
            </a:r>
            <a:r>
              <a:rPr lang="he-IL" dirty="0" err="1"/>
              <a:t>וכוץ</a:t>
            </a:r>
            <a:endParaRPr lang="he-IL" dirty="0"/>
          </a:p>
          <a:p>
            <a:pPr algn="r" rtl="1"/>
            <a:r>
              <a:rPr lang="en-IL" b="1" dirty="0" err="1"/>
              <a:t>חשוב</a:t>
            </a:r>
            <a:r>
              <a:rPr lang="en-IL" b="1" dirty="0"/>
              <a:t> </a:t>
            </a:r>
            <a:r>
              <a:rPr lang="en-IL" b="1" dirty="0" err="1"/>
              <a:t>להבהיר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מדובר</a:t>
            </a:r>
            <a:r>
              <a:rPr lang="en-IL" dirty="0"/>
              <a:t> </a:t>
            </a:r>
            <a:r>
              <a:rPr lang="en-IL" dirty="0" err="1"/>
              <a:t>במיילים</a:t>
            </a:r>
            <a:r>
              <a:rPr lang="en-IL" dirty="0"/>
              <a:t> </a:t>
            </a:r>
            <a:r>
              <a:rPr lang="en-IL" dirty="0" err="1"/>
              <a:t>נקיים</a:t>
            </a:r>
            <a:r>
              <a:rPr lang="en-IL" dirty="0"/>
              <a:t> </a:t>
            </a:r>
            <a:r>
              <a:rPr lang="en-IL" dirty="0" err="1"/>
              <a:t>רגילים</a:t>
            </a:r>
            <a:r>
              <a:rPr lang="en-IL" dirty="0"/>
              <a:t> </a:t>
            </a:r>
            <a:r>
              <a:rPr lang="en-IL" dirty="0" err="1"/>
              <a:t>וממקורות</a:t>
            </a:r>
            <a:r>
              <a:rPr lang="en-IL" dirty="0"/>
              <a:t> </a:t>
            </a:r>
            <a:r>
              <a:rPr lang="en-IL" dirty="0" err="1"/>
              <a:t>שונים</a:t>
            </a:r>
            <a:r>
              <a:rPr lang="en-IL" dirty="0"/>
              <a:t>, </a:t>
            </a:r>
            <a:r>
              <a:rPr lang="en-IL" b="1" dirty="0" err="1"/>
              <a:t>לא</a:t>
            </a:r>
            <a:r>
              <a:rPr lang="en-IL" b="1" dirty="0"/>
              <a:t> </a:t>
            </a:r>
            <a:r>
              <a:rPr lang="he-IL" b="1" dirty="0"/>
              <a:t>בסוג התקפה חדש</a:t>
            </a:r>
            <a:r>
              <a:rPr lang="en-IL" dirty="0"/>
              <a:t>. </a:t>
            </a:r>
            <a:r>
              <a:rPr lang="en-IL" dirty="0" err="1"/>
              <a:t>הפער</a:t>
            </a:r>
            <a:r>
              <a:rPr lang="en-IL" dirty="0"/>
              <a:t> </a:t>
            </a:r>
            <a:r>
              <a:rPr lang="en-IL" dirty="0" err="1"/>
              <a:t>נובע</a:t>
            </a:r>
            <a:r>
              <a:rPr lang="en-IL" dirty="0"/>
              <a:t> </a:t>
            </a:r>
            <a:r>
              <a:rPr lang="he-IL" dirty="0"/>
              <a:t>מ</a:t>
            </a:r>
            <a:r>
              <a:rPr lang="en-IL" dirty="0"/>
              <a:t>(Distribution Shift) </a:t>
            </a:r>
            <a:r>
              <a:rPr lang="en-IL" dirty="0" err="1"/>
              <a:t>הנתונים</a:t>
            </a:r>
            <a:r>
              <a:rPr lang="en-IL" dirty="0"/>
              <a:t> </a:t>
            </a:r>
            <a:r>
              <a:rPr lang="en-IL" dirty="0" err="1"/>
              <a:t>החדשים</a:t>
            </a:r>
            <a:r>
              <a:rPr lang="en-IL" dirty="0"/>
              <a:t> </a:t>
            </a:r>
            <a:r>
              <a:rPr lang="en-IL" dirty="0" err="1"/>
              <a:t>פשוט</a:t>
            </a:r>
            <a:r>
              <a:rPr lang="en-IL" dirty="0"/>
              <a:t> </a:t>
            </a:r>
            <a:r>
              <a:rPr lang="en-IL" dirty="0" err="1"/>
              <a:t>נראים</a:t>
            </a:r>
            <a:r>
              <a:rPr lang="en-IL" dirty="0"/>
              <a:t> </a:t>
            </a:r>
            <a:r>
              <a:rPr lang="en-IL" dirty="0" err="1"/>
              <a:t>אחרת</a:t>
            </a:r>
            <a:r>
              <a:rPr lang="en-IL" dirty="0"/>
              <a:t> </a:t>
            </a:r>
            <a:r>
              <a:rPr lang="en-IL" dirty="0" err="1"/>
              <a:t>מנתוני</a:t>
            </a:r>
            <a:r>
              <a:rPr lang="en-IL" dirty="0"/>
              <a:t> </a:t>
            </a:r>
            <a:r>
              <a:rPr lang="en-IL" dirty="0" err="1"/>
              <a:t>האימון</a:t>
            </a:r>
            <a:r>
              <a:rPr lang="en-IL" dirty="0"/>
              <a:t>.</a:t>
            </a:r>
            <a:endParaRPr lang="he-IL" dirty="0"/>
          </a:p>
          <a:p>
            <a:pPr algn="r" rtl="1"/>
            <a:r>
              <a:rPr lang="he-IL" dirty="0"/>
              <a:t>אז כשאנחנו בודקים את המודל שלנו על הדאטה סט הזה ומכווננים את ה</a:t>
            </a:r>
            <a:r>
              <a:rPr lang="en-US" dirty="0"/>
              <a:t>threshold</a:t>
            </a:r>
            <a:r>
              <a:rPr lang="he-IL" dirty="0"/>
              <a:t> אנחנו מקבלים </a:t>
            </a:r>
            <a:r>
              <a:rPr lang="en-US" dirty="0"/>
              <a:t>AUC</a:t>
            </a:r>
            <a:r>
              <a:rPr lang="he-IL" dirty="0"/>
              <a:t> 0.78 ו</a:t>
            </a:r>
            <a:r>
              <a:rPr lang="en-US" dirty="0"/>
              <a:t>F1</a:t>
            </a:r>
            <a:r>
              <a:rPr lang="he-IL" dirty="0"/>
              <a:t> 0.75.</a:t>
            </a:r>
          </a:p>
          <a:p>
            <a:pPr algn="r" rtl="1"/>
            <a:r>
              <a:rPr lang="en-IL" dirty="0" err="1"/>
              <a:t>הפער</a:t>
            </a:r>
            <a:r>
              <a:rPr lang="en-IL" dirty="0"/>
              <a:t> </a:t>
            </a:r>
            <a:r>
              <a:rPr lang="en-IL" dirty="0" err="1"/>
              <a:t>האמיתי</a:t>
            </a:r>
            <a:r>
              <a:rPr lang="en-IL" dirty="0"/>
              <a:t> </a:t>
            </a:r>
            <a:r>
              <a:rPr lang="en-IL" dirty="0" err="1"/>
              <a:t>שנשאר</a:t>
            </a:r>
            <a:r>
              <a:rPr lang="en-IL" dirty="0"/>
              <a:t> </a:t>
            </a:r>
            <a:r>
              <a:rPr lang="en-IL" dirty="0" err="1"/>
              <a:t>הוא</a:t>
            </a:r>
            <a:r>
              <a:rPr lang="en-IL" dirty="0"/>
              <a:t> </a:t>
            </a:r>
            <a:r>
              <a:rPr lang="en-IL" dirty="0" err="1"/>
              <a:t>פער</a:t>
            </a:r>
            <a:r>
              <a:rPr lang="en-IL" dirty="0"/>
              <a:t> </a:t>
            </a:r>
            <a:r>
              <a:rPr lang="en-IL" dirty="0" err="1"/>
              <a:t>באוצר</a:t>
            </a:r>
            <a:r>
              <a:rPr lang="en-IL" dirty="0"/>
              <a:t> </a:t>
            </a:r>
            <a:r>
              <a:rPr lang="en-IL" dirty="0" err="1"/>
              <a:t>המילים</a:t>
            </a:r>
            <a:r>
              <a:rPr lang="en-IL" dirty="0"/>
              <a:t>: </a:t>
            </a:r>
            <a:r>
              <a:rPr lang="en-IL" dirty="0" err="1"/>
              <a:t>אחוז</a:t>
            </a:r>
            <a:r>
              <a:rPr lang="en-IL" dirty="0"/>
              <a:t> </a:t>
            </a:r>
            <a:r>
              <a:rPr lang="en-IL" dirty="0" err="1"/>
              <a:t>המילים</a:t>
            </a:r>
            <a:r>
              <a:rPr lang="en-IL" dirty="0"/>
              <a:t> </a:t>
            </a:r>
            <a:r>
              <a:rPr lang="en-IL" dirty="0" err="1"/>
              <a:t>הבלתי</a:t>
            </a:r>
            <a:r>
              <a:rPr lang="en-IL" dirty="0"/>
              <a:t> </a:t>
            </a:r>
            <a:r>
              <a:rPr lang="en-IL" dirty="0" err="1"/>
              <a:t>מוכרות</a:t>
            </a:r>
            <a:r>
              <a:rPr lang="en-IL" dirty="0"/>
              <a:t> (Out-of-vocabulary) </a:t>
            </a:r>
            <a:r>
              <a:rPr lang="en-IL" dirty="0" err="1"/>
              <a:t>קופץ</a:t>
            </a:r>
            <a:r>
              <a:rPr lang="en-IL" dirty="0"/>
              <a:t> מ-7% ל-20%.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כדי לצמצם את הפער ניתן ללמד את המודל שלנו את הדאטה הזה וכך יחזור לתוצאות טובות.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זמן – </a:t>
            </a:r>
            <a:r>
              <a:rPr lang="en-US" b="1" dirty="0"/>
              <a:t>time</a:t>
            </a:r>
            <a:r>
              <a:rPr lang="he-IL" b="1" dirty="0"/>
              <a:t>:</a:t>
            </a:r>
          </a:p>
          <a:p>
            <a:pPr algn="r" rtl="1"/>
            <a:r>
              <a:rPr lang="he-IL" dirty="0"/>
              <a:t>השנה שונה.</a:t>
            </a:r>
            <a:endParaRPr lang="en-US" dirty="0"/>
          </a:p>
          <a:p>
            <a:pPr algn="r" rtl="1"/>
            <a:r>
              <a:rPr lang="he-IL" dirty="0"/>
              <a:t>רק שלושים אחוז מהמתקפות עדיין רלוונטיות</a:t>
            </a:r>
            <a:r>
              <a:rPr lang="en-US" dirty="0"/>
              <a:t>
</a:t>
            </a:r>
            <a:r>
              <a:rPr lang="he-IL" dirty="0"/>
              <a:t>ה</a:t>
            </a:r>
            <a:r>
              <a:rPr lang="en-US" dirty="0"/>
              <a:t>SCAMS</a:t>
            </a:r>
            <a:r>
              <a:rPr lang="he-IL" dirty="0"/>
              <a:t> שיש משתנים עם השנים וככה אנחנו נצליח לתפוס פחות.</a:t>
            </a:r>
          </a:p>
          <a:p>
            <a:pPr algn="r" rtl="1"/>
            <a:r>
              <a:rPr lang="he-IL" b="1" dirty="0"/>
              <a:t>בשקופית הבאה נוכל להוסיף שכבה שמצמצמת את הבעיה הזאת.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endParaRPr lang="he-IL" dirty="0"/>
          </a:p>
          <a:p>
            <a:pPr algn="r" rtl="1"/>
            <a:r>
              <a:rPr lang="he-IL" dirty="0"/>
              <a:t>איך נפתור את הבעיה מקודם:</a:t>
            </a:r>
          </a:p>
          <a:p>
            <a:pPr algn="r" rtl="1"/>
            <a:r>
              <a:rPr lang="he-IL" dirty="0"/>
              <a:t>אימון מחדש על </a:t>
            </a:r>
            <a:r>
              <a:rPr lang="he-IL" dirty="0" err="1"/>
              <a:t>פישינג</a:t>
            </a:r>
            <a:r>
              <a:rPr lang="he-IL" dirty="0"/>
              <a:t> עדכני. </a:t>
            </a:r>
          </a:p>
          <a:p>
            <a:pPr algn="r" rtl="1"/>
            <a:r>
              <a:rPr lang="he-IL" dirty="0"/>
              <a:t>לאחר אימון מקבלים </a:t>
            </a:r>
            <a:r>
              <a:rPr lang="en-US" dirty="0"/>
              <a:t>recall</a:t>
            </a:r>
            <a:r>
              <a:rPr lang="he-IL" dirty="0"/>
              <a:t> טוב בפער. הגיוני שקצת יותר </a:t>
            </a:r>
            <a:r>
              <a:rPr lang="he-IL" dirty="0" err="1"/>
              <a:t>נמוךכי</a:t>
            </a:r>
            <a:r>
              <a:rPr lang="he-IL" dirty="0"/>
              <a:t> יש הכללה יותר גדולה שצריכה להיעשות.</a:t>
            </a:r>
          </a:p>
          <a:p>
            <a:pPr algn="r" rtl="1"/>
            <a:r>
              <a:rPr lang="he-IL" dirty="0"/>
              <a:t>לא שוכחים את התרמיות הישנות.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2.</a:t>
            </a:r>
          </a:p>
          <a:p>
            <a:pPr algn="r" rtl="1"/>
            <a:r>
              <a:rPr lang="he-IL" dirty="0"/>
              <a:t>דיווח אחד מבן אדם:</a:t>
            </a:r>
          </a:p>
          <a:p>
            <a:pPr algn="r" rtl="1"/>
            <a:r>
              <a:rPr lang="en-IL" b="1" dirty="0" err="1"/>
              <a:t>גורם</a:t>
            </a:r>
            <a:r>
              <a:rPr lang="en-IL" b="1" dirty="0"/>
              <a:t> </a:t>
            </a:r>
            <a:r>
              <a:rPr lang="en-IL" b="1" dirty="0" err="1"/>
              <a:t>אנושי</a:t>
            </a:r>
            <a:r>
              <a:rPr lang="en-IL" b="1" dirty="0"/>
              <a:t> </a:t>
            </a:r>
            <a:r>
              <a:rPr lang="en-IL" b="1" dirty="0" err="1"/>
              <a:t>בלולאה</a:t>
            </a:r>
            <a:r>
              <a:rPr lang="en-IL" b="1" dirty="0"/>
              <a:t> (Human-in-the-loop):</a:t>
            </a:r>
            <a:r>
              <a:rPr lang="en-IL" dirty="0"/>
              <a:t> </a:t>
            </a:r>
            <a:r>
              <a:rPr lang="en-IL" dirty="0" err="1"/>
              <a:t>קמפיין</a:t>
            </a:r>
            <a:r>
              <a:rPr lang="en-IL" dirty="0"/>
              <a:t> </a:t>
            </a:r>
            <a:r>
              <a:rPr lang="en-IL" dirty="0" err="1"/>
              <a:t>פישינג</a:t>
            </a:r>
            <a:r>
              <a:rPr lang="en-IL" dirty="0"/>
              <a:t> </a:t>
            </a:r>
            <a:r>
              <a:rPr lang="en-IL" dirty="0" err="1"/>
              <a:t>מורכב</a:t>
            </a:r>
            <a:r>
              <a:rPr lang="en-IL" dirty="0"/>
              <a:t> </a:t>
            </a:r>
            <a:r>
              <a:rPr lang="en-IL" dirty="0" err="1"/>
              <a:t>בדרך</a:t>
            </a:r>
            <a:r>
              <a:rPr lang="en-IL" dirty="0"/>
              <a:t> </a:t>
            </a:r>
            <a:r>
              <a:rPr lang="en-IL" dirty="0" err="1"/>
              <a:t>כלל</a:t>
            </a:r>
            <a:r>
              <a:rPr lang="en-IL" dirty="0"/>
              <a:t> </a:t>
            </a:r>
            <a:r>
              <a:rPr lang="en-IL" dirty="0" err="1"/>
              <a:t>מאותו</a:t>
            </a:r>
            <a:r>
              <a:rPr lang="en-IL" dirty="0"/>
              <a:t> </a:t>
            </a:r>
            <a:r>
              <a:rPr lang="en-IL" dirty="0" err="1"/>
              <a:t>המייל</a:t>
            </a:r>
            <a:r>
              <a:rPr lang="en-IL" dirty="0"/>
              <a:t> </a:t>
            </a:r>
            <a:r>
              <a:rPr lang="en-IL" dirty="0" err="1"/>
              <a:t>שנשלח</a:t>
            </a:r>
            <a:r>
              <a:rPr lang="en-IL" dirty="0"/>
              <a:t> </a:t>
            </a:r>
            <a:r>
              <a:rPr lang="en-IL" dirty="0" err="1"/>
              <a:t>בהפצה</a:t>
            </a:r>
            <a:r>
              <a:rPr lang="en-IL" dirty="0"/>
              <a:t> </a:t>
            </a:r>
            <a:r>
              <a:rPr lang="en-IL" dirty="0" err="1"/>
              <a:t>המונית</a:t>
            </a:r>
            <a:r>
              <a:rPr lang="en-IL" dirty="0"/>
              <a:t> </a:t>
            </a:r>
            <a:r>
              <a:rPr lang="en-IL" dirty="0" err="1"/>
              <a:t>להרבה</a:t>
            </a:r>
            <a:r>
              <a:rPr lang="en-IL" dirty="0"/>
              <a:t> </a:t>
            </a:r>
            <a:r>
              <a:rPr lang="en-IL" dirty="0" err="1"/>
              <a:t>תיבות</a:t>
            </a:r>
            <a:r>
              <a:rPr lang="en-IL" dirty="0"/>
              <a:t> </a:t>
            </a:r>
            <a:r>
              <a:rPr lang="en-IL" dirty="0" err="1"/>
              <a:t>דואר</a:t>
            </a:r>
            <a:r>
              <a:rPr lang="en-IL" dirty="0"/>
              <a:t>.</a:t>
            </a:r>
            <a:endParaRPr lang="he-IL" dirty="0"/>
          </a:p>
          <a:p>
            <a:pPr algn="r" rtl="1"/>
            <a:r>
              <a:rPr lang="en-IL" b="1" dirty="0" err="1"/>
              <a:t>אפקט</a:t>
            </a:r>
            <a:r>
              <a:rPr lang="en-IL" b="1" dirty="0"/>
              <a:t> </a:t>
            </a:r>
            <a:r>
              <a:rPr lang="en-IL" b="1" dirty="0" err="1"/>
              <a:t>הדיווח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ברגע</a:t>
            </a:r>
            <a:r>
              <a:rPr lang="en-IL" dirty="0"/>
              <a:t> </a:t>
            </a:r>
            <a:r>
              <a:rPr lang="en-IL" dirty="0" err="1"/>
              <a:t>שאדם</a:t>
            </a:r>
            <a:r>
              <a:rPr lang="en-IL" dirty="0"/>
              <a:t> </a:t>
            </a:r>
            <a:r>
              <a:rPr lang="en-IL" b="1" dirty="0" err="1"/>
              <a:t>אחד</a:t>
            </a:r>
            <a:r>
              <a:rPr lang="en-IL" b="1" dirty="0"/>
              <a:t> </a:t>
            </a:r>
            <a:r>
              <a:rPr lang="en-IL" b="1" dirty="0" err="1"/>
              <a:t>בלבד</a:t>
            </a:r>
            <a:r>
              <a:rPr lang="en-IL" dirty="0"/>
              <a:t> </a:t>
            </a:r>
            <a:r>
              <a:rPr lang="en-IL" dirty="0" err="1"/>
              <a:t>מדווח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מייל</a:t>
            </a:r>
            <a:r>
              <a:rPr lang="en-IL" dirty="0"/>
              <a:t> </a:t>
            </a:r>
            <a:r>
              <a:rPr lang="en-IL" dirty="0" err="1"/>
              <a:t>כפישינג</a:t>
            </a:r>
            <a:r>
              <a:rPr lang="en-IL" dirty="0"/>
              <a:t>, </a:t>
            </a:r>
            <a:r>
              <a:rPr lang="en-IL" dirty="0" err="1"/>
              <a:t>המערכת</a:t>
            </a:r>
            <a:r>
              <a:rPr lang="en-IL" dirty="0"/>
              <a:t> </a:t>
            </a:r>
            <a:r>
              <a:rPr lang="en-IL" dirty="0" err="1"/>
              <a:t>משווה</a:t>
            </a:r>
            <a:r>
              <a:rPr lang="en-IL" dirty="0"/>
              <a:t> </a:t>
            </a:r>
            <a:r>
              <a:rPr lang="en-IL" dirty="0" err="1"/>
              <a:t>אותו</a:t>
            </a:r>
            <a:r>
              <a:rPr lang="en-IL" dirty="0"/>
              <a:t> </a:t>
            </a:r>
            <a:r>
              <a:rPr lang="en-IL" dirty="0" err="1"/>
              <a:t>לכל</a:t>
            </a:r>
            <a:r>
              <a:rPr lang="en-IL" dirty="0"/>
              <a:t> </a:t>
            </a:r>
            <a:r>
              <a:rPr lang="en-IL" dirty="0" err="1"/>
              <a:t>שאר</a:t>
            </a:r>
            <a:r>
              <a:rPr lang="en-IL" dirty="0"/>
              <a:t> </a:t>
            </a:r>
            <a:r>
              <a:rPr lang="en-IL" dirty="0" err="1"/>
              <a:t>התיבות</a:t>
            </a:r>
            <a:r>
              <a:rPr lang="he-IL" dirty="0"/>
              <a:t>, רואה האם יש </a:t>
            </a:r>
            <a:r>
              <a:rPr lang="he-IL" dirty="0" err="1"/>
              <a:t>חזרתיות</a:t>
            </a:r>
            <a:r>
              <a:rPr lang="he-IL" dirty="0"/>
              <a:t> שמצביעה על </a:t>
            </a:r>
            <a:r>
              <a:rPr lang="he-IL" dirty="0" err="1"/>
              <a:t>פישינג</a:t>
            </a:r>
            <a:r>
              <a:rPr lang="he-IL" dirty="0"/>
              <a:t>, עושה בדיקות נוספות,</a:t>
            </a:r>
            <a:r>
              <a:rPr lang="en-IL" dirty="0"/>
              <a:t> </a:t>
            </a:r>
            <a:r>
              <a:rPr lang="en-IL" dirty="0" err="1"/>
              <a:t>וחוסמת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כל</a:t>
            </a:r>
            <a:r>
              <a:rPr lang="en-IL" dirty="0"/>
              <a:t> </a:t>
            </a:r>
            <a:r>
              <a:rPr lang="en-IL" dirty="0" err="1"/>
              <a:t>העותקים</a:t>
            </a:r>
            <a:r>
              <a:rPr lang="en-IL" dirty="0"/>
              <a:t> </a:t>
            </a:r>
            <a:r>
              <a:rPr lang="en-IL" dirty="0" err="1"/>
              <a:t>הכמעט-זהים</a:t>
            </a:r>
            <a:r>
              <a:rPr lang="en-IL" dirty="0"/>
              <a:t> (Near-duplicates).</a:t>
            </a:r>
            <a:endParaRPr lang="en-US" dirty="0"/>
          </a:p>
          <a:p>
            <a:pPr algn="r" rtl="1"/>
            <a:r>
              <a:rPr lang="he-IL" dirty="0"/>
              <a:t>בדקתי את זה, כמובן שלא בדרך הכי מייצגת כי אין לי באמת מקרה אמיתי של בן אדם. לקחתי אחד מהדברים שפספסתי, העברתי בדיקה, המודל החליט האם </a:t>
            </a:r>
            <a:r>
              <a:rPr lang="he-IL" dirty="0" err="1"/>
              <a:t>יכל</a:t>
            </a:r>
            <a:r>
              <a:rPr lang="he-IL" dirty="0"/>
              <a:t> להיות בעייתי רק לפי התוכן (במודל מלא יש פאן של לכמה אנשים זה נשלח ואיך), ואז אימנתי על זה </a:t>
            </a:r>
            <a:r>
              <a:rPr lang="he-IL" dirty="0" err="1"/>
              <a:t>וה</a:t>
            </a:r>
            <a:r>
              <a:rPr lang="en-US" dirty="0"/>
              <a:t>recall</a:t>
            </a:r>
            <a:r>
              <a:rPr lang="he-IL" dirty="0"/>
              <a:t> עלה משמעותית – כיסה גם דברים אחרים שלא מצאתי לפני.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הערה שחשוב לי לציין:</a:t>
            </a:r>
          </a:p>
          <a:p>
            <a:pPr algn="r" rtl="1"/>
            <a:r>
              <a:rPr lang="en-IL" dirty="0" err="1"/>
              <a:t>תוקפים</a:t>
            </a:r>
            <a:r>
              <a:rPr lang="en-IL" dirty="0"/>
              <a:t> </a:t>
            </a:r>
            <a:r>
              <a:rPr lang="en-IL" dirty="0" err="1"/>
              <a:t>משתלטים</a:t>
            </a:r>
            <a:r>
              <a:rPr lang="en-IL" dirty="0"/>
              <a:t> </a:t>
            </a:r>
            <a:r>
              <a:rPr lang="en-IL" dirty="0" err="1"/>
              <a:t>יותר</a:t>
            </a:r>
            <a:r>
              <a:rPr lang="en-IL" dirty="0"/>
              <a:t> </a:t>
            </a:r>
            <a:r>
              <a:rPr lang="en-IL" dirty="0" err="1"/>
              <a:t>ויותר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חשבונות</a:t>
            </a:r>
            <a:r>
              <a:rPr lang="en-IL" dirty="0"/>
              <a:t> </a:t>
            </a:r>
            <a:r>
              <a:rPr lang="en-IL" dirty="0" err="1"/>
              <a:t>אמינים</a:t>
            </a:r>
            <a:r>
              <a:rPr lang="en-IL" dirty="0"/>
              <a:t> </a:t>
            </a:r>
            <a:r>
              <a:rPr lang="en-IL" dirty="0" err="1"/>
              <a:t>ואמיתיים</a:t>
            </a:r>
            <a:r>
              <a:rPr lang="en-IL" dirty="0"/>
              <a:t> </a:t>
            </a:r>
            <a:r>
              <a:rPr lang="en-IL" dirty="0" err="1"/>
              <a:t>ושולחים</a:t>
            </a:r>
            <a:r>
              <a:rPr lang="en-IL" dirty="0"/>
              <a:t> </a:t>
            </a:r>
            <a:r>
              <a:rPr lang="he-IL" dirty="0"/>
              <a:t>מהם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המייל</a:t>
            </a:r>
            <a:r>
              <a:rPr lang="en-IL" dirty="0"/>
              <a:t>.</a:t>
            </a:r>
            <a:endParaRPr lang="he-IL" dirty="0"/>
          </a:p>
          <a:p>
            <a:pPr algn="r" rtl="1"/>
            <a:r>
              <a:rPr lang="en-IL" dirty="0" err="1"/>
              <a:t>מסנן</a:t>
            </a:r>
            <a:r>
              <a:rPr lang="en-IL" dirty="0"/>
              <a:t> </a:t>
            </a:r>
            <a:r>
              <a:rPr lang="en-IL" dirty="0" err="1"/>
              <a:t>המסתמך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אמינות</a:t>
            </a:r>
            <a:r>
              <a:rPr lang="en-IL" dirty="0"/>
              <a:t> </a:t>
            </a:r>
            <a:r>
              <a:rPr lang="en-IL" dirty="0" err="1"/>
              <a:t>השולח</a:t>
            </a:r>
            <a:r>
              <a:rPr lang="en-IL" dirty="0"/>
              <a:t> (Sender trust </a:t>
            </a:r>
            <a:r>
              <a:rPr lang="en-IL" dirty="0" err="1"/>
              <a:t>ונופל</a:t>
            </a:r>
            <a:r>
              <a:rPr lang="en-IL" dirty="0"/>
              <a:t> </a:t>
            </a:r>
            <a:r>
              <a:rPr lang="en-IL" dirty="0" err="1"/>
              <a:t>בפח</a:t>
            </a:r>
            <a:r>
              <a:rPr lang="en-IL" dirty="0"/>
              <a:t>, </a:t>
            </a:r>
            <a:r>
              <a:rPr lang="en-IL" dirty="0" err="1"/>
              <a:t>אבל</a:t>
            </a:r>
            <a:r>
              <a:rPr lang="en-IL" dirty="0"/>
              <a:t> </a:t>
            </a:r>
            <a:r>
              <a:rPr lang="en-IL" b="1" dirty="0" err="1"/>
              <a:t>ניתוח</a:t>
            </a:r>
            <a:r>
              <a:rPr lang="en-IL" b="1" dirty="0"/>
              <a:t> </a:t>
            </a:r>
            <a:r>
              <a:rPr lang="en-IL" b="1" dirty="0" err="1"/>
              <a:t>טקסט</a:t>
            </a:r>
            <a:r>
              <a:rPr lang="en-IL" b="1" dirty="0"/>
              <a:t> </a:t>
            </a:r>
            <a:r>
              <a:rPr lang="en-IL" b="1" dirty="0" err="1"/>
              <a:t>התוכן</a:t>
            </a:r>
            <a:r>
              <a:rPr lang="en-IL" b="1" dirty="0"/>
              <a:t> </a:t>
            </a:r>
            <a:r>
              <a:rPr lang="en-IL" b="1" dirty="0" err="1"/>
              <a:t>עדיין</a:t>
            </a:r>
            <a:r>
              <a:rPr lang="en-IL" b="1" dirty="0"/>
              <a:t> </a:t>
            </a:r>
            <a:r>
              <a:rPr lang="en-IL" b="1" dirty="0" err="1"/>
              <a:t>מזהה</a:t>
            </a:r>
            <a:r>
              <a:rPr lang="en-IL" b="1" dirty="0"/>
              <a:t> </a:t>
            </a:r>
            <a:r>
              <a:rPr lang="en-IL" b="1" dirty="0" err="1"/>
              <a:t>שמשהו</a:t>
            </a:r>
            <a:r>
              <a:rPr lang="en-IL" b="1" dirty="0"/>
              <a:t> </a:t>
            </a:r>
            <a:r>
              <a:rPr lang="en-IL" b="1" dirty="0" err="1"/>
              <a:t>לא</a:t>
            </a:r>
            <a:r>
              <a:rPr lang="en-IL" b="1" dirty="0"/>
              <a:t> </a:t>
            </a:r>
            <a:r>
              <a:rPr lang="en-IL" b="1" dirty="0" err="1"/>
              <a:t>תקין</a:t>
            </a:r>
            <a:r>
              <a:rPr lang="he-IL" b="1" dirty="0"/>
              <a:t>.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L" b="1" dirty="0" err="1"/>
              <a:t>תוכן</a:t>
            </a:r>
            <a:r>
              <a:rPr lang="en-IL" b="1" dirty="0"/>
              <a:t> </a:t>
            </a:r>
            <a:r>
              <a:rPr lang="en-IL" b="1" dirty="0" err="1"/>
              <a:t>הוא</a:t>
            </a:r>
            <a:r>
              <a:rPr lang="en-IL" b="1" dirty="0"/>
              <a:t> </a:t>
            </a:r>
            <a:r>
              <a:rPr lang="en-IL" b="1" dirty="0" err="1"/>
              <a:t>הסיגנל</a:t>
            </a:r>
            <a:r>
              <a:rPr lang="en-IL" b="1" dirty="0"/>
              <a:t> </a:t>
            </a:r>
            <a:r>
              <a:rPr lang="en-IL" b="1" dirty="0" err="1"/>
              <a:t>היחיד</a:t>
            </a:r>
            <a:r>
              <a:rPr lang="en-IL" b="1" dirty="0"/>
              <a:t> </a:t>
            </a:r>
            <a:r>
              <a:rPr lang="en-IL" b="1" dirty="0" err="1"/>
              <a:t>ששורד</a:t>
            </a:r>
            <a:r>
              <a:rPr lang="en-IL" b="1" dirty="0"/>
              <a:t> </a:t>
            </a:r>
            <a:r>
              <a:rPr lang="en-IL" b="1" dirty="0" err="1"/>
              <a:t>חשבון</a:t>
            </a:r>
            <a:r>
              <a:rPr lang="en-IL" b="1" dirty="0"/>
              <a:t> </a:t>
            </a:r>
            <a:r>
              <a:rPr lang="en-IL" b="1" dirty="0" err="1"/>
              <a:t>נגנב</a:t>
            </a:r>
            <a:r>
              <a:rPr lang="en-IL" b="1" dirty="0"/>
              <a:t>.</a:t>
            </a:r>
            <a:endParaRPr lang="he-IL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/>
              <a:t>אז עכשיו אנחנו גם מעדכנים את עצמנו במתקפות חדשות, מקבלים חשדות מאנשים ומשתמשים בהם כ</a:t>
            </a:r>
            <a:r>
              <a:rPr lang="en-US" b="1" dirty="0"/>
              <a:t>SIGNAL</a:t>
            </a:r>
            <a:r>
              <a:rPr lang="he-IL" b="1" dirty="0"/>
              <a:t> וכמובן כל מה שעשינו קודם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שלושה דברים שחשבתי ועבדתי עליהם בהמשך הפרויקט:</a:t>
            </a:r>
          </a:p>
          <a:p>
            <a:pPr algn="r" rtl="1"/>
            <a:r>
              <a:rPr lang="en-US" u="sng" dirty="0"/>
              <a:t>LLM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אני רוצה להשתמש ב</a:t>
            </a:r>
            <a:r>
              <a:rPr lang="en-US" dirty="0"/>
              <a:t>LLM</a:t>
            </a:r>
            <a:r>
              <a:rPr lang="he-IL" dirty="0"/>
              <a:t> כתוקף, וגם כה</a:t>
            </a:r>
            <a:r>
              <a:rPr lang="en-US" dirty="0"/>
              <a:t>DETECTOR</a:t>
            </a:r>
            <a:r>
              <a:rPr lang="he-IL" dirty="0"/>
              <a:t>.</a:t>
            </a:r>
            <a:br>
              <a:rPr lang="en-US" dirty="0"/>
            </a:br>
            <a:r>
              <a:rPr lang="he-IL" dirty="0"/>
              <a:t>מודל אחד </a:t>
            </a:r>
            <a:r>
              <a:rPr lang="he-IL" dirty="0" err="1"/>
              <a:t>שהסקיל</a:t>
            </a:r>
            <a:r>
              <a:rPr lang="he-IL" dirty="0"/>
              <a:t> שלו יהיה פריצות ו</a:t>
            </a:r>
            <a:r>
              <a:rPr lang="en-US" dirty="0"/>
              <a:t>NLP</a:t>
            </a:r>
            <a:r>
              <a:rPr lang="he-IL" dirty="0"/>
              <a:t> שיעשה ניסוח מחדש למיילים שהם </a:t>
            </a:r>
            <a:r>
              <a:rPr lang="he-IL" dirty="0" err="1"/>
              <a:t>פישינג</a:t>
            </a:r>
            <a:r>
              <a:rPr lang="he-IL" dirty="0"/>
              <a:t> כך שהמודל שלי לא יצליח לזהות אותם.</a:t>
            </a:r>
          </a:p>
          <a:p>
            <a:pPr algn="r" rtl="1"/>
            <a:r>
              <a:rPr lang="he-IL" dirty="0"/>
              <a:t>ומודל אחד שאתן לו גם כן </a:t>
            </a:r>
            <a:r>
              <a:rPr lang="he-IL" dirty="0" err="1"/>
              <a:t>סקילים</a:t>
            </a:r>
            <a:r>
              <a:rPr lang="he-IL" dirty="0"/>
              <a:t> מתאימים שיבחן האם המייל </a:t>
            </a:r>
            <a:r>
              <a:rPr lang="he-IL" dirty="0" err="1"/>
              <a:t>פישינג</a:t>
            </a:r>
            <a:r>
              <a:rPr lang="he-IL" dirty="0"/>
              <a:t> או לא. וכך הלולאה תמשיך.</a:t>
            </a:r>
          </a:p>
          <a:p>
            <a:pPr algn="r" rtl="1"/>
            <a:r>
              <a:rPr lang="he-IL" dirty="0"/>
              <a:t>ניסיתי לבדוק את זה אבל לא על דאטה גדול כי זה לקח לו זמן לייצר אימיילים מנוסחים מחדש – אבל באמת המודל שניסה לפרוץ הצליח לייצר לי דאטה חדש טוב ללמידה.</a:t>
            </a:r>
          </a:p>
          <a:p>
            <a:pPr algn="r" rtl="1"/>
            <a:r>
              <a:rPr lang="he-IL" dirty="0"/>
              <a:t>אני יודעת שהוא טוב ללמידה כי הוא הוריד לי את ה</a:t>
            </a:r>
            <a:r>
              <a:rPr lang="en-US" dirty="0"/>
              <a:t>RECALL</a:t>
            </a:r>
            <a:r>
              <a:rPr lang="he-IL" dirty="0"/>
              <a:t> וכך אני </a:t>
            </a:r>
            <a:r>
              <a:rPr lang="he-IL" dirty="0" err="1"/>
              <a:t>יודכת</a:t>
            </a:r>
            <a:r>
              <a:rPr lang="he-IL" dirty="0"/>
              <a:t> שזה מתקפות שהמודל שלי לא מצליח לזהות מספיק טוב.</a:t>
            </a:r>
          </a:p>
          <a:p>
            <a:pPr algn="r" rtl="1"/>
            <a:r>
              <a:rPr lang="en-US" dirty="0"/>
              <a:t>
</a:t>
            </a:r>
            <a:r>
              <a:rPr lang="he-IL" u="sng" dirty="0"/>
              <a:t>סנטימנט </a:t>
            </a:r>
            <a:r>
              <a:rPr lang="he-IL" u="sng" dirty="0" err="1"/>
              <a:t>כפיצר</a:t>
            </a:r>
            <a:r>
              <a:rPr lang="he-IL" u="sng" dirty="0"/>
              <a:t>:</a:t>
            </a:r>
          </a:p>
          <a:p>
            <a:pPr algn="r" rtl="1"/>
            <a:r>
              <a:rPr lang="en-IL" dirty="0" err="1"/>
              <a:t>פישינג</a:t>
            </a:r>
            <a:r>
              <a:rPr lang="en-IL" dirty="0"/>
              <a:t> </a:t>
            </a:r>
            <a:r>
              <a:rPr lang="en-IL" dirty="0" err="1"/>
              <a:t>נשען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דחיפות</a:t>
            </a:r>
            <a:r>
              <a:rPr lang="en-IL" dirty="0"/>
              <a:t>, </a:t>
            </a:r>
            <a:r>
              <a:rPr lang="en-IL" dirty="0" err="1"/>
              <a:t>פחד</a:t>
            </a:r>
            <a:r>
              <a:rPr lang="en-IL" dirty="0"/>
              <a:t> </a:t>
            </a:r>
            <a:r>
              <a:rPr lang="en-IL" dirty="0" err="1"/>
              <a:t>ורמזי</a:t>
            </a:r>
            <a:r>
              <a:rPr lang="en-IL" dirty="0"/>
              <a:t> </a:t>
            </a:r>
            <a:r>
              <a:rPr lang="en-IL" dirty="0" err="1"/>
              <a:t>פרס</a:t>
            </a:r>
            <a:r>
              <a:rPr lang="en-IL" dirty="0"/>
              <a:t> (Urgency / Fear / Reward cues). </a:t>
            </a:r>
            <a:r>
              <a:rPr lang="he-IL" dirty="0"/>
              <a:t>בחנתי</a:t>
            </a:r>
            <a:r>
              <a:rPr lang="en-IL" dirty="0"/>
              <a:t> </a:t>
            </a:r>
            <a:r>
              <a:rPr lang="en-IL" dirty="0" err="1"/>
              <a:t>הוספת</a:t>
            </a:r>
            <a:r>
              <a:rPr lang="en-IL" dirty="0"/>
              <a:t> </a:t>
            </a:r>
            <a:r>
              <a:rPr lang="en-IL" dirty="0" err="1"/>
              <a:t>פיצ'ר</a:t>
            </a:r>
            <a:r>
              <a:rPr lang="en-IL" dirty="0"/>
              <a:t> </a:t>
            </a:r>
            <a:r>
              <a:rPr lang="en-IL" dirty="0" err="1"/>
              <a:t>רגשי</a:t>
            </a:r>
            <a:r>
              <a:rPr lang="en-IL" dirty="0"/>
              <a:t> </a:t>
            </a:r>
            <a:r>
              <a:rPr lang="en-IL" dirty="0" err="1"/>
              <a:t>שחושב</a:t>
            </a:r>
            <a:r>
              <a:rPr lang="en-IL" dirty="0"/>
              <a:t> </a:t>
            </a:r>
            <a:r>
              <a:rPr lang="en-IL" dirty="0" err="1"/>
              <a:t>באמצעות</a:t>
            </a:r>
            <a:r>
              <a:rPr lang="en-IL" dirty="0"/>
              <a:t> LLM </a:t>
            </a:r>
            <a:r>
              <a:rPr lang="en-IL" dirty="0" err="1"/>
              <a:t>או</a:t>
            </a:r>
            <a:r>
              <a:rPr lang="en-IL" dirty="0"/>
              <a:t> </a:t>
            </a:r>
            <a:r>
              <a:rPr lang="en-IL" dirty="0" err="1"/>
              <a:t>לקסיקון</a:t>
            </a:r>
            <a:r>
              <a:rPr lang="en-IL" dirty="0"/>
              <a:t> VADER </a:t>
            </a:r>
            <a:r>
              <a:rPr lang="en-IL" dirty="0" err="1"/>
              <a:t>זול</a:t>
            </a:r>
            <a:r>
              <a:rPr lang="en-IL" dirty="0"/>
              <a:t>.</a:t>
            </a:r>
          </a:p>
          <a:p>
            <a:pPr algn="r" rtl="1"/>
            <a:r>
              <a:rPr lang="en-IL" b="1" dirty="0" err="1"/>
              <a:t>בפועל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סביר</a:t>
            </a:r>
            <a:r>
              <a:rPr lang="en-IL" dirty="0"/>
              <a:t> </a:t>
            </a:r>
            <a:r>
              <a:rPr lang="en-IL" dirty="0" err="1"/>
              <a:t>להניח</a:t>
            </a:r>
            <a:r>
              <a:rPr lang="en-IL" dirty="0"/>
              <a:t> </a:t>
            </a:r>
            <a:r>
              <a:rPr lang="en-IL" dirty="0" err="1"/>
              <a:t>שזה</a:t>
            </a:r>
            <a:r>
              <a:rPr lang="en-IL" dirty="0"/>
              <a:t> </a:t>
            </a:r>
            <a:r>
              <a:rPr lang="en-IL" dirty="0" err="1"/>
              <a:t>מוסיף</a:t>
            </a:r>
            <a:r>
              <a:rPr lang="en-IL" dirty="0"/>
              <a:t> </a:t>
            </a:r>
            <a:r>
              <a:rPr lang="en-IL" dirty="0" err="1"/>
              <a:t>מעט</a:t>
            </a:r>
            <a:r>
              <a:rPr lang="en-IL" dirty="0"/>
              <a:t> </a:t>
            </a:r>
            <a:r>
              <a:rPr lang="en-IL" dirty="0" err="1"/>
              <a:t>ערך</a:t>
            </a:r>
            <a:r>
              <a:rPr lang="en-IL" dirty="0"/>
              <a:t>, </a:t>
            </a:r>
            <a:r>
              <a:rPr lang="he-IL" dirty="0"/>
              <a:t>כי</a:t>
            </a:r>
            <a:r>
              <a:rPr lang="en-IL" dirty="0"/>
              <a:t> </a:t>
            </a:r>
            <a:r>
              <a:rPr lang="he-IL" dirty="0"/>
              <a:t>ה</a:t>
            </a:r>
            <a:r>
              <a:rPr lang="en-IL" dirty="0"/>
              <a:t>-TF-IDF </a:t>
            </a:r>
            <a:r>
              <a:rPr lang="en-IL" dirty="0" err="1"/>
              <a:t>כבר</a:t>
            </a:r>
            <a:r>
              <a:rPr lang="en-IL" dirty="0"/>
              <a:t> </a:t>
            </a:r>
            <a:r>
              <a:rPr lang="en-IL" dirty="0" err="1"/>
              <a:t>לומד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המילים</a:t>
            </a:r>
            <a:r>
              <a:rPr lang="en-IL" dirty="0"/>
              <a:t> </a:t>
            </a:r>
            <a:r>
              <a:rPr lang="en-IL" dirty="0" err="1"/>
              <a:t>הרגשיות</a:t>
            </a:r>
            <a:r>
              <a:rPr lang="en-IL" dirty="0"/>
              <a:t> </a:t>
            </a:r>
            <a:r>
              <a:rPr lang="en-IL" dirty="0" err="1"/>
              <a:t>הללו</a:t>
            </a:r>
            <a:r>
              <a:rPr lang="en-IL" dirty="0"/>
              <a:t> </a:t>
            </a:r>
            <a:r>
              <a:rPr lang="en-IL" dirty="0" err="1"/>
              <a:t>באופן</a:t>
            </a:r>
            <a:r>
              <a:rPr lang="en-IL" dirty="0"/>
              <a:t> </a:t>
            </a:r>
            <a:r>
              <a:rPr lang="en-IL" dirty="0" err="1"/>
              <a:t>ישיר</a:t>
            </a:r>
            <a:r>
              <a:rPr lang="he-IL" dirty="0"/>
              <a:t> אבל לא בטוח </a:t>
            </a:r>
            <a:r>
              <a:rPr lang="he-IL" dirty="0" err="1"/>
              <a:t>כפיצר</a:t>
            </a:r>
            <a:r>
              <a:rPr lang="he-IL" dirty="0"/>
              <a:t> עם משקל גדול</a:t>
            </a:r>
            <a:r>
              <a:rPr lang="en-IL" dirty="0"/>
              <a:t>.</a:t>
            </a:r>
            <a:r>
              <a:rPr lang="he-IL" dirty="0"/>
              <a:t> אם יש סנטימנט לחוץ אני ארצה לקחת את זה כסיגנל לבעיה, </a:t>
            </a:r>
            <a:r>
              <a:rPr lang="he-IL" dirty="0" err="1"/>
              <a:t>אבלאם</a:t>
            </a:r>
            <a:r>
              <a:rPr lang="he-IL" dirty="0"/>
              <a:t> לא – זה לא אומר </a:t>
            </a:r>
            <a:r>
              <a:rPr lang="he-IL" dirty="0" err="1"/>
              <a:t>שהאימיילתקין</a:t>
            </a:r>
            <a:r>
              <a:rPr lang="he-IL" dirty="0"/>
              <a:t>, רק אומר שספציפית את הסיגנל הזה אין.</a:t>
            </a:r>
            <a:endParaRPr lang="en-IL" dirty="0"/>
          </a:p>
          <a:p>
            <a:pPr algn="r" rtl="1"/>
            <a:r>
              <a:rPr lang="en-IL" b="1" dirty="0" err="1"/>
              <a:t>סטטוס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נשמר</a:t>
            </a:r>
            <a:r>
              <a:rPr lang="en-IL" dirty="0"/>
              <a:t> </a:t>
            </a:r>
            <a:r>
              <a:rPr lang="en-IL" dirty="0" err="1"/>
              <a:t>כעבודה</a:t>
            </a:r>
            <a:r>
              <a:rPr lang="en-IL" dirty="0"/>
              <a:t> </a:t>
            </a:r>
            <a:r>
              <a:rPr lang="en-IL" dirty="0" err="1"/>
              <a:t>עתידית</a:t>
            </a:r>
            <a:r>
              <a:rPr lang="en-IL" dirty="0"/>
              <a:t> (Future work) — </a:t>
            </a:r>
            <a:r>
              <a:rPr lang="en-IL" dirty="0" err="1"/>
              <a:t>מומלץ</a:t>
            </a:r>
            <a:r>
              <a:rPr lang="en-IL" dirty="0"/>
              <a:t> </a:t>
            </a:r>
            <a:r>
              <a:rPr lang="en-IL" dirty="0" err="1"/>
              <a:t>למקד</a:t>
            </a:r>
            <a:r>
              <a:rPr lang="en-IL" dirty="0"/>
              <a:t> </a:t>
            </a:r>
            <a:r>
              <a:rPr lang="en-IL" dirty="0" err="1"/>
              <a:t>אותו</a:t>
            </a:r>
            <a:r>
              <a:rPr lang="en-IL" dirty="0"/>
              <a:t> </a:t>
            </a:r>
            <a:r>
              <a:rPr lang="en-IL" dirty="0" err="1"/>
              <a:t>בזיהוי</a:t>
            </a:r>
            <a:r>
              <a:rPr lang="en-IL" dirty="0"/>
              <a:t> </a:t>
            </a:r>
            <a:r>
              <a:rPr lang="en-IL" dirty="0" err="1"/>
              <a:t>דחיפות</a:t>
            </a:r>
            <a:r>
              <a:rPr lang="en-IL" dirty="0"/>
              <a:t> (Urgency) </a:t>
            </a:r>
            <a:r>
              <a:rPr lang="en-IL" dirty="0" err="1"/>
              <a:t>ולא</a:t>
            </a:r>
            <a:r>
              <a:rPr lang="en-IL" dirty="0"/>
              <a:t> </a:t>
            </a:r>
            <a:r>
              <a:rPr lang="en-IL" dirty="0" err="1"/>
              <a:t>בקוטביות</a:t>
            </a:r>
            <a:r>
              <a:rPr lang="en-IL" dirty="0"/>
              <a:t> </a:t>
            </a:r>
            <a:r>
              <a:rPr lang="en-IL" dirty="0" err="1"/>
              <a:t>חיובית</a:t>
            </a:r>
            <a:r>
              <a:rPr lang="en-IL" dirty="0"/>
              <a:t>/</a:t>
            </a:r>
            <a:r>
              <a:rPr lang="en-IL" dirty="0" err="1"/>
              <a:t>שלילית</a:t>
            </a:r>
            <a:r>
              <a:rPr lang="en-IL" dirty="0"/>
              <a:t> </a:t>
            </a:r>
            <a:r>
              <a:rPr lang="en-IL" dirty="0" err="1"/>
              <a:t>גולמית</a:t>
            </a:r>
            <a:r>
              <a:rPr lang="en-IL" dirty="0"/>
              <a:t>, </a:t>
            </a:r>
            <a:r>
              <a:rPr lang="en-IL" dirty="0" err="1"/>
              <a:t>ולחשב</a:t>
            </a:r>
            <a:r>
              <a:rPr lang="en-IL" dirty="0"/>
              <a:t> </a:t>
            </a:r>
            <a:r>
              <a:rPr lang="en-IL" dirty="0" err="1"/>
              <a:t>אותו</a:t>
            </a:r>
            <a:r>
              <a:rPr lang="en-IL" dirty="0"/>
              <a:t> </a:t>
            </a:r>
            <a:r>
              <a:rPr lang="en-IL" dirty="0" err="1"/>
              <a:t>רק</a:t>
            </a:r>
            <a:r>
              <a:rPr lang="en-IL" dirty="0"/>
              <a:t> </a:t>
            </a:r>
            <a:r>
              <a:rPr lang="en-IL" dirty="0" err="1"/>
              <a:t>לאחר</a:t>
            </a:r>
            <a:r>
              <a:rPr lang="en-IL" dirty="0"/>
              <a:t> </a:t>
            </a:r>
            <a:r>
              <a:rPr lang="en-IL" dirty="0" err="1"/>
              <a:t>נורמליזציה</a:t>
            </a:r>
            <a:r>
              <a:rPr lang="en-IL" dirty="0"/>
              <a:t>.</a:t>
            </a:r>
            <a:endParaRPr lang="he-IL" dirty="0"/>
          </a:p>
          <a:p>
            <a:pPr algn="r" rtl="1"/>
            <a:endParaRPr lang="en-IL" dirty="0"/>
          </a:p>
          <a:p>
            <a:pPr algn="r" rtl="1"/>
            <a:endParaRPr lang="he-IL" dirty="0"/>
          </a:p>
          <a:p>
            <a:pPr algn="r" rtl="1"/>
            <a:r>
              <a:rPr lang="en-US" u="sng" dirty="0"/>
              <a:t>DATABASE</a:t>
            </a:r>
            <a:r>
              <a:rPr lang="he-IL" u="sng" dirty="0"/>
              <a:t> – מאגר </a:t>
            </a:r>
            <a:r>
              <a:rPr lang="he-IL" u="sng" dirty="0" err="1"/>
              <a:t>ההתקפפות</a:t>
            </a:r>
            <a:r>
              <a:rPr lang="he-IL" u="sng" dirty="0"/>
              <a:t> ומיילים בכלליות שמתעדכן בעצמו:</a:t>
            </a:r>
          </a:p>
          <a:p>
            <a:pPr algn="r" rtl="1"/>
            <a:r>
              <a:rPr lang="he-IL" dirty="0"/>
              <a:t>התקפה חדשה – אימות – אחסון – אימון מחדש (30 שניות) ומוכן להגנה הבאה.</a:t>
            </a:r>
          </a:p>
          <a:p>
            <a:pPr algn="r" rtl="1"/>
            <a:r>
              <a:rPr lang="en-IL" dirty="0" err="1"/>
              <a:t>אימון</a:t>
            </a:r>
            <a:r>
              <a:rPr lang="en-IL" dirty="0"/>
              <a:t> </a:t>
            </a:r>
            <a:r>
              <a:rPr lang="en-IL" dirty="0" err="1"/>
              <a:t>מחדש</a:t>
            </a:r>
            <a:r>
              <a:rPr lang="en-IL" dirty="0"/>
              <a:t> </a:t>
            </a:r>
            <a:r>
              <a:rPr lang="en-IL" dirty="0" err="1"/>
              <a:t>מעלה</a:t>
            </a:r>
            <a:r>
              <a:rPr lang="en-IL" dirty="0"/>
              <a:t> </a:t>
            </a:r>
            <a:r>
              <a:rPr lang="en-IL" dirty="0" err="1"/>
              <a:t>במהירות</a:t>
            </a:r>
            <a:r>
              <a:rPr lang="en-IL" dirty="0"/>
              <a:t> </a:t>
            </a:r>
            <a:r>
              <a:rPr lang="en-IL" dirty="0" err="1"/>
              <a:t>ובזול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ה-Recall מ-0.15 ל-0.98.</a:t>
            </a:r>
            <a:r>
              <a:rPr lang="he-IL" dirty="0"/>
              <a:t> – כבר הראנו</a:t>
            </a:r>
          </a:p>
          <a:p>
            <a:pPr algn="r" rtl="1"/>
            <a:r>
              <a:rPr lang="en-IL" b="1" dirty="0" err="1"/>
              <a:t>האתגר</a:t>
            </a:r>
            <a:r>
              <a:rPr lang="en-IL" b="1" dirty="0"/>
              <a:t> </a:t>
            </a:r>
            <a:r>
              <a:rPr lang="en-IL" b="1" dirty="0" err="1"/>
              <a:t>המרכזי</a:t>
            </a:r>
            <a:r>
              <a:rPr lang="en-IL" b="1" dirty="0"/>
              <a:t> — </a:t>
            </a:r>
            <a:r>
              <a:rPr lang="en-IL" b="1" dirty="0" err="1"/>
              <a:t>אמון</a:t>
            </a:r>
            <a:r>
              <a:rPr lang="en-IL" b="1" dirty="0"/>
              <a:t> (Trust):</a:t>
            </a:r>
            <a:r>
              <a:rPr lang="en-IL" dirty="0"/>
              <a:t> </a:t>
            </a:r>
            <a:r>
              <a:rPr lang="en-IL" dirty="0" err="1"/>
              <a:t>קלט</a:t>
            </a:r>
            <a:r>
              <a:rPr lang="en-IL" dirty="0"/>
              <a:t> </a:t>
            </a:r>
            <a:r>
              <a:rPr lang="en-IL" dirty="0" err="1"/>
              <a:t>שלא</a:t>
            </a:r>
            <a:r>
              <a:rPr lang="en-IL" dirty="0"/>
              <a:t> </a:t>
            </a:r>
            <a:r>
              <a:rPr lang="en-IL" dirty="0" err="1"/>
              <a:t>נבדק</a:t>
            </a:r>
            <a:r>
              <a:rPr lang="en-IL" dirty="0"/>
              <a:t> </a:t>
            </a:r>
            <a:r>
              <a:rPr lang="en-IL" dirty="0" err="1"/>
              <a:t>עלול</a:t>
            </a:r>
            <a:r>
              <a:rPr lang="en-IL" dirty="0"/>
              <a:t> </a:t>
            </a:r>
            <a:r>
              <a:rPr lang="en-IL" dirty="0" err="1"/>
              <a:t>להרעיל</a:t>
            </a:r>
            <a:r>
              <a:rPr lang="en-IL" dirty="0"/>
              <a:t> </a:t>
            </a:r>
            <a:r>
              <a:rPr lang="en-IL" dirty="0" err="1"/>
              <a:t>את</a:t>
            </a:r>
            <a:r>
              <a:rPr lang="en-IL" dirty="0"/>
              <a:t> </a:t>
            </a:r>
            <a:r>
              <a:rPr lang="en-IL" dirty="0" err="1"/>
              <a:t>המודל</a:t>
            </a:r>
            <a:r>
              <a:rPr lang="en-IL" dirty="0"/>
              <a:t> (Poisoning attack), </a:t>
            </a:r>
            <a:r>
              <a:rPr lang="en-IL" dirty="0" err="1"/>
              <a:t>ולכן</a:t>
            </a:r>
            <a:r>
              <a:rPr lang="en-IL" dirty="0"/>
              <a:t> </a:t>
            </a:r>
            <a:r>
              <a:rPr lang="en-IL" b="1" dirty="0" err="1"/>
              <a:t>כל</a:t>
            </a:r>
            <a:r>
              <a:rPr lang="en-IL" b="1" dirty="0"/>
              <a:t> </a:t>
            </a:r>
            <a:r>
              <a:rPr lang="en-IL" b="1" dirty="0" err="1"/>
              <a:t>הזנה</a:t>
            </a:r>
            <a:r>
              <a:rPr lang="en-IL" b="1" dirty="0"/>
              <a:t> </a:t>
            </a:r>
            <a:r>
              <a:rPr lang="en-IL" b="1" dirty="0" err="1"/>
              <a:t>נשפטת</a:t>
            </a:r>
            <a:r>
              <a:rPr lang="en-IL" b="1" dirty="0"/>
              <a:t> </a:t>
            </a:r>
            <a:r>
              <a:rPr lang="en-IL" b="1" dirty="0" err="1"/>
              <a:t>ונבדקת</a:t>
            </a:r>
            <a:r>
              <a:rPr lang="en-IL" b="1" dirty="0"/>
              <a:t> </a:t>
            </a:r>
            <a:r>
              <a:rPr lang="en-IL" b="1" dirty="0" err="1"/>
              <a:t>בקפידה</a:t>
            </a:r>
            <a:r>
              <a:rPr lang="en-IL" dirty="0"/>
              <a:t> </a:t>
            </a:r>
            <a:r>
              <a:rPr lang="en-IL" dirty="0" err="1"/>
              <a:t>לפני</a:t>
            </a:r>
            <a:r>
              <a:rPr lang="en-IL" dirty="0"/>
              <a:t> </a:t>
            </a:r>
            <a:r>
              <a:rPr lang="en-IL" dirty="0" err="1"/>
              <a:t>שהמודל</a:t>
            </a:r>
            <a:r>
              <a:rPr lang="en-IL" dirty="0"/>
              <a:t> </a:t>
            </a:r>
            <a:r>
              <a:rPr lang="en-IL" dirty="0" err="1"/>
              <a:t>לומד</a:t>
            </a:r>
            <a:r>
              <a:rPr lang="en-IL" dirty="0"/>
              <a:t> </a:t>
            </a:r>
            <a:r>
              <a:rPr lang="en-IL" dirty="0" err="1"/>
              <a:t>ממנה</a:t>
            </a:r>
            <a:endParaRPr lang="he-IL" dirty="0"/>
          </a:p>
          <a:p>
            <a:pPr algn="r" rtl="1"/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he-IL" dirty="0"/>
              <a:t>מדדי ביצועים שרציתי לבדוק:</a:t>
            </a:r>
          </a:p>
          <a:p>
            <a:pPr algn="r" rtl="1"/>
            <a:r>
              <a:rPr lang="he-IL" dirty="0"/>
              <a:t>3 מילי שניות לסיווג</a:t>
            </a:r>
          </a:p>
          <a:p>
            <a:pPr algn="r" rtl="1"/>
            <a:r>
              <a:rPr lang="he-IL" dirty="0"/>
              <a:t>גודל של 2.7 </a:t>
            </a:r>
            <a:r>
              <a:rPr lang="en-US" dirty="0"/>
              <a:t>MB</a:t>
            </a:r>
            <a:r>
              <a:rPr lang="he-IL" dirty="0"/>
              <a:t> מודל קל, יכול לשבת מקומית – שומר על </a:t>
            </a:r>
            <a:r>
              <a:rPr lang="en-US" dirty="0" err="1"/>
              <a:t>privecy</a:t>
            </a:r>
            <a:r>
              <a:rPr lang="he-IL" dirty="0"/>
              <a:t> ככה שהטקסטים לא עוזבים את המכשיר לאיזה שרת איפשהו. </a:t>
            </a:r>
          </a:p>
          <a:p>
            <a:pPr algn="r" rtl="1"/>
            <a:r>
              <a:rPr lang="he-IL" dirty="0"/>
              <a:t>25 לאימון מחדש (כמובן עם חלק מוקפא וכוונה כפיין טיון)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למטה:</a:t>
            </a:r>
          </a:p>
          <a:p>
            <a:pPr algn="r" rtl="1"/>
            <a:r>
              <a:rPr lang="he-IL" dirty="0"/>
              <a:t>מה פרויקט נותן:</a:t>
            </a:r>
          </a:p>
          <a:p>
            <a:pPr marL="228600" indent="-228600" algn="r" rtl="1">
              <a:buAutoNum type="arabicPeriod"/>
            </a:pPr>
            <a:r>
              <a:rPr lang="he-IL" dirty="0"/>
              <a:t>תוצאות טובות על דאטה נקי וממשיכות להיות אחלה גם לאחר תקיפות ותיקונים, הצעות המשך עבודה לשיפור, בדיקות על רעיונות נוספים שהיו לי במהלך הלמידה כמו </a:t>
            </a:r>
            <a:r>
              <a:rPr lang="en-US" dirty="0"/>
              <a:t>LLM</a:t>
            </a:r>
            <a:r>
              <a:rPr lang="he-IL" dirty="0"/>
              <a:t>, </a:t>
            </a:r>
            <a:r>
              <a:rPr lang="he-IL" dirty="0" err="1"/>
              <a:t>סנטימינג</a:t>
            </a:r>
            <a:r>
              <a:rPr lang="he-IL" dirty="0"/>
              <a:t>, </a:t>
            </a:r>
            <a:r>
              <a:rPr lang="he-IL" dirty="0" err="1"/>
              <a:t>דאטהבייס</a:t>
            </a:r>
            <a:r>
              <a:rPr lang="he-IL" dirty="0"/>
              <a:t> מתעדכן, למידה על </a:t>
            </a:r>
            <a:r>
              <a:rPr lang="en-US" dirty="0"/>
              <a:t>REPORT</a:t>
            </a:r>
            <a:r>
              <a:rPr lang="he-IL" dirty="0"/>
              <a:t> של מישהו </a:t>
            </a:r>
            <a:r>
              <a:rPr lang="he-IL" dirty="0" err="1"/>
              <a:t>וכו</a:t>
            </a:r>
            <a:r>
              <a:rPr lang="he-IL" dirty="0"/>
              <a:t>.</a:t>
            </a:r>
          </a:p>
          <a:p>
            <a:pPr marL="228600" indent="-228600" algn="r" rtl="1">
              <a:buAutoNum type="arabicPeriod"/>
            </a:pPr>
            <a:r>
              <a:rPr lang="he-IL" dirty="0"/>
              <a:t>הסברתי על התקפות רלוונטיות</a:t>
            </a:r>
          </a:p>
          <a:p>
            <a:pPr marL="228600" indent="-228600" algn="r" rtl="1">
              <a:buAutoNum type="arabicPeriod"/>
            </a:pPr>
            <a:r>
              <a:rPr lang="he-IL" dirty="0"/>
              <a:t>יודע את הגבולות שלו. שכבה מתוך מודל שלם, צריך להתחבר עם גלעד בנוסף לכך.</a:t>
            </a:r>
          </a:p>
          <a:p>
            <a:pPr algn="r" rtl="1"/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
</a:t>
            </a:r>
            <a:r>
              <a:rPr lang="he-IL" dirty="0"/>
              <a:t>הפרויקט שלי קשור לקורס ישירות, השתמשתי בהמון דברים שראינו בהרצאות, לקחתי השראה מרעיונות והערות שהיו כתובות וניסיתי לחשוב איך אני יכולה להתאים את זה לפרויקט שלי:</a:t>
            </a:r>
          </a:p>
          <a:p>
            <a:pPr algn="r" rtl="1"/>
            <a:r>
              <a:rPr lang="en-US" dirty="0"/>
              <a:t>DATA</a:t>
            </a:r>
            <a:r>
              <a:rPr lang="he-IL" dirty="0"/>
              <a:t>+</a:t>
            </a:r>
            <a:r>
              <a:rPr lang="en-US" dirty="0"/>
              <a:t>EDA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סטטיסטיקה, צורת דאטה – </a:t>
            </a:r>
            <a:r>
              <a:rPr lang="he-IL" dirty="0" err="1"/>
              <a:t>התפלגוויות</a:t>
            </a:r>
            <a:r>
              <a:rPr lang="he-IL" dirty="0"/>
              <a:t>, </a:t>
            </a:r>
            <a:r>
              <a:rPr lang="he-IL" dirty="0" err="1"/>
              <a:t>קורלצייה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להוסיף פה עוד מלא מההרצאות- גם מהתרגיל בית.</a:t>
            </a:r>
          </a:p>
          <a:p>
            <a:pPr algn="r" rtl="1"/>
            <a:r>
              <a:rPr lang="en-US" dirty="0"/>
              <a:t>CLUSTERING</a:t>
            </a:r>
            <a:r>
              <a:rPr lang="he-IL" dirty="0"/>
              <a:t>: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TEMPORAL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גם מהתרגיל בית וגם פה נתן לי את הרעיון </a:t>
            </a:r>
            <a:r>
              <a:rPr lang="he-IL" dirty="0" err="1"/>
              <a:t>להתסכל</a:t>
            </a:r>
            <a:r>
              <a:rPr lang="he-IL" dirty="0"/>
              <a:t> גם על דאטה מעודכן ולראות איך המודל מגיב. השפעת הזמן.</a:t>
            </a:r>
          </a:p>
          <a:p>
            <a:pPr algn="r" rtl="1"/>
            <a:r>
              <a:rPr lang="he-IL" dirty="0"/>
              <a:t>חקרתי </a:t>
            </a:r>
            <a:r>
              <a:rPr lang="he-IL" dirty="0" err="1"/>
              <a:t>דריפט</a:t>
            </a:r>
            <a:r>
              <a:rPr lang="he-IL" dirty="0"/>
              <a:t> שנוצר לאורך 15 שנה, מה קרה להתקפות.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NLP</a:t>
            </a:r>
            <a:r>
              <a:rPr lang="he-IL" dirty="0"/>
              <a:t>:</a:t>
            </a:r>
          </a:p>
          <a:p>
            <a:pPr algn="r" rtl="1"/>
            <a:r>
              <a:rPr lang="en-US" dirty="0"/>
              <a:t>TF</a:t>
            </a:r>
            <a:r>
              <a:rPr lang="he-IL" dirty="0"/>
              <a:t>-</a:t>
            </a:r>
            <a:r>
              <a:rPr lang="en-US" dirty="0"/>
              <a:t>IDF</a:t>
            </a:r>
            <a:r>
              <a:rPr lang="he-IL" dirty="0"/>
              <a:t>, עיבוד המילים, הבנת מודלים ובחירה שלהם, </a:t>
            </a:r>
            <a:r>
              <a:rPr lang="en-US" dirty="0"/>
              <a:t>BAGOFWORDS</a:t>
            </a:r>
            <a:r>
              <a:rPr lang="he-IL" dirty="0"/>
              <a:t> – אין סדר בין המילים, </a:t>
            </a:r>
            <a:r>
              <a:rPr lang="en-US" dirty="0"/>
              <a:t>N</a:t>
            </a:r>
            <a:r>
              <a:rPr lang="he-IL" dirty="0"/>
              <a:t>-</a:t>
            </a:r>
            <a:r>
              <a:rPr lang="en-US" dirty="0"/>
              <a:t>GRAMS</a:t>
            </a:r>
            <a:r>
              <a:rPr lang="he-IL" dirty="0"/>
              <a:t>, </a:t>
            </a:r>
          </a:p>
          <a:p>
            <a:pPr algn="r" rtl="1"/>
            <a:r>
              <a:rPr lang="he-IL" dirty="0"/>
              <a:t>להוסיף עוד.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MODELS</a:t>
            </a:r>
            <a:r>
              <a:rPr lang="he-IL" dirty="0"/>
              <a:t>:</a:t>
            </a:r>
          </a:p>
          <a:p>
            <a:pPr algn="r" rtl="1"/>
            <a:r>
              <a:rPr lang="en-US" dirty="0"/>
              <a:t>FIT</a:t>
            </a:r>
            <a:r>
              <a:rPr lang="he-IL" dirty="0"/>
              <a:t> + הסברים מה נכון + מטריצות רלוונטיות.</a:t>
            </a:r>
          </a:p>
          <a:p>
            <a:pPr algn="r" rtl="1"/>
            <a:br>
              <a:rPr lang="en-US" dirty="0"/>
            </a:br>
            <a:r>
              <a:rPr lang="en-US" dirty="0"/>
              <a:t>IMPROVE</a:t>
            </a:r>
            <a:r>
              <a:rPr lang="he-IL" dirty="0"/>
              <a:t>:</a:t>
            </a:r>
          </a:p>
          <a:p>
            <a:pPr algn="r" rtl="1"/>
            <a:r>
              <a:rPr lang="he-IL" dirty="0"/>
              <a:t>מציאת התקפות, חשיבה ביקורתית, הבנת </a:t>
            </a:r>
            <a:r>
              <a:rPr lang="he-IL" dirty="0" err="1"/>
              <a:t>החולשותשל</a:t>
            </a:r>
            <a:r>
              <a:rPr lang="he-IL" dirty="0"/>
              <a:t> המודל, תיקון נכון בלי פגיעה משמעותית בדברים אחרים.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ארבע בלוקים למטה:</a:t>
            </a:r>
          </a:p>
          <a:p>
            <a:pPr algn="r" rtl="1"/>
            <a:r>
              <a:rPr lang="he-IL" dirty="0"/>
              <a:t>להוסיף הסבר מה זה כל מושג שכתוב בהם, איפה השתמשתי.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IL" b="1" dirty="0"/>
              <a:t>2. </a:t>
            </a:r>
            <a:r>
              <a:rPr lang="en-IL" b="1" dirty="0" err="1"/>
              <a:t>מה</a:t>
            </a:r>
            <a:r>
              <a:rPr lang="en-IL" b="1" dirty="0"/>
              <a:t> </a:t>
            </a:r>
            <a:r>
              <a:rPr lang="en-IL" b="1" dirty="0" err="1"/>
              <a:t>מציעים</a:t>
            </a:r>
            <a:r>
              <a:rPr lang="en-IL" b="1" dirty="0"/>
              <a:t> </a:t>
            </a:r>
            <a:r>
              <a:rPr lang="en-IL" b="1" dirty="0" err="1"/>
              <a:t>המאמרים</a:t>
            </a:r>
            <a:r>
              <a:rPr lang="en-IL" b="1" dirty="0"/>
              <a:t> </a:t>
            </a:r>
            <a:r>
              <a:rPr lang="en-IL" b="1" dirty="0" err="1"/>
              <a:t>כצעדים</a:t>
            </a:r>
            <a:r>
              <a:rPr lang="en-IL" b="1" dirty="0"/>
              <a:t> </a:t>
            </a:r>
            <a:r>
              <a:rPr lang="en-IL" b="1" dirty="0" err="1"/>
              <a:t>הבאים</a:t>
            </a:r>
            <a:r>
              <a:rPr lang="en-IL" b="1" dirty="0"/>
              <a:t> (Future Work Grounded in Papers)</a:t>
            </a:r>
          </a:p>
          <a:p>
            <a:pPr algn="r" rtl="1"/>
            <a:r>
              <a:rPr lang="en-IL" b="1" dirty="0" err="1"/>
              <a:t>התגברות</a:t>
            </a:r>
            <a:r>
              <a:rPr lang="en-IL" b="1" dirty="0"/>
              <a:t> </a:t>
            </a:r>
            <a:r>
              <a:rPr lang="en-IL" b="1" dirty="0" err="1"/>
              <a:t>על</a:t>
            </a:r>
            <a:r>
              <a:rPr lang="en-IL" b="1" dirty="0"/>
              <a:t> </a:t>
            </a:r>
            <a:r>
              <a:rPr lang="en-IL" b="1" dirty="0" err="1"/>
              <a:t>מחיר</a:t>
            </a:r>
            <a:r>
              <a:rPr lang="en-IL" b="1" dirty="0"/>
              <a:t> </a:t>
            </a:r>
            <a:r>
              <a:rPr lang="en-IL" b="1" dirty="0" err="1"/>
              <a:t>הדילול</a:t>
            </a:r>
            <a:r>
              <a:rPr lang="en-IL" b="1" dirty="0"/>
              <a:t> </a:t>
            </a:r>
            <a:r>
              <a:rPr lang="en-IL" b="1" dirty="0" err="1"/>
              <a:t>וזיהוי</a:t>
            </a:r>
            <a:r>
              <a:rPr lang="en-IL" b="1" dirty="0"/>
              <a:t> </a:t>
            </a:r>
            <a:r>
              <a:rPr lang="en-IL" b="1" dirty="0" err="1"/>
              <a:t>אנומליות</a:t>
            </a:r>
            <a:r>
              <a:rPr lang="en-IL" b="1" dirty="0"/>
              <a:t>:</a:t>
            </a:r>
            <a:endParaRPr lang="en-IL" dirty="0"/>
          </a:p>
          <a:p>
            <a:pPr lvl="1" algn="r" rtl="1"/>
            <a:r>
              <a:rPr lang="en-IL" b="1" dirty="0"/>
              <a:t>Fleshman 2018 (Non-negative nets):</a:t>
            </a:r>
            <a:r>
              <a:rPr lang="en-IL" dirty="0"/>
              <a:t> </a:t>
            </a:r>
            <a:r>
              <a:rPr lang="en-IL" dirty="0" err="1"/>
              <a:t>שימוש</a:t>
            </a:r>
            <a:r>
              <a:rPr lang="en-IL" dirty="0"/>
              <a:t> </a:t>
            </a:r>
            <a:r>
              <a:rPr lang="en-IL" dirty="0" err="1"/>
              <a:t>ברשתות</a:t>
            </a:r>
            <a:r>
              <a:rPr lang="en-IL" dirty="0"/>
              <a:t> </a:t>
            </a:r>
            <a:r>
              <a:rPr lang="en-IL" dirty="0" err="1"/>
              <a:t>ניורונים</a:t>
            </a:r>
            <a:r>
              <a:rPr lang="en-IL" dirty="0"/>
              <a:t> </a:t>
            </a:r>
            <a:r>
              <a:rPr lang="en-IL" dirty="0" err="1"/>
              <a:t>לא-שליליות</a:t>
            </a:r>
            <a:r>
              <a:rPr lang="en-IL" dirty="0"/>
              <a:t> </a:t>
            </a:r>
            <a:r>
              <a:rPr lang="en-IL" dirty="0" err="1"/>
              <a:t>לשמירה</a:t>
            </a:r>
            <a:r>
              <a:rPr lang="en-IL" dirty="0"/>
              <a:t> </a:t>
            </a:r>
            <a:r>
              <a:rPr lang="en-IL" dirty="0" err="1"/>
              <a:t>על</a:t>
            </a:r>
            <a:r>
              <a:rPr lang="en-IL" dirty="0"/>
              <a:t> </a:t>
            </a:r>
            <a:r>
              <a:rPr lang="en-IL" dirty="0" err="1"/>
              <a:t>ההבטחה</a:t>
            </a:r>
            <a:r>
              <a:rPr lang="en-IL" dirty="0"/>
              <a:t> </a:t>
            </a:r>
            <a:r>
              <a:rPr lang="en-IL" dirty="0" err="1"/>
              <a:t>נגד</a:t>
            </a:r>
            <a:r>
              <a:rPr lang="en-IL" dirty="0"/>
              <a:t> </a:t>
            </a:r>
            <a:r>
              <a:rPr lang="en-IL" dirty="0" err="1"/>
              <a:t>דילול</a:t>
            </a:r>
            <a:r>
              <a:rPr lang="en-IL" dirty="0"/>
              <a:t> — </a:t>
            </a:r>
            <a:r>
              <a:rPr lang="en-IL" dirty="0" err="1"/>
              <a:t>ללא</a:t>
            </a:r>
            <a:r>
              <a:rPr lang="en-IL" dirty="0"/>
              <a:t> </a:t>
            </a:r>
            <a:r>
              <a:rPr lang="en-IL" dirty="0" err="1"/>
              <a:t>המחיר</a:t>
            </a:r>
            <a:r>
              <a:rPr lang="en-IL" dirty="0"/>
              <a:t> ב-F1 </a:t>
            </a:r>
            <a:r>
              <a:rPr lang="en-IL" dirty="0" err="1"/>
              <a:t>ובדיוק</a:t>
            </a:r>
            <a:r>
              <a:rPr lang="en-IL" dirty="0"/>
              <a:t>.</a:t>
            </a:r>
          </a:p>
          <a:p>
            <a:pPr lvl="1" algn="r" rtl="1"/>
            <a:r>
              <a:rPr lang="en-IL" b="1" dirty="0" err="1"/>
              <a:t>זיהוי</a:t>
            </a:r>
            <a:r>
              <a:rPr lang="en-IL" b="1" dirty="0"/>
              <a:t> </a:t>
            </a:r>
            <a:r>
              <a:rPr lang="en-IL" b="1" dirty="0" err="1"/>
              <a:t>אנומליות</a:t>
            </a:r>
            <a:r>
              <a:rPr lang="en-IL" b="1" dirty="0"/>
              <a:t> (Isolation Forest / One-Class SVM):</a:t>
            </a:r>
            <a:r>
              <a:rPr lang="en-IL" dirty="0"/>
              <a:t> </a:t>
            </a:r>
            <a:r>
              <a:rPr lang="en-IL" dirty="0" err="1"/>
              <a:t>סימון</a:t>
            </a:r>
            <a:r>
              <a:rPr lang="en-IL" dirty="0"/>
              <a:t> </a:t>
            </a:r>
            <a:r>
              <a:rPr lang="en-IL" dirty="0" err="1"/>
              <a:t>מיילים</a:t>
            </a:r>
            <a:r>
              <a:rPr lang="en-IL" dirty="0"/>
              <a:t> </a:t>
            </a:r>
            <a:r>
              <a:rPr lang="en-IL" dirty="0" err="1"/>
              <a:t>מוסווים</a:t>
            </a:r>
            <a:r>
              <a:rPr lang="en-IL" dirty="0"/>
              <a:t> </a:t>
            </a:r>
            <a:r>
              <a:rPr lang="en-IL" dirty="0" err="1"/>
              <a:t>כאנומליה</a:t>
            </a:r>
            <a:r>
              <a:rPr lang="en-IL" dirty="0"/>
              <a:t> </a:t>
            </a:r>
            <a:r>
              <a:rPr lang="en-IL" dirty="0" err="1"/>
              <a:t>עוד</a:t>
            </a:r>
            <a:r>
              <a:rPr lang="en-IL" dirty="0"/>
              <a:t> </a:t>
            </a:r>
            <a:r>
              <a:rPr lang="en-IL" dirty="0" err="1"/>
              <a:t>לפני</a:t>
            </a:r>
            <a:r>
              <a:rPr lang="en-IL" dirty="0"/>
              <a:t> </a:t>
            </a:r>
            <a:r>
              <a:rPr lang="en-IL" dirty="0" err="1"/>
              <a:t>הסיווג</a:t>
            </a:r>
            <a:r>
              <a:rPr lang="en-IL" dirty="0"/>
              <a:t>.</a:t>
            </a:r>
          </a:p>
          <a:p>
            <a:pPr algn="r" rtl="1"/>
            <a:r>
              <a:rPr lang="en-IL" b="1" dirty="0" err="1"/>
              <a:t>תוקף</a:t>
            </a:r>
            <a:r>
              <a:rPr lang="en-IL" b="1" dirty="0"/>
              <a:t> </a:t>
            </a:r>
            <a:r>
              <a:rPr lang="en-IL" b="1" dirty="0" err="1"/>
              <a:t>חזק</a:t>
            </a:r>
            <a:r>
              <a:rPr lang="en-IL" b="1" dirty="0"/>
              <a:t> </a:t>
            </a:r>
            <a:r>
              <a:rPr lang="en-IL" b="1" dirty="0" err="1"/>
              <a:t>יותר</a:t>
            </a:r>
            <a:r>
              <a:rPr lang="en-IL" b="1" dirty="0"/>
              <a:t> </a:t>
            </a:r>
            <a:r>
              <a:rPr lang="en-IL" b="1" dirty="0" err="1"/>
              <a:t>והרחבת</a:t>
            </a:r>
            <a:r>
              <a:rPr lang="en-IL" b="1" dirty="0"/>
              <a:t> </a:t>
            </a:r>
            <a:r>
              <a:rPr lang="en-IL" b="1" dirty="0" err="1"/>
              <a:t>ההגנה</a:t>
            </a:r>
            <a:r>
              <a:rPr lang="en-IL" b="1" dirty="0"/>
              <a:t> </a:t>
            </a:r>
            <a:r>
              <a:rPr lang="en-IL" b="1" dirty="0" err="1"/>
              <a:t>לטעויות</a:t>
            </a:r>
            <a:r>
              <a:rPr lang="en-IL" b="1" dirty="0"/>
              <a:t> </a:t>
            </a:r>
            <a:r>
              <a:rPr lang="en-IL" b="1" dirty="0" err="1"/>
              <a:t>הקלדה</a:t>
            </a:r>
            <a:r>
              <a:rPr lang="en-IL" b="1" dirty="0"/>
              <a:t>:</a:t>
            </a:r>
            <a:endParaRPr lang="en-IL" dirty="0"/>
          </a:p>
          <a:p>
            <a:pPr lvl="1" algn="r" rtl="1"/>
            <a:r>
              <a:rPr lang="en-IL" b="1" dirty="0"/>
              <a:t>Li 2019 (</a:t>
            </a:r>
            <a:r>
              <a:rPr lang="en-IL" b="1" dirty="0" err="1"/>
              <a:t>TextBugger</a:t>
            </a:r>
            <a:r>
              <a:rPr lang="en-IL" b="1" dirty="0"/>
              <a:t>):</a:t>
            </a:r>
            <a:r>
              <a:rPr lang="en-IL" dirty="0"/>
              <a:t> </a:t>
            </a:r>
            <a:r>
              <a:rPr lang="en-IL" dirty="0" err="1"/>
              <a:t>יצירת</a:t>
            </a:r>
            <a:r>
              <a:rPr lang="en-IL" dirty="0"/>
              <a:t> </a:t>
            </a:r>
            <a:r>
              <a:rPr lang="en-IL" dirty="0" err="1"/>
              <a:t>תוקף</a:t>
            </a:r>
            <a:r>
              <a:rPr lang="en-IL" dirty="0"/>
              <a:t> </a:t>
            </a:r>
            <a:r>
              <a:rPr lang="en-IL" dirty="0" err="1"/>
              <a:t>שכתוב</a:t>
            </a:r>
            <a:r>
              <a:rPr lang="en-IL" dirty="0"/>
              <a:t> </a:t>
            </a:r>
            <a:r>
              <a:rPr lang="en-IL" dirty="0" err="1"/>
              <a:t>ניורוני</a:t>
            </a:r>
            <a:r>
              <a:rPr lang="en-IL" dirty="0"/>
              <a:t> (Neural paraphrase attacker) </a:t>
            </a:r>
            <a:r>
              <a:rPr lang="en-IL" dirty="0" err="1"/>
              <a:t>בקנה</a:t>
            </a:r>
            <a:r>
              <a:rPr lang="en-IL" dirty="0"/>
              <a:t> </a:t>
            </a:r>
            <a:r>
              <a:rPr lang="en-IL" dirty="0" err="1"/>
              <a:t>מידה</a:t>
            </a:r>
            <a:r>
              <a:rPr lang="en-IL" dirty="0"/>
              <a:t> </a:t>
            </a:r>
            <a:r>
              <a:rPr lang="en-IL" dirty="0" err="1"/>
              <a:t>רחב</a:t>
            </a:r>
            <a:r>
              <a:rPr lang="en-IL" dirty="0"/>
              <a:t>.</a:t>
            </a:r>
          </a:p>
          <a:p>
            <a:pPr lvl="1" algn="r" rtl="1"/>
            <a:r>
              <a:rPr lang="en-IL" b="1" dirty="0"/>
              <a:t>Pruthi 2019:</a:t>
            </a:r>
            <a:r>
              <a:rPr lang="en-IL" dirty="0"/>
              <a:t> </a:t>
            </a:r>
            <a:r>
              <a:rPr lang="en-IL" dirty="0" err="1"/>
              <a:t>הרחבת</a:t>
            </a:r>
            <a:r>
              <a:rPr lang="en-IL" dirty="0"/>
              <a:t> </a:t>
            </a:r>
            <a:r>
              <a:rPr lang="en-IL" dirty="0" err="1"/>
              <a:t>ההוכחה</a:t>
            </a:r>
            <a:r>
              <a:rPr lang="en-IL" dirty="0"/>
              <a:t> </a:t>
            </a:r>
            <a:r>
              <a:rPr lang="en-IL" dirty="0" err="1"/>
              <a:t>המתמטית</a:t>
            </a:r>
            <a:r>
              <a:rPr lang="en-IL" dirty="0"/>
              <a:t> (Certificate) </a:t>
            </a:r>
            <a:r>
              <a:rPr lang="en-IL" dirty="0" err="1"/>
              <a:t>כך</a:t>
            </a:r>
            <a:r>
              <a:rPr lang="en-IL" dirty="0"/>
              <a:t> </a:t>
            </a:r>
            <a:r>
              <a:rPr lang="en-IL" dirty="0" err="1"/>
              <a:t>שתגן</a:t>
            </a:r>
            <a:r>
              <a:rPr lang="en-IL" dirty="0"/>
              <a:t> </a:t>
            </a:r>
            <a:r>
              <a:rPr lang="en-IL" dirty="0" err="1"/>
              <a:t>גם</a:t>
            </a:r>
            <a:r>
              <a:rPr lang="en-IL" dirty="0"/>
              <a:t> </a:t>
            </a:r>
            <a:r>
              <a:rPr lang="en-IL" dirty="0" err="1"/>
              <a:t>מול</a:t>
            </a:r>
            <a:r>
              <a:rPr lang="en-IL" dirty="0"/>
              <a:t> </a:t>
            </a:r>
            <a:r>
              <a:rPr lang="en-IL" dirty="0" err="1"/>
              <a:t>שגיאות</a:t>
            </a:r>
            <a:r>
              <a:rPr lang="en-IL" dirty="0"/>
              <a:t> </a:t>
            </a:r>
            <a:r>
              <a:rPr lang="en-IL" dirty="0" err="1"/>
              <a:t>הקלדה</a:t>
            </a:r>
            <a:r>
              <a:rPr lang="en-IL" dirty="0"/>
              <a:t> </a:t>
            </a:r>
            <a:r>
              <a:rPr lang="en-IL" dirty="0" err="1"/>
              <a:t>רגילות</a:t>
            </a:r>
            <a:r>
              <a:rPr lang="en-IL" dirty="0"/>
              <a:t> (Typos).</a:t>
            </a:r>
          </a:p>
          <a:p>
            <a:pPr lvl="1" algn="r" rtl="1"/>
            <a:r>
              <a:rPr lang="en-IL" b="1" dirty="0" err="1"/>
              <a:t>שילוב</a:t>
            </a:r>
            <a:r>
              <a:rPr lang="en-IL" b="1" dirty="0"/>
              <a:t> </a:t>
            </a:r>
            <a:r>
              <a:rPr lang="en-IL" b="1" dirty="0" err="1"/>
              <a:t>עם</a:t>
            </a:r>
            <a:r>
              <a:rPr lang="en-IL" b="1" dirty="0"/>
              <a:t> </a:t>
            </a:r>
            <a:r>
              <a:rPr lang="en-IL" b="1" dirty="0" err="1"/>
              <a:t>גלעד</a:t>
            </a:r>
            <a:r>
              <a:rPr lang="en-IL" b="1" dirty="0"/>
              <a:t>:</a:t>
            </a:r>
            <a:r>
              <a:rPr lang="en-IL" dirty="0"/>
              <a:t> </a:t>
            </a:r>
            <a:r>
              <a:rPr lang="en-IL" dirty="0" err="1"/>
              <a:t>מיזוג</a:t>
            </a:r>
            <a:r>
              <a:rPr lang="en-IL" dirty="0"/>
              <a:t> </a:t>
            </a:r>
            <a:r>
              <a:rPr lang="en-IL" dirty="0" err="1"/>
              <a:t>הגלאי</a:t>
            </a:r>
            <a:r>
              <a:rPr lang="en-IL" dirty="0"/>
              <a:t> </a:t>
            </a:r>
            <a:r>
              <a:rPr lang="en-IL" dirty="0" err="1"/>
              <a:t>עם</a:t>
            </a:r>
            <a:r>
              <a:rPr lang="en-IL" dirty="0"/>
              <a:t> </a:t>
            </a:r>
            <a:r>
              <a:rPr lang="en-IL" dirty="0" err="1"/>
              <a:t>הסיגנל</a:t>
            </a:r>
            <a:r>
              <a:rPr lang="en-IL" dirty="0"/>
              <a:t> </a:t>
            </a:r>
            <a:r>
              <a:rPr lang="en-IL" dirty="0" err="1"/>
              <a:t>העצמאי</a:t>
            </a:r>
            <a:r>
              <a:rPr lang="en-IL" dirty="0"/>
              <a:t> </a:t>
            </a:r>
            <a:r>
              <a:rPr lang="en-IL" dirty="0" err="1"/>
              <a:t>של</a:t>
            </a:r>
            <a:r>
              <a:rPr lang="en-IL" dirty="0"/>
              <a:t> </a:t>
            </a:r>
            <a:r>
              <a:rPr lang="en-IL" dirty="0" err="1"/>
              <a:t>גלעד</a:t>
            </a:r>
            <a:r>
              <a:rPr lang="en-I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490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6079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251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756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229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699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736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470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7359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3839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641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7338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63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294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701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69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521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56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7613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E19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66928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CYBER · FINAL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 detection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3291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content-based phishing detector.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4297680"/>
            <a:ext cx="2011680" cy="45720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 Bercovitz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/ NLP detector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is a language attack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</a:t>
            </a:r>
            <a:r>
              <a:rPr lang="en-US" sz="1400" b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r>
              <a:rPr lang="en-US" sz="14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 works on human trust, through the words. So a text</a:t>
            </a:r>
            <a:r>
              <a:rPr lang="he-IL" sz="14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can read the attack itself.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566928" y="2167128"/>
            <a:ext cx="50292" cy="877824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768096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IT — reset now.”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01568" y="2057400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3401568" y="2167128"/>
            <a:ext cx="50292" cy="877824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602736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02736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“Suspended in 30 min.”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36208" y="2057400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236208" y="2167128"/>
            <a:ext cx="50292" cy="877824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37376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7376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“You’ve won — claim it.”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0848" y="2057400"/>
            <a:ext cx="2615184" cy="1097280"/>
          </a:xfrm>
          <a:prstGeom prst="roundRect">
            <a:avLst>
              <a:gd name="adj" fmla="val 6667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9070848" y="2167128"/>
            <a:ext cx="50292" cy="877824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272016" y="2157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72016" y="2450592"/>
            <a:ext cx="2267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“Everyone already did.”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21208" y="428828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B2B32"/>
          </a:solidFill>
          <a:ln w="16510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566928" y="4288289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language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(me)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794760" y="4562609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480560" y="428828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B2B32"/>
          </a:solidFill>
          <a:ln w="16510">
            <a:solidFill>
              <a:srgbClr val="7D919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526280" y="4288289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D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(Gilad)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26680" y="456260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366760" y="428828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8412480" y="4288289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decision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people, not computers · two signals — when one is defeated, the other still fires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attack, defend — and the model that does it.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615184" cy="502920"/>
          </a:xfrm>
          <a:prstGeom prst="roundRect">
            <a:avLst>
              <a:gd name="adj" fmla="val 49091"/>
            </a:avLst>
          </a:prstGeom>
          <a:solidFill>
            <a:srgbClr val="232B3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D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63824" y="1572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01568" y="1554480"/>
            <a:ext cx="2615184" cy="502920"/>
          </a:xfrm>
          <a:prstGeom prst="roundRect">
            <a:avLst>
              <a:gd name="adj" fmla="val 49091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3401568" y="155448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study papers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98464" y="1572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1554480"/>
            <a:ext cx="2615184" cy="502920"/>
          </a:xfrm>
          <a:prstGeom prst="roundRect">
            <a:avLst>
              <a:gd name="adj" fmla="val 49091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236208" y="155448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adapt attacks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33104" y="1572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70848" y="1554480"/>
            <a:ext cx="2615184" cy="502920"/>
          </a:xfrm>
          <a:prstGeom prst="roundRect">
            <a:avLst>
              <a:gd name="adj" fmla="val 49091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070848" y="155448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defend, loop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423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B32"/>
          </a:solidFill>
          <a:ln w="16510">
            <a:solidFill>
              <a:srgbClr val="7D919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12648" y="24231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D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51176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916936" y="2423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B32"/>
          </a:solidFill>
          <a:ln w="16510">
            <a:solidFill>
              <a:srgbClr val="7D919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2962656" y="24231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D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links,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look-alikes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01184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266944" y="2423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B32"/>
          </a:solidFill>
          <a:ln w="16510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5312664" y="24231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char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51192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616952" y="2423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B32"/>
          </a:solidFill>
          <a:ln w="16510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662672" y="24231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01200" y="274320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966960" y="2423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B2B32"/>
          </a:solidFill>
          <a:ln w="16510">
            <a:solidFill>
              <a:srgbClr val="D4AB4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10012680" y="2423160"/>
            <a:ext cx="1874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</a:t>
            </a:r>
            <a:endParaRPr lang="en-US" sz="13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66928" y="3840480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68096" y="3904488"/>
            <a:ext cx="10692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TF-IDF(t,d) = tf(t,d) × log(N / df(t))</a:t>
            </a: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how important a word is here vs everywhere – </a:t>
            </a:r>
            <a:r>
              <a:rPr lang="he-IL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חשובה מילה כאן ביחס לשאר 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4206240"/>
            <a:ext cx="10692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σ(w·x + b)</a:t>
            </a:r>
            <a:r>
              <a:rPr lang="en-US" sz="11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add each word's weight × TF-IDF, squash to a probability 0–1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47548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n-grams give robustness </a:t>
            </a:r>
            <a:r>
              <a:rPr lang="en-US" sz="13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(‘cl1ck’ still shares ‘lic’, ‘ick’ with ‘click’); the linear model stays explainable. Corpus: CEAS_08, ~27k emails, rebalanced to a realistic 35% phishing.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iterative loop is the contribution · TF-IDF = importance of a word to this email vs the corpus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B7C34-F317-B46D-CA43-2A5780CC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9331B9-0E29-3BE2-6157-D18BAB47C9DF}"/>
              </a:ext>
            </a:extLst>
          </p:cNvPr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FUTURE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93E6DD-F0AC-21D8-6F90-2B8F4B9AB89F}"/>
              </a:ext>
            </a:extLst>
          </p:cNvPr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from the taxonomy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DD7584-6054-ADC8-8DDC-77C30E65817F}"/>
              </a:ext>
            </a:extLst>
          </p:cNvPr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3CF84D-0871-6044-6664-19E95E1B31BD}"/>
              </a:ext>
            </a:extLst>
          </p:cNvPr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F0CC2A-25F4-47B4-11FF-59F0B2B7F01F}"/>
              </a:ext>
            </a:extLst>
          </p:cNvPr>
          <p:cNvSpPr/>
          <p:nvPr/>
        </p:nvSpPr>
        <p:spPr>
          <a:xfrm>
            <a:off x="566928" y="1911096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9772A9-C4B0-83F1-53A0-D7B0ED9A3341}"/>
              </a:ext>
            </a:extLst>
          </p:cNvPr>
          <p:cNvSpPr/>
          <p:nvPr/>
        </p:nvSpPr>
        <p:spPr>
          <a:xfrm>
            <a:off x="566928" y="2029968"/>
            <a:ext cx="50292" cy="1362456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2A8BC6-516D-9013-2F46-A034EE02492A}"/>
              </a:ext>
            </a:extLst>
          </p:cNvPr>
          <p:cNvSpPr/>
          <p:nvPr/>
        </p:nvSpPr>
        <p:spPr>
          <a:xfrm>
            <a:off x="768096" y="2029968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TAXONOMY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EB4BFD-3DF9-2BED-9ED0-ADE111688FEF}"/>
              </a:ext>
            </a:extLst>
          </p:cNvPr>
          <p:cNvSpPr/>
          <p:nvPr/>
        </p:nvSpPr>
        <p:spPr>
          <a:xfrm>
            <a:off x="768096" y="2313432"/>
            <a:ext cx="5120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Homoglyphs = evasion; importance-guided = targeted grey-box; false reports = poisoning; DistilBERT = transfer. Char attacks (‘Get r1ch qu1ck’, Cyrillic ‘paypal’) are the lecture's own examples.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D80B81-09E0-00F6-ABA7-0F46A6760674}"/>
              </a:ext>
            </a:extLst>
          </p:cNvPr>
          <p:cNvSpPr/>
          <p:nvPr/>
        </p:nvSpPr>
        <p:spPr>
          <a:xfrm>
            <a:off x="6126480" y="1911096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BD9804-ECEF-6AEA-0138-8D37B138DD6F}"/>
              </a:ext>
            </a:extLst>
          </p:cNvPr>
          <p:cNvSpPr/>
          <p:nvPr/>
        </p:nvSpPr>
        <p:spPr>
          <a:xfrm>
            <a:off x="6126480" y="2029968"/>
            <a:ext cx="50292" cy="136245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77CD00B-DB7D-EA25-73F6-397502B8BF7D}"/>
              </a:ext>
            </a:extLst>
          </p:cNvPr>
          <p:cNvSpPr/>
          <p:nvPr/>
        </p:nvSpPr>
        <p:spPr>
          <a:xfrm>
            <a:off x="6327648" y="2029968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 NAMED IN CLASS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0AAFC2F-970B-939E-7C04-9465F24D321A}"/>
              </a:ext>
            </a:extLst>
          </p:cNvPr>
          <p:cNvSpPr/>
          <p:nvPr/>
        </p:nvSpPr>
        <p:spPr>
          <a:xfrm>
            <a:off x="6327648" y="2313432"/>
            <a:ext cx="5120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Canonicalising homoglyphs + adversarial training = my UTS-39 certificate + adversarial training, measured per attack tier.</a:t>
            </a:r>
            <a:endParaRPr lang="en-US" sz="11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2D89E3D-6BEE-0660-0DEF-C5A20BC27DEC}"/>
              </a:ext>
            </a:extLst>
          </p:cNvPr>
          <p:cNvSpPr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for drift, from the course:  </a:t>
            </a:r>
            <a:r>
              <a:rPr lang="en-US" sz="1350" b="1" i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2008 model is Taleb's turkey</a:t>
            </a:r>
            <a:r>
              <a:rPr lang="en-US" sz="135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confident right up to Thanksgiving.</a:t>
            </a:r>
            <a:endParaRPr lang="en-US" sz="13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5093CB0-BBB8-D827-4986-365F7D2BAC1F}"/>
              </a:ext>
            </a:extLst>
          </p:cNvPr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· poisoning · transfer · normalisation — the syllabus; and the open problems, named with papers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0443314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Datasets, and how I cleaned them.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SETS I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CEAS_08  </a:t>
            </a: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set — both classes, one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26,633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5669280" cy="0"/>
          </a:xfrm>
          <a:prstGeom prst="line">
            <a:avLst/>
          </a:prstGeom>
          <a:noFill/>
          <a:ln w="9525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66928" y="24323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 / Enron / Ling  </a:t>
            </a: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sources — fairness 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432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889504"/>
            <a:ext cx="5669280" cy="0"/>
          </a:xfrm>
          <a:prstGeom prst="line">
            <a:avLst/>
          </a:prstGeom>
          <a:noFill/>
          <a:ln w="9525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66928" y="29443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phishing 2023–2025  </a:t>
            </a: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scams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9443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401568"/>
            <a:ext cx="5669280" cy="0"/>
          </a:xfrm>
          <a:prstGeom prst="line">
            <a:avLst/>
          </a:prstGeom>
          <a:noFill/>
          <a:ln w="9525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566928" y="34564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normal mail 2024  </a:t>
            </a: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legit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4564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913632"/>
            <a:ext cx="5669280" cy="0"/>
          </a:xfrm>
          <a:prstGeom prst="line">
            <a:avLst/>
          </a:prstGeom>
          <a:noFill/>
          <a:ln w="9525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566928" y="396849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  </a:t>
            </a: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set — re-check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968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5,809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425696"/>
            <a:ext cx="5669280" cy="0"/>
          </a:xfrm>
          <a:prstGeom prst="line">
            <a:avLst/>
          </a:prstGeom>
          <a:noFill/>
          <a:ln w="9525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6537960" y="155448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1B2B32"/>
          </a:solidFill>
          <a:ln w="17780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766560" y="16824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CLEANED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59168" y="20116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web links (the partner's signal)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59168" y="23088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spacing · cut over-long 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9168" y="26060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 before splitting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9032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59168" y="29032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to a realistic 35% phishing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59168" y="32004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60 / 20 / 20 with a fixed seed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34975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9168" y="34975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everything → exact reproduction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4023360"/>
            <a:ext cx="5074920" cy="1600200"/>
          </a:xfrm>
          <a:prstGeom prst="roundRect">
            <a:avLst>
              <a:gd name="adj" fmla="val 4000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6537960" y="4142232"/>
            <a:ext cx="50292" cy="136245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6739128" y="4142232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CHOICE (AVOID A SHORTCUT)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39128" y="4425696"/>
            <a:ext cx="47091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can guess an email’s source 99% of the time.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train on ONE source (CEAS) that has both classes — otherwise the model could “cheat” by spotting the source instead of the scam.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023360"/>
            <a:ext cx="5669280" cy="1600200"/>
          </a:xfrm>
          <a:prstGeom prst="roundRect">
            <a:avLst>
              <a:gd name="adj" fmla="val 4000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566928" y="4142232"/>
            <a:ext cx="50292" cy="1362456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768096" y="4142232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DATA CHECKS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" y="4425696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 are almost all plain text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clean baseline the letter-attack later breaks). Dates are clean — 99.7% in 2007–2009, no fake “1970” zero-dates.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mixed set, cleaned and hashed so the results reproduce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said first.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pic>
        <p:nvPicPr>
          <p:cNvPr id="6" name="Image 0" descr="./figs/F11_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00200"/>
            <a:ext cx="58521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89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features, and how they relate (Spearman rank correlation)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−0.57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length vs phishing: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mail is shorter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≪ 0.001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932688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Mann–Whitney test: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real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D4A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21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85800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VIF: length &amp; word-count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each other (&gt;10 = duplicate)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4892040"/>
            <a:ext cx="4754880" cy="1097280"/>
          </a:xfrm>
          <a:prstGeom prst="roundRect">
            <a:avLst>
              <a:gd name="adj" fmla="val 5833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2"/>
          <p:cNvSpPr/>
          <p:nvPr/>
        </p:nvSpPr>
        <p:spPr>
          <a:xfrm>
            <a:off x="6858000" y="5010912"/>
            <a:ext cx="50292" cy="859536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7059168" y="5010912"/>
            <a:ext cx="4425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59168" y="529437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(not Pearson) because the features are skewed — ranks ignore outliers. These meta-features are diagnostics; the real signal is which words appear.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statistics · a proper hypothesis test · a redundancy check — standard EDA, applied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Near-perfect — and why that's a warning.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24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063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66928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063240" y="2624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3063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063240" y="38130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5,327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1605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5A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2·precision·recall/(precision+recall)</a:t>
            </a: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beats every baseline; the 'always-legit' baseline scores 65% accuracy but catches 0 phishing (accuracy paradox).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clean test 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legit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0616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phishing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419709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23317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B2B32"/>
          </a:solidFill>
          <a:ln w="15875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223760" y="249631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3,459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223760" y="31729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00616" y="23317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B2B32"/>
          </a:solidFill>
          <a:ln w="15875">
            <a:solidFill>
              <a:srgbClr val="E97A6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9500616" y="249631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500616" y="31729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– false alarm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23760" y="3877056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B2B32"/>
          </a:solidFill>
          <a:ln w="15875">
            <a:solidFill>
              <a:srgbClr val="E97A6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223760" y="404164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7223760" y="4718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- missed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00616" y="3877056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B2B32"/>
          </a:solidFill>
          <a:ln w="15875">
            <a:solidFill>
              <a:srgbClr val="3CB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9500616" y="404164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1,860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9500616" y="471830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525780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near-perfect score is a property of clean, single-source data — not proof it works in the wild. From here, I attack my own model.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paradox: a model can score 65% and catch zero phishing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1 · HOMOGLYPHS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letter swaps — and a defence that generalises.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0292" cy="1591056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68096" y="171907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— HOMOGLYPHS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002536"/>
            <a:ext cx="51206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Latin letters for identical-looking Cyrillic.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reads it unchanged; the model sees new, unknown words, so the phishing words vanish. Nearly free for the attacker (Eger 2019; Boucher 2022).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66928" y="3685032"/>
            <a:ext cx="50292" cy="177393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68096" y="368503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NORMALISE + CHAR N-GRAMS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3968496"/>
            <a:ext cx="512064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look-alikes back to plain letters before classifying.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even repairs an unseen attack (full-width) via generic Unicode folding — a principled defence generalises; adversarial training only memorises what it saw.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2700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</a:t>
            </a:r>
            <a:r>
              <a:rPr lang="en-US" sz="2700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rify your </a:t>
            </a:r>
            <a:r>
              <a:rPr lang="en-US" sz="2700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r>
              <a:rPr lang="en-US" sz="2700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r>
              <a:rPr lang="en-US" sz="2700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</a:t>
            </a:r>
            <a:r>
              <a:rPr lang="en-US" sz="2700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the same → evades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675120" y="2926080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caught (recall) · a human reads the same word; the model sees a different one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2 · ADAPTIVE → CERTIFICATE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 attacker 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0292" cy="1728216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68096" y="171907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— IMPORTANCE-GUIDED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002536"/>
            <a:ext cx="512064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 only the model's highest-weight words, with look-alikes my hand-list missed.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 edits, aimed, cut recall 0.98 → 0.74; a typical email flips at edit (Levenshtein) distance ≈ 9. Even the defended model drops to 0.88.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66928" y="3822192"/>
            <a:ext cx="50292" cy="168249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68096" y="382219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UTS-39 CERTIFICATE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4105656"/>
            <a:ext cx="5120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hand-list for the full official confusables list (Unicode UTS #39), as browsers use.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back to 0.998, and a proof: cleaning restores the exact original for 100% of phishing — the decision provably cannot change.</a:t>
            </a:r>
            <a:endParaRPr lang="en-US" sz="11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180212342"/>
              </p:ext>
            </p:extLst>
          </p:nvPr>
        </p:nvGraphicFramePr>
        <p:xfrm>
          <a:off x="7345375" y="3022092"/>
          <a:ext cx="38404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arms race ends by raising the cost of attack, not by a lucky score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3 · DILUTION → CERTIFICATE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 the words - and a model that can't be diluted.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66928" y="1828800"/>
          <a:ext cx="6583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7607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 filler words added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1828800"/>
            <a:ext cx="4206240" cy="1349829"/>
          </a:xfrm>
          <a:prstGeom prst="roundRect">
            <a:avLst>
              <a:gd name="adj" fmla="val 3590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7406640" y="1947672"/>
            <a:ext cx="50292" cy="1107585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607808" y="1947672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— DILUTION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07808" y="2231136"/>
            <a:ext cx="3840480" cy="1012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Bury the scam in innocent filler (good-word attack, Lowd &amp; Meek 2005). 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06640" y="3749040"/>
            <a:ext cx="4206240" cy="1920240"/>
          </a:xfrm>
          <a:prstGeom prst="roundRect">
            <a:avLst>
              <a:gd name="adj" fmla="val 3333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7406640" y="3867912"/>
            <a:ext cx="50292" cy="168249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7607808" y="3867912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- ONE-WAY (MONOTONE)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07808" y="4151376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can only ADD suspicion, never remove it.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padding can only push the score up </a:t>
            </a:r>
            <a:r>
              <a:rPr lang="he-IL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provably can't clear a scam. </a:t>
            </a:r>
            <a:endParaRPr lang="he-IL" sz="1150" dirty="0">
              <a:solidFill>
                <a:srgbClr val="95A6A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0.87, clean F1 0.998 → 0.91. </a:t>
            </a:r>
            <a:endParaRPr lang="he-IL" sz="1150" dirty="0">
              <a:solidFill>
                <a:srgbClr val="95A6A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net, not a replacement.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 classes now closed by proof: letter tricks, and word-padding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arms race, in one line.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740021659"/>
              </p:ext>
            </p:extLst>
          </p:nvPr>
        </p:nvGraphicFramePr>
        <p:xfrm>
          <a:off x="640080" y="1828800"/>
          <a:ext cx="10972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dip is an attack; each recovery is a defence. Two recoveries (UTS-39, monotone) are guaranteed, not just measured. The open frontier — full rewording — is why fusion matters.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provoked a smarter attack — two are now closed by proof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· SPACE &amp;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inbox, and a different year.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— a different inbox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r>
              <a:rPr lang="en-US" sz="2600" dirty="0">
                <a:solidFill>
                  <a:srgbClr val="6E7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he-IL" sz="3400" b="1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5486400" cy="1929384"/>
          </a:xfrm>
          <a:prstGeom prst="roundRect">
            <a:avLst>
              <a:gd name="adj" fmla="val 2333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71500" y="2999232"/>
            <a:ext cx="45719" cy="1517904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68096" y="299923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NOT JUST REPORTED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3282696"/>
            <a:ext cx="512064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falls when tested on OTHER datasets (Nazario, Enron…) — clean emails, not attacks; this is distribution shift.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it's recoverable: out-of-distribution AUC is still 0.78, so re-tuning the threshold recovers F1 to 0.75. The real gap left is vocabulary — out-of-vocabulary words rise 7% → 20%.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a different 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400" b="1" dirty="0">
                <a:solidFill>
                  <a:srgbClr val="E97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</a:t>
            </a:r>
            <a:endParaRPr lang="en-US" sz="7400" dirty="0"/>
          </a:p>
        </p:txBody>
      </p:sp>
      <p:sp>
        <p:nvSpPr>
          <p:cNvPr id="14" name="Shape 12"/>
          <p:cNvSpPr/>
          <p:nvPr/>
        </p:nvSpPr>
        <p:spPr>
          <a:xfrm>
            <a:off x="6400800" y="3291840"/>
            <a:ext cx="5212080" cy="1499616"/>
          </a:xfrm>
          <a:prstGeom prst="roundRect">
            <a:avLst>
              <a:gd name="adj" fmla="val 2745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6400800" y="3410712"/>
            <a:ext cx="50292" cy="1298448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601968" y="3410712"/>
            <a:ext cx="4882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IS REAL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3694176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2023–2025 phishing, the 2008 model catches only 14% — the scams aged.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number for the wild is the cross-source one — not the flattering 0.998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WORKING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it, and let people help.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modern scams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482836698"/>
              </p:ext>
            </p:extLst>
          </p:nvPr>
        </p:nvGraphicFramePr>
        <p:xfrm>
          <a:off x="566928" y="192024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800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0.15 → 0.98 on modern scams, no forgetting, false alarms stay &lt; 1%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1345738015"/>
              </p:ext>
            </p:extLst>
          </p:nvPr>
        </p:nvGraphicFramePr>
        <p:xfrm>
          <a:off x="6309360" y="192024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309360" y="4800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reports → near-duplicates blocked in every inbox (15% → 100%)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5440680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9"/>
          <p:cNvSpPr/>
          <p:nvPr/>
        </p:nvSpPr>
        <p:spPr>
          <a:xfrm>
            <a:off x="566928" y="5559552"/>
            <a:ext cx="50292" cy="53949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768096" y="5559552"/>
            <a:ext cx="10728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CONTENT MATTERS EVEN MORE NOW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68096" y="5717309"/>
            <a:ext cx="10692079" cy="372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hijack a real, trusted account and send from a legitimate address — a filter that trusts the sender is fooled, but reading the words still sees something wrong. (Needs normalisation first, or homoglyphs disable the matching.)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kept current works; a frozen one goes blind · content survives a stolen account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IDEAS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I explored around the model.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566928" y="1947672"/>
            <a:ext cx="50292" cy="3054096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68096" y="1947672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PARAPHRASE ATTACK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231136"/>
            <a:ext cx="31546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rewrites the scam in new words; a second LLM judges it's still phishing (‘LLM-as-a-judge). </a:t>
            </a:r>
            <a:r>
              <a:rPr lang="en-IL" sz="1200" b="1" dirty="0">
                <a:solidFill>
                  <a:srgbClr val="95A6AD"/>
                </a:solidFill>
              </a:rPr>
              <a:t>Using an adversarial LLM loop:</a:t>
            </a:r>
            <a:r>
              <a:rPr lang="en-IL" sz="1200" dirty="0">
                <a:solidFill>
                  <a:srgbClr val="95A6AD"/>
                </a:solidFill>
              </a:rPr>
              <a:t> An attacker LLM paraphrases phishing emails to evade detection, while a judge LLM validates their malice. This generates a high</a:t>
            </a:r>
            <a:r>
              <a:rPr lang="he-IL" sz="1200" dirty="0">
                <a:solidFill>
                  <a:srgbClr val="95A6AD"/>
                </a:solidFill>
              </a:rPr>
              <a:t> </a:t>
            </a:r>
            <a:r>
              <a:rPr lang="en-IL" sz="1200" dirty="0">
                <a:solidFill>
                  <a:srgbClr val="95A6AD"/>
                </a:solidFill>
              </a:rPr>
              <a:t>quality dataset of novel attacks that significantly drops the model's recall.</a:t>
            </a:r>
            <a:endParaRPr lang="en-US" sz="1150" dirty="0">
              <a:solidFill>
                <a:srgbClr val="95A6AD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1104" y="182880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261104" y="1947672"/>
            <a:ext cx="50292" cy="305409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462272" y="1947672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AS A FEATURE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272" y="2231136"/>
            <a:ext cx="315468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— a hand-crafted emotion feature: score urgency / fear / reward cues (LLM or a VADER lexicon).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future work: likely overlaps with TF-IDF, which already learns the emotional words; best aimed at urgency, not raw polarity, and after normalisation.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07808" y="1828800"/>
            <a:ext cx="4005072" cy="3291840"/>
          </a:xfrm>
          <a:prstGeom prst="roundRect">
            <a:avLst>
              <a:gd name="adj" fmla="val 1944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607808" y="1947672"/>
            <a:ext cx="50292" cy="305409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808976" y="1947672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ATTACK DB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08976" y="2231136"/>
            <a:ext cx="3639312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attack → validate → store → retrain (~30 s) → ready for the next. </a:t>
            </a:r>
            <a:r>
              <a:rPr lang="en-US" sz="11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Grounded: retraining already lifts recall 0.15 → 0.98 and is cheap. The hard part is trust — unvetted input can be poisoned, so every entry is judged before it's learned.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around the core detector — one open attack, one candidate feature, one living process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THE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fast, one layer — and what it all shows.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578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3984" y="1691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443984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MB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43984" y="2578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B2B32"/>
          </a:solidFill>
          <a:ln w="12700">
            <a:solidFill>
              <a:srgbClr val="2636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321040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21040" y="2578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29184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run on the device → content never leaves it. And it is deliberately one layer of many (SPF/DKIM, link reputation, sandboxing, and Gilad's detector around it).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3657600" cy="1737360"/>
          </a:xfrm>
          <a:prstGeom prst="roundRect">
            <a:avLst>
              <a:gd name="adj" fmla="val 3684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566928" y="4233672"/>
            <a:ext cx="50292" cy="149961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68096" y="423367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WORKS, HONESTLY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4517136"/>
            <a:ext cx="32918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on clean mail (F1 0.998) — and every claim tested against an attacker who fights back</a:t>
            </a:r>
            <a:r>
              <a:rPr lang="he-IL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still not bad + ideas for future work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61104" y="4114800"/>
            <a:ext cx="3657600" cy="1737360"/>
          </a:xfrm>
          <a:prstGeom prst="roundRect">
            <a:avLst>
              <a:gd name="adj" fmla="val 3684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261104" y="4233672"/>
            <a:ext cx="50292" cy="149961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462272" y="423367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4517136"/>
            <a:ext cx="32918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level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level, padding 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4114800"/>
            <a:ext cx="3657600" cy="1737360"/>
          </a:xfrm>
          <a:prstGeom prst="roundRect">
            <a:avLst>
              <a:gd name="adj" fmla="val 3684"/>
            </a:avLst>
          </a:prstGeom>
          <a:solidFill>
            <a:srgbClr val="34231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7973568" y="4233672"/>
            <a:ext cx="50292" cy="1499616"/>
          </a:xfrm>
          <a:prstGeom prst="rect">
            <a:avLst/>
          </a:prstGeom>
          <a:solidFill>
            <a:srgbClr val="E97A6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8174736" y="4233672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ITS LIMITS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74736" y="4517136"/>
            <a:ext cx="32918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alone can't catch everything — exactly why it fuses with a detector that reads links.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core, in one line:  a near-perfect score is not the same as a safe detector.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guessed · a perfect-looking score, stress-tested until it earns trust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COURSE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pipeline, and its methods — applied.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67128" y="16459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50592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2450592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50792" y="16459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34256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334256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34456" y="16459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16459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01584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101584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01784" y="164592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985248" y="1600200"/>
            <a:ext cx="1627632" cy="640080"/>
          </a:xfrm>
          <a:prstGeom prst="roundRect">
            <a:avLst>
              <a:gd name="adj" fmla="val 11429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9985248" y="160020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2377440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gave a general project pipeline — data statistics, abnormality detection, clustering, segment/temporal analysis, NLP, models, reporting, improvement. </a:t>
            </a:r>
            <a:r>
              <a:rPr lang="he-IL" sz="12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95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 is a deep dive into NLP + Models + Improve (gold), touching every earlier stage. 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306324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66928" y="3182112"/>
            <a:ext cx="50292" cy="1133856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68096" y="318211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THE ACCURACY PARADOX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" y="3465576"/>
            <a:ext cx="5120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F2 / MCC / AUC, not accuracy — a high-accuracy model can catch zero phishing (the majority baseline is in the deck).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306324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16302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6126480" y="3182112"/>
            <a:ext cx="50292" cy="1133856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327648" y="318211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· LEAKAGE · TEMPORAL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3465576"/>
            <a:ext cx="5120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60/20/20 (seed 42), dedupe-before-split, vectoriser fit on train only, ‘no email from the future’.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57200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566928" y="4690872"/>
            <a:ext cx="50292" cy="113385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768096" y="469087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STATISTICS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" y="4974336"/>
            <a:ext cx="5120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Spearman/Kendall, skew &amp; kurtosis, median/MAD/IQR, Mann–Whitney, VIF — applied to real features.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26480" y="457200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232B3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6126480" y="4690872"/>
            <a:ext cx="50292" cy="1133856"/>
          </a:xfrm>
          <a:prstGeom prst="rect">
            <a:avLst/>
          </a:prstGeom>
          <a:solidFill>
            <a:srgbClr val="7D919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6327648" y="4690872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D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THREE LEVELS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27648" y="4974336"/>
            <a:ext cx="5120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feature / instance — global weights, coef×tfidf, per-email contributions. Trust-vs-performance is RQ4.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syllabus, executed end-to-end on phishing text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FUTURE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what's next</a:t>
            </a:r>
            <a:r>
              <a:rPr lang="he-IL" sz="2500" b="1" dirty="0">
                <a:solidFill>
                  <a:srgbClr val="EA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37360" cy="41148"/>
          </a:xfrm>
          <a:prstGeom prst="rect">
            <a:avLst/>
          </a:prstGeom>
          <a:solidFill>
            <a:srgbClr val="3CB6A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728655" y="3108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" y="19979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PAPERS SAY COULD COME 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" y="2318004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302A1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493776" y="2436876"/>
            <a:ext cx="50292" cy="996696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94944" y="243687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DILUTION &amp; ANOMALY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" y="2720340"/>
            <a:ext cx="51206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Fleshman 2018 non-negative nets → keep the guarantee without the F1 cost; Isolation Forest / One-Class SVM → flag obfuscated mail as anomalous.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2318004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182E3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6053328" y="2436876"/>
            <a:ext cx="50292" cy="996696"/>
          </a:xfrm>
          <a:prstGeom prst="rect">
            <a:avLst/>
          </a:prstGeom>
          <a:solidFill>
            <a:srgbClr val="5FA3C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254496" y="243687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ATTACKER &amp; CERTIFIED TYPOS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720340"/>
            <a:ext cx="51206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2019 (TextBugger) → a neural paraphrase attacker at scale; Pruthi 2019 → extend the certificate to typos. And the fusion with Gilad.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· poisoning · transfer · normalisation — the syllabus; and the open problems, named with papers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C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near-perfect detector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still be fragile.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297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isn't the score — it's proving where it breaks, and hardening it until two attack classes are closed for good.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5257800"/>
            <a:ext cx="2011680" cy="45720"/>
          </a:xfrm>
          <a:prstGeom prst="rect">
            <a:avLst/>
          </a:prstGeom>
          <a:solidFill>
            <a:srgbClr val="D4AB4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66928" y="5486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 Bercovitz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PhishFusion · content detector · questions welcome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364</TotalTime>
  <Words>6118</Words>
  <Application>Microsoft Office PowerPoint</Application>
  <PresentationFormat>Widescreen</PresentationFormat>
  <Paragraphs>542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Corbel</vt:lpstr>
      <vt:lpstr>Courier New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PhishFusion — Content-Based Phishing Detection (short)</dc:title>
  <dc:subject>PptxGenJS Presentation</dc:subject>
  <dc:creator>Lia Bercovitz</dc:creator>
  <cp:lastModifiedBy>Lia Bercovitz</cp:lastModifiedBy>
  <cp:revision>30</cp:revision>
  <dcterms:created xsi:type="dcterms:W3CDTF">2026-07-22T01:55:16Z</dcterms:created>
  <dcterms:modified xsi:type="dcterms:W3CDTF">2026-07-26T17:40:40Z</dcterms:modified>
</cp:coreProperties>
</file>
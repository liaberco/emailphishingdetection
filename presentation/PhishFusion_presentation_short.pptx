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recall</c:v>
                </c:pt>
              </c:strCache>
            </c:strRef>
          </c:tx>
          <c:spPr>
            <a:solidFill>
              <a:srgbClr val="3CB6A6">
                <a:alpha val="100000"/>
              </a:srgbClr>
            </a:solidFill>
            <a:effectLst/>
          </c:spPr>
          <c:invertIfNegative val="0"/>
          <c:dLbls>
            <c:numFmt formatCode="0.00" sourceLinked="0"/>
            <c:txPr>
              <a:bodyPr/>
              <a:lstStyle/>
              <a:p>
                <a:pPr>
                  <a:defRPr b="0" i="0" strike="noStrike" sz="1400" u="none">
                    <a:solidFill>
                      <a:srgbClr val="EAF0F1"/>
                    </a:solidFill>
                    <a:latin typeface="Calibri"/>
                  </a:defRPr>
                </a:pPr>
              </a:p>
            </c:txPr>
            <c:showLegendKey val="0"/>
            <c:showVal val="1"/>
            <c:showCatName val="0"/>
            <c:showSerName val="0"/>
            <c:showPercent val="0"/>
            <c:showBubbleSize val="0"/>
            <c:showLeaderLines val="0"/>
          </c:dLbls>
          <c:dPt>
            <c:idx val="0"/>
            <c:invertIfNegative val="0"/>
            <c:bubble3D val="0"/>
            <c:spPr>
              <a:solidFill>
                <a:srgbClr val="3CB6A6"/>
              </a:solidFill>
              <a:effectLst/>
            </c:spPr>
          </c:dPt>
          <c:dPt>
            <c:idx val="1"/>
            <c:invertIfNegative val="0"/>
            <c:bubble3D val="0"/>
            <c:spPr>
              <a:solidFill>
                <a:srgbClr val="E97A60"/>
              </a:solidFill>
              <a:effectLst/>
            </c:spPr>
          </c:dPt>
          <c:dPt>
            <c:idx val="2"/>
            <c:invertIfNegative val="0"/>
            <c:bubble3D val="0"/>
            <c:spPr>
              <a:solidFill>
                <a:srgbClr val="3CB6A6"/>
              </a:solidFill>
              <a:effectLst/>
            </c:spPr>
          </c:dPt>
          <c:cat>
            <c:multiLvlStrRef>
              <c:f>Sheet1!$A$2:$A$4</c:f>
              <c:multiLvlStrCache>
                <c:ptCount val="3"/>
                <c:lvl>
                  <c:pt idx="0">
                    <c:v>clean</c:v>
                  </c:pt>
                  <c:pt idx="1">
                    <c:v>attacked</c:v>
                  </c:pt>
                  <c:pt idx="2">
                    <c:v>+ normalise</c:v>
                  </c:pt>
                </c:lvl>
              </c:multiLvlStrCache>
            </c:multiLvlStrRef>
          </c:cat>
          <c:val>
            <c:numRef>
              <c:f>Sheet1!$B$2:$B$4</c:f>
              <c:numCache>
                <c:formatCode>General</c:formatCode>
                <c:ptCount val="3"/>
                <c:pt idx="0">
                  <c:v>0.99</c:v>
                </c:pt>
                <c:pt idx="1">
                  <c:v>0.71</c:v>
                </c:pt>
                <c:pt idx="2">
                  <c:v>0.99</c:v>
                </c:pt>
              </c:numCache>
            </c:numRef>
          </c:val>
        </c:ser>
        <c:dLbls>
          <c:numFmt formatCode="0.00" sourceLinked="0"/>
          <c:txPr>
            <a:bodyPr/>
            <a:lstStyle/>
            <a:p>
              <a:pPr>
                <a:defRPr b="0" i="0" strike="noStrike" sz="1400" u="none">
                  <a:solidFill>
                    <a:srgbClr val="EAF0F1"/>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recall</c:v>
                </c:pt>
              </c:strCache>
            </c:strRef>
          </c:tx>
          <c:spPr>
            <a:solidFill>
              <a:srgbClr val="E97A60">
                <a:alpha val="100000"/>
              </a:srgbClr>
            </a:solidFill>
            <a:effectLst/>
          </c:spPr>
          <c:invertIfNegative val="0"/>
          <c:dLbls>
            <c:numFmt formatCode="0.00" sourceLinked="0"/>
            <c:txPr>
              <a:bodyPr/>
              <a:lstStyle/>
              <a:p>
                <a:pPr>
                  <a:defRPr b="0" i="0" strike="noStrike" sz="1300" u="none">
                    <a:solidFill>
                      <a:srgbClr val="EAF0F1"/>
                    </a:solidFill>
                    <a:latin typeface="Calibri"/>
                  </a:defRPr>
                </a:pPr>
              </a:p>
            </c:txPr>
            <c:showLegendKey val="0"/>
            <c:showVal val="1"/>
            <c:showCatName val="0"/>
            <c:showSerName val="0"/>
            <c:showPercent val="0"/>
            <c:showBubbleSize val="0"/>
            <c:showLeaderLines val="0"/>
          </c:dLbls>
          <c:dPt>
            <c:idx val="0"/>
            <c:invertIfNegative val="0"/>
            <c:bubble3D val="0"/>
            <c:spPr>
              <a:solidFill>
                <a:srgbClr val="E97A60"/>
              </a:solidFill>
              <a:effectLst/>
            </c:spPr>
          </c:dPt>
          <c:dPt>
            <c:idx val="1"/>
            <c:invertIfNegative val="0"/>
            <c:bubble3D val="0"/>
            <c:spPr>
              <a:solidFill>
                <a:srgbClr val="3CB6A6"/>
              </a:solidFill>
              <a:effectLst/>
            </c:spPr>
          </c:dPt>
          <c:cat>
            <c:multiLvlStrRef>
              <c:f>Sheet1!$A$2:$A$3</c:f>
              <c:multiLvlStrCache>
                <c:ptCount val="2"/>
                <c:lvl>
                  <c:pt idx="0">
                    <c:v>hand list</c:v>
                  </c:pt>
                  <c:pt idx="1">
                    <c:v>UTS-39</c:v>
                  </c:pt>
                </c:lvl>
              </c:multiLvlStrCache>
            </c:multiLvlStrRef>
          </c:cat>
          <c:val>
            <c:numRef>
              <c:f>Sheet1!$B$2:$B$3</c:f>
              <c:numCache>
                <c:formatCode>General</c:formatCode>
                <c:ptCount val="2"/>
                <c:pt idx="0">
                  <c:v>0.88</c:v>
                </c:pt>
                <c:pt idx="1">
                  <c:v>0.998</c:v>
                </c:pt>
              </c:numCache>
            </c:numRef>
          </c:val>
        </c:ser>
        <c:dLbls>
          <c:numFmt formatCode="0.00" sourceLinked="0"/>
          <c:txPr>
            <a:bodyPr/>
            <a:lstStyle/>
            <a:p>
              <a:pPr>
                <a:defRPr b="0" i="0" strike="noStrike" sz="1300" u="none">
                  <a:solidFill>
                    <a:srgbClr val="EAF0F1"/>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5A6AD"/>
                </a:solidFill>
                <a:latin typeface="Calibri"/>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standard model</c:v>
                </c:pt>
              </c:strCache>
            </c:strRef>
          </c:tx>
          <c:spPr>
            <a:solidFill>
              <a:srgbClr val="E97A60">
                <a:alpha val="100000"/>
              </a:srgbClr>
            </a:solidFill>
            <a:ln w="31750" cap="flat">
              <a:solidFill>
                <a:srgbClr val="E97A60"/>
              </a:solidFill>
              <a:prstDash val="solid"/>
              <a:round/>
            </a:ln>
            <a:effectLst/>
          </c:spPr>
          <c:invertIfNegative val="0"/>
          <c:dLbls>
            <c:numFmt formatCode="0.0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6"/>
            <c:spPr>
              <a:solidFill>
                <a:srgbClr val="E97A60"/>
              </a:solidFill>
              <a:ln w="9525" cap="flat">
                <a:solidFill>
                  <a:srgbClr val="E97A60"/>
                </a:solidFill>
                <a:prstDash val="solid"/>
                <a:round/>
              </a:ln>
              <a:effectLst/>
            </c:spPr>
          </c:marker>
          <c:cat>
            <c:multiLvlStrRef>
              <c:f>Sheet1!$A$2:$A$5</c:f>
              <c:multiLvlStrCache>
                <c:ptCount val="4"/>
                <c:lvl>
                  <c:pt idx="0">
                    <c:v>+0</c:v>
                  </c:pt>
                  <c:pt idx="1">
                    <c:v>+10</c:v>
                  </c:pt>
                  <c:pt idx="2">
                    <c:v>+20</c:v>
                  </c:pt>
                  <c:pt idx="3">
                    <c:v>+40</c:v>
                  </c:pt>
                </c:lvl>
              </c:multiLvlStrCache>
            </c:multiLvlStrRef>
          </c:cat>
          <c:val>
            <c:numRef>
              <c:f>Sheet1!$B$2:$B$5</c:f>
              <c:numCache>
                <c:formatCode>General</c:formatCode>
                <c:ptCount val="4"/>
                <c:pt idx="0">
                  <c:v>0.998</c:v>
                </c:pt>
                <c:pt idx="1">
                  <c:v>0.632</c:v>
                </c:pt>
                <c:pt idx="2">
                  <c:v>0.365</c:v>
                </c:pt>
                <c:pt idx="3">
                  <c:v>0.129</c:v>
                </c:pt>
              </c:numCache>
            </c:numRef>
          </c:val>
          <c:smooth val="0"/>
        </c:ser>
        <c:ser>
          <c:idx val="1"/>
          <c:order val="1"/>
          <c:tx>
            <c:strRef>
              <c:f>Sheet1!$C$1</c:f>
              <c:strCache>
                <c:ptCount val="1"/>
                <c:pt idx="0">
                  <c:v>one-way (monotone) model</c:v>
                </c:pt>
              </c:strCache>
            </c:strRef>
          </c:tx>
          <c:spPr>
            <a:solidFill>
              <a:srgbClr val="3CB6A6">
                <a:alpha val="100000"/>
              </a:srgbClr>
            </a:solidFill>
            <a:ln w="31750" cap="flat">
              <a:solidFill>
                <a:srgbClr val="3CB6A6"/>
              </a:solidFill>
              <a:prstDash val="solid"/>
              <a:round/>
            </a:ln>
            <a:effectLst/>
          </c:spPr>
          <c:invertIfNegative val="0"/>
          <c:dLbls>
            <c:numFmt formatCode="0.0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6"/>
            <c:spPr>
              <a:solidFill>
                <a:srgbClr val="3CB6A6"/>
              </a:solidFill>
              <a:ln w="9525" cap="flat">
                <a:solidFill>
                  <a:srgbClr val="3CB6A6"/>
                </a:solidFill>
                <a:prstDash val="solid"/>
                <a:round/>
              </a:ln>
              <a:effectLst/>
            </c:spPr>
          </c:marker>
          <c:cat>
            <c:multiLvlStrRef>
              <c:f>Sheet1!$A$2:$A$5</c:f>
              <c:multiLvlStrCache>
                <c:ptCount val="4"/>
                <c:lvl>
                  <c:pt idx="0">
                    <c:v>+0</c:v>
                  </c:pt>
                  <c:pt idx="1">
                    <c:v>+10</c:v>
                  </c:pt>
                  <c:pt idx="2">
                    <c:v>+20</c:v>
                  </c:pt>
                  <c:pt idx="3">
                    <c:v>+40</c:v>
                  </c:pt>
                </c:lvl>
              </c:multiLvlStrCache>
            </c:multiLvlStrRef>
          </c:cat>
          <c:val>
            <c:numRef>
              <c:f>Sheet1!$C$2:$C$5</c:f>
              <c:numCache>
                <c:formatCode>General</c:formatCode>
                <c:ptCount val="4"/>
                <c:pt idx="0">
                  <c:v>0.869</c:v>
                </c:pt>
                <c:pt idx="1">
                  <c:v>0.869</c:v>
                </c:pt>
                <c:pt idx="2">
                  <c:v>0.869</c:v>
                </c:pt>
                <c:pt idx="3">
                  <c:v>0.866</c:v>
                </c:pt>
              </c:numCache>
            </c:numRef>
          </c:val>
          <c:smooth val="0"/>
        </c:ser>
        <c:dLbls>
          <c:numFmt formatCode="0.0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5A6AD"/>
                </a:solidFill>
                <a:latin typeface="Calibri"/>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95A6A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recall</c:v>
                </c:pt>
              </c:strCache>
            </c:strRef>
          </c:tx>
          <c:spPr>
            <a:solidFill>
              <a:srgbClr val="7D919B">
                <a:alpha val="100000"/>
              </a:srgbClr>
            </a:solidFill>
            <a:ln w="31750" cap="flat">
              <a:solidFill>
                <a:srgbClr val="7D919B"/>
              </a:solidFill>
              <a:prstDash val="solid"/>
              <a:round/>
            </a:ln>
            <a:effectLst/>
          </c:spPr>
          <c:invertIfNegative val="0"/>
          <c:dLbls>
            <c:numFmt formatCode="0.00" sourceLinked="0"/>
            <c:txPr>
              <a:bodyPr/>
              <a:lstStyle/>
              <a:p>
                <a:pPr>
                  <a:defRPr b="0" i="0" strike="noStrike" sz="1200" u="none">
                    <a:solidFill>
                      <a:srgbClr val="EAF0F1"/>
                    </a:solidFill>
                    <a:latin typeface="Calibri"/>
                  </a:defRPr>
                </a:pPr>
              </a:p>
            </c:txPr>
            <c:dLblPos val="t"/>
            <c:showLegendKey val="0"/>
            <c:showVal val="1"/>
            <c:showCatName val="0"/>
            <c:showSerName val="0"/>
            <c:showPercent val="0"/>
            <c:showBubbleSize val="0"/>
            <c:showLeaderLines val="0"/>
          </c:dLbls>
          <c:marker>
            <c:symbol val="circle"/>
            <c:size val="8"/>
            <c:spPr>
              <a:solidFill>
                <a:srgbClr val="7D919B"/>
              </a:solidFill>
              <a:ln w="9525" cap="flat">
                <a:solidFill>
                  <a:srgbClr val="7D919B"/>
                </a:solidFill>
                <a:prstDash val="solid"/>
                <a:round/>
              </a:ln>
              <a:effectLst/>
            </c:spPr>
          </c:marker>
          <c:cat>
            <c:multiLvlStrRef>
              <c:f>Sheet1!$A$2:$A$8</c:f>
              <c:multiLvlStrCache>
                <c:ptCount val="7"/>
                <c:lvl>
                  <c:pt idx="0">
                    <c:v>clean</c:v>
                  </c:pt>
                  <c:pt idx="1">
                    <c:v>homoglyph</c:v>
                  </c:pt>
                  <c:pt idx="2">
                    <c:v>+normalise</c:v>
                  </c:pt>
                  <c:pt idx="3">
                    <c:v>targeted</c:v>
                  </c:pt>
                  <c:pt idx="4">
                    <c:v>UTS-39</c:v>
                  </c:pt>
                  <c:pt idx="5">
                    <c:v>dilution</c:v>
                  </c:pt>
                  <c:pt idx="6">
                    <c:v>monotone</c:v>
                  </c:pt>
                </c:lvl>
              </c:multiLvlStrCache>
            </c:multiLvlStrRef>
          </c:cat>
          <c:val>
            <c:numRef>
              <c:f>Sheet1!$B$2:$B$8</c:f>
              <c:numCache>
                <c:formatCode>General</c:formatCode>
                <c:ptCount val="7"/>
                <c:pt idx="0">
                  <c:v>1</c:v>
                </c:pt>
                <c:pt idx="1">
                  <c:v>0.93</c:v>
                </c:pt>
                <c:pt idx="2">
                  <c:v>1</c:v>
                </c:pt>
                <c:pt idx="3">
                  <c:v>0.88</c:v>
                </c:pt>
                <c:pt idx="4">
                  <c:v>1</c:v>
                </c:pt>
                <c:pt idx="5">
                  <c:v>0.13</c:v>
                </c:pt>
                <c:pt idx="6">
                  <c:v>0.99</c:v>
                </c:pt>
              </c:numCache>
            </c:numRef>
          </c:val>
          <c:smooth val="0"/>
        </c:ser>
        <c:dLbls>
          <c:numFmt formatCode="0.00" sourceLinked="0"/>
          <c:txPr>
            <a:bodyPr/>
            <a:lstStyle/>
            <a:p>
              <a:pPr>
                <a:defRPr b="0" i="0" strike="noStrike" sz="1200" u="none">
                  <a:solidFill>
                    <a:srgbClr val="EAF0F1"/>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5A6AD"/>
                </a:solidFill>
                <a:latin typeface="Calibri"/>
              </a:defRPr>
            </a:pPr>
            <a:endParaRPr lang="en-US"/>
          </a:p>
        </c:txPr>
        <c:crossAx val="2094734552"/>
        <c:crosses val="autoZero"/>
        <c:auto val="1"/>
        <c:lblAlgn val="ctr"/>
        <c:noMultiLvlLbl val="1"/>
      </c:catAx>
      <c:valAx>
        <c:axId val="2094734552"/>
        <c:scaling>
          <c:orientation val="minMax"/>
          <c:max val="1.08"/>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modern scams</c:v>
                </c:pt>
              </c:strCache>
            </c:strRef>
          </c:tx>
          <c:spPr>
            <a:solidFill>
              <a:srgbClr val="3CB6A6">
                <a:alpha val="100000"/>
              </a:srgbClr>
            </a:solidFill>
            <a:effectLst/>
          </c:spPr>
          <c:invertIfNegative val="0"/>
          <c:dLbls>
            <c:numFmt formatCode="0.00" sourceLinked="0"/>
            <c:txPr>
              <a:bodyPr/>
              <a:lstStyle/>
              <a:p>
                <a:pPr>
                  <a:defRPr b="0" i="0" strike="noStrike" sz="1200" u="none">
                    <a:solidFill>
                      <a:srgbClr val="EAF0F1"/>
                    </a:solidFill>
                    <a:latin typeface="Calibri"/>
                  </a:defRPr>
                </a:pPr>
              </a:p>
            </c:txPr>
            <c:showLegendKey val="0"/>
            <c:showVal val="1"/>
            <c:showCatName val="0"/>
            <c:showSerName val="0"/>
            <c:showPercent val="0"/>
            <c:showBubbleSize val="0"/>
            <c:showLeaderLines val="0"/>
          </c:dLbls>
          <c:cat>
            <c:multiLvlStrRef>
              <c:f>Sheet1!$A$2:$A$3</c:f>
              <c:multiLvlStrCache>
                <c:ptCount val="2"/>
                <c:lvl>
                  <c:pt idx="0">
                    <c:v>2008 model</c:v>
                  </c:pt>
                  <c:pt idx="1">
                    <c:v>evolved</c:v>
                  </c:pt>
                </c:lvl>
              </c:multiLvlStrCache>
            </c:multiLvlStrRef>
          </c:cat>
          <c:val>
            <c:numRef>
              <c:f>Sheet1!$B$2:$B$3</c:f>
              <c:numCache>
                <c:formatCode>General</c:formatCode>
                <c:ptCount val="2"/>
                <c:pt idx="0">
                  <c:v>0.15</c:v>
                </c:pt>
                <c:pt idx="1">
                  <c:v>0.98</c:v>
                </c:pt>
              </c:numCache>
            </c:numRef>
          </c:val>
        </c:ser>
        <c:ser>
          <c:idx val="1"/>
          <c:order val="1"/>
          <c:tx>
            <c:strRef>
              <c:f>Sheet1!$C$1</c:f>
              <c:strCache>
                <c:ptCount val="1"/>
                <c:pt idx="0">
                  <c:v>old scams</c:v>
                </c:pt>
              </c:strCache>
            </c:strRef>
          </c:tx>
          <c:spPr>
            <a:solidFill>
              <a:srgbClr val="7D919B">
                <a:alpha val="100000"/>
              </a:srgbClr>
            </a:solidFill>
            <a:effectLst/>
          </c:spPr>
          <c:invertIfNegative val="0"/>
          <c:dLbls>
            <c:numFmt formatCode="0.00" sourceLinked="0"/>
            <c:txPr>
              <a:bodyPr/>
              <a:lstStyle/>
              <a:p>
                <a:pPr>
                  <a:defRPr b="0" i="0" strike="noStrike" sz="1200" u="none">
                    <a:solidFill>
                      <a:srgbClr val="EAF0F1"/>
                    </a:solidFill>
                    <a:latin typeface="Calibri"/>
                  </a:defRPr>
                </a:pPr>
              </a:p>
            </c:txPr>
            <c:showLegendKey val="0"/>
            <c:showVal val="1"/>
            <c:showCatName val="0"/>
            <c:showSerName val="0"/>
            <c:showPercent val="0"/>
            <c:showBubbleSize val="0"/>
            <c:showLeaderLines val="0"/>
          </c:dLbls>
          <c:cat>
            <c:multiLvlStrRef>
              <c:f>Sheet1!$A$2:$A$3</c:f>
              <c:multiLvlStrCache>
                <c:ptCount val="2"/>
                <c:lvl>
                  <c:pt idx="0">
                    <c:v>2008 model</c:v>
                  </c:pt>
                  <c:pt idx="1">
                    <c:v>evolved</c:v>
                  </c:pt>
                </c:lvl>
              </c:multiLvlStrCache>
            </c:multiLvlStrRef>
          </c:cat>
          <c:val>
            <c:numRef>
              <c:f>Sheet1!$C$2:$C$3</c:f>
              <c:numCache>
                <c:formatCode>General</c:formatCode>
                <c:ptCount val="2"/>
                <c:pt idx="0">
                  <c:v>1</c:v>
                </c:pt>
                <c:pt idx="1">
                  <c:v>1</c:v>
                </c:pt>
              </c:numCache>
            </c:numRef>
          </c:val>
        </c:ser>
        <c:dLbls>
          <c:numFmt formatCode="0.00" sourceLinked="0"/>
          <c:txPr>
            <a:bodyPr/>
            <a:lstStyle/>
            <a:p>
              <a:pPr>
                <a:defRPr b="0" i="0" strike="noStrike" sz="1200" u="none">
                  <a:solidFill>
                    <a:srgbClr val="EAF0F1"/>
                  </a:solidFill>
                  <a:latin typeface="Calibri"/>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5A6AD"/>
                </a:solidFill>
                <a:latin typeface="Calibri"/>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95A6A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recall</c:v>
                </c:pt>
              </c:strCache>
            </c:strRef>
          </c:tx>
          <c:spPr>
            <a:solidFill>
              <a:srgbClr val="6E7F87">
                <a:alpha val="100000"/>
              </a:srgbClr>
            </a:solidFill>
            <a:effectLst/>
          </c:spPr>
          <c:invertIfNegative val="0"/>
          <c:dLbls>
            <c:numFmt formatCode="0.00" sourceLinked="0"/>
            <c:txPr>
              <a:bodyPr/>
              <a:lstStyle/>
              <a:p>
                <a:pPr>
                  <a:defRPr b="0" i="0" strike="noStrike" sz="1400" u="none">
                    <a:solidFill>
                      <a:srgbClr val="EAF0F1"/>
                    </a:solidFill>
                    <a:latin typeface="Calibri"/>
                  </a:defRPr>
                </a:pPr>
              </a:p>
            </c:txPr>
            <c:showLegendKey val="0"/>
            <c:showVal val="1"/>
            <c:showCatName val="0"/>
            <c:showSerName val="0"/>
            <c:showPercent val="0"/>
            <c:showBubbleSize val="0"/>
            <c:showLeaderLines val="0"/>
          </c:dLbls>
          <c:dPt>
            <c:idx val="0"/>
            <c:invertIfNegative val="0"/>
            <c:bubble3D val="0"/>
            <c:spPr>
              <a:solidFill>
                <a:srgbClr val="6E7F87"/>
              </a:solidFill>
              <a:effectLst/>
            </c:spPr>
          </c:dPt>
          <c:dPt>
            <c:idx val="1"/>
            <c:invertIfNegative val="0"/>
            <c:bubble3D val="0"/>
            <c:spPr>
              <a:solidFill>
                <a:srgbClr val="3CB6A6"/>
              </a:solidFill>
              <a:effectLst/>
            </c:spPr>
          </c:dPt>
          <c:cat>
            <c:multiLvlStrRef>
              <c:f>Sheet1!$A$2:$A$3</c:f>
              <c:multiLvlStrCache>
                <c:ptCount val="2"/>
                <c:lvl>
                  <c:pt idx="0">
                    <c:v>no report</c:v>
                  </c:pt>
                  <c:pt idx="1">
                    <c:v>same-campaign report</c:v>
                  </c:pt>
                </c:lvl>
              </c:multiLvlStrCache>
            </c:multiLvlStrRef>
          </c:cat>
          <c:val>
            <c:numRef>
              <c:f>Sheet1!$B$2:$B$3</c:f>
              <c:numCache>
                <c:formatCode>General</c:formatCode>
                <c:ptCount val="2"/>
                <c:pt idx="0">
                  <c:v>0.15</c:v>
                </c:pt>
                <c:pt idx="1">
                  <c:v>1</c:v>
                </c:pt>
              </c:numCache>
            </c:numRef>
          </c:val>
        </c:ser>
        <c:dLbls>
          <c:numFmt formatCode="0.00" sourceLinked="0"/>
          <c:txPr>
            <a:bodyPr/>
            <a:lstStyle/>
            <a:p>
              <a:pPr>
                <a:defRPr b="0" i="0" strike="noStrike" sz="1400" u="none">
                  <a:solidFill>
                    <a:srgbClr val="EAF0F1"/>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5A6AD"/>
                </a:solidFill>
                <a:latin typeface="Calibri"/>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Lia. This is PhishFusion, and I built one half of it — the content detector: a model that reads only the words of an email, the subject and the body, and decides whether it's phishing — a scam pretending to be someone you trust so you click a link or give a password — or a legitimate email. My partner Gilad built the other half, which reads the links and the sender. The thing I care about most: a high score on clean data is easy; the real question is whether the model survives a real attacker who tries to fool it on purpose. So most of this talk is me attacking my own model and then hardening it — until some defences are mathematically guaranteed, not just 'it worked on my tests.'
— — —  עברית  — — —
היי לכולם, אני ליה. זה PhishFusion, ואני בניתי חצי ממנו — גלאי התוכן: מודל שקורא רק את המילים של המייל, הנושא והגוף, ומחליט אם זה פישינג — הונאה שמתחזה למישהו שסומכים עליו כדי שתלחצו על קישור או תמסרו סיסמה — או מייל לגיטימי. השותף שלי גלעד בנה את החצי השני, שקורא את הקישורים ואת השולח. מה שהכי חשוב לי: ציון גבוה על דאטה נקי זה קל; השאלה האמיתית היא אם המודל שורד תוקף אמיתי שמנסה לרמות אותו בכוונה. אז רוב ההרצאה היא שאני תוקפת את המודל שלי ואז מחזקת אותו — עד שחלק מההגנות מובטחות מתמטית, לא רק 'עבד לי בבדיקות'.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in one: why this works, and where my part sits. Phishing is social engineering — it attacks the human, not the computer, and it works through language: authority ('this is IT'), urgency ('suspended in 30 minutes'), reward, and social proof. Because the manipulation is in the words, an NLP model — a model that reads natural human text — can catch it. My detector is one half of a fused system: mine reads only the words; Gilad's reads the links and the sender; we combine them so if an attacker beats one, the other still fires. I strip the URLs out of my text on purpose, so I can't cheat using the link — that's Gilad's job. And the reason robustness matters: 'verify' with a Cyrillic 'e' looks identical to us but is a brand-new word to a word-matcher — that's the first attack, coming up.
— — —  עברית  — — —
שני דברים בשקף אחד: למה זה עובד, ואיפה החלק שלי יושב. פישינג הוא הנדסה חברתית — הוא תוקף את האדם, לא את המחשב, והוא עובד דרך השפה: סמכות ('זה מחלקת המחשוב'), דחיפות ('החשבון ייסגר בעוד 30 דקות'), פרס, והוכחה חברתית. בגלל שהמניפולציה נמצאת במילים, מודל NLP — מודל שקורא טקסט אנושי טבעי — יכול לתפוס אותה. הגלאי שלי הוא חצי ממערכת ממוזגת: שלי קורא רק את המילים; של גלעד קורא את הקישורים והשולח; אנחנו משלבים כך שאם תוקף מנצח אחד, השני עדיין מתריע. אני מסירה את ה-URL מהטקסט בכוונה, כדי שלא אוכל לרמות דרך הקישור — זה התפקיד של גלעד. ולמה החוסן חשוב: 'verify' עם e קירילית נראית זהה לנו אבל היא מילה חדשה לגמרי למודל שמשווה מילים — וזו המתקפה הראשונה, שתכף מגיעה.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both how I worked and how the model works. The method, top row, is a loop: build a strong model; study attacks from academic papers; adapt them to my model's weak spots; defend, then attack the fix again. The key framing — every broken version you'll see is not a failure; finding and closing the holes IS the method. The model, middle row, turns an email into a decision in five steps: clean the text; convert it to numbers with TF-IDF — which weighs each word by how often it appears here versus how rare it is across all emails, so 'the' scores low and 'suspended' scores high; I do this over whole words and over character chunks (n-grams); I join them into one feature vector; and classify with Logistic Regression, which adds up each word's weight times its TF-IDF and squashes it to a probability. I chose it because it's linear and explainable — I can point to the exact words that flagged an email — and the character n-grams give robustness to letter tricks.
— — —  עברית  — — —
זה גם איך שעבדתי וגם איך שהמודל עובד. השיטה, השורה העליונה, היא לולאה: לבנות מודל חזק; ללמוד מתקפות ממאמרים; להתאים אותן לנקודות החולשה של המודל שלי; להגן, ואז לתקוף שוב את התיקון. המסגור המרכזי — כל גרסה שבורה שתראו היא לא כישלון; למצוא ולסגור את החורים זו השיטה עצמה. המודל, השורה האמצעית, הופך מייל להחלטה בחמישה שלבים: לנקות את הטקסט; להמיר אותו למספרים עם TF-IDF — ששוקל כל מילה לפי כמה היא מופיעה כאן מול כמה היא נדירה בכל המיילים, כך ש-'the' מקבל ציון נמוך ו-'suspended' ציון גבוה; אני עושה זאת על מילים שלמות ועל מקטעי אותיות (n-grams); מחברת אותם ל-feature vector אחד; ומסווגת עם רגרסיה לוגיסטית, שמחברת את המשקל של כל מילה כפול ה-TF-IDF ודוחסת להסתברות. בחרתי בה כי היא לינארית וניתנת להסבר — אני יכולה להצביע על המילים שסימנו מייל — ומקטעי האותיות נותנים חוסן מול טריקי-אותיות.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and the cleaning — good data decisions are half the project. My main set is CEAS_08: about 27,000 emails with both phishing and normal mail, all from one source. I keep other collections aside for a fairness test, plus real 2023–2025 phishing and recent normal mail to test ageing, and SpamAssassin to re-check. Cleaning, in order: strip links, tidy spacing, cut over-long mail, drop duplicates before splitting, balance to a realistic 35% phishing (real inboxes are mostly legitimate), split 60/20/20 with a fixed seed — a fixed starting number so the split reproduces — and hash everything, a fingerprint of the file, so the numbers reproduce exactly. The gold box is my most important choice: a probe can guess an email's SOURCE 99% of the time, so if I mixed sources the model would cheat by recognising provenance instead of the scam — that's why I train on one mixed-class source. And two checks: normal mail is almost all plain text (the baseline the letter-attack breaks), and the dates are clean, with no fake 1970 epoch dates.
— — —  עברית  — — —
הדאטה והניקוי — החלטות טובות על הדאטה הן חצי מהפרויקט. הסט הראשי שלי הוא CEAS_08: כ-27,000 מיילים עם פישינג ודואר רגיל, הכל ממקור אחד. אני שומרת בצד אוספים אחרים לבדיקת הוגנות, בתוספת פישינג אמיתי מ-2023–2025 ודואר עדכני לבדיקת התיישנות, ו-SpamAssassin לבדיקה חוזרת. ניקוי, לפי הסדר: להסיר קישורים, לסדר רווחים, לחתוך מיילים ארוכים מדי, להסיר כפילויות לפני הפיצול, לאזן ל-35% פישינג ריאליסטי (תיבות אמיתיות הן ברובן לגיטימיות), לפצל 60/20/20 עם seed קבוע — מספר התחלה קבוע כך שהפיצול משוחזר — ולעשות hash לכל דבר, טביעת אצבע של הקובץ, כדי שהמספרים ישתחזרו בדיוק. הקופסה הזהובה היא הבחירה הכי חשובה שלי: אפשר לנחש את המקור של מייל ב-99% מהמקרים, אז אם הייתי מערבבת מקורות המודל היה מרמה ומזהה את המקור במקום את ההונאה — לכן אני מאמנת על מקור מעורב אחד. ושתי בדיקות: דואר רגיל הוא כמעט כולו טקסט פשוט (הבסיס שמתקפת האותיות שוברת), והתאריכים נקיים, בלי תאריכי 1970 מזויפים.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modelling I do EDA — exploratory data analysis, getting to know the data first. The heatmap shows how a few simple features relate, using Spearman rank correlation: 'rank' means I compare the order of values, not the raw numbers, which is safer when data is skewed or has outliers. Three results on the right. One: length has the strongest link to the label at minus 0.57 — the minus means phishing is shorter. Two: I didn't just eyeball it — a Mann–Whitney test confirms the length difference is real, with a p-value (the probability it's just chance) far below 0.001. Three: a redundancy check called VIF flags that length and word-count both score about 21 — anything over 10 means they say the same thing — so I keep them as notes, not model inputs. One honest point: these simple features are only for understanding the data; the model's real power comes from the actual words.
— — —  עברית  — — —
לפני המודל אני עושה EDA — ניתוח נתונים חוקר, קודם כל להכיר את הדאטה. מפת החום מראה איך כמה תכונות פשוטות קשורות זו לזו, בעזרת קורלציית דירוג של ספירמן: 'דירוג' אומר שאני משווה את הסדר של הערכים, לא את המספרים הגולמיים, וזה בטוח יותר כשהדאטה עקום או יש בו חריגים. שלוש תוצאות מימין. אחת: לאורך הקשר הכי חזק לתווית, מינוס 0.57 — המינוס אומר שפישינג קצר יותר. שתיים: לא רק הסתכלתי — מבחן מאן-וויטני מאשר שההבדל באורך אמיתי, עם p-value (ההסתברות שזה מקרי) הרבה מתחת ל-0.001. שלוש: בדיקת יתירות בשם VIF מסמנת שאורך ומספר מילים שניהם בסביבות 21 — כל דבר מעל 10 אומר שהם אותו דבר — אז אני שומרת אותם כהערות, לא כקלט למודל. נקודה כנה: התכונות הפשוטות האלה הן רק להבנת הדאטה; הכוח האמיתי של המודל מגיע מהמילים עצמן.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on the clean test set are almost perfect, but the point of the slide is the warning. Quick definitions, because I use these all talk: recall is the share of real phishing caught; precision is, of everything flagged, how much was truly phishing; F1 combines them into one number, 0.998 out of 1. MCC, 0.997, is another balanced score, honest even when one class is bigger, running minus-1 to plus-1. AUC of 1.00 means it ranks a phishing above a legit email essentially every time. The confusion matrix on the right splits every decision into four boxes — only 8 mistakes in over 5,000 emails. Logistic Regression beat every baseline, including a keyword list and DistilBERT; and I never trust plain accuracy because of the accuracy paradox — an 'always-legit' model looks 65% accurate yet catches zero phishing. Now the key line: a near-perfect score on clean single-source data does NOT prove real-world safety, so from here I deliberately attack my own model — obfuscation, a smart attacker, a different inbox, and time.
— — —  עברית  — — —
התוצאות על סט המבחן הנקי כמעט מושלמות, אבל העיקר בשקף הוא האזהרה. הגדרות מהירות, כי אני משתמשת בהן לאורך כל ההרצאה: recall הוא החלק מהפישינג האמיתי שנתפס; precision הוא, מכל מה שסומן, כמה באמת היה פישינג; F1 משלב אותם למספר אחד, 0.998 מתוך 1. MCC, 0.997, הוא ציון מאוזן נוסף, כן גם כשמחלקה אחת גדולה יותר, שנע ממינוס-1 עד פלוס-1. AUC של 1.00 אומר שהוא מדרג מייל פישינג מעל מייל לגיטימי כמעט תמיד. מטריצת הבלבול מימין מחלקת כל החלטה לארבע קופסאות — רק 8 טעויות ביותר מ-5,000 מיילים. רגרסיה לוגיסטית ניצחה כל בסיס, כולל רשימת מילות מפתח ו-DistilBERT; ואני אף פעם לא סומכת על דיוק גולמי בגלל פרדוקס הדיוק — מודל שתמיד אומר 'לגיטימי' נראה 65% מדויק אבל תופס אפס פישינג. עכשיו השורה המרכזית: ציון כמעט מושלם על דאטה נקי ממקור יחיד לא מוכיח בטיחות בעולם האמיתי, אז מכאן אני תוקפת בכוונה את המודל שלי — ערפול, תוקף חכם, תיבה אחרת, וזמן.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attack and its defence, together. THE ATTACK is the homoglyph swap: I replace ordinary Latin letters with Cyrillic look-alikes that are drawn identically — 'Verify your account' where some letters are secretly Cyrillic. A person reads it unchanged, but my word-matching model sees brand-new unknown tokens (a token is a unit it counts, usually a word), so the phishing words vanish and recall drops from 0.99 to 0.71. It's the 'imperceptible' attack the papers warn about, and it's nearly free. THE FIX is normalisation: before classifying, I fold every look-alike character back to its plain letter, and I add character n-grams. Recall goes back to about 0.99 — and beautifully, it also repairs a different attack it was never designed for, full-width letters, because the folding rule is general. The lesson: a principled defence generalises to new attacks; adversarial training (retraining on attacked examples) only memorises the family it saw. Even an adaptive attacker who fights the defence only pulls it to about 0.96.
— — —  עברית  — — —
המתקפה הראשונה וההגנה שלה, ביחד. THE ATTACK היא החלפת הומוגליף: אני מחליפה אותיות לטיניות רגילות בכפילות קיריליות שמצוירות זהה — 'Verify your account' כשחלק מהאותיות קיריליות בסתר. אדם קורא את זה בלי שינוי, אבל המודל שלי שמשווה מילים רואה מילים חדשות ולא מוכרות (token זו יחידה שהוא סופר, בדרך כלל מילה), אז מילות הפישינג נעלמות וה-recall יורד מ-0.99 ל-0.71. זו המתקפה ה'בלתי-נראית' שהמאמרים מזהירים ממנה, והיא כמעט חינם. THE FIX היא נורמליזציה: לפני הסיווג, אני מחזירה כל תו כפילות לאות הרגילה שלו, ומוסיפה character n-grams. ה-recall חוזר לבערך 0.99 — ויפה מזה, זה גם מתקן מתקפה אחרת שלא תוכננה בשבילה, אותיות ברוחב מלא, כי כלל הקיפול כללי. השיעור: הגנה עקרונית מתכללת למתקפות חדשות; אימון יריב (אימון מחדש על דוגמאות מותקפות) רק משנן את המשפחה שראה. אפילו תוקף אדפטיבי שנלחם בהגנה מוריד אותה רק לבערך 0.96.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smarter attacker, and the fix that shuts it for good. THE ATTACK is importance-guided, or adaptive: instead of random edits, the attacker first finds the words my model relies on most and disguises only those, using look-alike letters my hand-made list happened to miss. Same budget — 8 edits, which is a Levenshtein or edit distance of 8 (the fewest single-character insert/delete/substitute steps to change one text into another) — but aimed cleverly it cuts recall to 0.74 versus 0.98 for random, a typical email flips at about 9 edits, and even my fully-defended model drops to 0.88. THE FIX comes with a certificate — a mathematical proof, not just 'it worked'. I replace my incomplete hand-list with the full official confusables list, Unicode UTS #39, the same one browsers use for fake addresses. Recall returns to 0.998, and I can prove that after cleaning, the attacked email becomes exactly the original text for 100% of phishing, so the decision cannot change — 0% with the old list. That closes the cheap letter-attack front for good.
— — —  עברית  — — —
עכשיו תוקף חכם יותר, והתיקון שסוגר אותו סופית. THE ATTACK היא מונחית-חשיבות, או אדפטיבית: במקום שינויים אקראיים, התוקף קודם מוצא את המילים שהמודל שלי הכי נשען עליהן ומסווה רק אותן, בעזרת אותיות דומות שהרשימה הידנית שלי פספסה. אותו תקציב — 8 שינויים, שזה מרחק לוינשטיין (מרחק עריכה) של 8 (המספר הקטן ביותר של הכנסות/מחיקות/החלפות של תו בודד כדי להפוך טקסט אחד לאחר) — אבל כיוון חכם מוריד את ה-recall ל-0.74 מול 0.98 באקראי, מייל טיפוסי מתהפך בסביבות 9 שינויים, ואפילו המודל המוגן לגמרי יורד ל-0.88. THE FIX מגיע עם תעודה — הוכחה מתמטית, לא רק 'זה עבד'. אני מחליפה את הרשימה הידנית החלקית ברשימת הכפילויות הרשמית המלאה, Unicode UTS #39, אותה רשימה שדפדפנים משתמשים בה לכתובות מזויפות. ה-recall חוזר ל-0.998, ואני יכולה להוכיח שאחרי הניקוי המייל המותקף הופך בדיוק לטקסט המקורי עבור 100% מהפישינג, אז ההחלטה לא יכולה להשתנות — 0% עם הרשימה הישנה. זה סוגר את חזית מתקפת-האותיות הזולה לתמיד.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letter tricks closed by proof, the attacker switches from letters to whole words. THE ATTACK is dilution, the classic good-word attack (Lowd &amp; Meek 2005): pad the phishing email with lots of innocent, normal-sounding words. It works because my model is a bag-of-words — it adds up evidence word by word and ignores order — so enough innocent words out-vote the few scam words, and recall collapses from 0.998 to 0.13, the red line; my letter-cleaner does nothing here because it's a different kind of attack. THE FIX is a second guarantee — the one-way, or monotone, model. Monotone just means I force every word's weight to be zero or positive, so a word can only add suspicion, never subtract it. Then adding text can only push the score up, and padding provably cannot un-flag a scam — the teal line stays flat. It holds a floor of about 0.87, and I'm honest about the price: on clean mail it scores 0.91 instead of 0.998, because it can only look for guilt, never innocence. So it runs alongside the main model as a guaranteed safety net. That's now two whole attack classes closed by proof.
— — —  עברית  — — —
אחרי שטריקי-האותיות סגורים בהוכחה, התוקף עובר מאותיות למילים שלמות. THE ATTACK היא דילול, מתקפת המילים-הטובות הקלאסית (Lowd &amp; Meek 2005): למלא את מייל הפישינג בהמון מילים תמימות ונורמליות. זה עובד כי המודל שלי הוא bag-of-words — הוא מחבר ראיות מילה-מילה ומתעלם מהסדר — אז מספיק מילים תמימות גוברות על מעט מילות ההונאה, וה-recall קורס מ-0.998 ל-0.13, הקו האדום; מנקה-האותיות שלי לא עוזר כאן כי זו מתקפה מסוג אחר. THE FIX היא הבטחה שנייה — המודל החד-כיווני, או מונוטוני. מונוטוני פשוט אומר שאני מכריחה את המשקל של כל מילה להיות אפס או חיובי, כך שמילה יכולה רק להוסיף חשד, לעולם לא להחסיר. אז הוספת טקסט יכולה רק לדחוף את הציון למעלה, ומילוי מוכח שלא יכול לבטל סימון של הונאה — הקו הטורקיז נשאר שטוח. הוא מחזיק רצפה של בערך 0.87, ואני כנה לגבי המחיר: על דואר נקי הוא מקבל 0.91 במקום 0.998, כי הוא יכול לחפש רק אשמה, לעולם לא חפות. אז הוא רץ לצד המודל הראשי כרשת ביטחון מובטחת. וזה עכשיו שתי מחלקות מתקפה שלמות סגורות בהוכחה.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line is the whole story. Reading left to right, each point is recall: clean is perfect; the homoglyph letter-attack drops it; normalisation restores it; the smart targeted attacker drops it again; the full UTS-39 list restores it, this time with a proof; the word-dilution attack crushes it to 0.13; and the one-way monotone model lifts it back, with a second proof. Every dip is the attacker getting smarter, every recovery is a defence I built, and two of those recoveries are guaranteed rather than just measured. The one frontier still open on the far right is a full meaning-preserving rewrite of the email — and that is exactly why the content detector needs to be fused with Gilad's second, independent signal. The table of these numbers is in my notes: homoglyph 0.99→0.71→0.99; targeted →0.88→0.998 certified; dilution 0.998→0.13→0.87 certified.
— — —  עברית  — — —
הקו הבודד הזה הוא כל הסיפור. קוראים משמאל לימין, כל נקודה היא recall: נקי מושלם; מתקפת האותיות הומוגליף מורידה אותו; נורמליזציה מחזירה; התוקף החכם הממוקד מוריד שוב; הרשימה המלאה UTS-39 מחזירה, הפעם עם הוכחה; מתקפת דילול-המילים מרסקת ל-0.13; והמודל החד-כיווני המונוטוני מרים בחזרה, עם הוכחה שנייה. כל ירידה היא התוקף שנעשה חכם יותר, כל התאוששות היא הגנה שבניתי, ושתיים מההתאוששויות מובטחות ולא רק נמדדות. החזית האחת שעדיין פתוחה בקצה הימני היא כתיבה מחדש של המייל תוך שמירת המשמעות — וזו בדיוק הסיבה שגלאי התוכן צריך להתמזג עם האות השני והעצמאי של גלעד. הטבלה של המספרים האלה בהערות שלי: הומוגליף 0.99→0.71→0.99; ממוקד →0.88→0.998 מאושר; דילול 0.998→0.13→0.87 מאושר.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honesty checks, because a lab score can mislead. SPACE, a different inbox: so far I trained and tested on the same dataset; here I test on completely different email collections and F1 falls from 0.998 to 0.37. I want this crystal clear — 'different sources' means other DATASETS (Nazario, Enron, SpamAssassin), ordinary clean emails, NOT a different attack; the gap is distribution shift, the new data just doesn't look like the training data. But I diagnose rather than despair: the AUC ranking score is still 0.78, so the model isn't broken, just mis-tuned — re-setting one threshold recovers F1 to 0.75. The real remainder is a vocabulary gap: unseen words jump from 7% to 20%. TIME, a different year: on real 2023–2025 phishing the 2008-trained model catches only 14% — concept drift, the scams changed. And it's not hypothetical: the obfuscation tricks I defend against are near 0% in 2008 phishing but 1.8% and 4% in modern phishing, including invisible zero-width characters. A lab number has a shelf life; the next slide fixes it.
— — —  עברית  — — —
שתי בדיקות כנות, כי ציון מעבדה יכול להטעות. מרחב, תיבה אחרת: עד עכשיו אימנתי ובדקתי על אותו דאטהסט; כאן אני בודקת על אוספי מיילים שונים לגמרי וה-F1 יורד מ-0.998 ל-0.37. אני רוצה שזה יהיה ברור לגמרי — 'מקורות שונים' אומר דאטהסטים אחרים (Nazario, Enron, SpamAssassin), מיילים רגילים ונקיים, לא מתקפה אחרת; הפער הוא הסחת התפלגות, הדאטה החדש פשוט לא נראה כמו דאטת האימון. אבל אני מאבחנת ולא מתייאשת: ציון הדירוג AUC עדיין 0.78, אז המודל לא שבור, רק מכוון לא נכון — כיוונון מחדש של סף אחד מחזיר את ה-F1 ל-0.75. מה שנשאר באמת הוא פער אוצר-מילים: מילים לא מוכרות קופצות מ-7% ל-20%. זמן, שנה אחרת: על פישינג אמיתי מ-2023–2025 המודל מ-2008 תופס רק 14% — הסחת מושג, ההונאות השתנו. וזה לא היפותטי: טריקי הערפול שאני מגינה מפניהם הם כמעט 0% בפישינג של 2008 אבל 1.8% ו-4% בפישינג מודרני, כולל תווים בלתי-נראים ברוחב-אפס. לציון מעבדה יש תוקף מוגבל; השקף הבא מתקן את זה.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keep the detector working in the real world. Left, retraining: when I add modern scam examples and retrain, recall on modern scams jumps from 15% to 98% — and it doesn't forget (still perfect on old scams, a real risk called catastrophic forgetting) and false alarms stay under 1%. I do it honestly, keeping the normal-mail source unchanged so the model can't cheat on 'old versus new source'. Right, human-in-the-loop: a phishing campaign is the same email blasted to many inboxes; if one person reports it, the system compares it to every inbox and blocks the near-duplicates, lifting recall on the rest from 15% to 100% with no extra false alarms. The gold box is the point worth stressing: attackers increasingly hijack a real, trusted account and send from a legitimate address — a sender-trust filter is fooled, but reading the words still catches it. Content is the signal that survives a stolen account. One caveat: this matching needs normalisation first, or homoglyphs switch it off — so that certified defence is a precondition. And the report channel itself must be defended, since fake reports are a poisoning attack.
— — —  עברית  — — —
שתי דרכים לשמור על הגלאי עובד בעולם האמיתי. משמאל, אימון מחדש: כשאני מוסיפה דוגמאות של הונאות מודרניות ומאמנת מחדש, ה-recall על הונאות מודרניות קופץ מ-15% ל-98% — והוא לא שוכח (עדיין מושלם על הונאות ישנות, סיכון אמיתי שנקרא שכחה קטסטרופלית) ואזעקות השווא נשארות מתחת ל-1%. אני עושה זאת בכנות, שומרת את מקור הדואר-הרגיל ללא שינוי כדי שהמודל לא ירמה על 'מקור ישן מול חדש'. מימין, אדם-בלולאה: קמפיין פישינג הוא אותו מייל שנשלח להרבה תיבות; אם אדם אחד מדווח, המערכת משווה אותו לכל תיבה וחוסמת את הכפילויות-הקרובות, ומעלה את ה-recall על השאר מ-15% ל-100% בלי אזעקות שווא נוספות. הקופסה הזהובה היא הנקודה ששווה להדגיש: תוקפים יותר ויותר חוטפים חשבון אמיתי ומהימן ושולחים מכתובת לגיטימית — מסנן שסומך על השולח מרומה, אבל קריאת המילים עדיין תופסת. תוכן הוא האות ששורד חשבון גנוב. הסתייגות: ההתאמה הזאת צריכה נורמליזציה קודם, אחרת הומוגליפים מכבים אותה — אז ההגנה המאושרת היא תנאי מקדים. וגם ערוץ הדיווח עצמו חייב להיות מוגן, כי דיווחים מזויפים הם מתקפת הרעלה.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I explored around the core model. One, an LLM paraphrase attack: instead of tricking letters or padding words, I ask a large language model to rewrite the whole scam in fresh words with the same meaning. The risk is a rewrite that stops being a scam, so a second, independent LLM acts as a judge and confirms each one is still phishing — 'LLM-as-a-judge', which kept 24 of 30. My main model shrugs it off, recall stays 1.0, because it has many overlapping clues; the one-way model gives a little, 0.75 to 0.71. Rewording is the one attack class both certificates leave open. Two, sentiment as a hand-crafted feature — something I considered: phishing leans on urgency, fear and reward, so I thought about scoring that emotion (with an LLM or a cheap VADER lexicon) as an extra signal. Honestly it likely adds little, because TF-IDF already learns the emotional words directly, so I keep it as future work — best aimed at urgency cues, not raw positive/negative, and computed after normalisation. Three, a self-updating attack database: a new attack is validated, stored, and folded into a ~30-second retrain, so the detector keeps learning; the hard part is trust, since an unvetted stream can be poisoned, so every entry is judged before it's learned.
— — —  עברית  — — —
שלושה רעיונות שחקרתי סביב מודל הליבה. אחד, מתקפת פרפרזה עם LLM: במקום לרמות אותיות או למלא מילים, אני מבקשת ממודל שפה גדול לכתוב מחדש את כל ההונאה במילים חדשות עם אותה משמעות. הסיכון הוא כתיבה מחדש שמפסיקה להיות הונאה, אז LLM שני ועצמאי משמש כשופט ומאשר שכל אחת עדיין פישינג — 'LLM-as-a-judge', ששמר 24 מתוך 30. המודל הראשי שלי לא מתרגש, recall נשאר 1.0, כי יש לו הרבה רמזים חופפים; המודל החד-כיווני מוותר קצת, 0.75 ל-0.71. כתיבה מחדש היא מחלקת המתקפה האחת ששתי התעודות משאירות פתוחה. שתיים, סנטימנט כתכונה בעבודת-יד — משהו ששקלתי: פישינג נשען על דחיפות, פחד ופרס, אז חשבתי לתת ציון לרגש הזה (עם LLM או לקסיקון VADER זול) כאות נוסף. בכנות זה כנראה יוסיף מעט, כי TF-IDF כבר לומד את המילים הרגשיות ישירות, אז אני שומרת את זה כעבודה עתידית — הכי טוב לכוון לרמזי דחיפות, לא לקוטביות גולמית, ולחשב אחרי נורמליזציה. שלוש, מסד נתוני מתקפות שמעדכן את עצמו: מתקפה חדשה עוברת אימות, נשמרת, ומשולבת באימון מחדש של כ-30 שניות, כך שהגלאי ממשיך ללמוד; החלק הקשה הוא אמון, כי זרם לא-מבוקר אפשר להרעיל, אז כל רשומה נשפטת לפני שלומדים אותה.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the practical side to the message. The numbers, top, are measured not guessed: it classifies an email in about 3 milliseconds, the whole model is under 3 megabytes, and a full retrain takes about 25 seconds. Because it's so small it can run on the phone or mail client itself, so the content never has to leave the device — good for privacy — and I always frame it as one layer of many: it deliberately ignores the sender and links, so a real deployment surrounds it with sender authentication, link reputation, sandboxing, and Gilad's detector. Then the core of the whole project, three points: one, it works and it's honest — near-perfect on clean data, but every claim tested against an attacker; two, two whole classes of attack are shut with a proof, not just a better score; three, it knows its limits — words alone can't catch everything, which is exactly why it's fused. The one line to remember: a near-perfect score is not the same as a safe detector. The value is knowing where it fails, and proving where it can't.
— — —  עברית  — — —
זה קושר את הצד המעשי למסר. המספרים, למעלה, נמדדו ולא נוחשו: הוא מסווג מייל בערך ב-3 מילישניות, כל המודל מתחת ל-3 מגה-בייט, ואימון מחדש מלא לוקח כ-25 שניות. כי הוא כל כך קטן הוא יכול לרוץ על הטלפון או אפליקציית המייל, אז התוכן אף פעם לא צריך לעזוב את המכשיר — טוב לפרטיות — ואני תמיד ממסגרת אותו כשכבה אחת מיני רבות: הוא מתעלם בכוונה מהשולח ומהקישורים, אז פריסה אמיתית מקיפה אותו באימות שולח, מוניטין קישורים, ארגז חול, והגלאי של גלעד. אחר כך הליבה של כל הפרויקט, שלוש נקודות: אחת, הוא עובד והוא כן — כמעט מושלם על דאטה נקי, אבל כל טענה נבדקה מול תוקף; שתיים, שתי מחלקות שלמות של מתקפות סגורות בהוכחה, לא רק בציון טוב יותר; שלוש, הוא מכיר את מגבלותיו — מילים לבד לא תופסות הכל, ולכן בדיוק הוא ממוזג. השורה לזכור: ציון כמעט מושלם הוא לא אותו דבר כמו גלאי בטוח. הערך הוא לדעת איפה הוא נכשל, ולהוכיח איפה הוא לא יכול.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show the project isn't ad-hoc — it follows the course's own general pipeline and uses its methods. The top strip is that pipeline: data and EDA, clustering, temporal analysis, NLP, models, improvement. My project is a deep dive into the last three, the gold boxes, while touching every earlier stage — I did the statistics and correlation, looked at phishing campaigns as clusters, and studied drift over fifteen years. The one box I deliberately leave open, 'separate components', is the fusion with Gilad. The four cards are the specific methods from class: metrics and the accuracy paradox, so I report F2, MCC and AUC and keep the useless majority baseline as a live example; the leakage discipline — a stratified split that keeps the class ratio, a fixed seed, dedupe before splitting, the vectoriser fit on training data only, and the 'no email from the future' rule; the EDA statistics — rank correlations, skew and kurtosis, robust averages, Mann–Whitney and VIF; and explainability at three levels — the whole model, each feature, and one email's decision — with the trust-versus-performance trade-off as my fourth research question.
— — —  עברית  — — —
אני רוצה להראות שהפרויקט לא אקראי — הוא עוקב אחרי ה-pipeline הכללי של הקורס ומשתמש בשיטות שלו. הרצועה העליונה היא ה-pipeline הזה: דאטה ו-EDA, אשכולות, ניתוח טמפורלי, NLP, מודלים, שיפור. הפרויקט שלי הוא צלילה עמוקה לשלושת האחרונים, הקופסאות הזהובות, תוך נגיעה בכל שלב מוקדם יותר — עשיתי את הסטטיסטיקה והקורלציה, הסתכלתי על קמפיינים של פישינג כאשכולות, וחקרתי דריפט לאורך חמש-עשרה שנים. הקופסה האחת שאני משאירה בכוונה פתוחה, 'רכיבים נפרדים', היא המיזוג עם גלעד. ארבע הקופסאות הן השיטות הספציפיות מהשיעור: מדדים ופרדוקס הדיוק, אז אני מדווחת F2, MCC ו-AUC ושומרת את בסיס-הרוב חסר-התועלת כדוגמה חיה; משמעת מניעת דליפה — פיצול שכבתי ששומר על יחס המחלקות, seed קבוע, הסרת כפילויות לפני הפיצול, התאמת הווקטורייזר על נתוני האימון בלבד, וכלל 'אין מייל מהעתיד'; סטטיסטיקת EDA — קורלציות דירוג, skew ו-kurtosis, ממוצעים חסינים, מאן-וויטני ו-VIF; והסברתיות בשלוש רמות — כל המודל, כל תכונה, וההחלטה של מייל בודד — עם הטרייד-אוף בין אמון לביצועים כשאלת המחקר הרביעית.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grounding, plus honest future work. The attacks and defences map straight onto the course taxonomy. Attacks are grouped by when and how they strike: evasion fools the model at test time, poisoning corrupts its training data, and transfer means an attack built on one model reused on another. My homoglyphs are evasion; the importance-guided attack is a targeted grey-box evasion; fake reports are poisoning; and testing on DistilBERT is the transfer case. The NLP-security lecture literally used 'Get r1ch qu1ck' and a Cyrillic 'paypal' — exactly my attacks. The lectures also name the defences: canonicalising homoglyphs and adversarial training, which are exactly what I built. For future work I ground each direction in a paper: Fleshman 2018's non-negative networks could keep the dilution guarantee without the accuracy cost; anomaly detection — Isolation Forest, One-Class SVM — could flag obfuscated mail as anomalous; Li 2019's TextBugger points to a stronger neural paraphrase attacker; Pruthi 2019 could extend my certificate to ordinary typos; and above all, the fusion with Gilad. And my framing for drift is from the course too: a 2008 model is Taleb's turkey — fed every day and totally confident, right up until Thanksgiving, when the past stops predicting the future.
— — —  עברית  — — —
העיגון האחרון, בתוספת עבודה עתידית כנה. המתקפות וההגנות ממופות ישירות על טקסונומיית הקורס. מתקפות מסווגות לפי מתי ואיך הן פוגעות: התחמקות מרמה את המודל בזמן הבדיקה, הרעלה מקלקלת את נתוני האימון, והעברה אומרת מתקפה שנבנתה על מודל אחד ומשמשת על אחר. ההומוגליפים שלי הם התחמקות; המתקפה מונחית-החשיבות היא התחמקות ממוקדת מסוג grey-box; דיווחים מזויפים הם הרעלה; והבדיקה על DistilBERT היא מקרה ההעברה. הרצאת אבטחת ה-NLP ממש השתמשה ב-'Get r1ch qu1ck' וב-'paypal' קירילי — בדיוק המתקפות שלי. ההרצאות גם נוקבות בשם ההגנות: קנוניקליזציה של הומוגליפים ואימון יריב, שהם בדיוק מה שבניתי. לעבודה עתידית אני מעגנת כל כיוון במאמר: רשתות אי-שליליות של פלשמן 2018 יכולות לשמור על הבטחת הדילול בלי מחיר הדיוק; זיהוי חריגות — Isolation Forest, One-Class SVM — יכול לסמן דואר מעורפל כחריג; TextBugger של לי 2019 מצביע על תוקף פרפרזה נוירוני חזק יותר; פרות'י 2019 יכול להרחיב את התעודה שלי לשגיאות כתיב רגילות; ומעל הכל, המיזוג עם גלעד. והמסגור שלי לדריפט מגיע מהקורס גם: מודל 2008 הוא תרנגול-ההודו של טאלב — מאכילים אותו כל יום והוא בטוח לגמרי, עד יום ההודיה, כשהעבר מפסיק לנבא את העתיד.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one sentence: the real contribution isn't the 0.998 score. It's showing exactly where a near-perfect detector breaks, and hardening it until two whole classes of attack are provably shut. And it's honest about what a content-only model can't do alone — which is precisely why it's built to fuse with Gilad's detector. Thank you, and I'm happy to take questions.
— — —  עברית  — — —
לסיום, משפט אחד: התרומה האמיתית היא לא הציון 0.998. היא להראות בדיוק איפה גלאי כמעט-מושלם נשבר, ולחזק אותו עד ששתי מחלקות שלמות של מתקפות סגורות בהוכחה. והוא כן לגבי מה שמודל מבוסס-תוכן לא יכול לעשות לבד — וזו בדיוק הסיבה שהוא בנוי להתמזג עם הגלאי של גלעד. תודה, ואשמח לשאלות.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0"/>
        </a:solidFill>
      </p:bgPr>
    </p:bg>
    <p:spTree>
      <p:nvGrpSpPr>
        <p:cNvPr id="1" name=""/>
        <p:cNvGrpSpPr/>
        <p:nvPr/>
      </p:nvGrpSpPr>
      <p:grpSpPr>
        <a:xfrm>
          <a:off x="0" y="0"/>
          <a:ext cx="0" cy="0"/>
          <a:chOff x="0" y="0"/>
          <a:chExt cx="0" cy="0"/>
        </a:xfrm>
      </p:grpSpPr>
      <p:sp>
        <p:nvSpPr>
          <p:cNvPr id="2" name="Shape 0"/>
          <p:cNvSpPr/>
          <p:nvPr/>
        </p:nvSpPr>
        <p:spPr>
          <a:xfrm>
            <a:off x="0" y="6172200"/>
            <a:ext cx="12191695" cy="685800"/>
          </a:xfrm>
          <a:prstGeom prst="rect">
            <a:avLst/>
          </a:prstGeom>
          <a:solidFill>
            <a:srgbClr val="0E1922"/>
          </a:solidFill>
          <a:ln/>
        </p:spPr>
      </p:sp>
      <p:sp>
        <p:nvSpPr>
          <p:cNvPr id="3" name="Text 1"/>
          <p:cNvSpPr/>
          <p:nvPr/>
        </p:nvSpPr>
        <p:spPr>
          <a:xfrm>
            <a:off x="566928" y="1600200"/>
            <a:ext cx="10058400" cy="365760"/>
          </a:xfrm>
          <a:prstGeom prst="rect">
            <a:avLst/>
          </a:prstGeom>
          <a:noFill/>
          <a:ln/>
        </p:spPr>
        <p:txBody>
          <a:bodyPr wrap="square" rtlCol="0" anchor="ctr"/>
          <a:lstStyle/>
          <a:p>
            <a:pPr indent="0" marL="0">
              <a:buNone/>
            </a:pPr>
            <a:r>
              <a:rPr lang="en-US" sz="1300" b="1" spc="300" kern="0" dirty="0">
                <a:solidFill>
                  <a:srgbClr val="3CB6A6"/>
                </a:solidFill>
                <a:latin typeface="Calibri" pitchFamily="34" charset="0"/>
                <a:ea typeface="Calibri" pitchFamily="34" charset="-122"/>
                <a:cs typeface="Calibri" pitchFamily="34" charset="-120"/>
              </a:rPr>
              <a:t>DATA SCIENCE &amp; CYBER · FINAL PROJECT</a:t>
            </a:r>
            <a:endParaRPr lang="en-US" sz="1300" dirty="0"/>
          </a:p>
        </p:txBody>
      </p:sp>
      <p:sp>
        <p:nvSpPr>
          <p:cNvPr id="4" name="Text 2"/>
          <p:cNvSpPr/>
          <p:nvPr/>
        </p:nvSpPr>
        <p:spPr>
          <a:xfrm>
            <a:off x="566928" y="2057400"/>
            <a:ext cx="10972800" cy="109728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PhishFusion</a:t>
            </a:r>
            <a:endParaRPr lang="en-US" sz="6000" dirty="0"/>
          </a:p>
        </p:txBody>
      </p:sp>
      <p:sp>
        <p:nvSpPr>
          <p:cNvPr id="5" name="Text 3"/>
          <p:cNvSpPr/>
          <p:nvPr/>
        </p:nvSpPr>
        <p:spPr>
          <a:xfrm>
            <a:off x="566928" y="3291840"/>
            <a:ext cx="9601200" cy="822960"/>
          </a:xfrm>
          <a:prstGeom prst="rect">
            <a:avLst/>
          </a:prstGeom>
          <a:noFill/>
          <a:ln/>
        </p:spPr>
        <p:txBody>
          <a:bodyPr wrap="square" rtlCol="0" anchor="ctr"/>
          <a:lstStyle/>
          <a:p>
            <a:pPr indent="0" marL="0">
              <a:buNone/>
            </a:pPr>
            <a:r>
              <a:rPr lang="en-US" sz="2000" dirty="0">
                <a:solidFill>
                  <a:srgbClr val="C7D3D9"/>
                </a:solidFill>
                <a:latin typeface="Calibri" pitchFamily="34" charset="0"/>
                <a:ea typeface="Calibri" pitchFamily="34" charset="-122"/>
                <a:cs typeface="Calibri" pitchFamily="34" charset="-120"/>
              </a:rPr>
              <a:t>A content-based phishing detector — and an honest study of how robust it really is.</a:t>
            </a:r>
            <a:endParaRPr lang="en-US" sz="2000" dirty="0"/>
          </a:p>
        </p:txBody>
      </p:sp>
      <p:sp>
        <p:nvSpPr>
          <p:cNvPr id="6" name="Shape 4"/>
          <p:cNvSpPr/>
          <p:nvPr/>
        </p:nvSpPr>
        <p:spPr>
          <a:xfrm>
            <a:off x="566928" y="4297680"/>
            <a:ext cx="2011680" cy="45720"/>
          </a:xfrm>
          <a:prstGeom prst="rect">
            <a:avLst/>
          </a:prstGeom>
          <a:solidFill>
            <a:srgbClr val="D4AB4E"/>
          </a:solidFill>
          <a:ln/>
        </p:spPr>
      </p:sp>
      <p:sp>
        <p:nvSpPr>
          <p:cNvPr id="7" name="Text 5"/>
          <p:cNvSpPr/>
          <p:nvPr/>
        </p:nvSpPr>
        <p:spPr>
          <a:xfrm>
            <a:off x="566928" y="4572000"/>
            <a:ext cx="9144000" cy="91440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Lia Bercovitz</a:t>
            </a:r>
            <a:endParaRPr lang="en-US" sz="2200" dirty="0"/>
          </a:p>
          <a:p>
            <a:pPr indent="0" marL="0">
              <a:buNone/>
            </a:pPr>
            <a:r>
              <a:rPr lang="en-US" sz="1400" dirty="0">
                <a:solidFill>
                  <a:srgbClr val="9FB2BB"/>
                </a:solidFill>
                <a:latin typeface="Calibri" pitchFamily="34" charset="0"/>
                <a:ea typeface="Calibri" pitchFamily="34" charset="-122"/>
                <a:cs typeface="Calibri" pitchFamily="34" charset="-120"/>
              </a:rPr>
              <a:t>Student A · the content / NLP detector</a:t>
            </a:r>
            <a:endParaRPr lang="en-US" sz="2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310896"/>
            <a:ext cx="9144000" cy="274320"/>
          </a:xfrm>
          <a:prstGeom prst="rect">
            <a:avLst/>
          </a:prstGeom>
          <a:noFill/>
          <a:ln/>
        </p:spPr>
        <p:txBody>
          <a:bodyPr wrap="square" rtlCol="0" anchor="ctr"/>
          <a:lstStyle/>
          <a:p>
            <a:pPr indent="0" marL="0">
              <a:buNone/>
            </a:pPr>
            <a:r>
              <a:rPr lang="en-US" sz="1100" b="1" spc="200" kern="0" dirty="0">
                <a:solidFill>
                  <a:srgbClr val="3CB6A6"/>
                </a:solidFill>
                <a:latin typeface="Calibri" pitchFamily="34" charset="0"/>
                <a:ea typeface="Calibri" pitchFamily="34" charset="-122"/>
                <a:cs typeface="Calibri" pitchFamily="34" charset="-120"/>
              </a:rPr>
              <a:t>MOTIVATION &amp; SCOPE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indent="0" marL="0">
              <a:buNone/>
            </a:pPr>
            <a:r>
              <a:rPr lang="en-US" sz="2500" b="1" dirty="0">
                <a:solidFill>
                  <a:srgbClr val="EAF0F1"/>
                </a:solidFill>
                <a:latin typeface="Cambria" pitchFamily="34" charset="0"/>
                <a:ea typeface="Cambria" pitchFamily="34" charset="-122"/>
                <a:cs typeface="Cambria" pitchFamily="34" charset="-120"/>
              </a:rPr>
              <a:t>Phishing is a language attack — I built one half.</a:t>
            </a:r>
            <a:endParaRPr lang="en-US" sz="2500" dirty="0"/>
          </a:p>
        </p:txBody>
      </p:sp>
      <p:sp>
        <p:nvSpPr>
          <p:cNvPr id="4" name="Shape 2"/>
          <p:cNvSpPr/>
          <p:nvPr/>
        </p:nvSpPr>
        <p:spPr>
          <a:xfrm>
            <a:off x="566928" y="1371600"/>
            <a:ext cx="1737360" cy="41148"/>
          </a:xfrm>
          <a:prstGeom prst="rect">
            <a:avLst/>
          </a:prstGeom>
          <a:solidFill>
            <a:srgbClr val="3CB6A6"/>
          </a:solidFill>
          <a:ln/>
        </p:spPr>
      </p:sp>
      <p:sp>
        <p:nvSpPr>
          <p:cNvPr id="5" name="Text 3"/>
          <p:cNvSpPr/>
          <p:nvPr/>
        </p:nvSpPr>
        <p:spPr>
          <a:xfrm>
            <a:off x="10728655" y="310896"/>
            <a:ext cx="914400" cy="274320"/>
          </a:xfrm>
          <a:prstGeom prst="rect">
            <a:avLst/>
          </a:prstGeom>
          <a:noFill/>
          <a:ln/>
        </p:spPr>
        <p:txBody>
          <a:bodyPr wrap="square" rtlCol="0" anchor="ctr"/>
          <a:lstStyle/>
          <a:p>
            <a:pPr algn="r" indent="0" marL="0">
              <a:buNone/>
            </a:pPr>
            <a:r>
              <a:rPr lang="en-US" sz="1100" dirty="0">
                <a:solidFill>
                  <a:srgbClr val="6E7F87"/>
                </a:solidFill>
                <a:latin typeface="Calibri" pitchFamily="34" charset="0"/>
                <a:ea typeface="Calibri" pitchFamily="34" charset="-122"/>
                <a:cs typeface="Calibri" pitchFamily="34" charset="-120"/>
              </a:rPr>
              <a:t>1 / 15</a:t>
            </a:r>
            <a:endParaRPr lang="en-US" sz="1100" dirty="0"/>
          </a:p>
        </p:txBody>
      </p:sp>
      <p:sp>
        <p:nvSpPr>
          <p:cNvPr id="6" name="Text 4"/>
          <p:cNvSpPr/>
          <p:nvPr/>
        </p:nvSpPr>
        <p:spPr>
          <a:xfrm>
            <a:off x="566928" y="1508760"/>
            <a:ext cx="11057839" cy="457200"/>
          </a:xfrm>
          <a:prstGeom prst="rect">
            <a:avLst/>
          </a:prstGeom>
          <a:noFill/>
          <a:ln/>
        </p:spPr>
        <p:txBody>
          <a:bodyPr wrap="square" rtlCol="0" anchor="t"/>
          <a:lstStyle/>
          <a:p>
            <a:pPr indent="0" marL="0">
              <a:buNone/>
            </a:pPr>
            <a:r>
              <a:rPr lang="en-US" sz="1400" dirty="0">
                <a:solidFill>
                  <a:srgbClr val="95A6AD"/>
                </a:solidFill>
                <a:latin typeface="Calibri" pitchFamily="34" charset="0"/>
                <a:ea typeface="Calibri" pitchFamily="34" charset="-122"/>
                <a:cs typeface="Calibri" pitchFamily="34" charset="-120"/>
              </a:rPr>
              <a:t>Phishing is social engineering: it works on human trust, through the words. So a text-only model can read the attack itself.</a:t>
            </a:r>
            <a:endParaRPr lang="en-US" sz="1400" dirty="0"/>
          </a:p>
        </p:txBody>
      </p:sp>
      <p:sp>
        <p:nvSpPr>
          <p:cNvPr id="7" name="Shape 5"/>
          <p:cNvSpPr/>
          <p:nvPr/>
        </p:nvSpPr>
        <p:spPr>
          <a:xfrm>
            <a:off x="566928" y="2057400"/>
            <a:ext cx="2615184" cy="1097280"/>
          </a:xfrm>
          <a:prstGeom prst="roundRect">
            <a:avLst>
              <a:gd name="adj" fmla="val 6667"/>
            </a:avLst>
          </a:prstGeom>
          <a:solidFill>
            <a:srgbClr val="34231D"/>
          </a:solidFill>
          <a:ln/>
        </p:spPr>
      </p:sp>
      <p:sp>
        <p:nvSpPr>
          <p:cNvPr id="8" name="Shape 6"/>
          <p:cNvSpPr/>
          <p:nvPr/>
        </p:nvSpPr>
        <p:spPr>
          <a:xfrm>
            <a:off x="566928" y="2167128"/>
            <a:ext cx="50292" cy="877824"/>
          </a:xfrm>
          <a:prstGeom prst="rect">
            <a:avLst/>
          </a:prstGeom>
          <a:solidFill>
            <a:srgbClr val="E97A60"/>
          </a:solidFill>
          <a:ln/>
        </p:spPr>
      </p:sp>
      <p:sp>
        <p:nvSpPr>
          <p:cNvPr id="9" name="Text 7"/>
          <p:cNvSpPr/>
          <p:nvPr/>
        </p:nvSpPr>
        <p:spPr>
          <a:xfrm>
            <a:off x="768096" y="2157984"/>
            <a:ext cx="2286000" cy="274320"/>
          </a:xfrm>
          <a:prstGeom prst="rect">
            <a:avLst/>
          </a:prstGeom>
          <a:noFill/>
          <a:ln/>
        </p:spPr>
        <p:txBody>
          <a:bodyPr wrap="square" rtlCol="0" anchor="ctr"/>
          <a:lstStyle/>
          <a:p>
            <a:pPr indent="0" marL="0">
              <a:buNone/>
            </a:pPr>
            <a:r>
              <a:rPr lang="en-US" sz="1050" b="1" spc="100" kern="0" dirty="0">
                <a:solidFill>
                  <a:srgbClr val="E97A60"/>
                </a:solidFill>
                <a:latin typeface="Calibri" pitchFamily="34" charset="0"/>
                <a:ea typeface="Calibri" pitchFamily="34" charset="-122"/>
                <a:cs typeface="Calibri" pitchFamily="34" charset="-120"/>
              </a:rPr>
              <a:t>AUTHORITY</a:t>
            </a:r>
            <a:endParaRPr lang="en-US" sz="1050" dirty="0"/>
          </a:p>
        </p:txBody>
      </p:sp>
      <p:sp>
        <p:nvSpPr>
          <p:cNvPr id="10" name="Text 8"/>
          <p:cNvSpPr/>
          <p:nvPr/>
        </p:nvSpPr>
        <p:spPr>
          <a:xfrm>
            <a:off x="768096" y="2450592"/>
            <a:ext cx="2267712" cy="640080"/>
          </a:xfrm>
          <a:prstGeom prst="rect">
            <a:avLst/>
          </a:prstGeom>
          <a:noFill/>
          <a:ln/>
        </p:spPr>
        <p:txBody>
          <a:bodyPr wrap="square" rtlCol="0" anchor="t"/>
          <a:lstStyle/>
          <a:p>
            <a:pPr indent="0" marL="0">
              <a:buNone/>
            </a:pPr>
            <a:r>
              <a:rPr lang="en-US" sz="1350" i="1" dirty="0">
                <a:solidFill>
                  <a:srgbClr val="EAF0F1"/>
                </a:solidFill>
                <a:latin typeface="Cambria" pitchFamily="34" charset="0"/>
                <a:ea typeface="Cambria" pitchFamily="34" charset="-122"/>
                <a:cs typeface="Cambria" pitchFamily="34" charset="-120"/>
              </a:rPr>
              <a:t>“This is IT — reset now.”</a:t>
            </a:r>
            <a:endParaRPr lang="en-US" sz="1350" dirty="0"/>
          </a:p>
        </p:txBody>
      </p:sp>
      <p:sp>
        <p:nvSpPr>
          <p:cNvPr id="11" name="Shape 9"/>
          <p:cNvSpPr/>
          <p:nvPr/>
        </p:nvSpPr>
        <p:spPr>
          <a:xfrm>
            <a:off x="3401568" y="2057400"/>
            <a:ext cx="2615184" cy="1097280"/>
          </a:xfrm>
          <a:prstGeom prst="roundRect">
            <a:avLst>
              <a:gd name="adj" fmla="val 6667"/>
            </a:avLst>
          </a:prstGeom>
          <a:solidFill>
            <a:srgbClr val="34231D"/>
          </a:solidFill>
          <a:ln/>
        </p:spPr>
      </p:sp>
      <p:sp>
        <p:nvSpPr>
          <p:cNvPr id="12" name="Shape 10"/>
          <p:cNvSpPr/>
          <p:nvPr/>
        </p:nvSpPr>
        <p:spPr>
          <a:xfrm>
            <a:off x="3401568" y="2167128"/>
            <a:ext cx="50292" cy="877824"/>
          </a:xfrm>
          <a:prstGeom prst="rect">
            <a:avLst/>
          </a:prstGeom>
          <a:solidFill>
            <a:srgbClr val="E97A60"/>
          </a:solidFill>
          <a:ln/>
        </p:spPr>
      </p:sp>
      <p:sp>
        <p:nvSpPr>
          <p:cNvPr id="13" name="Text 11"/>
          <p:cNvSpPr/>
          <p:nvPr/>
        </p:nvSpPr>
        <p:spPr>
          <a:xfrm>
            <a:off x="3602736" y="2157984"/>
            <a:ext cx="2286000" cy="274320"/>
          </a:xfrm>
          <a:prstGeom prst="rect">
            <a:avLst/>
          </a:prstGeom>
          <a:noFill/>
          <a:ln/>
        </p:spPr>
        <p:txBody>
          <a:bodyPr wrap="square" rtlCol="0" anchor="ctr"/>
          <a:lstStyle/>
          <a:p>
            <a:pPr indent="0" marL="0">
              <a:buNone/>
            </a:pPr>
            <a:r>
              <a:rPr lang="en-US" sz="1050" b="1" spc="100" kern="0" dirty="0">
                <a:solidFill>
                  <a:srgbClr val="E97A60"/>
                </a:solidFill>
                <a:latin typeface="Calibri" pitchFamily="34" charset="0"/>
                <a:ea typeface="Calibri" pitchFamily="34" charset="-122"/>
                <a:cs typeface="Calibri" pitchFamily="34" charset="-120"/>
              </a:rPr>
              <a:t>URGENCY</a:t>
            </a:r>
            <a:endParaRPr lang="en-US" sz="1050" dirty="0"/>
          </a:p>
        </p:txBody>
      </p:sp>
      <p:sp>
        <p:nvSpPr>
          <p:cNvPr id="14" name="Text 12"/>
          <p:cNvSpPr/>
          <p:nvPr/>
        </p:nvSpPr>
        <p:spPr>
          <a:xfrm>
            <a:off x="3602736" y="2450592"/>
            <a:ext cx="2267712" cy="640080"/>
          </a:xfrm>
          <a:prstGeom prst="rect">
            <a:avLst/>
          </a:prstGeom>
          <a:noFill/>
          <a:ln/>
        </p:spPr>
        <p:txBody>
          <a:bodyPr wrap="square" rtlCol="0" anchor="t"/>
          <a:lstStyle/>
          <a:p>
            <a:pPr indent="0" marL="0">
              <a:buNone/>
            </a:pPr>
            <a:r>
              <a:rPr lang="en-US" sz="1350" i="1" dirty="0">
                <a:solidFill>
                  <a:srgbClr val="EAF0F1"/>
                </a:solidFill>
                <a:latin typeface="Cambria" pitchFamily="34" charset="0"/>
                <a:ea typeface="Cambria" pitchFamily="34" charset="-122"/>
                <a:cs typeface="Cambria" pitchFamily="34" charset="-120"/>
              </a:rPr>
              <a:t>“Suspended in 30 min.”</a:t>
            </a:r>
            <a:endParaRPr lang="en-US" sz="1350" dirty="0"/>
          </a:p>
        </p:txBody>
      </p:sp>
      <p:sp>
        <p:nvSpPr>
          <p:cNvPr id="15" name="Shape 13"/>
          <p:cNvSpPr/>
          <p:nvPr/>
        </p:nvSpPr>
        <p:spPr>
          <a:xfrm>
            <a:off x="6236208" y="2057400"/>
            <a:ext cx="2615184" cy="1097280"/>
          </a:xfrm>
          <a:prstGeom prst="roundRect">
            <a:avLst>
              <a:gd name="adj" fmla="val 6667"/>
            </a:avLst>
          </a:prstGeom>
          <a:solidFill>
            <a:srgbClr val="34231D"/>
          </a:solidFill>
          <a:ln/>
        </p:spPr>
      </p:sp>
      <p:sp>
        <p:nvSpPr>
          <p:cNvPr id="16" name="Shape 14"/>
          <p:cNvSpPr/>
          <p:nvPr/>
        </p:nvSpPr>
        <p:spPr>
          <a:xfrm>
            <a:off x="6236208" y="2167128"/>
            <a:ext cx="50292" cy="877824"/>
          </a:xfrm>
          <a:prstGeom prst="rect">
            <a:avLst/>
          </a:prstGeom>
          <a:solidFill>
            <a:srgbClr val="E97A60"/>
          </a:solidFill>
          <a:ln/>
        </p:spPr>
      </p:sp>
      <p:sp>
        <p:nvSpPr>
          <p:cNvPr id="17" name="Text 15"/>
          <p:cNvSpPr/>
          <p:nvPr/>
        </p:nvSpPr>
        <p:spPr>
          <a:xfrm>
            <a:off x="6437376" y="2157984"/>
            <a:ext cx="2286000" cy="274320"/>
          </a:xfrm>
          <a:prstGeom prst="rect">
            <a:avLst/>
          </a:prstGeom>
          <a:noFill/>
          <a:ln/>
        </p:spPr>
        <p:txBody>
          <a:bodyPr wrap="square" rtlCol="0" anchor="ctr"/>
          <a:lstStyle/>
          <a:p>
            <a:pPr indent="0" marL="0">
              <a:buNone/>
            </a:pPr>
            <a:r>
              <a:rPr lang="en-US" sz="1050" b="1" spc="100" kern="0" dirty="0">
                <a:solidFill>
                  <a:srgbClr val="E97A60"/>
                </a:solidFill>
                <a:latin typeface="Calibri" pitchFamily="34" charset="0"/>
                <a:ea typeface="Calibri" pitchFamily="34" charset="-122"/>
                <a:cs typeface="Calibri" pitchFamily="34" charset="-120"/>
              </a:rPr>
              <a:t>REWARD</a:t>
            </a:r>
            <a:endParaRPr lang="en-US" sz="1050" dirty="0"/>
          </a:p>
        </p:txBody>
      </p:sp>
      <p:sp>
        <p:nvSpPr>
          <p:cNvPr id="18" name="Text 16"/>
          <p:cNvSpPr/>
          <p:nvPr/>
        </p:nvSpPr>
        <p:spPr>
          <a:xfrm>
            <a:off x="6437376" y="2450592"/>
            <a:ext cx="2267712" cy="640080"/>
          </a:xfrm>
          <a:prstGeom prst="rect">
            <a:avLst/>
          </a:prstGeom>
          <a:noFill/>
          <a:ln/>
        </p:spPr>
        <p:txBody>
          <a:bodyPr wrap="square" rtlCol="0" anchor="t"/>
          <a:lstStyle/>
          <a:p>
            <a:pPr indent="0" marL="0">
              <a:buNone/>
            </a:pPr>
            <a:r>
              <a:rPr lang="en-US" sz="1350" i="1" dirty="0">
                <a:solidFill>
                  <a:srgbClr val="EAF0F1"/>
                </a:solidFill>
                <a:latin typeface="Cambria" pitchFamily="34" charset="0"/>
                <a:ea typeface="Cambria" pitchFamily="34" charset="-122"/>
                <a:cs typeface="Cambria" pitchFamily="34" charset="-120"/>
              </a:rPr>
              <a:t>“You’ve won — claim it.”</a:t>
            </a:r>
            <a:endParaRPr lang="en-US" sz="1350" dirty="0"/>
          </a:p>
        </p:txBody>
      </p:sp>
      <p:sp>
        <p:nvSpPr>
          <p:cNvPr id="19" name="Shape 17"/>
          <p:cNvSpPr/>
          <p:nvPr/>
        </p:nvSpPr>
        <p:spPr>
          <a:xfrm>
            <a:off x="9070848" y="2057400"/>
            <a:ext cx="2615184" cy="1097280"/>
          </a:xfrm>
          <a:prstGeom prst="roundRect">
            <a:avLst>
              <a:gd name="adj" fmla="val 6667"/>
            </a:avLst>
          </a:prstGeom>
          <a:solidFill>
            <a:srgbClr val="34231D"/>
          </a:solidFill>
          <a:ln/>
        </p:spPr>
      </p:sp>
      <p:sp>
        <p:nvSpPr>
          <p:cNvPr id="20" name="Shape 18"/>
          <p:cNvSpPr/>
          <p:nvPr/>
        </p:nvSpPr>
        <p:spPr>
          <a:xfrm>
            <a:off x="9070848" y="2167128"/>
            <a:ext cx="50292" cy="877824"/>
          </a:xfrm>
          <a:prstGeom prst="rect">
            <a:avLst/>
          </a:prstGeom>
          <a:solidFill>
            <a:srgbClr val="E97A60"/>
          </a:solidFill>
          <a:ln/>
        </p:spPr>
      </p:sp>
      <p:sp>
        <p:nvSpPr>
          <p:cNvPr id="21" name="Text 19"/>
          <p:cNvSpPr/>
          <p:nvPr/>
        </p:nvSpPr>
        <p:spPr>
          <a:xfrm>
            <a:off x="9272016" y="2157984"/>
            <a:ext cx="2286000" cy="274320"/>
          </a:xfrm>
          <a:prstGeom prst="rect">
            <a:avLst/>
          </a:prstGeom>
          <a:noFill/>
          <a:ln/>
        </p:spPr>
        <p:txBody>
          <a:bodyPr wrap="square" rtlCol="0" anchor="ctr"/>
          <a:lstStyle/>
          <a:p>
            <a:pPr indent="0" marL="0">
              <a:buNone/>
            </a:pPr>
            <a:r>
              <a:rPr lang="en-US" sz="1050" b="1" spc="100" kern="0" dirty="0">
                <a:solidFill>
                  <a:srgbClr val="E97A60"/>
                </a:solidFill>
                <a:latin typeface="Calibri" pitchFamily="34" charset="0"/>
                <a:ea typeface="Calibri" pitchFamily="34" charset="-122"/>
                <a:cs typeface="Calibri" pitchFamily="34" charset="-120"/>
              </a:rPr>
              <a:t>SOCIAL PROOF</a:t>
            </a:r>
            <a:endParaRPr lang="en-US" sz="1050" dirty="0"/>
          </a:p>
        </p:txBody>
      </p:sp>
      <p:sp>
        <p:nvSpPr>
          <p:cNvPr id="22" name="Text 20"/>
          <p:cNvSpPr/>
          <p:nvPr/>
        </p:nvSpPr>
        <p:spPr>
          <a:xfrm>
            <a:off x="9272016" y="2450592"/>
            <a:ext cx="2267712" cy="640080"/>
          </a:xfrm>
          <a:prstGeom prst="rect">
            <a:avLst/>
          </a:prstGeom>
          <a:noFill/>
          <a:ln/>
        </p:spPr>
        <p:txBody>
          <a:bodyPr wrap="square" rtlCol="0" anchor="t"/>
          <a:lstStyle/>
          <a:p>
            <a:pPr indent="0" marL="0">
              <a:buNone/>
            </a:pPr>
            <a:r>
              <a:rPr lang="en-US" sz="1350" i="1" dirty="0">
                <a:solidFill>
                  <a:srgbClr val="EAF0F1"/>
                </a:solidFill>
                <a:latin typeface="Cambria" pitchFamily="34" charset="0"/>
                <a:ea typeface="Cambria" pitchFamily="34" charset="-122"/>
                <a:cs typeface="Cambria" pitchFamily="34" charset="-120"/>
              </a:rPr>
              <a:t>“Everyone already did.”</a:t>
            </a:r>
            <a:endParaRPr lang="en-US" sz="1350" dirty="0"/>
          </a:p>
        </p:txBody>
      </p:sp>
      <p:sp>
        <p:nvSpPr>
          <p:cNvPr id="23" name="Shape 21"/>
          <p:cNvSpPr/>
          <p:nvPr/>
        </p:nvSpPr>
        <p:spPr>
          <a:xfrm>
            <a:off x="566928" y="3520440"/>
            <a:ext cx="3200400" cy="1051560"/>
          </a:xfrm>
          <a:prstGeom prst="roundRect">
            <a:avLst>
              <a:gd name="adj" fmla="val 6957"/>
            </a:avLst>
          </a:prstGeom>
          <a:solidFill>
            <a:srgbClr val="1B2B32"/>
          </a:solidFill>
          <a:ln w="16510">
            <a:solidFill>
              <a:srgbClr val="3CB6A6"/>
            </a:solidFill>
            <a:prstDash val="solid"/>
          </a:ln>
        </p:spPr>
      </p:sp>
      <p:sp>
        <p:nvSpPr>
          <p:cNvPr id="24" name="Text 22"/>
          <p:cNvSpPr/>
          <p:nvPr/>
        </p:nvSpPr>
        <p:spPr>
          <a:xfrm>
            <a:off x="612648" y="3520440"/>
            <a:ext cx="3108960" cy="1051560"/>
          </a:xfrm>
          <a:prstGeom prst="rect">
            <a:avLst/>
          </a:prstGeom>
          <a:noFill/>
          <a:ln/>
        </p:spPr>
        <p:txBody>
          <a:bodyPr wrap="square" rtlCol="0" anchor="ctr"/>
          <a:lstStyle/>
          <a:p>
            <a:pPr algn="ctr" indent="0" marL="0">
              <a:buNone/>
            </a:pPr>
            <a:r>
              <a:rPr lang="en-US" sz="1350" b="1" dirty="0">
                <a:solidFill>
                  <a:srgbClr val="3CB6A6"/>
                </a:solidFill>
                <a:latin typeface="Calibri" pitchFamily="34" charset="0"/>
                <a:ea typeface="Calibri" pitchFamily="34" charset="-122"/>
                <a:cs typeface="Calibri" pitchFamily="34" charset="-120"/>
              </a:rPr>
              <a:t>Content · language</a:t>
            </a:r>
            <a:endParaRPr lang="en-US" sz="1350" dirty="0"/>
          </a:p>
          <a:p>
            <a:pPr algn="ctr" indent="0" marL="0">
              <a:buNone/>
            </a:pPr>
            <a:r>
              <a:rPr lang="en-US" sz="1100" dirty="0">
                <a:solidFill>
                  <a:srgbClr val="95A6AD"/>
                </a:solidFill>
                <a:latin typeface="Calibri" pitchFamily="34" charset="0"/>
                <a:ea typeface="Calibri" pitchFamily="34" charset="-122"/>
                <a:cs typeface="Calibri" pitchFamily="34" charset="-120"/>
              </a:rPr>
              <a:t>subject + body  (me)</a:t>
            </a:r>
            <a:endParaRPr lang="en-US" sz="1350" dirty="0"/>
          </a:p>
        </p:txBody>
      </p:sp>
      <p:sp>
        <p:nvSpPr>
          <p:cNvPr id="25" name="Text 23"/>
          <p:cNvSpPr/>
          <p:nvPr/>
        </p:nvSpPr>
        <p:spPr>
          <a:xfrm>
            <a:off x="3840480" y="3794760"/>
            <a:ext cx="640080" cy="548640"/>
          </a:xfrm>
          <a:prstGeom prst="rect">
            <a:avLst/>
          </a:prstGeom>
          <a:noFill/>
          <a:ln/>
        </p:spPr>
        <p:txBody>
          <a:bodyPr wrap="square" rtlCol="0" anchor="ctr"/>
          <a:lstStyle/>
          <a:p>
            <a:pPr algn="ctr" indent="0" marL="0">
              <a:buNone/>
            </a:pPr>
            <a:r>
              <a:rPr lang="en-US" sz="2600" dirty="0">
                <a:solidFill>
                  <a:srgbClr val="6E7F87"/>
                </a:solidFill>
                <a:latin typeface="Calibri" pitchFamily="34" charset="0"/>
                <a:ea typeface="Calibri" pitchFamily="34" charset="-122"/>
                <a:cs typeface="Calibri" pitchFamily="34" charset="-120"/>
              </a:rPr>
              <a:t>+</a:t>
            </a:r>
            <a:endParaRPr lang="en-US" sz="2600" dirty="0"/>
          </a:p>
        </p:txBody>
      </p:sp>
      <p:sp>
        <p:nvSpPr>
          <p:cNvPr id="26" name="Shape 24"/>
          <p:cNvSpPr/>
          <p:nvPr/>
        </p:nvSpPr>
        <p:spPr>
          <a:xfrm>
            <a:off x="4526280" y="3520440"/>
            <a:ext cx="3200400" cy="1051560"/>
          </a:xfrm>
          <a:prstGeom prst="roundRect">
            <a:avLst>
              <a:gd name="adj" fmla="val 6957"/>
            </a:avLst>
          </a:prstGeom>
          <a:solidFill>
            <a:srgbClr val="1B2B32"/>
          </a:solidFill>
          <a:ln w="16510">
            <a:solidFill>
              <a:srgbClr val="7D919B"/>
            </a:solidFill>
            <a:prstDash val="solid"/>
          </a:ln>
        </p:spPr>
      </p:sp>
      <p:sp>
        <p:nvSpPr>
          <p:cNvPr id="27" name="Text 25"/>
          <p:cNvSpPr/>
          <p:nvPr/>
        </p:nvSpPr>
        <p:spPr>
          <a:xfrm>
            <a:off x="4572000" y="3520440"/>
            <a:ext cx="3108960" cy="1051560"/>
          </a:xfrm>
          <a:prstGeom prst="rect">
            <a:avLst/>
          </a:prstGeom>
          <a:noFill/>
          <a:ln/>
        </p:spPr>
        <p:txBody>
          <a:bodyPr wrap="square" rtlCol="0" anchor="ctr"/>
          <a:lstStyle/>
          <a:p>
            <a:pPr algn="ctr" indent="0" marL="0">
              <a:buNone/>
            </a:pPr>
            <a:r>
              <a:rPr lang="en-US" sz="1350" b="1" dirty="0">
                <a:solidFill>
                  <a:srgbClr val="7D919B"/>
                </a:solidFill>
                <a:latin typeface="Calibri" pitchFamily="34" charset="0"/>
                <a:ea typeface="Calibri" pitchFamily="34" charset="-122"/>
                <a:cs typeface="Calibri" pitchFamily="34" charset="-120"/>
              </a:rPr>
              <a:t>URLs · sender</a:t>
            </a:r>
            <a:endParaRPr lang="en-US" sz="1350" dirty="0"/>
          </a:p>
          <a:p>
            <a:pPr algn="ctr" indent="0" marL="0">
              <a:buNone/>
            </a:pPr>
            <a:r>
              <a:rPr lang="en-US" sz="1100" dirty="0">
                <a:solidFill>
                  <a:srgbClr val="95A6AD"/>
                </a:solidFill>
                <a:latin typeface="Calibri" pitchFamily="34" charset="0"/>
                <a:ea typeface="Calibri" pitchFamily="34" charset="-122"/>
                <a:cs typeface="Calibri" pitchFamily="34" charset="-120"/>
              </a:rPr>
              <a:t>links + address  (Gilad)</a:t>
            </a:r>
            <a:endParaRPr lang="en-US" sz="1350" dirty="0"/>
          </a:p>
        </p:txBody>
      </p:sp>
      <p:sp>
        <p:nvSpPr>
          <p:cNvPr id="28" name="Text 26"/>
          <p:cNvSpPr/>
          <p:nvPr/>
        </p:nvSpPr>
        <p:spPr>
          <a:xfrm>
            <a:off x="7772400" y="3794760"/>
            <a:ext cx="548640" cy="548640"/>
          </a:xfrm>
          <a:prstGeom prst="rect">
            <a:avLst/>
          </a:prstGeom>
          <a:noFill/>
          <a:ln/>
        </p:spPr>
        <p:txBody>
          <a:bodyPr wrap="square" rtlCol="0" anchor="ctr"/>
          <a:lstStyle/>
          <a:p>
            <a:pPr algn="ctr" indent="0" marL="0">
              <a:buNone/>
            </a:pPr>
            <a:r>
              <a:rPr lang="en-US" sz="2400" dirty="0">
                <a:solidFill>
                  <a:srgbClr val="6E7F87"/>
                </a:solidFill>
                <a:latin typeface="Calibri" pitchFamily="34" charset="0"/>
                <a:ea typeface="Calibri" pitchFamily="34" charset="-122"/>
                <a:cs typeface="Calibri" pitchFamily="34" charset="-120"/>
              </a:rPr>
              <a:t>→</a:t>
            </a:r>
            <a:endParaRPr lang="en-US" sz="2400" dirty="0"/>
          </a:p>
        </p:txBody>
      </p:sp>
      <p:sp>
        <p:nvSpPr>
          <p:cNvPr id="29" name="Shape 27"/>
          <p:cNvSpPr/>
          <p:nvPr/>
        </p:nvSpPr>
        <p:spPr>
          <a:xfrm>
            <a:off x="8412480" y="3520440"/>
            <a:ext cx="3200400" cy="1051560"/>
          </a:xfrm>
          <a:prstGeom prst="roundRect">
            <a:avLst>
              <a:gd name="adj" fmla="val 6957"/>
            </a:avLst>
          </a:prstGeom>
          <a:solidFill>
            <a:srgbClr val="302A19"/>
          </a:solidFill>
          <a:ln/>
        </p:spPr>
      </p:sp>
      <p:sp>
        <p:nvSpPr>
          <p:cNvPr id="30" name="Text 28"/>
          <p:cNvSpPr/>
          <p:nvPr/>
        </p:nvSpPr>
        <p:spPr>
          <a:xfrm>
            <a:off x="8458200" y="3520440"/>
            <a:ext cx="3108960" cy="1051560"/>
          </a:xfrm>
          <a:prstGeom prst="rect">
            <a:avLst/>
          </a:prstGeom>
          <a:noFill/>
          <a:ln/>
        </p:spPr>
        <p:txBody>
          <a:bodyPr wrap="square" rtlCol="0" anchor="ctr"/>
          <a:lstStyle/>
          <a:p>
            <a:pPr algn="ctr" indent="0" marL="0">
              <a:buNone/>
            </a:pPr>
            <a:r>
              <a:rPr lang="en-US" sz="1350" b="1" dirty="0">
                <a:solidFill>
                  <a:srgbClr val="D4AB4E"/>
                </a:solidFill>
                <a:latin typeface="Calibri" pitchFamily="34" charset="0"/>
                <a:ea typeface="Calibri" pitchFamily="34" charset="-122"/>
                <a:cs typeface="Calibri" pitchFamily="34" charset="-120"/>
              </a:rPr>
              <a:t>Fused decision</a:t>
            </a:r>
            <a:endParaRPr lang="en-US" sz="1350" dirty="0"/>
          </a:p>
          <a:p>
            <a:pPr algn="ctr" indent="0" marL="0">
              <a:buNone/>
            </a:pPr>
            <a:r>
              <a:rPr lang="en-US" sz="1100" dirty="0">
                <a:solidFill>
                  <a:srgbClr val="95A6AD"/>
                </a:solidFill>
                <a:latin typeface="Calibri" pitchFamily="34" charset="0"/>
                <a:ea typeface="Calibri" pitchFamily="34" charset="-122"/>
                <a:cs typeface="Calibri" pitchFamily="34" charset="-120"/>
              </a:rPr>
              <a:t>two independent signals</a:t>
            </a:r>
            <a:endParaRPr lang="en-US" sz="1350" dirty="0"/>
          </a:p>
        </p:txBody>
      </p:sp>
      <p:sp>
        <p:nvSpPr>
          <p:cNvPr id="31" name="Text 29"/>
          <p:cNvSpPr/>
          <p:nvPr/>
        </p:nvSpPr>
        <p:spPr>
          <a:xfrm>
            <a:off x="566928" y="4800600"/>
            <a:ext cx="11057839" cy="731520"/>
          </a:xfrm>
          <a:prstGeom prst="rect">
            <a:avLst/>
          </a:prstGeom>
          <a:noFill/>
          <a:ln/>
        </p:spPr>
        <p:txBody>
          <a:bodyPr wrap="square" rtlCol="0" anchor="t"/>
          <a:lstStyle/>
          <a:p>
            <a:pPr indent="0" marL="0">
              <a:buNone/>
            </a:pPr>
            <a:r>
              <a:rPr lang="en-US" sz="1700" b="1" dirty="0">
                <a:solidFill>
                  <a:srgbClr val="EAF0F1"/>
                </a:solidFill>
                <a:latin typeface="Cambria" pitchFamily="34" charset="0"/>
                <a:ea typeface="Cambria" pitchFamily="34" charset="-122"/>
                <a:cs typeface="Cambria" pitchFamily="34" charset="-120"/>
              </a:rPr>
              <a:t>verify</a:t>
            </a:r>
            <a:pPr indent="0" marL="0">
              <a:buNone/>
            </a:pPr>
            <a:r>
              <a:rPr lang="en-US" sz="1700" dirty="0">
                <a:solidFill>
                  <a:srgbClr val="95A6AD"/>
                </a:solidFill>
                <a:latin typeface="Cambria" pitchFamily="34" charset="0"/>
                <a:ea typeface="Cambria" pitchFamily="34" charset="-122"/>
                <a:cs typeface="Cambria" pitchFamily="34" charset="-120"/>
              </a:rPr>
              <a:t>  looks identical to  </a:t>
            </a:r>
            <a:pPr indent="0" marL="0">
              <a:buNone/>
            </a:pPr>
            <a:r>
              <a:rPr lang="en-US" sz="1700" b="1" dirty="0">
                <a:solidFill>
                  <a:srgbClr val="EAF0F1"/>
                </a:solidFill>
                <a:latin typeface="Cambria" pitchFamily="34" charset="0"/>
                <a:ea typeface="Cambria" pitchFamily="34" charset="-122"/>
                <a:cs typeface="Cambria" pitchFamily="34" charset="-120"/>
              </a:rPr>
              <a:t>v</a:t>
            </a:r>
            <a:pPr indent="0" marL="0">
              <a:buNone/>
            </a:pPr>
            <a:r>
              <a:rPr lang="en-US" sz="1700" b="1" dirty="0">
                <a:solidFill>
                  <a:srgbClr val="E97A60"/>
                </a:solidFill>
                <a:latin typeface="Cambria" pitchFamily="34" charset="0"/>
                <a:ea typeface="Cambria" pitchFamily="34" charset="-122"/>
                <a:cs typeface="Cambria" pitchFamily="34" charset="-120"/>
              </a:rPr>
              <a:t>е</a:t>
            </a:r>
            <a:pPr indent="0" marL="0">
              <a:buNone/>
            </a:pPr>
            <a:r>
              <a:rPr lang="en-US" sz="1700" b="1" dirty="0">
                <a:solidFill>
                  <a:srgbClr val="EAF0F1"/>
                </a:solidFill>
                <a:latin typeface="Cambria" pitchFamily="34" charset="0"/>
                <a:ea typeface="Cambria" pitchFamily="34" charset="-122"/>
                <a:cs typeface="Cambria" pitchFamily="34" charset="-120"/>
              </a:rPr>
              <a:t>rify</a:t>
            </a:r>
            <a:pPr indent="0" marL="0">
              <a:buNone/>
            </a:pPr>
            <a:r>
              <a:rPr lang="en-US" sz="1700" dirty="0">
                <a:solidFill>
                  <a:srgbClr val="95A6AD"/>
                </a:solidFill>
                <a:latin typeface="Cambria" pitchFamily="34" charset="0"/>
                <a:ea typeface="Cambria" pitchFamily="34" charset="-122"/>
                <a:cs typeface="Cambria" pitchFamily="34" charset="-120"/>
              </a:rPr>
              <a:t>  — one Cyrillic letter, a new word to the model. URLs are stripped, so this is content only.</a:t>
            </a:r>
            <a:endParaRPr lang="en-US" sz="1700" dirty="0"/>
          </a:p>
        </p:txBody>
      </p:sp>
      <p:sp>
        <p:nvSpPr>
          <p:cNvPr id="32" name="Text 30"/>
          <p:cNvSpPr/>
          <p:nvPr/>
        </p:nvSpPr>
        <p:spPr>
          <a:xfrm>
            <a:off x="566928" y="6437376"/>
            <a:ext cx="11057839" cy="274320"/>
          </a:xfrm>
          <a:prstGeom prst="rect">
            <a:avLst/>
          </a:prstGeom>
          <a:noFill/>
          <a:ln/>
        </p:spPr>
        <p:txBody>
          <a:bodyPr wrap="square" rtlCol="0" anchor="ctr"/>
          <a:lstStyle/>
          <a:p>
            <a:pPr indent="0" marL="0">
              <a:buNone/>
            </a:pPr>
            <a:r>
              <a:rPr lang="en-US" sz="950" i="1" dirty="0">
                <a:solidFill>
                  <a:srgbClr val="7C8F98"/>
                </a:solidFill>
                <a:latin typeface="Calibri" pitchFamily="34" charset="0"/>
                <a:ea typeface="Calibri" pitchFamily="34" charset="-122"/>
                <a:cs typeface="Calibri" pitchFamily="34" charset="-120"/>
              </a:rPr>
              <a:t>hacking people, not computers · two signals — when one is defeated, the other still fires</a:t>
            </a:r>
            <a:endParaRPr lang="en-US" sz="9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310896"/>
            <a:ext cx="9144000" cy="274320"/>
          </a:xfrm>
          <a:prstGeom prst="rect">
            <a:avLst/>
          </a:prstGeom>
          <a:noFill/>
          <a:ln/>
        </p:spPr>
        <p:txBody>
          <a:bodyPr wrap="square" rtlCol="0" anchor="ctr"/>
          <a:lstStyle/>
          <a:p>
            <a:pPr indent="0" marL="0">
              <a:buNone/>
            </a:pPr>
            <a:r>
              <a:rPr lang="en-US" sz="1100" b="1" spc="200" kern="0" dirty="0">
                <a:solidFill>
                  <a:srgbClr val="3CB6A6"/>
                </a:solidFill>
                <a:latin typeface="Calibri" pitchFamily="34" charset="0"/>
                <a:ea typeface="Calibri" pitchFamily="34" charset="-122"/>
                <a:cs typeface="Calibri" pitchFamily="34" charset="-120"/>
              </a:rPr>
              <a:t>METHOD &amp; MODEL</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indent="0" marL="0">
              <a:buNone/>
            </a:pPr>
            <a:r>
              <a:rPr lang="en-US" sz="2500" b="1" dirty="0">
                <a:solidFill>
                  <a:srgbClr val="EAF0F1"/>
                </a:solidFill>
                <a:latin typeface="Cambria" pitchFamily="34" charset="0"/>
                <a:ea typeface="Cambria" pitchFamily="34" charset="-122"/>
                <a:cs typeface="Cambria" pitchFamily="34" charset="-120"/>
              </a:rPr>
              <a:t>Build, attack, defend — and the model that does it.</a:t>
            </a:r>
            <a:endParaRPr lang="en-US" sz="2500" dirty="0"/>
          </a:p>
        </p:txBody>
      </p:sp>
      <p:sp>
        <p:nvSpPr>
          <p:cNvPr id="4" name="Shape 2"/>
          <p:cNvSpPr/>
          <p:nvPr/>
        </p:nvSpPr>
        <p:spPr>
          <a:xfrm>
            <a:off x="566928" y="1371600"/>
            <a:ext cx="1737360" cy="41148"/>
          </a:xfrm>
          <a:prstGeom prst="rect">
            <a:avLst/>
          </a:prstGeom>
          <a:solidFill>
            <a:srgbClr val="3CB6A6"/>
          </a:solidFill>
          <a:ln/>
        </p:spPr>
      </p:sp>
      <p:sp>
        <p:nvSpPr>
          <p:cNvPr id="5" name="Text 3"/>
          <p:cNvSpPr/>
          <p:nvPr/>
        </p:nvSpPr>
        <p:spPr>
          <a:xfrm>
            <a:off x="10728655" y="310896"/>
            <a:ext cx="914400" cy="274320"/>
          </a:xfrm>
          <a:prstGeom prst="rect">
            <a:avLst/>
          </a:prstGeom>
          <a:noFill/>
          <a:ln/>
        </p:spPr>
        <p:txBody>
          <a:bodyPr wrap="square" rtlCol="0" anchor="ctr"/>
          <a:lstStyle/>
          <a:p>
            <a:pPr algn="r" indent="0" marL="0">
              <a:buNone/>
            </a:pPr>
            <a:r>
              <a:rPr lang="en-US" sz="1100" dirty="0">
                <a:solidFill>
                  <a:srgbClr val="6E7F87"/>
                </a:solidFill>
                <a:latin typeface="Calibri" pitchFamily="34" charset="0"/>
                <a:ea typeface="Calibri" pitchFamily="34" charset="-122"/>
                <a:cs typeface="Calibri" pitchFamily="34" charset="-120"/>
              </a:rPr>
              <a:t>2 / 15</a:t>
            </a:r>
            <a:endParaRPr lang="en-US" sz="1100" dirty="0"/>
          </a:p>
        </p:txBody>
      </p:sp>
      <p:sp>
        <p:nvSpPr>
          <p:cNvPr id="6" name="Shape 4"/>
          <p:cNvSpPr/>
          <p:nvPr/>
        </p:nvSpPr>
        <p:spPr>
          <a:xfrm>
            <a:off x="566928" y="1554480"/>
            <a:ext cx="2615184" cy="502920"/>
          </a:xfrm>
          <a:prstGeom prst="roundRect">
            <a:avLst>
              <a:gd name="adj" fmla="val 49091"/>
            </a:avLst>
          </a:prstGeom>
          <a:solidFill>
            <a:srgbClr val="232B30"/>
          </a:solidFill>
          <a:ln/>
        </p:spPr>
      </p:sp>
      <p:sp>
        <p:nvSpPr>
          <p:cNvPr id="7" name="Text 5"/>
          <p:cNvSpPr/>
          <p:nvPr/>
        </p:nvSpPr>
        <p:spPr>
          <a:xfrm>
            <a:off x="566928" y="1554480"/>
            <a:ext cx="2615184" cy="502920"/>
          </a:xfrm>
          <a:prstGeom prst="rect">
            <a:avLst/>
          </a:prstGeom>
          <a:noFill/>
          <a:ln/>
        </p:spPr>
        <p:txBody>
          <a:bodyPr wrap="square" rtlCol="0" anchor="ctr"/>
          <a:lstStyle/>
          <a:p>
            <a:pPr algn="ctr" indent="0" marL="0">
              <a:buNone/>
            </a:pPr>
            <a:r>
              <a:rPr lang="en-US" sz="1250" b="1" dirty="0">
                <a:solidFill>
                  <a:srgbClr val="7D919B"/>
                </a:solidFill>
                <a:latin typeface="Calibri" pitchFamily="34" charset="0"/>
                <a:ea typeface="Calibri" pitchFamily="34" charset="-122"/>
                <a:cs typeface="Calibri" pitchFamily="34" charset="-120"/>
              </a:rPr>
              <a:t>1 · build</a:t>
            </a:r>
            <a:endParaRPr lang="en-US" sz="1250" dirty="0"/>
          </a:p>
        </p:txBody>
      </p:sp>
      <p:sp>
        <p:nvSpPr>
          <p:cNvPr id="8" name="Text 6"/>
          <p:cNvSpPr/>
          <p:nvPr/>
        </p:nvSpPr>
        <p:spPr>
          <a:xfrm>
            <a:off x="3163824" y="1572768"/>
            <a:ext cx="256032" cy="457200"/>
          </a:xfrm>
          <a:prstGeom prst="rect">
            <a:avLst/>
          </a:prstGeom>
          <a:noFill/>
          <a:ln/>
        </p:spPr>
        <p:txBody>
          <a:bodyPr wrap="square" rtlCol="0" anchor="ctr"/>
          <a:lstStyle/>
          <a:p>
            <a:pPr algn="ctr" indent="0" marL="0">
              <a:buNone/>
            </a:pPr>
            <a:r>
              <a:rPr lang="en-US" sz="1500" dirty="0">
                <a:solidFill>
                  <a:srgbClr val="6E7F87"/>
                </a:solidFill>
                <a:latin typeface="Calibri" pitchFamily="34" charset="0"/>
                <a:ea typeface="Calibri" pitchFamily="34" charset="-122"/>
                <a:cs typeface="Calibri" pitchFamily="34" charset="-120"/>
              </a:rPr>
              <a:t>→</a:t>
            </a:r>
            <a:endParaRPr lang="en-US" sz="1500" dirty="0"/>
          </a:p>
        </p:txBody>
      </p:sp>
      <p:sp>
        <p:nvSpPr>
          <p:cNvPr id="9" name="Shape 7"/>
          <p:cNvSpPr/>
          <p:nvPr/>
        </p:nvSpPr>
        <p:spPr>
          <a:xfrm>
            <a:off x="3401568" y="1554480"/>
            <a:ext cx="2615184" cy="502920"/>
          </a:xfrm>
          <a:prstGeom prst="roundRect">
            <a:avLst>
              <a:gd name="adj" fmla="val 49091"/>
            </a:avLst>
          </a:prstGeom>
          <a:solidFill>
            <a:srgbClr val="182E38"/>
          </a:solidFill>
          <a:ln/>
        </p:spPr>
      </p:sp>
      <p:sp>
        <p:nvSpPr>
          <p:cNvPr id="10" name="Text 8"/>
          <p:cNvSpPr/>
          <p:nvPr/>
        </p:nvSpPr>
        <p:spPr>
          <a:xfrm>
            <a:off x="3401568" y="1554480"/>
            <a:ext cx="2615184" cy="502920"/>
          </a:xfrm>
          <a:prstGeom prst="rect">
            <a:avLst/>
          </a:prstGeom>
          <a:noFill/>
          <a:ln/>
        </p:spPr>
        <p:txBody>
          <a:bodyPr wrap="square" rtlCol="0" anchor="ctr"/>
          <a:lstStyle/>
          <a:p>
            <a:pPr algn="ctr" indent="0" marL="0">
              <a:buNone/>
            </a:pPr>
            <a:r>
              <a:rPr lang="en-US" sz="1250" b="1" dirty="0">
                <a:solidFill>
                  <a:srgbClr val="5FA3C0"/>
                </a:solidFill>
                <a:latin typeface="Calibri" pitchFamily="34" charset="0"/>
                <a:ea typeface="Calibri" pitchFamily="34" charset="-122"/>
                <a:cs typeface="Calibri" pitchFamily="34" charset="-120"/>
              </a:rPr>
              <a:t>2 · study papers</a:t>
            </a:r>
            <a:endParaRPr lang="en-US" sz="1250" dirty="0"/>
          </a:p>
        </p:txBody>
      </p:sp>
      <p:sp>
        <p:nvSpPr>
          <p:cNvPr id="11" name="Text 9"/>
          <p:cNvSpPr/>
          <p:nvPr/>
        </p:nvSpPr>
        <p:spPr>
          <a:xfrm>
            <a:off x="5998464" y="1572768"/>
            <a:ext cx="256032" cy="457200"/>
          </a:xfrm>
          <a:prstGeom prst="rect">
            <a:avLst/>
          </a:prstGeom>
          <a:noFill/>
          <a:ln/>
        </p:spPr>
        <p:txBody>
          <a:bodyPr wrap="square" rtlCol="0" anchor="ctr"/>
          <a:lstStyle/>
          <a:p>
            <a:pPr algn="ctr" indent="0" marL="0">
              <a:buNone/>
            </a:pPr>
            <a:r>
              <a:rPr lang="en-US" sz="1500" dirty="0">
                <a:solidFill>
                  <a:srgbClr val="6E7F87"/>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6236208" y="1554480"/>
            <a:ext cx="2615184" cy="502920"/>
          </a:xfrm>
          <a:prstGeom prst="roundRect">
            <a:avLst>
              <a:gd name="adj" fmla="val 49091"/>
            </a:avLst>
          </a:prstGeom>
          <a:solidFill>
            <a:srgbClr val="34231D"/>
          </a:solidFill>
          <a:ln/>
        </p:spPr>
      </p:sp>
      <p:sp>
        <p:nvSpPr>
          <p:cNvPr id="13" name="Text 11"/>
          <p:cNvSpPr/>
          <p:nvPr/>
        </p:nvSpPr>
        <p:spPr>
          <a:xfrm>
            <a:off x="6236208" y="1554480"/>
            <a:ext cx="2615184" cy="502920"/>
          </a:xfrm>
          <a:prstGeom prst="rect">
            <a:avLst/>
          </a:prstGeom>
          <a:noFill/>
          <a:ln/>
        </p:spPr>
        <p:txBody>
          <a:bodyPr wrap="square" rtlCol="0" anchor="ctr"/>
          <a:lstStyle/>
          <a:p>
            <a:pPr algn="ctr" indent="0" marL="0">
              <a:buNone/>
            </a:pPr>
            <a:r>
              <a:rPr lang="en-US" sz="1250" b="1" dirty="0">
                <a:solidFill>
                  <a:srgbClr val="E97A60"/>
                </a:solidFill>
                <a:latin typeface="Calibri" pitchFamily="34" charset="0"/>
                <a:ea typeface="Calibri" pitchFamily="34" charset="-122"/>
                <a:cs typeface="Calibri" pitchFamily="34" charset="-120"/>
              </a:rPr>
              <a:t>3 · adapt attacks</a:t>
            </a:r>
            <a:endParaRPr lang="en-US" sz="1250" dirty="0"/>
          </a:p>
        </p:txBody>
      </p:sp>
      <p:sp>
        <p:nvSpPr>
          <p:cNvPr id="14" name="Text 12"/>
          <p:cNvSpPr/>
          <p:nvPr/>
        </p:nvSpPr>
        <p:spPr>
          <a:xfrm>
            <a:off x="8833104" y="1572768"/>
            <a:ext cx="256032" cy="457200"/>
          </a:xfrm>
          <a:prstGeom prst="rect">
            <a:avLst/>
          </a:prstGeom>
          <a:noFill/>
          <a:ln/>
        </p:spPr>
        <p:txBody>
          <a:bodyPr wrap="square" rtlCol="0" anchor="ctr"/>
          <a:lstStyle/>
          <a:p>
            <a:pPr algn="ctr" indent="0" marL="0">
              <a:buNone/>
            </a:pPr>
            <a:r>
              <a:rPr lang="en-US" sz="1500" dirty="0">
                <a:solidFill>
                  <a:srgbClr val="6E7F87"/>
                </a:solidFill>
                <a:latin typeface="Calibri" pitchFamily="34" charset="0"/>
                <a:ea typeface="Calibri" pitchFamily="34" charset="-122"/>
                <a:cs typeface="Calibri" pitchFamily="34" charset="-120"/>
              </a:rPr>
              <a:t>→</a:t>
            </a:r>
            <a:endParaRPr lang="en-US" sz="1500" dirty="0"/>
          </a:p>
        </p:txBody>
      </p:sp>
      <p:sp>
        <p:nvSpPr>
          <p:cNvPr id="15" name="Shape 13"/>
          <p:cNvSpPr/>
          <p:nvPr/>
        </p:nvSpPr>
        <p:spPr>
          <a:xfrm>
            <a:off x="9070848" y="1554480"/>
            <a:ext cx="2615184" cy="502920"/>
          </a:xfrm>
          <a:prstGeom prst="roundRect">
            <a:avLst>
              <a:gd name="adj" fmla="val 49091"/>
            </a:avLst>
          </a:prstGeom>
          <a:solidFill>
            <a:srgbClr val="16302C"/>
          </a:solidFill>
          <a:ln/>
        </p:spPr>
      </p:sp>
      <p:sp>
        <p:nvSpPr>
          <p:cNvPr id="16" name="Text 14"/>
          <p:cNvSpPr/>
          <p:nvPr/>
        </p:nvSpPr>
        <p:spPr>
          <a:xfrm>
            <a:off x="9070848" y="1554480"/>
            <a:ext cx="2615184" cy="502920"/>
          </a:xfrm>
          <a:prstGeom prst="rect">
            <a:avLst/>
          </a:prstGeom>
          <a:noFill/>
          <a:ln/>
        </p:spPr>
        <p:txBody>
          <a:bodyPr wrap="square" rtlCol="0" anchor="ctr"/>
          <a:lstStyle/>
          <a:p>
            <a:pPr algn="ctr" indent="0" marL="0">
              <a:buNone/>
            </a:pPr>
            <a:r>
              <a:rPr lang="en-US" sz="1250" b="1" dirty="0">
                <a:solidFill>
                  <a:srgbClr val="3CB6A6"/>
                </a:solidFill>
                <a:latin typeface="Calibri" pitchFamily="34" charset="0"/>
                <a:ea typeface="Calibri" pitchFamily="34" charset="-122"/>
                <a:cs typeface="Calibri" pitchFamily="34" charset="-120"/>
              </a:rPr>
              <a:t>4 · defend, loop</a:t>
            </a:r>
            <a:endParaRPr lang="en-US" sz="1250" dirty="0"/>
          </a:p>
        </p:txBody>
      </p:sp>
      <p:sp>
        <p:nvSpPr>
          <p:cNvPr id="17" name="Shape 15"/>
          <p:cNvSpPr/>
          <p:nvPr/>
        </p:nvSpPr>
        <p:spPr>
          <a:xfrm>
            <a:off x="566928" y="2423160"/>
            <a:ext cx="1965960" cy="1234440"/>
          </a:xfrm>
          <a:prstGeom prst="roundRect">
            <a:avLst>
              <a:gd name="adj" fmla="val 5926"/>
            </a:avLst>
          </a:prstGeom>
          <a:solidFill>
            <a:srgbClr val="1B2B32"/>
          </a:solidFill>
          <a:ln w="16510">
            <a:solidFill>
              <a:srgbClr val="7D919B"/>
            </a:solidFill>
            <a:prstDash val="solid"/>
          </a:ln>
        </p:spPr>
      </p:sp>
      <p:sp>
        <p:nvSpPr>
          <p:cNvPr id="18" name="Text 16"/>
          <p:cNvSpPr/>
          <p:nvPr/>
        </p:nvSpPr>
        <p:spPr>
          <a:xfrm>
            <a:off x="612648" y="2423160"/>
            <a:ext cx="1874520" cy="1234440"/>
          </a:xfrm>
          <a:prstGeom prst="rect">
            <a:avLst/>
          </a:prstGeom>
          <a:noFill/>
          <a:ln/>
        </p:spPr>
        <p:txBody>
          <a:bodyPr wrap="square" rtlCol="0" anchor="ctr"/>
          <a:lstStyle/>
          <a:p>
            <a:pPr algn="ctr" indent="0" marL="0">
              <a:buNone/>
            </a:pPr>
            <a:r>
              <a:rPr lang="en-US" sz="1350" b="1" dirty="0">
                <a:solidFill>
                  <a:srgbClr val="7D919B"/>
                </a:solidFill>
                <a:latin typeface="Calibri" pitchFamily="34" charset="0"/>
                <a:ea typeface="Calibri" pitchFamily="34" charset="-122"/>
                <a:cs typeface="Calibri" pitchFamily="34" charset="-120"/>
              </a:rPr>
              <a:t>Email</a:t>
            </a:r>
            <a:endParaRPr lang="en-US" sz="1350" dirty="0"/>
          </a:p>
          <a:p>
            <a:pPr algn="ctr" indent="0" marL="0">
              <a:buNone/>
            </a:pPr>
            <a:r>
              <a:rPr lang="en-US" sz="1100" dirty="0">
                <a:solidFill>
                  <a:srgbClr val="95A6AD"/>
                </a:solidFill>
                <a:latin typeface="Calibri" pitchFamily="34" charset="0"/>
                <a:ea typeface="Calibri" pitchFamily="34" charset="-122"/>
                <a:cs typeface="Calibri" pitchFamily="34" charset="-120"/>
              </a:rPr>
              <a:t>subject + body</a:t>
            </a:r>
            <a:endParaRPr lang="en-US" sz="1350" dirty="0"/>
          </a:p>
        </p:txBody>
      </p:sp>
      <p:sp>
        <p:nvSpPr>
          <p:cNvPr id="19" name="Text 17"/>
          <p:cNvSpPr/>
          <p:nvPr/>
        </p:nvSpPr>
        <p:spPr>
          <a:xfrm>
            <a:off x="2551176" y="2743200"/>
            <a:ext cx="384048" cy="548640"/>
          </a:xfrm>
          <a:prstGeom prst="rect">
            <a:avLst/>
          </a:prstGeom>
          <a:noFill/>
          <a:ln/>
        </p:spPr>
        <p:txBody>
          <a:bodyPr wrap="square" rtlCol="0" anchor="ctr"/>
          <a:lstStyle/>
          <a:p>
            <a:pPr algn="ctr" indent="0" marL="0">
              <a:buNone/>
            </a:pPr>
            <a:r>
              <a:rPr lang="en-US" sz="2000" dirty="0">
                <a:solidFill>
                  <a:srgbClr val="6E7F87"/>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2916936" y="2423160"/>
            <a:ext cx="1965960" cy="1234440"/>
          </a:xfrm>
          <a:prstGeom prst="roundRect">
            <a:avLst>
              <a:gd name="adj" fmla="val 5926"/>
            </a:avLst>
          </a:prstGeom>
          <a:solidFill>
            <a:srgbClr val="1B2B32"/>
          </a:solidFill>
          <a:ln w="16510">
            <a:solidFill>
              <a:srgbClr val="7D919B"/>
            </a:solidFill>
            <a:prstDash val="solid"/>
          </a:ln>
        </p:spPr>
      </p:sp>
      <p:sp>
        <p:nvSpPr>
          <p:cNvPr id="21" name="Text 19"/>
          <p:cNvSpPr/>
          <p:nvPr/>
        </p:nvSpPr>
        <p:spPr>
          <a:xfrm>
            <a:off x="2962656" y="2423160"/>
            <a:ext cx="1874520" cy="1234440"/>
          </a:xfrm>
          <a:prstGeom prst="rect">
            <a:avLst/>
          </a:prstGeom>
          <a:noFill/>
          <a:ln/>
        </p:spPr>
        <p:txBody>
          <a:bodyPr wrap="square" rtlCol="0" anchor="ctr"/>
          <a:lstStyle/>
          <a:p>
            <a:pPr algn="ctr" indent="0" marL="0">
              <a:buNone/>
            </a:pPr>
            <a:r>
              <a:rPr lang="en-US" sz="1350" b="1" dirty="0">
                <a:solidFill>
                  <a:srgbClr val="7D919B"/>
                </a:solidFill>
                <a:latin typeface="Calibri" pitchFamily="34" charset="0"/>
                <a:ea typeface="Calibri" pitchFamily="34" charset="-122"/>
                <a:cs typeface="Calibri" pitchFamily="34" charset="-120"/>
              </a:rPr>
              <a:t>Clean</a:t>
            </a:r>
            <a:endParaRPr lang="en-US" sz="1350" dirty="0"/>
          </a:p>
          <a:p>
            <a:pPr algn="ctr" indent="0" marL="0">
              <a:buNone/>
            </a:pPr>
            <a:r>
              <a:rPr lang="en-US" sz="1100" dirty="0">
                <a:solidFill>
                  <a:srgbClr val="95A6AD"/>
                </a:solidFill>
                <a:latin typeface="Calibri" pitchFamily="34" charset="0"/>
                <a:ea typeface="Calibri" pitchFamily="34" charset="-122"/>
                <a:cs typeface="Calibri" pitchFamily="34" charset="-120"/>
              </a:rPr>
              <a:t>strip links,</a:t>
            </a:r>
            <a:endParaRPr lang="en-US" sz="1350" dirty="0"/>
          </a:p>
          <a:p>
            <a:pPr algn="ctr" indent="0" marL="0">
              <a:buNone/>
            </a:pPr>
            <a:r>
              <a:rPr lang="en-US" sz="1100" dirty="0">
                <a:solidFill>
                  <a:srgbClr val="95A6AD"/>
                </a:solidFill>
                <a:latin typeface="Calibri" pitchFamily="34" charset="0"/>
                <a:ea typeface="Calibri" pitchFamily="34" charset="-122"/>
                <a:cs typeface="Calibri" pitchFamily="34" charset="-120"/>
              </a:rPr>
              <a:t>fold look-alikes</a:t>
            </a:r>
            <a:endParaRPr lang="en-US" sz="1350" dirty="0"/>
          </a:p>
        </p:txBody>
      </p:sp>
      <p:sp>
        <p:nvSpPr>
          <p:cNvPr id="22" name="Text 20"/>
          <p:cNvSpPr/>
          <p:nvPr/>
        </p:nvSpPr>
        <p:spPr>
          <a:xfrm>
            <a:off x="4901184" y="2743200"/>
            <a:ext cx="384048" cy="548640"/>
          </a:xfrm>
          <a:prstGeom prst="rect">
            <a:avLst/>
          </a:prstGeom>
          <a:noFill/>
          <a:ln/>
        </p:spPr>
        <p:txBody>
          <a:bodyPr wrap="square" rtlCol="0" anchor="ctr"/>
          <a:lstStyle/>
          <a:p>
            <a:pPr algn="ctr" indent="0" marL="0">
              <a:buNone/>
            </a:pPr>
            <a:r>
              <a:rPr lang="en-US" sz="2000" dirty="0">
                <a:solidFill>
                  <a:srgbClr val="6E7F87"/>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5266944" y="2423160"/>
            <a:ext cx="1965960" cy="1234440"/>
          </a:xfrm>
          <a:prstGeom prst="roundRect">
            <a:avLst>
              <a:gd name="adj" fmla="val 5926"/>
            </a:avLst>
          </a:prstGeom>
          <a:solidFill>
            <a:srgbClr val="1B2B32"/>
          </a:solidFill>
          <a:ln w="16510">
            <a:solidFill>
              <a:srgbClr val="3CB6A6"/>
            </a:solidFill>
            <a:prstDash val="solid"/>
          </a:ln>
        </p:spPr>
      </p:sp>
      <p:sp>
        <p:nvSpPr>
          <p:cNvPr id="24" name="Text 22"/>
          <p:cNvSpPr/>
          <p:nvPr/>
        </p:nvSpPr>
        <p:spPr>
          <a:xfrm>
            <a:off x="5312664" y="2423160"/>
            <a:ext cx="1874520" cy="1234440"/>
          </a:xfrm>
          <a:prstGeom prst="rect">
            <a:avLst/>
          </a:prstGeom>
          <a:noFill/>
          <a:ln/>
        </p:spPr>
        <p:txBody>
          <a:bodyPr wrap="square" rtlCol="0" anchor="ctr"/>
          <a:lstStyle/>
          <a:p>
            <a:pPr algn="ctr" indent="0" marL="0">
              <a:buNone/>
            </a:pPr>
            <a:r>
              <a:rPr lang="en-US" sz="1350" b="1" dirty="0">
                <a:solidFill>
                  <a:srgbClr val="3CB6A6"/>
                </a:solidFill>
                <a:latin typeface="Calibri" pitchFamily="34" charset="0"/>
                <a:ea typeface="Calibri" pitchFamily="34" charset="-122"/>
                <a:cs typeface="Calibri" pitchFamily="34" charset="-120"/>
              </a:rPr>
              <a:t>TF-IDF</a:t>
            </a:r>
            <a:endParaRPr lang="en-US" sz="1350" dirty="0"/>
          </a:p>
          <a:p>
            <a:pPr algn="ctr" indent="0" marL="0">
              <a:buNone/>
            </a:pPr>
            <a:r>
              <a:rPr lang="en-US" sz="1100" dirty="0">
                <a:solidFill>
                  <a:srgbClr val="95A6AD"/>
                </a:solidFill>
                <a:latin typeface="Calibri" pitchFamily="34" charset="0"/>
                <a:ea typeface="Calibri" pitchFamily="34" charset="-122"/>
                <a:cs typeface="Calibri" pitchFamily="34" charset="-120"/>
              </a:rPr>
              <a:t>word + char</a:t>
            </a:r>
            <a:endParaRPr lang="en-US" sz="1350" dirty="0"/>
          </a:p>
          <a:p>
            <a:pPr algn="ctr" indent="0" marL="0">
              <a:buNone/>
            </a:pPr>
            <a:r>
              <a:rPr lang="en-US" sz="1100" dirty="0">
                <a:solidFill>
                  <a:srgbClr val="95A6AD"/>
                </a:solidFill>
                <a:latin typeface="Calibri" pitchFamily="34" charset="0"/>
                <a:ea typeface="Calibri" pitchFamily="34" charset="-122"/>
                <a:cs typeface="Calibri" pitchFamily="34" charset="-120"/>
              </a:rPr>
              <a:t>n-grams</a:t>
            </a:r>
            <a:endParaRPr lang="en-US" sz="1350" dirty="0"/>
          </a:p>
        </p:txBody>
      </p:sp>
      <p:sp>
        <p:nvSpPr>
          <p:cNvPr id="25" name="Text 23"/>
          <p:cNvSpPr/>
          <p:nvPr/>
        </p:nvSpPr>
        <p:spPr>
          <a:xfrm>
            <a:off x="7251192" y="2743200"/>
            <a:ext cx="384048" cy="548640"/>
          </a:xfrm>
          <a:prstGeom prst="rect">
            <a:avLst/>
          </a:prstGeom>
          <a:noFill/>
          <a:ln/>
        </p:spPr>
        <p:txBody>
          <a:bodyPr wrap="square" rtlCol="0" anchor="ctr"/>
          <a:lstStyle/>
          <a:p>
            <a:pPr algn="ctr" indent="0" marL="0">
              <a:buNone/>
            </a:pPr>
            <a:r>
              <a:rPr lang="en-US" sz="2000" dirty="0">
                <a:solidFill>
                  <a:srgbClr val="6E7F87"/>
                </a:solidFill>
                <a:latin typeface="Calibri" pitchFamily="34" charset="0"/>
                <a:ea typeface="Calibri" pitchFamily="34" charset="-122"/>
                <a:cs typeface="Calibri" pitchFamily="34" charset="-120"/>
              </a:rPr>
              <a:t>→</a:t>
            </a:r>
            <a:endParaRPr lang="en-US" sz="2000" dirty="0"/>
          </a:p>
        </p:txBody>
      </p:sp>
      <p:sp>
        <p:nvSpPr>
          <p:cNvPr id="26" name="Shape 24"/>
          <p:cNvSpPr/>
          <p:nvPr/>
        </p:nvSpPr>
        <p:spPr>
          <a:xfrm>
            <a:off x="7616952" y="2423160"/>
            <a:ext cx="1965960" cy="1234440"/>
          </a:xfrm>
          <a:prstGeom prst="roundRect">
            <a:avLst>
              <a:gd name="adj" fmla="val 5926"/>
            </a:avLst>
          </a:prstGeom>
          <a:solidFill>
            <a:srgbClr val="1B2B32"/>
          </a:solidFill>
          <a:ln w="16510">
            <a:solidFill>
              <a:srgbClr val="3CB6A6"/>
            </a:solidFill>
            <a:prstDash val="solid"/>
          </a:ln>
        </p:spPr>
      </p:sp>
      <p:sp>
        <p:nvSpPr>
          <p:cNvPr id="27" name="Text 25"/>
          <p:cNvSpPr/>
          <p:nvPr/>
        </p:nvSpPr>
        <p:spPr>
          <a:xfrm>
            <a:off x="7662672" y="2423160"/>
            <a:ext cx="1874520" cy="1234440"/>
          </a:xfrm>
          <a:prstGeom prst="rect">
            <a:avLst/>
          </a:prstGeom>
          <a:noFill/>
          <a:ln/>
        </p:spPr>
        <p:txBody>
          <a:bodyPr wrap="square" rtlCol="0" anchor="ctr"/>
          <a:lstStyle/>
          <a:p>
            <a:pPr algn="ctr" indent="0" marL="0">
              <a:buNone/>
            </a:pPr>
            <a:r>
              <a:rPr lang="en-US" sz="1350" b="1" dirty="0">
                <a:solidFill>
                  <a:srgbClr val="3CB6A6"/>
                </a:solidFill>
                <a:latin typeface="Calibri" pitchFamily="34" charset="0"/>
                <a:ea typeface="Calibri" pitchFamily="34" charset="-122"/>
                <a:cs typeface="Calibri" pitchFamily="34" charset="-120"/>
              </a:rPr>
              <a:t>Union</a:t>
            </a:r>
            <a:endParaRPr lang="en-US" sz="1350" dirty="0"/>
          </a:p>
          <a:p>
            <a:pPr algn="ctr" indent="0" marL="0">
              <a:buNone/>
            </a:pPr>
            <a:r>
              <a:rPr lang="en-US" sz="1100" dirty="0">
                <a:solidFill>
                  <a:srgbClr val="95A6AD"/>
                </a:solidFill>
                <a:latin typeface="Calibri" pitchFamily="34" charset="0"/>
                <a:ea typeface="Calibri" pitchFamily="34" charset="-122"/>
                <a:cs typeface="Calibri" pitchFamily="34" charset="-120"/>
              </a:rPr>
              <a:t>one feature</a:t>
            </a:r>
            <a:endParaRPr lang="en-US" sz="1350" dirty="0"/>
          </a:p>
          <a:p>
            <a:pPr algn="ctr" indent="0" marL="0">
              <a:buNone/>
            </a:pPr>
            <a:r>
              <a:rPr lang="en-US" sz="1100" dirty="0">
                <a:solidFill>
                  <a:srgbClr val="95A6AD"/>
                </a:solidFill>
                <a:latin typeface="Calibri" pitchFamily="34" charset="0"/>
                <a:ea typeface="Calibri" pitchFamily="34" charset="-122"/>
                <a:cs typeface="Calibri" pitchFamily="34" charset="-120"/>
              </a:rPr>
              <a:t>vector</a:t>
            </a:r>
            <a:endParaRPr lang="en-US" sz="1350" dirty="0"/>
          </a:p>
        </p:txBody>
      </p:sp>
      <p:sp>
        <p:nvSpPr>
          <p:cNvPr id="28" name="Text 26"/>
          <p:cNvSpPr/>
          <p:nvPr/>
        </p:nvSpPr>
        <p:spPr>
          <a:xfrm>
            <a:off x="9601200" y="2743200"/>
            <a:ext cx="384048" cy="548640"/>
          </a:xfrm>
          <a:prstGeom prst="rect">
            <a:avLst/>
          </a:prstGeom>
          <a:noFill/>
          <a:ln/>
        </p:spPr>
        <p:txBody>
          <a:bodyPr wrap="square" rtlCol="0" anchor="ctr"/>
          <a:lstStyle/>
          <a:p>
            <a:pPr algn="ctr" indent="0" marL="0">
              <a:buNone/>
            </a:pPr>
            <a:r>
              <a:rPr lang="en-US" sz="2000" dirty="0">
                <a:solidFill>
                  <a:srgbClr val="6E7F87"/>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9966960" y="2423160"/>
            <a:ext cx="1965960" cy="1234440"/>
          </a:xfrm>
          <a:prstGeom prst="roundRect">
            <a:avLst>
              <a:gd name="adj" fmla="val 5926"/>
            </a:avLst>
          </a:prstGeom>
          <a:solidFill>
            <a:srgbClr val="1B2B32"/>
          </a:solidFill>
          <a:ln w="16510">
            <a:solidFill>
              <a:srgbClr val="D4AB4E"/>
            </a:solidFill>
            <a:prstDash val="solid"/>
          </a:ln>
        </p:spPr>
      </p:sp>
      <p:sp>
        <p:nvSpPr>
          <p:cNvPr id="30" name="Text 28"/>
          <p:cNvSpPr/>
          <p:nvPr/>
        </p:nvSpPr>
        <p:spPr>
          <a:xfrm>
            <a:off x="10012680" y="2423160"/>
            <a:ext cx="1874520" cy="1234440"/>
          </a:xfrm>
          <a:prstGeom prst="rect">
            <a:avLst/>
          </a:prstGeom>
          <a:noFill/>
          <a:ln/>
        </p:spPr>
        <p:txBody>
          <a:bodyPr wrap="square" rtlCol="0" anchor="ctr"/>
          <a:lstStyle/>
          <a:p>
            <a:pPr algn="ctr" indent="0" marL="0">
              <a:buNone/>
            </a:pPr>
            <a:r>
              <a:rPr lang="en-US" sz="1350" b="1" dirty="0">
                <a:solidFill>
                  <a:srgbClr val="D4AB4E"/>
                </a:solidFill>
                <a:latin typeface="Calibri" pitchFamily="34" charset="0"/>
                <a:ea typeface="Calibri" pitchFamily="34" charset="-122"/>
                <a:cs typeface="Calibri" pitchFamily="34" charset="-120"/>
              </a:rPr>
              <a:t>Logistic</a:t>
            </a:r>
            <a:endParaRPr lang="en-US" sz="1350" dirty="0"/>
          </a:p>
          <a:p>
            <a:pPr algn="ctr" indent="0" marL="0">
              <a:buNone/>
            </a:pPr>
            <a:r>
              <a:rPr lang="en-US" sz="1350" b="1" dirty="0">
                <a:solidFill>
                  <a:srgbClr val="D4AB4E"/>
                </a:solidFill>
                <a:latin typeface="Calibri" pitchFamily="34" charset="0"/>
                <a:ea typeface="Calibri" pitchFamily="34" charset="-122"/>
                <a:cs typeface="Calibri" pitchFamily="34" charset="-120"/>
              </a:rPr>
              <a:t>Reg.</a:t>
            </a:r>
            <a:endParaRPr lang="en-US" sz="1350" dirty="0"/>
          </a:p>
          <a:p>
            <a:pPr algn="ctr" indent="0" marL="0">
              <a:buNone/>
            </a:pPr>
            <a:r>
              <a:rPr lang="en-US" sz="1100" dirty="0">
                <a:solidFill>
                  <a:srgbClr val="95A6AD"/>
                </a:solidFill>
                <a:latin typeface="Calibri" pitchFamily="34" charset="0"/>
                <a:ea typeface="Calibri" pitchFamily="34" charset="-122"/>
                <a:cs typeface="Calibri" pitchFamily="34" charset="-120"/>
              </a:rPr>
              <a:t>linear ·</a:t>
            </a:r>
            <a:endParaRPr lang="en-US" sz="1350" dirty="0"/>
          </a:p>
          <a:p>
            <a:pPr algn="ctr" indent="0" marL="0">
              <a:buNone/>
            </a:pPr>
            <a:r>
              <a:rPr lang="en-US" sz="1100" dirty="0">
                <a:solidFill>
                  <a:srgbClr val="95A6AD"/>
                </a:solidFill>
                <a:latin typeface="Calibri" pitchFamily="34" charset="0"/>
                <a:ea typeface="Calibri" pitchFamily="34" charset="-122"/>
                <a:cs typeface="Calibri" pitchFamily="34" charset="-120"/>
              </a:rPr>
              <a:t>explainable</a:t>
            </a:r>
            <a:endParaRPr lang="en-US" sz="1350" dirty="0"/>
          </a:p>
        </p:txBody>
      </p:sp>
      <p:sp>
        <p:nvSpPr>
          <p:cNvPr id="31" name="Shape 29"/>
          <p:cNvSpPr/>
          <p:nvPr/>
        </p:nvSpPr>
        <p:spPr>
          <a:xfrm>
            <a:off x="566928" y="3840480"/>
            <a:ext cx="11057839" cy="713232"/>
          </a:xfrm>
          <a:prstGeom prst="roundRect">
            <a:avLst>
              <a:gd name="adj" fmla="val 7692"/>
            </a:avLst>
          </a:prstGeom>
          <a:solidFill>
            <a:srgbClr val="1B2B32"/>
          </a:solidFill>
          <a:ln w="12700">
            <a:solidFill>
              <a:srgbClr val="26363D"/>
            </a:solidFill>
            <a:prstDash val="solid"/>
          </a:ln>
        </p:spPr>
      </p:sp>
      <p:sp>
        <p:nvSpPr>
          <p:cNvPr id="32" name="Text 30"/>
          <p:cNvSpPr/>
          <p:nvPr/>
        </p:nvSpPr>
        <p:spPr>
          <a:xfrm>
            <a:off x="768096" y="3904488"/>
            <a:ext cx="10692079" cy="292608"/>
          </a:xfrm>
          <a:prstGeom prst="rect">
            <a:avLst/>
          </a:prstGeom>
          <a:noFill/>
          <a:ln/>
        </p:spPr>
        <p:txBody>
          <a:bodyPr wrap="square" rtlCol="0" anchor="ctr"/>
          <a:lstStyle/>
          <a:p>
            <a:pPr indent="0" marL="0">
              <a:buNone/>
            </a:pPr>
            <a:r>
              <a:rPr lang="en-US" sz="1300" b="1" dirty="0">
                <a:solidFill>
                  <a:srgbClr val="EAF0F1"/>
                </a:solidFill>
                <a:latin typeface="Courier New" pitchFamily="34" charset="0"/>
                <a:ea typeface="Courier New" pitchFamily="34" charset="-122"/>
                <a:cs typeface="Courier New" pitchFamily="34" charset="-120"/>
              </a:rPr>
              <a:t>TF-IDF(t,d) = tf(t,d) × log(N / df(t))</a:t>
            </a:r>
            <a:pPr indent="0" marL="0">
              <a:buNone/>
            </a:pPr>
            <a:r>
              <a:rPr lang="en-US" sz="1100" dirty="0">
                <a:solidFill>
                  <a:srgbClr val="95A6AD"/>
                </a:solidFill>
                <a:latin typeface="Calibri" pitchFamily="34" charset="0"/>
                <a:ea typeface="Calibri" pitchFamily="34" charset="-122"/>
                <a:cs typeface="Calibri" pitchFamily="34" charset="-120"/>
              </a:rPr>
              <a:t>   how important a word is here vs everywhere</a:t>
            </a:r>
            <a:endParaRPr lang="en-US" sz="1300" dirty="0"/>
          </a:p>
        </p:txBody>
      </p:sp>
      <p:sp>
        <p:nvSpPr>
          <p:cNvPr id="33" name="Text 31"/>
          <p:cNvSpPr/>
          <p:nvPr/>
        </p:nvSpPr>
        <p:spPr>
          <a:xfrm>
            <a:off x="768096" y="4206240"/>
            <a:ext cx="10692079" cy="292608"/>
          </a:xfrm>
          <a:prstGeom prst="rect">
            <a:avLst/>
          </a:prstGeom>
          <a:noFill/>
          <a:ln/>
        </p:spPr>
        <p:txBody>
          <a:bodyPr wrap="square" rtlCol="0" anchor="ctr"/>
          <a:lstStyle/>
          <a:p>
            <a:pPr indent="0" marL="0">
              <a:buNone/>
            </a:pPr>
            <a:r>
              <a:rPr lang="en-US" sz="1300" b="1" dirty="0">
                <a:solidFill>
                  <a:srgbClr val="EAF0F1"/>
                </a:solidFill>
                <a:latin typeface="Courier New" pitchFamily="34" charset="0"/>
                <a:ea typeface="Courier New" pitchFamily="34" charset="-122"/>
                <a:cs typeface="Courier New" pitchFamily="34" charset="-120"/>
              </a:rPr>
              <a:t>score = σ(w·x + b)</a:t>
            </a:r>
            <a:pPr indent="0" marL="0">
              <a:buNone/>
            </a:pPr>
            <a:r>
              <a:rPr lang="en-US" sz="1100" dirty="0">
                <a:solidFill>
                  <a:srgbClr val="95A6AD"/>
                </a:solidFill>
                <a:latin typeface="Calibri" pitchFamily="34" charset="0"/>
                <a:ea typeface="Calibri" pitchFamily="34" charset="-122"/>
                <a:cs typeface="Calibri" pitchFamily="34" charset="-120"/>
              </a:rPr>
              <a:t>   add each word's weight × TF-IDF, squash to a probability 0–1</a:t>
            </a:r>
            <a:endParaRPr lang="en-US" sz="1300" dirty="0"/>
          </a:p>
        </p:txBody>
      </p:sp>
      <p:sp>
        <p:nvSpPr>
          <p:cNvPr id="34" name="Text 32"/>
          <p:cNvSpPr/>
          <p:nvPr/>
        </p:nvSpPr>
        <p:spPr>
          <a:xfrm>
            <a:off x="566928" y="4754880"/>
            <a:ext cx="11057839" cy="822960"/>
          </a:xfrm>
          <a:prstGeom prst="rect">
            <a:avLst/>
          </a:prstGeom>
          <a:noFill/>
          <a:ln/>
        </p:spPr>
        <p:txBody>
          <a:bodyPr wrap="square" rtlCol="0" anchor="t"/>
          <a:lstStyle/>
          <a:p>
            <a:pPr indent="0" marL="0">
              <a:buNone/>
            </a:pPr>
            <a:r>
              <a:rPr lang="en-US" sz="1350" b="1" dirty="0">
                <a:solidFill>
                  <a:srgbClr val="EAF0F1"/>
                </a:solidFill>
                <a:latin typeface="Calibri" pitchFamily="34" charset="0"/>
                <a:ea typeface="Calibri" pitchFamily="34" charset="-122"/>
                <a:cs typeface="Calibri" pitchFamily="34" charset="-120"/>
              </a:rPr>
              <a:t>Character n-grams give robustness </a:t>
            </a:r>
            <a:pPr indent="0" marL="0">
              <a:buNone/>
            </a:pPr>
            <a:r>
              <a:rPr lang="en-US" sz="1350" dirty="0">
                <a:solidFill>
                  <a:srgbClr val="95A6AD"/>
                </a:solidFill>
                <a:latin typeface="Calibri" pitchFamily="34" charset="0"/>
                <a:ea typeface="Calibri" pitchFamily="34" charset="-122"/>
                <a:cs typeface="Calibri" pitchFamily="34" charset="-120"/>
              </a:rPr>
              <a:t>(‘cl1ck’ still shares ‘lic’, ‘ick’ with ‘click’); the linear model stays explainable. Corpus: CEAS_08, ~27k emails, rebalanced to a realistic 35% phishing.</a:t>
            </a:r>
            <a:endParaRPr lang="en-US" sz="1350" dirty="0"/>
          </a:p>
        </p:txBody>
      </p:sp>
      <p:sp>
        <p:nvSpPr>
          <p:cNvPr id="35" name="Text 33"/>
          <p:cNvSpPr/>
          <p:nvPr/>
        </p:nvSpPr>
        <p:spPr>
          <a:xfrm>
            <a:off x="566928" y="6437376"/>
            <a:ext cx="11057839" cy="274320"/>
          </a:xfrm>
          <a:prstGeom prst="rect">
            <a:avLst/>
          </a:prstGeom>
          <a:noFill/>
          <a:ln/>
        </p:spPr>
        <p:txBody>
          <a:bodyPr wrap="square" rtlCol="0" anchor="ctr"/>
          <a:lstStyle/>
          <a:p>
            <a:pPr indent="0" marL="0">
              <a:buNone/>
            </a:pPr>
            <a:r>
              <a:rPr lang="en-US" sz="950" i="1" dirty="0">
                <a:solidFill>
                  <a:srgbClr val="7C8F98"/>
                </a:solidFill>
                <a:latin typeface="Calibri" pitchFamily="34" charset="0"/>
                <a:ea typeface="Calibri" pitchFamily="34" charset="-122"/>
                <a:cs typeface="Calibri" pitchFamily="34" charset="-120"/>
              </a:rPr>
              <a:t>the iterative loop is the contribution · TF-IDF = importance of a word to this email vs the corpus</a:t>
            </a:r>
            <a:endParaRPr lang="en-US" sz="9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310896"/>
            <a:ext cx="9144000" cy="274320"/>
          </a:xfrm>
          <a:prstGeom prst="rect">
            <a:avLst/>
          </a:prstGeom>
          <a:noFill/>
          <a:ln/>
        </p:spPr>
        <p:txBody>
          <a:bodyPr wrap="square" rtlCol="0" anchor="ctr"/>
          <a:lstStyle/>
          <a:p>
            <a:pPr indent="0" marL="0">
              <a:buNone/>
            </a:pPr>
            <a:r>
              <a:rPr lang="en-US" sz="1100" b="1" spc="200" kern="0" dirty="0">
                <a:solidFill>
                  <a:srgbClr val="3CB6A6"/>
                </a:solidFill>
                <a:latin typeface="Calibri" pitchFamily="34" charset="0"/>
                <a:ea typeface="Calibri" pitchFamily="34" charset="-122"/>
                <a:cs typeface="Calibri" pitchFamily="34" charset="-120"/>
              </a:rPr>
              <a:t>THE DATA</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indent="0" marL="0">
              <a:buNone/>
            </a:pPr>
            <a:r>
              <a:rPr lang="en-US" sz="2500" b="1" dirty="0">
                <a:solidFill>
                  <a:srgbClr val="EAF0F1"/>
                </a:solidFill>
                <a:latin typeface="Cambria" pitchFamily="34" charset="0"/>
                <a:ea typeface="Cambria" pitchFamily="34" charset="-122"/>
                <a:cs typeface="Cambria" pitchFamily="34" charset="-120"/>
              </a:rPr>
              <a:t>Datasets, and how I cleaned them.</a:t>
            </a:r>
            <a:endParaRPr lang="en-US" sz="2500" dirty="0"/>
          </a:p>
        </p:txBody>
      </p:sp>
      <p:sp>
        <p:nvSpPr>
          <p:cNvPr id="4" name="Shape 2"/>
          <p:cNvSpPr/>
          <p:nvPr/>
        </p:nvSpPr>
        <p:spPr>
          <a:xfrm>
            <a:off x="566928" y="1371600"/>
            <a:ext cx="1737360" cy="41148"/>
          </a:xfrm>
          <a:prstGeom prst="rect">
            <a:avLst/>
          </a:prstGeom>
          <a:solidFill>
            <a:srgbClr val="3CB6A6"/>
          </a:solidFill>
          <a:ln/>
        </p:spPr>
      </p:sp>
      <p:sp>
        <p:nvSpPr>
          <p:cNvPr id="5" name="Text 3"/>
          <p:cNvSpPr/>
          <p:nvPr/>
        </p:nvSpPr>
        <p:spPr>
          <a:xfrm>
            <a:off x="10728655" y="310896"/>
            <a:ext cx="914400" cy="274320"/>
          </a:xfrm>
          <a:prstGeom prst="rect">
            <a:avLst/>
          </a:prstGeom>
          <a:noFill/>
          <a:ln/>
        </p:spPr>
        <p:txBody>
          <a:bodyPr wrap="square" rtlCol="0" anchor="ctr"/>
          <a:lstStyle/>
          <a:p>
            <a:pPr algn="r" indent="0" marL="0">
              <a:buNone/>
            </a:pPr>
            <a:r>
              <a:rPr lang="en-US" sz="1100" dirty="0">
                <a:solidFill>
                  <a:srgbClr val="6E7F87"/>
                </a:solidFill>
                <a:latin typeface="Calibri" pitchFamily="34" charset="0"/>
                <a:ea typeface="Calibri" pitchFamily="34" charset="-122"/>
                <a:cs typeface="Calibri" pitchFamily="34" charset="-120"/>
              </a:rPr>
              <a:t>3 / 15</a:t>
            </a:r>
            <a:endParaRPr lang="en-US" sz="1100" dirty="0"/>
          </a:p>
        </p:txBody>
      </p:sp>
      <p:sp>
        <p:nvSpPr>
          <p:cNvPr id="6" name="Text 4"/>
          <p:cNvSpPr/>
          <p:nvPr/>
        </p:nvSpPr>
        <p:spPr>
          <a:xfrm>
            <a:off x="566928" y="1554480"/>
            <a:ext cx="5669280" cy="274320"/>
          </a:xfrm>
          <a:prstGeom prst="rect">
            <a:avLst/>
          </a:prstGeom>
          <a:noFill/>
          <a:ln/>
        </p:spPr>
        <p:txBody>
          <a:bodyPr wrap="square" rtlCol="0" anchor="ctr"/>
          <a:lstStyle/>
          <a:p>
            <a:pPr indent="0" marL="0">
              <a:buNone/>
            </a:pPr>
            <a:r>
              <a:rPr lang="en-US" sz="1100" b="1" spc="100" kern="0" dirty="0">
                <a:solidFill>
                  <a:srgbClr val="5FA3C0"/>
                </a:solidFill>
                <a:latin typeface="Calibri" pitchFamily="34" charset="0"/>
                <a:ea typeface="Calibri" pitchFamily="34" charset="-122"/>
                <a:cs typeface="Calibri" pitchFamily="34" charset="-120"/>
              </a:rPr>
              <a:t>THE EMAIL SETS I USED</a:t>
            </a:r>
            <a:endParaRPr lang="en-US" sz="1100" dirty="0"/>
          </a:p>
        </p:txBody>
      </p:sp>
      <p:sp>
        <p:nvSpPr>
          <p:cNvPr id="7" name="Text 5"/>
          <p:cNvSpPr/>
          <p:nvPr/>
        </p:nvSpPr>
        <p:spPr>
          <a:xfrm>
            <a:off x="566928" y="1920240"/>
            <a:ext cx="4663440" cy="457200"/>
          </a:xfrm>
          <a:prstGeom prst="rect">
            <a:avLst/>
          </a:prstGeom>
          <a:noFill/>
          <a:ln/>
        </p:spPr>
        <p:txBody>
          <a:bodyPr wrap="square" rtlCol="0" anchor="ctr"/>
          <a:lstStyle/>
          <a:p>
            <a:pPr indent="0" marL="0">
              <a:buNone/>
            </a:pPr>
            <a:r>
              <a:rPr lang="en-US" sz="1200" b="1" dirty="0">
                <a:solidFill>
                  <a:srgbClr val="EAF0F1"/>
                </a:solidFill>
                <a:latin typeface="Calibri" pitchFamily="34" charset="0"/>
                <a:ea typeface="Calibri" pitchFamily="34" charset="-122"/>
                <a:cs typeface="Calibri" pitchFamily="34" charset="-120"/>
              </a:rPr>
              <a:t>CEAS_08  </a:t>
            </a:r>
            <a:pPr indent="0" marL="0">
              <a:buNone/>
            </a:pPr>
            <a:r>
              <a:rPr lang="en-US" sz="1200" dirty="0">
                <a:solidFill>
                  <a:srgbClr val="95A6AD"/>
                </a:solidFill>
                <a:latin typeface="Calibri" pitchFamily="34" charset="0"/>
                <a:ea typeface="Calibri" pitchFamily="34" charset="-122"/>
                <a:cs typeface="Calibri" pitchFamily="34" charset="-120"/>
              </a:rPr>
              <a:t>main set — both classes, one source</a:t>
            </a:r>
            <a:endParaRPr lang="en-US" sz="1200" dirty="0"/>
          </a:p>
        </p:txBody>
      </p:sp>
      <p:sp>
        <p:nvSpPr>
          <p:cNvPr id="8" name="Text 6"/>
          <p:cNvSpPr/>
          <p:nvPr/>
        </p:nvSpPr>
        <p:spPr>
          <a:xfrm>
            <a:off x="5212080" y="1920240"/>
            <a:ext cx="1005840" cy="457200"/>
          </a:xfrm>
          <a:prstGeom prst="rect">
            <a:avLst/>
          </a:prstGeom>
          <a:noFill/>
          <a:ln/>
        </p:spPr>
        <p:txBody>
          <a:bodyPr wrap="square" rtlCol="0" anchor="ctr"/>
          <a:lstStyle/>
          <a:p>
            <a:pPr algn="r" indent="0" marL="0">
              <a:buNone/>
            </a:pPr>
            <a:r>
              <a:rPr lang="en-US" sz="1250" b="1" dirty="0">
                <a:solidFill>
                  <a:srgbClr val="3CB6A6"/>
                </a:solidFill>
                <a:latin typeface="Calibri" pitchFamily="34" charset="0"/>
                <a:ea typeface="Calibri" pitchFamily="34" charset="-122"/>
                <a:cs typeface="Calibri" pitchFamily="34" charset="-120"/>
              </a:rPr>
              <a:t>26,633</a:t>
            </a:r>
            <a:endParaRPr lang="en-US" sz="1250" dirty="0"/>
          </a:p>
        </p:txBody>
      </p:sp>
      <p:sp>
        <p:nvSpPr>
          <p:cNvPr id="9" name="Shape 7"/>
          <p:cNvSpPr/>
          <p:nvPr/>
        </p:nvSpPr>
        <p:spPr>
          <a:xfrm>
            <a:off x="566928" y="2377440"/>
            <a:ext cx="5669280" cy="0"/>
          </a:xfrm>
          <a:prstGeom prst="line">
            <a:avLst/>
          </a:prstGeom>
          <a:noFill/>
          <a:ln w="9525">
            <a:solidFill>
              <a:srgbClr val="26363D"/>
            </a:solidFill>
            <a:prstDash val="solid"/>
          </a:ln>
        </p:spPr>
      </p:sp>
      <p:sp>
        <p:nvSpPr>
          <p:cNvPr id="10" name="Text 8"/>
          <p:cNvSpPr/>
          <p:nvPr/>
        </p:nvSpPr>
        <p:spPr>
          <a:xfrm>
            <a:off x="566928" y="2432304"/>
            <a:ext cx="4663440" cy="457200"/>
          </a:xfrm>
          <a:prstGeom prst="rect">
            <a:avLst/>
          </a:prstGeom>
          <a:noFill/>
          <a:ln/>
        </p:spPr>
        <p:txBody>
          <a:bodyPr wrap="square" rtlCol="0" anchor="ctr"/>
          <a:lstStyle/>
          <a:p>
            <a:pPr indent="0" marL="0">
              <a:buNone/>
            </a:pPr>
            <a:r>
              <a:rPr lang="en-US" sz="1200" b="1" dirty="0">
                <a:solidFill>
                  <a:srgbClr val="EAF0F1"/>
                </a:solidFill>
                <a:latin typeface="Calibri" pitchFamily="34" charset="0"/>
                <a:ea typeface="Calibri" pitchFamily="34" charset="-122"/>
                <a:cs typeface="Calibri" pitchFamily="34" charset="-120"/>
              </a:rPr>
              <a:t>Nazario / Enron / Ling  </a:t>
            </a:r>
            <a:pPr indent="0" marL="0">
              <a:buNone/>
            </a:pPr>
            <a:r>
              <a:rPr lang="en-US" sz="1200" dirty="0">
                <a:solidFill>
                  <a:srgbClr val="95A6AD"/>
                </a:solidFill>
                <a:latin typeface="Calibri" pitchFamily="34" charset="0"/>
                <a:ea typeface="Calibri" pitchFamily="34" charset="-122"/>
                <a:cs typeface="Calibri" pitchFamily="34" charset="-120"/>
              </a:rPr>
              <a:t>other sources — fairness test</a:t>
            </a:r>
            <a:endParaRPr lang="en-US" sz="1200" dirty="0"/>
          </a:p>
        </p:txBody>
      </p:sp>
      <p:sp>
        <p:nvSpPr>
          <p:cNvPr id="11" name="Text 9"/>
          <p:cNvSpPr/>
          <p:nvPr/>
        </p:nvSpPr>
        <p:spPr>
          <a:xfrm>
            <a:off x="5212080" y="2432304"/>
            <a:ext cx="1005840" cy="457200"/>
          </a:xfrm>
          <a:prstGeom prst="rect">
            <a:avLst/>
          </a:prstGeom>
          <a:noFill/>
          <a:ln/>
        </p:spPr>
        <p:txBody>
          <a:bodyPr wrap="square" rtlCol="0" anchor="ctr"/>
          <a:lstStyle/>
          <a:p>
            <a:pPr algn="r" indent="0" marL="0">
              <a:buNone/>
            </a:pPr>
            <a:r>
              <a:rPr lang="en-US" sz="1250" dirty="0">
                <a:solidFill>
                  <a:srgbClr val="95A6AD"/>
                </a:solidFill>
                <a:latin typeface="Calibri" pitchFamily="34" charset="0"/>
                <a:ea typeface="Calibri" pitchFamily="34" charset="-122"/>
                <a:cs typeface="Calibri" pitchFamily="34" charset="-120"/>
              </a:rPr>
              <a:t>test only</a:t>
            </a:r>
            <a:endParaRPr lang="en-US" sz="1250" dirty="0"/>
          </a:p>
        </p:txBody>
      </p:sp>
      <p:sp>
        <p:nvSpPr>
          <p:cNvPr id="12" name="Shape 10"/>
          <p:cNvSpPr/>
          <p:nvPr/>
        </p:nvSpPr>
        <p:spPr>
          <a:xfrm>
            <a:off x="566928" y="2889504"/>
            <a:ext cx="5669280" cy="0"/>
          </a:xfrm>
          <a:prstGeom prst="line">
            <a:avLst/>
          </a:prstGeom>
          <a:noFill/>
          <a:ln w="9525">
            <a:solidFill>
              <a:srgbClr val="26363D"/>
            </a:solidFill>
            <a:prstDash val="solid"/>
          </a:ln>
        </p:spPr>
      </p:sp>
      <p:sp>
        <p:nvSpPr>
          <p:cNvPr id="13" name="Text 11"/>
          <p:cNvSpPr/>
          <p:nvPr/>
        </p:nvSpPr>
        <p:spPr>
          <a:xfrm>
            <a:off x="566928" y="2944368"/>
            <a:ext cx="4663440" cy="457200"/>
          </a:xfrm>
          <a:prstGeom prst="rect">
            <a:avLst/>
          </a:prstGeom>
          <a:noFill/>
          <a:ln/>
        </p:spPr>
        <p:txBody>
          <a:bodyPr wrap="square" rtlCol="0" anchor="ctr"/>
          <a:lstStyle/>
          <a:p>
            <a:pPr indent="0" marL="0">
              <a:buNone/>
            </a:pPr>
            <a:r>
              <a:rPr lang="en-US" sz="1200" b="1" dirty="0">
                <a:solidFill>
                  <a:srgbClr val="EAF0F1"/>
                </a:solidFill>
                <a:latin typeface="Calibri" pitchFamily="34" charset="0"/>
                <a:ea typeface="Calibri" pitchFamily="34" charset="-122"/>
                <a:cs typeface="Calibri" pitchFamily="34" charset="-120"/>
              </a:rPr>
              <a:t>Real phishing 2023–2025  </a:t>
            </a:r>
            <a:pPr indent="0" marL="0">
              <a:buNone/>
            </a:pPr>
            <a:r>
              <a:rPr lang="en-US" sz="1200" dirty="0">
                <a:solidFill>
                  <a:srgbClr val="95A6AD"/>
                </a:solidFill>
                <a:latin typeface="Calibri" pitchFamily="34" charset="0"/>
                <a:ea typeface="Calibri" pitchFamily="34" charset="-122"/>
                <a:cs typeface="Calibri" pitchFamily="34" charset="-120"/>
              </a:rPr>
              <a:t>modern scams</a:t>
            </a:r>
            <a:endParaRPr lang="en-US" sz="1200" dirty="0"/>
          </a:p>
        </p:txBody>
      </p:sp>
      <p:sp>
        <p:nvSpPr>
          <p:cNvPr id="14" name="Text 12"/>
          <p:cNvSpPr/>
          <p:nvPr/>
        </p:nvSpPr>
        <p:spPr>
          <a:xfrm>
            <a:off x="5212080" y="2944368"/>
            <a:ext cx="1005840" cy="457200"/>
          </a:xfrm>
          <a:prstGeom prst="rect">
            <a:avLst/>
          </a:prstGeom>
          <a:noFill/>
          <a:ln/>
        </p:spPr>
        <p:txBody>
          <a:bodyPr wrap="square" rtlCol="0" anchor="ctr"/>
          <a:lstStyle/>
          <a:p>
            <a:pPr algn="r" indent="0" marL="0">
              <a:buNone/>
            </a:pPr>
            <a:r>
              <a:rPr lang="en-US" sz="1250" dirty="0">
                <a:solidFill>
                  <a:srgbClr val="EAF0F1"/>
                </a:solidFill>
                <a:latin typeface="Calibri" pitchFamily="34" charset="0"/>
                <a:ea typeface="Calibri" pitchFamily="34" charset="-122"/>
                <a:cs typeface="Calibri" pitchFamily="34" charset="-120"/>
              </a:rPr>
              <a:t>1,303</a:t>
            </a:r>
            <a:endParaRPr lang="en-US" sz="1250" dirty="0"/>
          </a:p>
        </p:txBody>
      </p:sp>
      <p:sp>
        <p:nvSpPr>
          <p:cNvPr id="15" name="Shape 13"/>
          <p:cNvSpPr/>
          <p:nvPr/>
        </p:nvSpPr>
        <p:spPr>
          <a:xfrm>
            <a:off x="566928" y="3401568"/>
            <a:ext cx="5669280" cy="0"/>
          </a:xfrm>
          <a:prstGeom prst="line">
            <a:avLst/>
          </a:prstGeom>
          <a:noFill/>
          <a:ln w="9525">
            <a:solidFill>
              <a:srgbClr val="26363D"/>
            </a:solidFill>
            <a:prstDash val="solid"/>
          </a:ln>
        </p:spPr>
      </p:sp>
      <p:sp>
        <p:nvSpPr>
          <p:cNvPr id="16" name="Text 14"/>
          <p:cNvSpPr/>
          <p:nvPr/>
        </p:nvSpPr>
        <p:spPr>
          <a:xfrm>
            <a:off x="566928" y="3456432"/>
            <a:ext cx="4663440" cy="457200"/>
          </a:xfrm>
          <a:prstGeom prst="rect">
            <a:avLst/>
          </a:prstGeom>
          <a:noFill/>
          <a:ln/>
        </p:spPr>
        <p:txBody>
          <a:bodyPr wrap="square" rtlCol="0" anchor="ctr"/>
          <a:lstStyle/>
          <a:p>
            <a:pPr indent="0" marL="0">
              <a:buNone/>
            </a:pPr>
            <a:r>
              <a:rPr lang="en-US" sz="1200" b="1" dirty="0">
                <a:solidFill>
                  <a:srgbClr val="EAF0F1"/>
                </a:solidFill>
                <a:latin typeface="Calibri" pitchFamily="34" charset="0"/>
                <a:ea typeface="Calibri" pitchFamily="34" charset="-122"/>
                <a:cs typeface="Calibri" pitchFamily="34" charset="-120"/>
              </a:rPr>
              <a:t>Recent normal mail 2024  </a:t>
            </a:r>
            <a:pPr indent="0" marL="0">
              <a:buNone/>
            </a:pPr>
            <a:r>
              <a:rPr lang="en-US" sz="1200" dirty="0">
                <a:solidFill>
                  <a:srgbClr val="95A6AD"/>
                </a:solidFill>
                <a:latin typeface="Calibri" pitchFamily="34" charset="0"/>
                <a:ea typeface="Calibri" pitchFamily="34" charset="-122"/>
                <a:cs typeface="Calibri" pitchFamily="34" charset="-120"/>
              </a:rPr>
              <a:t>modern legit</a:t>
            </a:r>
            <a:endParaRPr lang="en-US" sz="1200" dirty="0"/>
          </a:p>
        </p:txBody>
      </p:sp>
      <p:sp>
        <p:nvSpPr>
          <p:cNvPr id="17" name="Text 15"/>
          <p:cNvSpPr/>
          <p:nvPr/>
        </p:nvSpPr>
        <p:spPr>
          <a:xfrm>
            <a:off x="5212080" y="3456432"/>
            <a:ext cx="1005840" cy="457200"/>
          </a:xfrm>
          <a:prstGeom prst="rect">
            <a:avLst/>
          </a:prstGeom>
          <a:noFill/>
          <a:ln/>
        </p:spPr>
        <p:txBody>
          <a:bodyPr wrap="square" rtlCol="0" anchor="ctr"/>
          <a:lstStyle/>
          <a:p>
            <a:pPr algn="r" indent="0" marL="0">
              <a:buNone/>
            </a:pPr>
            <a:r>
              <a:rPr lang="en-US" sz="1250" dirty="0">
                <a:solidFill>
                  <a:srgbClr val="EAF0F1"/>
                </a:solidFill>
                <a:latin typeface="Calibri" pitchFamily="34" charset="0"/>
                <a:ea typeface="Calibri" pitchFamily="34" charset="-122"/>
                <a:cs typeface="Calibri" pitchFamily="34" charset="-120"/>
              </a:rPr>
              <a:t>3,000</a:t>
            </a:r>
            <a:endParaRPr lang="en-US" sz="1250" dirty="0"/>
          </a:p>
        </p:txBody>
      </p:sp>
      <p:sp>
        <p:nvSpPr>
          <p:cNvPr id="18" name="Shape 16"/>
          <p:cNvSpPr/>
          <p:nvPr/>
        </p:nvSpPr>
        <p:spPr>
          <a:xfrm>
            <a:off x="566928" y="3913632"/>
            <a:ext cx="5669280" cy="0"/>
          </a:xfrm>
          <a:prstGeom prst="line">
            <a:avLst/>
          </a:prstGeom>
          <a:noFill/>
          <a:ln w="9525">
            <a:solidFill>
              <a:srgbClr val="26363D"/>
            </a:solidFill>
            <a:prstDash val="solid"/>
          </a:ln>
        </p:spPr>
      </p:sp>
      <p:sp>
        <p:nvSpPr>
          <p:cNvPr id="19" name="Text 17"/>
          <p:cNvSpPr/>
          <p:nvPr/>
        </p:nvSpPr>
        <p:spPr>
          <a:xfrm>
            <a:off x="566928" y="3968496"/>
            <a:ext cx="4663440" cy="457200"/>
          </a:xfrm>
          <a:prstGeom prst="rect">
            <a:avLst/>
          </a:prstGeom>
          <a:noFill/>
          <a:ln/>
        </p:spPr>
        <p:txBody>
          <a:bodyPr wrap="square" rtlCol="0" anchor="ctr"/>
          <a:lstStyle/>
          <a:p>
            <a:pPr indent="0" marL="0">
              <a:buNone/>
            </a:pPr>
            <a:r>
              <a:rPr lang="en-US" sz="1200" b="1" dirty="0">
                <a:solidFill>
                  <a:srgbClr val="EAF0F1"/>
                </a:solidFill>
                <a:latin typeface="Calibri" pitchFamily="34" charset="0"/>
                <a:ea typeface="Calibri" pitchFamily="34" charset="-122"/>
                <a:cs typeface="Calibri" pitchFamily="34" charset="-120"/>
              </a:rPr>
              <a:t>SpamAssassin  </a:t>
            </a:r>
            <a:pPr indent="0" marL="0">
              <a:buNone/>
            </a:pPr>
            <a:r>
              <a:rPr lang="en-US" sz="1200" dirty="0">
                <a:solidFill>
                  <a:srgbClr val="95A6AD"/>
                </a:solidFill>
                <a:latin typeface="Calibri" pitchFamily="34" charset="0"/>
                <a:ea typeface="Calibri" pitchFamily="34" charset="-122"/>
                <a:cs typeface="Calibri" pitchFamily="34" charset="-120"/>
              </a:rPr>
              <a:t>second set — re-check</a:t>
            </a:r>
            <a:endParaRPr lang="en-US" sz="1200" dirty="0"/>
          </a:p>
        </p:txBody>
      </p:sp>
      <p:sp>
        <p:nvSpPr>
          <p:cNvPr id="20" name="Text 18"/>
          <p:cNvSpPr/>
          <p:nvPr/>
        </p:nvSpPr>
        <p:spPr>
          <a:xfrm>
            <a:off x="5212080" y="3968496"/>
            <a:ext cx="1005840" cy="457200"/>
          </a:xfrm>
          <a:prstGeom prst="rect">
            <a:avLst/>
          </a:prstGeom>
          <a:noFill/>
          <a:ln/>
        </p:spPr>
        <p:txBody>
          <a:bodyPr wrap="square" rtlCol="0" anchor="ctr"/>
          <a:lstStyle/>
          <a:p>
            <a:pPr algn="r" indent="0" marL="0">
              <a:buNone/>
            </a:pPr>
            <a:r>
              <a:rPr lang="en-US" sz="1250" dirty="0">
                <a:solidFill>
                  <a:srgbClr val="EAF0F1"/>
                </a:solidFill>
                <a:latin typeface="Calibri" pitchFamily="34" charset="0"/>
                <a:ea typeface="Calibri" pitchFamily="34" charset="-122"/>
                <a:cs typeface="Calibri" pitchFamily="34" charset="-120"/>
              </a:rPr>
              <a:t>5,809</a:t>
            </a:r>
            <a:endParaRPr lang="en-US" sz="1250" dirty="0"/>
          </a:p>
        </p:txBody>
      </p:sp>
      <p:sp>
        <p:nvSpPr>
          <p:cNvPr id="21" name="Shape 19"/>
          <p:cNvSpPr/>
          <p:nvPr/>
        </p:nvSpPr>
        <p:spPr>
          <a:xfrm>
            <a:off x="566928" y="4425696"/>
            <a:ext cx="5669280" cy="0"/>
          </a:xfrm>
          <a:prstGeom prst="line">
            <a:avLst/>
          </a:prstGeom>
          <a:noFill/>
          <a:ln w="9525">
            <a:solidFill>
              <a:srgbClr val="26363D"/>
            </a:solidFill>
            <a:prstDash val="solid"/>
          </a:ln>
        </p:spPr>
      </p:sp>
      <p:sp>
        <p:nvSpPr>
          <p:cNvPr id="22" name="Shape 20"/>
          <p:cNvSpPr/>
          <p:nvPr/>
        </p:nvSpPr>
        <p:spPr>
          <a:xfrm>
            <a:off x="6537960" y="1554480"/>
            <a:ext cx="5074920" cy="2286000"/>
          </a:xfrm>
          <a:prstGeom prst="roundRect">
            <a:avLst>
              <a:gd name="adj" fmla="val 3200"/>
            </a:avLst>
          </a:prstGeom>
          <a:solidFill>
            <a:srgbClr val="1B2B32"/>
          </a:solidFill>
          <a:ln w="17780">
            <a:solidFill>
              <a:srgbClr val="3CB6A6"/>
            </a:solidFill>
            <a:prstDash val="solid"/>
          </a:ln>
        </p:spPr>
      </p:sp>
      <p:sp>
        <p:nvSpPr>
          <p:cNvPr id="23" name="Text 21"/>
          <p:cNvSpPr/>
          <p:nvPr/>
        </p:nvSpPr>
        <p:spPr>
          <a:xfrm>
            <a:off x="6766560" y="1682496"/>
            <a:ext cx="4663440" cy="274320"/>
          </a:xfrm>
          <a:prstGeom prst="rect">
            <a:avLst/>
          </a:prstGeom>
          <a:noFill/>
          <a:ln/>
        </p:spPr>
        <p:txBody>
          <a:bodyPr wrap="square" rtlCol="0" anchor="ctr"/>
          <a:lstStyle/>
          <a:p>
            <a:pPr indent="0" marL="0">
              <a:buNone/>
            </a:pPr>
            <a:r>
              <a:rPr lang="en-US" sz="1100" b="1" spc="100" kern="0" dirty="0">
                <a:solidFill>
                  <a:srgbClr val="3CB6A6"/>
                </a:solidFill>
                <a:latin typeface="Calibri" pitchFamily="34" charset="0"/>
                <a:ea typeface="Calibri" pitchFamily="34" charset="-122"/>
                <a:cs typeface="Calibri" pitchFamily="34" charset="-120"/>
              </a:rPr>
              <a:t>HOW I CLEANED IT</a:t>
            </a:r>
            <a:endParaRPr lang="en-US" sz="1100" dirty="0"/>
          </a:p>
        </p:txBody>
      </p:sp>
      <p:sp>
        <p:nvSpPr>
          <p:cNvPr id="24" name="Text 22"/>
          <p:cNvSpPr/>
          <p:nvPr/>
        </p:nvSpPr>
        <p:spPr>
          <a:xfrm>
            <a:off x="6766560" y="2011680"/>
            <a:ext cx="274320" cy="274320"/>
          </a:xfrm>
          <a:prstGeom prst="rect">
            <a:avLst/>
          </a:prstGeom>
          <a:noFill/>
          <a:ln/>
        </p:spPr>
        <p:txBody>
          <a:bodyPr wrap="square" rtlCol="0" anchor="ctr"/>
          <a:lstStyle/>
          <a:p>
            <a:pPr indent="0" marL="0">
              <a:buNone/>
            </a:pPr>
            <a:r>
              <a:rPr lang="en-US" sz="1200" b="1" dirty="0">
                <a:solidFill>
                  <a:srgbClr val="3CB6A6"/>
                </a:solidFill>
                <a:latin typeface="Calibri" pitchFamily="34" charset="0"/>
                <a:ea typeface="Calibri" pitchFamily="34" charset="-122"/>
                <a:cs typeface="Calibri" pitchFamily="34" charset="-120"/>
              </a:rPr>
              <a:t>✓</a:t>
            </a:r>
            <a:endParaRPr lang="en-US" sz="1200" dirty="0"/>
          </a:p>
        </p:txBody>
      </p:sp>
      <p:sp>
        <p:nvSpPr>
          <p:cNvPr id="25" name="Text 23"/>
          <p:cNvSpPr/>
          <p:nvPr/>
        </p:nvSpPr>
        <p:spPr>
          <a:xfrm>
            <a:off x="7059168" y="2011680"/>
            <a:ext cx="4434840" cy="274320"/>
          </a:xfrm>
          <a:prstGeom prst="rect">
            <a:avLst/>
          </a:prstGeom>
          <a:noFill/>
          <a:ln/>
        </p:spPr>
        <p:txBody>
          <a:bodyPr wrap="square" rtlCol="0" anchor="ctr"/>
          <a:lstStyle/>
          <a:p>
            <a:pPr indent="0" marL="0">
              <a:buNone/>
            </a:pPr>
            <a:r>
              <a:rPr lang="en-US" sz="1200" dirty="0">
                <a:solidFill>
                  <a:srgbClr val="EAF0F1"/>
                </a:solidFill>
                <a:latin typeface="Calibri" pitchFamily="34" charset="0"/>
                <a:ea typeface="Calibri" pitchFamily="34" charset="-122"/>
                <a:cs typeface="Calibri" pitchFamily="34" charset="-120"/>
              </a:rPr>
              <a:t>strip web links (the partner's signal)</a:t>
            </a:r>
            <a:endParaRPr lang="en-US" sz="1200" dirty="0"/>
          </a:p>
        </p:txBody>
      </p:sp>
      <p:sp>
        <p:nvSpPr>
          <p:cNvPr id="26" name="Text 24"/>
          <p:cNvSpPr/>
          <p:nvPr/>
        </p:nvSpPr>
        <p:spPr>
          <a:xfrm>
            <a:off x="6766560" y="2308860"/>
            <a:ext cx="274320" cy="274320"/>
          </a:xfrm>
          <a:prstGeom prst="rect">
            <a:avLst/>
          </a:prstGeom>
          <a:noFill/>
          <a:ln/>
        </p:spPr>
        <p:txBody>
          <a:bodyPr wrap="square" rtlCol="0" anchor="ctr"/>
          <a:lstStyle/>
          <a:p>
            <a:pPr indent="0" marL="0">
              <a:buNone/>
            </a:pPr>
            <a:r>
              <a:rPr lang="en-US" sz="1200" b="1" dirty="0">
                <a:solidFill>
                  <a:srgbClr val="3CB6A6"/>
                </a:solidFill>
                <a:latin typeface="Calibri" pitchFamily="34" charset="0"/>
                <a:ea typeface="Calibri" pitchFamily="34" charset="-122"/>
                <a:cs typeface="Calibri" pitchFamily="34" charset="-120"/>
              </a:rPr>
              <a:t>✓</a:t>
            </a:r>
            <a:endParaRPr lang="en-US" sz="1200" dirty="0"/>
          </a:p>
        </p:txBody>
      </p:sp>
      <p:sp>
        <p:nvSpPr>
          <p:cNvPr id="27" name="Text 25"/>
          <p:cNvSpPr/>
          <p:nvPr/>
        </p:nvSpPr>
        <p:spPr>
          <a:xfrm>
            <a:off x="7059168" y="2308860"/>
            <a:ext cx="4434840" cy="274320"/>
          </a:xfrm>
          <a:prstGeom prst="rect">
            <a:avLst/>
          </a:prstGeom>
          <a:noFill/>
          <a:ln/>
        </p:spPr>
        <p:txBody>
          <a:bodyPr wrap="square" rtlCol="0" anchor="ctr"/>
          <a:lstStyle/>
          <a:p>
            <a:pPr indent="0" marL="0">
              <a:buNone/>
            </a:pPr>
            <a:r>
              <a:rPr lang="en-US" sz="1200" dirty="0">
                <a:solidFill>
                  <a:srgbClr val="EAF0F1"/>
                </a:solidFill>
                <a:latin typeface="Calibri" pitchFamily="34" charset="0"/>
                <a:ea typeface="Calibri" pitchFamily="34" charset="-122"/>
                <a:cs typeface="Calibri" pitchFamily="34" charset="-120"/>
              </a:rPr>
              <a:t>tidy spacing · cut over-long mail</a:t>
            </a:r>
            <a:endParaRPr lang="en-US" sz="1200" dirty="0"/>
          </a:p>
        </p:txBody>
      </p:sp>
      <p:sp>
        <p:nvSpPr>
          <p:cNvPr id="28" name="Text 26"/>
          <p:cNvSpPr/>
          <p:nvPr/>
        </p:nvSpPr>
        <p:spPr>
          <a:xfrm>
            <a:off x="6766560" y="2606040"/>
            <a:ext cx="274320" cy="274320"/>
          </a:xfrm>
          <a:prstGeom prst="rect">
            <a:avLst/>
          </a:prstGeom>
          <a:noFill/>
          <a:ln/>
        </p:spPr>
        <p:txBody>
          <a:bodyPr wrap="square" rtlCol="0" anchor="ctr"/>
          <a:lstStyle/>
          <a:p>
            <a:pPr indent="0" marL="0">
              <a:buNone/>
            </a:pPr>
            <a:r>
              <a:rPr lang="en-US" sz="1200" b="1" dirty="0">
                <a:solidFill>
                  <a:srgbClr val="3CB6A6"/>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7059168" y="2606040"/>
            <a:ext cx="4434840" cy="274320"/>
          </a:xfrm>
          <a:prstGeom prst="rect">
            <a:avLst/>
          </a:prstGeom>
          <a:noFill/>
          <a:ln/>
        </p:spPr>
        <p:txBody>
          <a:bodyPr wrap="square" rtlCol="0" anchor="ctr"/>
          <a:lstStyle/>
          <a:p>
            <a:pPr indent="0" marL="0">
              <a:buNone/>
            </a:pPr>
            <a:r>
              <a:rPr lang="en-US" sz="1200" dirty="0">
                <a:solidFill>
                  <a:srgbClr val="EAF0F1"/>
                </a:solidFill>
                <a:latin typeface="Calibri" pitchFamily="34" charset="0"/>
                <a:ea typeface="Calibri" pitchFamily="34" charset="-122"/>
                <a:cs typeface="Calibri" pitchFamily="34" charset="-120"/>
              </a:rPr>
              <a:t>drop duplicates before splitting</a:t>
            </a:r>
            <a:endParaRPr lang="en-US" sz="1200" dirty="0"/>
          </a:p>
        </p:txBody>
      </p:sp>
      <p:sp>
        <p:nvSpPr>
          <p:cNvPr id="30" name="Text 28"/>
          <p:cNvSpPr/>
          <p:nvPr/>
        </p:nvSpPr>
        <p:spPr>
          <a:xfrm>
            <a:off x="6766560" y="2903220"/>
            <a:ext cx="274320" cy="274320"/>
          </a:xfrm>
          <a:prstGeom prst="rect">
            <a:avLst/>
          </a:prstGeom>
          <a:noFill/>
          <a:ln/>
        </p:spPr>
        <p:txBody>
          <a:bodyPr wrap="square" rtlCol="0" anchor="ctr"/>
          <a:lstStyle/>
          <a:p>
            <a:pPr indent="0" marL="0">
              <a:buNone/>
            </a:pPr>
            <a:r>
              <a:rPr lang="en-US" sz="1200" b="1" dirty="0">
                <a:solidFill>
                  <a:srgbClr val="3CB6A6"/>
                </a:solidFill>
                <a:latin typeface="Calibri" pitchFamily="34" charset="0"/>
                <a:ea typeface="Calibri" pitchFamily="34" charset="-122"/>
                <a:cs typeface="Calibri" pitchFamily="34" charset="-120"/>
              </a:rPr>
              <a:t>✓</a:t>
            </a:r>
            <a:endParaRPr lang="en-US" sz="1200" dirty="0"/>
          </a:p>
        </p:txBody>
      </p:sp>
      <p:sp>
        <p:nvSpPr>
          <p:cNvPr id="31" name="Text 29"/>
          <p:cNvSpPr/>
          <p:nvPr/>
        </p:nvSpPr>
        <p:spPr>
          <a:xfrm>
            <a:off x="7059168" y="2903220"/>
            <a:ext cx="4434840" cy="274320"/>
          </a:xfrm>
          <a:prstGeom prst="rect">
            <a:avLst/>
          </a:prstGeom>
          <a:noFill/>
          <a:ln/>
        </p:spPr>
        <p:txBody>
          <a:bodyPr wrap="square" rtlCol="0" anchor="ctr"/>
          <a:lstStyle/>
          <a:p>
            <a:pPr indent="0" marL="0">
              <a:buNone/>
            </a:pPr>
            <a:r>
              <a:rPr lang="en-US" sz="1200" dirty="0">
                <a:solidFill>
                  <a:srgbClr val="EAF0F1"/>
                </a:solidFill>
                <a:latin typeface="Calibri" pitchFamily="34" charset="0"/>
                <a:ea typeface="Calibri" pitchFamily="34" charset="-122"/>
                <a:cs typeface="Calibri" pitchFamily="34" charset="-120"/>
              </a:rPr>
              <a:t>balance to a realistic 35% phishing</a:t>
            </a:r>
            <a:endParaRPr lang="en-US" sz="1200" dirty="0"/>
          </a:p>
        </p:txBody>
      </p:sp>
      <p:sp>
        <p:nvSpPr>
          <p:cNvPr id="32" name="Text 30"/>
          <p:cNvSpPr/>
          <p:nvPr/>
        </p:nvSpPr>
        <p:spPr>
          <a:xfrm>
            <a:off x="6766560" y="3200400"/>
            <a:ext cx="274320" cy="274320"/>
          </a:xfrm>
          <a:prstGeom prst="rect">
            <a:avLst/>
          </a:prstGeom>
          <a:noFill/>
          <a:ln/>
        </p:spPr>
        <p:txBody>
          <a:bodyPr wrap="square" rtlCol="0" anchor="ctr"/>
          <a:lstStyle/>
          <a:p>
            <a:pPr indent="0" marL="0">
              <a:buNone/>
            </a:pPr>
            <a:r>
              <a:rPr lang="en-US" sz="1200" b="1" dirty="0">
                <a:solidFill>
                  <a:srgbClr val="3CB6A6"/>
                </a:solidFill>
                <a:latin typeface="Calibri" pitchFamily="34" charset="0"/>
                <a:ea typeface="Calibri" pitchFamily="34" charset="-122"/>
                <a:cs typeface="Calibri" pitchFamily="34" charset="-120"/>
              </a:rPr>
              <a:t>✓</a:t>
            </a:r>
            <a:endParaRPr lang="en-US" sz="1200" dirty="0"/>
          </a:p>
        </p:txBody>
      </p:sp>
      <p:sp>
        <p:nvSpPr>
          <p:cNvPr id="33" name="Text 31"/>
          <p:cNvSpPr/>
          <p:nvPr/>
        </p:nvSpPr>
        <p:spPr>
          <a:xfrm>
            <a:off x="7059168" y="3200400"/>
            <a:ext cx="4434840" cy="274320"/>
          </a:xfrm>
          <a:prstGeom prst="rect">
            <a:avLst/>
          </a:prstGeom>
          <a:noFill/>
          <a:ln/>
        </p:spPr>
        <p:txBody>
          <a:bodyPr wrap="square" rtlCol="0" anchor="ctr"/>
          <a:lstStyle/>
          <a:p>
            <a:pPr indent="0" marL="0">
              <a:buNone/>
            </a:pPr>
            <a:r>
              <a:rPr lang="en-US" sz="1200" dirty="0">
                <a:solidFill>
                  <a:srgbClr val="EAF0F1"/>
                </a:solidFill>
                <a:latin typeface="Calibri" pitchFamily="34" charset="0"/>
                <a:ea typeface="Calibri" pitchFamily="34" charset="-122"/>
                <a:cs typeface="Calibri" pitchFamily="34" charset="-120"/>
              </a:rPr>
              <a:t>split 60 / 20 / 20 with a fixed seed</a:t>
            </a:r>
            <a:endParaRPr lang="en-US" sz="1200" dirty="0"/>
          </a:p>
        </p:txBody>
      </p:sp>
      <p:sp>
        <p:nvSpPr>
          <p:cNvPr id="34" name="Text 32"/>
          <p:cNvSpPr/>
          <p:nvPr/>
        </p:nvSpPr>
        <p:spPr>
          <a:xfrm>
            <a:off x="6766560" y="3497580"/>
            <a:ext cx="274320" cy="274320"/>
          </a:xfrm>
          <a:prstGeom prst="rect">
            <a:avLst/>
          </a:prstGeom>
          <a:noFill/>
          <a:ln/>
        </p:spPr>
        <p:txBody>
          <a:bodyPr wrap="square" rtlCol="0" anchor="ctr"/>
          <a:lstStyle/>
          <a:p>
            <a:pPr indent="0" marL="0">
              <a:buNone/>
            </a:pPr>
            <a:r>
              <a:rPr lang="en-US" sz="1200" b="1" dirty="0">
                <a:solidFill>
                  <a:srgbClr val="3CB6A6"/>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7059168" y="3497580"/>
            <a:ext cx="4434840" cy="274320"/>
          </a:xfrm>
          <a:prstGeom prst="rect">
            <a:avLst/>
          </a:prstGeom>
          <a:noFill/>
          <a:ln/>
        </p:spPr>
        <p:txBody>
          <a:bodyPr wrap="square" rtlCol="0" anchor="ctr"/>
          <a:lstStyle/>
          <a:p>
            <a:pPr indent="0" marL="0">
              <a:buNone/>
            </a:pPr>
            <a:r>
              <a:rPr lang="en-US" sz="1200" dirty="0">
                <a:solidFill>
                  <a:srgbClr val="EAF0F1"/>
                </a:solidFill>
                <a:latin typeface="Calibri" pitchFamily="34" charset="0"/>
                <a:ea typeface="Calibri" pitchFamily="34" charset="-122"/>
                <a:cs typeface="Calibri" pitchFamily="34" charset="-120"/>
              </a:rPr>
              <a:t>hash everything → exact reproduction</a:t>
            </a:r>
            <a:endParaRPr lang="en-US" sz="1200" dirty="0"/>
          </a:p>
        </p:txBody>
      </p:sp>
      <p:sp>
        <p:nvSpPr>
          <p:cNvPr id="36" name="Shape 34"/>
          <p:cNvSpPr/>
          <p:nvPr/>
        </p:nvSpPr>
        <p:spPr>
          <a:xfrm>
            <a:off x="6537960" y="4023360"/>
            <a:ext cx="5074920" cy="1600200"/>
          </a:xfrm>
          <a:prstGeom prst="roundRect">
            <a:avLst>
              <a:gd name="adj" fmla="val 4000"/>
            </a:avLst>
          </a:prstGeom>
          <a:solidFill>
            <a:srgbClr val="1B2B32"/>
          </a:solidFill>
          <a:ln w="12700">
            <a:solidFill>
              <a:srgbClr val="26363D"/>
            </a:solidFill>
            <a:prstDash val="solid"/>
          </a:ln>
        </p:spPr>
      </p:sp>
      <p:sp>
        <p:nvSpPr>
          <p:cNvPr id="37" name="Shape 35"/>
          <p:cNvSpPr/>
          <p:nvPr/>
        </p:nvSpPr>
        <p:spPr>
          <a:xfrm>
            <a:off x="6537960" y="4142232"/>
            <a:ext cx="50292" cy="1362456"/>
          </a:xfrm>
          <a:prstGeom prst="rect">
            <a:avLst/>
          </a:prstGeom>
          <a:solidFill>
            <a:srgbClr val="D4AB4E"/>
          </a:solidFill>
          <a:ln/>
        </p:spPr>
      </p:sp>
      <p:sp>
        <p:nvSpPr>
          <p:cNvPr id="38" name="Text 36"/>
          <p:cNvSpPr/>
          <p:nvPr/>
        </p:nvSpPr>
        <p:spPr>
          <a:xfrm>
            <a:off x="6739128" y="4142232"/>
            <a:ext cx="4745736" cy="256032"/>
          </a:xfrm>
          <a:prstGeom prst="rect">
            <a:avLst/>
          </a:prstGeom>
          <a:noFill/>
          <a:ln/>
        </p:spPr>
        <p:txBody>
          <a:bodyPr wrap="square" rtlCol="0" anchor="ctr"/>
          <a:lstStyle/>
          <a:p>
            <a:pPr indent="0" marL="0">
              <a:buNone/>
            </a:pPr>
            <a:r>
              <a:rPr lang="en-US" sz="1000" b="1" spc="100" kern="0" dirty="0">
                <a:solidFill>
                  <a:srgbClr val="D4AB4E"/>
                </a:solidFill>
                <a:latin typeface="Calibri" pitchFamily="34" charset="0"/>
                <a:ea typeface="Calibri" pitchFamily="34" charset="-122"/>
                <a:cs typeface="Calibri" pitchFamily="34" charset="-120"/>
              </a:rPr>
              <a:t>THE KEY CHOICE (AVOID A SHORTCUT)</a:t>
            </a:r>
            <a:endParaRPr lang="en-US" sz="1000" dirty="0"/>
          </a:p>
        </p:txBody>
      </p:sp>
      <p:sp>
        <p:nvSpPr>
          <p:cNvPr id="39" name="Text 37"/>
          <p:cNvSpPr/>
          <p:nvPr/>
        </p:nvSpPr>
        <p:spPr>
          <a:xfrm>
            <a:off x="6739128" y="4425696"/>
            <a:ext cx="4709160" cy="1069848"/>
          </a:xfrm>
          <a:prstGeom prst="rect">
            <a:avLst/>
          </a:prstGeom>
          <a:noFill/>
          <a:ln/>
        </p:spPr>
        <p:txBody>
          <a:bodyPr wrap="square" rtlCol="0" anchor="t"/>
          <a:lstStyle/>
          <a:p>
            <a:pPr indent="0" marL="0">
              <a:lnSpc>
                <a:spcPct val="110000"/>
              </a:lnSpc>
              <a:buNone/>
            </a:pPr>
            <a:r>
              <a:rPr lang="en-US" sz="1150" b="1" dirty="0">
                <a:solidFill>
                  <a:srgbClr val="EAF0F1"/>
                </a:solidFill>
                <a:latin typeface="Calibri" pitchFamily="34" charset="0"/>
                <a:ea typeface="Calibri" pitchFamily="34" charset="-122"/>
                <a:cs typeface="Calibri" pitchFamily="34" charset="-120"/>
              </a:rPr>
              <a:t>A probe can guess an email’s source 99% of the time. </a:t>
            </a:r>
            <a:pPr indent="0" marL="0">
              <a:lnSpc>
                <a:spcPct val="110000"/>
              </a:lnSpc>
              <a:buNone/>
            </a:pPr>
            <a:r>
              <a:rPr lang="en-US" sz="1150" dirty="0">
                <a:solidFill>
                  <a:srgbClr val="95A6AD"/>
                </a:solidFill>
                <a:latin typeface="Calibri" pitchFamily="34" charset="0"/>
                <a:ea typeface="Calibri" pitchFamily="34" charset="-122"/>
                <a:cs typeface="Calibri" pitchFamily="34" charset="-120"/>
              </a:rPr>
              <a:t>So I train on ONE source (CEAS) that has both classes — otherwise the model could “cheat” by spotting the source instead of the scam.</a:t>
            </a:r>
            <a:endParaRPr lang="en-US" sz="1150" dirty="0"/>
          </a:p>
        </p:txBody>
      </p:sp>
      <p:sp>
        <p:nvSpPr>
          <p:cNvPr id="40" name="Shape 38"/>
          <p:cNvSpPr/>
          <p:nvPr/>
        </p:nvSpPr>
        <p:spPr>
          <a:xfrm>
            <a:off x="566928" y="4023360"/>
            <a:ext cx="5669280" cy="1600200"/>
          </a:xfrm>
          <a:prstGeom prst="roundRect">
            <a:avLst>
              <a:gd name="adj" fmla="val 4000"/>
            </a:avLst>
          </a:prstGeom>
          <a:solidFill>
            <a:srgbClr val="1B2B32"/>
          </a:solidFill>
          <a:ln w="12700">
            <a:solidFill>
              <a:srgbClr val="26363D"/>
            </a:solidFill>
            <a:prstDash val="solid"/>
          </a:ln>
        </p:spPr>
      </p:sp>
      <p:sp>
        <p:nvSpPr>
          <p:cNvPr id="41" name="Shape 39"/>
          <p:cNvSpPr/>
          <p:nvPr/>
        </p:nvSpPr>
        <p:spPr>
          <a:xfrm>
            <a:off x="566928" y="4142232"/>
            <a:ext cx="50292" cy="1362456"/>
          </a:xfrm>
          <a:prstGeom prst="rect">
            <a:avLst/>
          </a:prstGeom>
          <a:solidFill>
            <a:srgbClr val="5FA3C0"/>
          </a:solidFill>
          <a:ln/>
        </p:spPr>
      </p:sp>
      <p:sp>
        <p:nvSpPr>
          <p:cNvPr id="42" name="Text 40"/>
          <p:cNvSpPr/>
          <p:nvPr/>
        </p:nvSpPr>
        <p:spPr>
          <a:xfrm>
            <a:off x="768096" y="4142232"/>
            <a:ext cx="5340096" cy="256032"/>
          </a:xfrm>
          <a:prstGeom prst="rect">
            <a:avLst/>
          </a:prstGeom>
          <a:noFill/>
          <a:ln/>
        </p:spPr>
        <p:txBody>
          <a:bodyPr wrap="square" rtlCol="0" anchor="ctr"/>
          <a:lstStyle/>
          <a:p>
            <a:pPr indent="0" marL="0">
              <a:buNone/>
            </a:pPr>
            <a:r>
              <a:rPr lang="en-US" sz="1000" b="1" spc="100" kern="0" dirty="0">
                <a:solidFill>
                  <a:srgbClr val="5FA3C0"/>
                </a:solidFill>
                <a:latin typeface="Calibri" pitchFamily="34" charset="0"/>
                <a:ea typeface="Calibri" pitchFamily="34" charset="-122"/>
                <a:cs typeface="Calibri" pitchFamily="34" charset="-120"/>
              </a:rPr>
              <a:t>TWO QUICK DATA CHECKS</a:t>
            </a:r>
            <a:endParaRPr lang="en-US" sz="1000" dirty="0"/>
          </a:p>
        </p:txBody>
      </p:sp>
      <p:sp>
        <p:nvSpPr>
          <p:cNvPr id="43" name="Text 41"/>
          <p:cNvSpPr/>
          <p:nvPr/>
        </p:nvSpPr>
        <p:spPr>
          <a:xfrm>
            <a:off x="768096" y="4425696"/>
            <a:ext cx="5303520" cy="1069848"/>
          </a:xfrm>
          <a:prstGeom prst="rect">
            <a:avLst/>
          </a:prstGeom>
          <a:noFill/>
          <a:ln/>
        </p:spPr>
        <p:txBody>
          <a:bodyPr wrap="square" rtlCol="0" anchor="t"/>
          <a:lstStyle/>
          <a:p>
            <a:pPr indent="0" marL="0">
              <a:lnSpc>
                <a:spcPct val="110000"/>
              </a:lnSpc>
              <a:buNone/>
            </a:pPr>
            <a:r>
              <a:rPr lang="en-US" sz="1150" b="1" dirty="0">
                <a:solidFill>
                  <a:srgbClr val="EAF0F1"/>
                </a:solidFill>
                <a:latin typeface="Calibri" pitchFamily="34" charset="0"/>
                <a:ea typeface="Calibri" pitchFamily="34" charset="-122"/>
                <a:cs typeface="Calibri" pitchFamily="34" charset="-120"/>
              </a:rPr>
              <a:t>Real emails are almost all plain text </a:t>
            </a:r>
            <a:pPr indent="0" marL="0">
              <a:lnSpc>
                <a:spcPct val="110000"/>
              </a:lnSpc>
              <a:buNone/>
            </a:pPr>
            <a:r>
              <a:rPr lang="en-US" sz="1150" dirty="0">
                <a:solidFill>
                  <a:srgbClr val="95A6AD"/>
                </a:solidFill>
                <a:latin typeface="Calibri" pitchFamily="34" charset="0"/>
                <a:ea typeface="Calibri" pitchFamily="34" charset="-122"/>
                <a:cs typeface="Calibri" pitchFamily="34" charset="-120"/>
              </a:rPr>
              <a:t>(the clean baseline the letter-attack later breaks). Dates are clean — 99.7% in 2007–2009, no fake “1970” zero-dates.</a:t>
            </a:r>
            <a:endParaRPr lang="en-US" sz="1150" dirty="0"/>
          </a:p>
        </p:txBody>
      </p:sp>
      <p:sp>
        <p:nvSpPr>
          <p:cNvPr id="44" name="Text 42"/>
          <p:cNvSpPr/>
          <p:nvPr/>
        </p:nvSpPr>
        <p:spPr>
          <a:xfrm>
            <a:off x="566928" y="6437376"/>
            <a:ext cx="11057839" cy="274320"/>
          </a:xfrm>
          <a:prstGeom prst="rect">
            <a:avLst/>
          </a:prstGeom>
          <a:noFill/>
          <a:ln/>
        </p:spPr>
        <p:txBody>
          <a:bodyPr wrap="square" rtlCol="0" anchor="ctr"/>
          <a:lstStyle/>
          <a:p>
            <a:pPr indent="0" marL="0">
              <a:buNone/>
            </a:pPr>
            <a:r>
              <a:rPr lang="en-US" sz="950" i="1" dirty="0">
                <a:solidFill>
                  <a:srgbClr val="7C8F98"/>
                </a:solidFill>
                <a:latin typeface="Calibri" pitchFamily="34" charset="0"/>
                <a:ea typeface="Calibri" pitchFamily="34" charset="-122"/>
                <a:cs typeface="Calibri" pitchFamily="34" charset="-120"/>
              </a:rPr>
              <a:t>one mixed set, cleaned and hashed so the results reproduce</a:t>
            </a:r>
            <a:endParaRPr lang="en-US" sz="9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310896"/>
            <a:ext cx="9144000" cy="274320"/>
          </a:xfrm>
          <a:prstGeom prst="rect">
            <a:avLst/>
          </a:prstGeom>
          <a:noFill/>
          <a:ln/>
        </p:spPr>
        <p:txBody>
          <a:bodyPr wrap="square" rtlCol="0" anchor="ctr"/>
          <a:lstStyle/>
          <a:p>
            <a:pPr indent="0" marL="0">
              <a:buNone/>
            </a:pPr>
            <a:r>
              <a:rPr lang="en-US" sz="1100" b="1" spc="200" kern="0" dirty="0">
                <a:solidFill>
                  <a:srgbClr val="3CB6A6"/>
                </a:solidFill>
                <a:latin typeface="Calibri" pitchFamily="34" charset="0"/>
                <a:ea typeface="Calibri" pitchFamily="34" charset="-122"/>
                <a:cs typeface="Calibri" pitchFamily="34" charset="-120"/>
              </a:rPr>
              <a:t>EDA</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indent="0" marL="0">
              <a:buNone/>
            </a:pPr>
            <a:r>
              <a:rPr lang="en-US" sz="2900" b="1" dirty="0">
                <a:solidFill>
                  <a:srgbClr val="EAF0F1"/>
                </a:solidFill>
                <a:latin typeface="Cambria" pitchFamily="34" charset="0"/>
                <a:ea typeface="Cambria" pitchFamily="34" charset="-122"/>
                <a:cs typeface="Cambria" pitchFamily="34" charset="-120"/>
              </a:rPr>
              <a:t>What the data said first.</a:t>
            </a:r>
            <a:endParaRPr lang="en-US" sz="2900" dirty="0"/>
          </a:p>
        </p:txBody>
      </p:sp>
      <p:sp>
        <p:nvSpPr>
          <p:cNvPr id="4" name="Shape 2"/>
          <p:cNvSpPr/>
          <p:nvPr/>
        </p:nvSpPr>
        <p:spPr>
          <a:xfrm>
            <a:off x="566928" y="1371600"/>
            <a:ext cx="1737360" cy="41148"/>
          </a:xfrm>
          <a:prstGeom prst="rect">
            <a:avLst/>
          </a:prstGeom>
          <a:solidFill>
            <a:srgbClr val="3CB6A6"/>
          </a:solidFill>
          <a:ln/>
        </p:spPr>
      </p:sp>
      <p:sp>
        <p:nvSpPr>
          <p:cNvPr id="5" name="Text 3"/>
          <p:cNvSpPr/>
          <p:nvPr/>
        </p:nvSpPr>
        <p:spPr>
          <a:xfrm>
            <a:off x="10728655" y="310896"/>
            <a:ext cx="914400" cy="274320"/>
          </a:xfrm>
          <a:prstGeom prst="rect">
            <a:avLst/>
          </a:prstGeom>
          <a:noFill/>
          <a:ln/>
        </p:spPr>
        <p:txBody>
          <a:bodyPr wrap="square" rtlCol="0" anchor="ctr"/>
          <a:lstStyle/>
          <a:p>
            <a:pPr algn="r" indent="0" marL="0">
              <a:buNone/>
            </a:pPr>
            <a:r>
              <a:rPr lang="en-US" sz="1100" dirty="0">
                <a:solidFill>
                  <a:srgbClr val="6E7F87"/>
                </a:solidFill>
                <a:latin typeface="Calibri" pitchFamily="34" charset="0"/>
                <a:ea typeface="Calibri" pitchFamily="34" charset="-122"/>
                <a:cs typeface="Calibri" pitchFamily="34" charset="-120"/>
              </a:rPr>
              <a:t>4 / 15</a:t>
            </a:r>
            <a:endParaRPr lang="en-US" sz="1100" dirty="0"/>
          </a:p>
        </p:txBody>
      </p:sp>
      <p:pic>
        <p:nvPicPr>
          <p:cNvPr id="6" name="Image 0" descr="./figs/F11_dark.png">    </p:cNvPr>
          <p:cNvPicPr>
            <a:picLocks noChangeAspect="1"/>
          </p:cNvPicPr>
          <p:nvPr/>
        </p:nvPicPr>
        <p:blipFill>
          <a:blip r:embed="rId1"/>
          <a:srcRect l="0" r="0" t="0" b="0"/>
          <a:stretch/>
        </p:blipFill>
        <p:spPr>
          <a:xfrm>
            <a:off x="502920" y="1600200"/>
            <a:ext cx="5852160" cy="4480560"/>
          </a:xfrm>
          <a:prstGeom prst="rect">
            <a:avLst/>
          </a:prstGeom>
        </p:spPr>
      </p:pic>
      <p:sp>
        <p:nvSpPr>
          <p:cNvPr id="7" name="Text 4"/>
          <p:cNvSpPr/>
          <p:nvPr/>
        </p:nvSpPr>
        <p:spPr>
          <a:xfrm>
            <a:off x="502920" y="5989320"/>
            <a:ext cx="6035040" cy="274320"/>
          </a:xfrm>
          <a:prstGeom prst="rect">
            <a:avLst/>
          </a:prstGeom>
          <a:noFill/>
          <a:ln/>
        </p:spPr>
        <p:txBody>
          <a:bodyPr wrap="square" rtlCol="0" anchor="ctr"/>
          <a:lstStyle/>
          <a:p>
            <a:pPr algn="ctr" indent="0" marL="0">
              <a:buNone/>
            </a:pPr>
            <a:r>
              <a:rPr lang="en-US" sz="1050" i="1" dirty="0">
                <a:solidFill>
                  <a:srgbClr val="95A6AD"/>
                </a:solidFill>
                <a:latin typeface="Calibri" pitchFamily="34" charset="0"/>
                <a:ea typeface="Calibri" pitchFamily="34" charset="-122"/>
                <a:cs typeface="Calibri" pitchFamily="34" charset="-120"/>
              </a:rPr>
              <a:t>Simple features, and how they relate (Spearman rank correlation)</a:t>
            </a:r>
            <a:endParaRPr lang="en-US" sz="1050" dirty="0"/>
          </a:p>
        </p:txBody>
      </p:sp>
      <p:sp>
        <p:nvSpPr>
          <p:cNvPr id="8" name="Text 5"/>
          <p:cNvSpPr/>
          <p:nvPr/>
        </p:nvSpPr>
        <p:spPr>
          <a:xfrm>
            <a:off x="6858000" y="1783080"/>
            <a:ext cx="2194560" cy="914400"/>
          </a:xfrm>
          <a:prstGeom prst="rect">
            <a:avLst/>
          </a:prstGeom>
          <a:noFill/>
          <a:ln/>
        </p:spPr>
        <p:txBody>
          <a:bodyPr wrap="square" rtlCol="0" anchor="ctr"/>
          <a:lstStyle/>
          <a:p>
            <a:pPr algn="l" indent="0" marL="0">
              <a:buNone/>
            </a:pPr>
            <a:r>
              <a:rPr lang="en-US" sz="4600" b="1" dirty="0">
                <a:solidFill>
                  <a:srgbClr val="E97A60"/>
                </a:solidFill>
                <a:latin typeface="Cambria" pitchFamily="34" charset="0"/>
                <a:ea typeface="Cambria" pitchFamily="34" charset="-122"/>
                <a:cs typeface="Cambria" pitchFamily="34" charset="-120"/>
              </a:rPr>
              <a:t>−0.57</a:t>
            </a:r>
            <a:endParaRPr lang="en-US" sz="4600" dirty="0"/>
          </a:p>
        </p:txBody>
      </p:sp>
      <p:sp>
        <p:nvSpPr>
          <p:cNvPr id="9" name="Text 6"/>
          <p:cNvSpPr/>
          <p:nvPr/>
        </p:nvSpPr>
        <p:spPr>
          <a:xfrm>
            <a:off x="6858000" y="2697480"/>
            <a:ext cx="2194560" cy="548640"/>
          </a:xfrm>
          <a:prstGeom prst="rect">
            <a:avLst/>
          </a:prstGeom>
          <a:noFill/>
          <a:ln/>
        </p:spPr>
        <p:txBody>
          <a:bodyPr wrap="square" rtlCol="0" anchor="t"/>
          <a:lstStyle/>
          <a:p>
            <a:pPr indent="0" marL="0">
              <a:buNone/>
            </a:pPr>
            <a:r>
              <a:rPr lang="en-US" sz="1200" dirty="0">
                <a:solidFill>
                  <a:srgbClr val="95A6AD"/>
                </a:solidFill>
                <a:latin typeface="Calibri" pitchFamily="34" charset="0"/>
                <a:ea typeface="Calibri" pitchFamily="34" charset="-122"/>
                <a:cs typeface="Calibri" pitchFamily="34" charset="-120"/>
              </a:rPr>
              <a:t>email length vs phishing:</a:t>
            </a:r>
            <a:endParaRPr lang="en-US" sz="1200" dirty="0"/>
          </a:p>
          <a:p>
            <a:pPr indent="0" marL="0">
              <a:buNone/>
            </a:pPr>
            <a:r>
              <a:rPr lang="en-US" sz="1200" dirty="0">
                <a:solidFill>
                  <a:srgbClr val="95A6AD"/>
                </a:solidFill>
                <a:latin typeface="Calibri" pitchFamily="34" charset="0"/>
                <a:ea typeface="Calibri" pitchFamily="34" charset="-122"/>
                <a:cs typeface="Calibri" pitchFamily="34" charset="-120"/>
              </a:rPr>
              <a:t>phishing mail is shorter</a:t>
            </a:r>
            <a:endParaRPr lang="en-US" sz="1200" dirty="0"/>
          </a:p>
        </p:txBody>
      </p:sp>
      <p:sp>
        <p:nvSpPr>
          <p:cNvPr id="10" name="Text 7"/>
          <p:cNvSpPr/>
          <p:nvPr/>
        </p:nvSpPr>
        <p:spPr>
          <a:xfrm>
            <a:off x="9326880" y="1783080"/>
            <a:ext cx="2468880" cy="914400"/>
          </a:xfrm>
          <a:prstGeom prst="rect">
            <a:avLst/>
          </a:prstGeom>
          <a:noFill/>
          <a:ln/>
        </p:spPr>
        <p:txBody>
          <a:bodyPr wrap="square" rtlCol="0" anchor="ctr"/>
          <a:lstStyle/>
          <a:p>
            <a:pPr algn="l" indent="0" marL="0">
              <a:buNone/>
            </a:pPr>
            <a:r>
              <a:rPr lang="en-US" sz="4600" b="1" dirty="0">
                <a:solidFill>
                  <a:srgbClr val="3CB6A6"/>
                </a:solidFill>
                <a:latin typeface="Cambria" pitchFamily="34" charset="0"/>
                <a:ea typeface="Cambria" pitchFamily="34" charset="-122"/>
                <a:cs typeface="Cambria" pitchFamily="34" charset="-120"/>
              </a:rPr>
              <a:t>p ≪ 0.001</a:t>
            </a:r>
            <a:endParaRPr lang="en-US" sz="4600" dirty="0"/>
          </a:p>
        </p:txBody>
      </p:sp>
      <p:sp>
        <p:nvSpPr>
          <p:cNvPr id="11" name="Text 8"/>
          <p:cNvSpPr/>
          <p:nvPr/>
        </p:nvSpPr>
        <p:spPr>
          <a:xfrm>
            <a:off x="9326880" y="2697480"/>
            <a:ext cx="2468880" cy="548640"/>
          </a:xfrm>
          <a:prstGeom prst="rect">
            <a:avLst/>
          </a:prstGeom>
          <a:noFill/>
          <a:ln/>
        </p:spPr>
        <p:txBody>
          <a:bodyPr wrap="square" rtlCol="0" anchor="t"/>
          <a:lstStyle/>
          <a:p>
            <a:pPr indent="0" marL="0">
              <a:buNone/>
            </a:pPr>
            <a:r>
              <a:rPr lang="en-US" sz="1200" dirty="0">
                <a:solidFill>
                  <a:srgbClr val="95A6AD"/>
                </a:solidFill>
                <a:latin typeface="Calibri" pitchFamily="34" charset="0"/>
                <a:ea typeface="Calibri" pitchFamily="34" charset="-122"/>
                <a:cs typeface="Calibri" pitchFamily="34" charset="-120"/>
              </a:rPr>
              <a:t>Mann–Whitney test:</a:t>
            </a:r>
            <a:endParaRPr lang="en-US" sz="1200" dirty="0"/>
          </a:p>
          <a:p>
            <a:pPr indent="0" marL="0">
              <a:buNone/>
            </a:pPr>
            <a:r>
              <a:rPr lang="en-US" sz="1200" dirty="0">
                <a:solidFill>
                  <a:srgbClr val="95A6AD"/>
                </a:solidFill>
                <a:latin typeface="Calibri" pitchFamily="34" charset="0"/>
                <a:ea typeface="Calibri" pitchFamily="34" charset="-122"/>
                <a:cs typeface="Calibri" pitchFamily="34" charset="-120"/>
              </a:rPr>
              <a:t>the difference is real</a:t>
            </a:r>
            <a:endParaRPr lang="en-US" sz="1200" dirty="0"/>
          </a:p>
        </p:txBody>
      </p:sp>
      <p:sp>
        <p:nvSpPr>
          <p:cNvPr id="12" name="Text 9"/>
          <p:cNvSpPr/>
          <p:nvPr/>
        </p:nvSpPr>
        <p:spPr>
          <a:xfrm>
            <a:off x="6858000" y="3566160"/>
            <a:ext cx="2377440" cy="914400"/>
          </a:xfrm>
          <a:prstGeom prst="rect">
            <a:avLst/>
          </a:prstGeom>
          <a:noFill/>
          <a:ln/>
        </p:spPr>
        <p:txBody>
          <a:bodyPr wrap="square" rtlCol="0" anchor="ctr"/>
          <a:lstStyle/>
          <a:p>
            <a:pPr algn="l" indent="0" marL="0">
              <a:buNone/>
            </a:pPr>
            <a:r>
              <a:rPr lang="en-US" sz="4600" b="1" dirty="0">
                <a:solidFill>
                  <a:srgbClr val="D4AB4E"/>
                </a:solidFill>
                <a:latin typeface="Cambria" pitchFamily="34" charset="0"/>
                <a:ea typeface="Cambria" pitchFamily="34" charset="-122"/>
                <a:cs typeface="Cambria" pitchFamily="34" charset="-120"/>
              </a:rPr>
              <a:t>≈ 21</a:t>
            </a:r>
            <a:endParaRPr lang="en-US" sz="4600" dirty="0"/>
          </a:p>
        </p:txBody>
      </p:sp>
      <p:sp>
        <p:nvSpPr>
          <p:cNvPr id="13" name="Text 10"/>
          <p:cNvSpPr/>
          <p:nvPr/>
        </p:nvSpPr>
        <p:spPr>
          <a:xfrm>
            <a:off x="6858000" y="4480560"/>
            <a:ext cx="2377440" cy="548640"/>
          </a:xfrm>
          <a:prstGeom prst="rect">
            <a:avLst/>
          </a:prstGeom>
          <a:noFill/>
          <a:ln/>
        </p:spPr>
        <p:txBody>
          <a:bodyPr wrap="square" rtlCol="0" anchor="t"/>
          <a:lstStyle/>
          <a:p>
            <a:pPr indent="0" marL="0">
              <a:buNone/>
            </a:pPr>
            <a:r>
              <a:rPr lang="en-US" sz="1200" dirty="0">
                <a:solidFill>
                  <a:srgbClr val="95A6AD"/>
                </a:solidFill>
                <a:latin typeface="Calibri" pitchFamily="34" charset="0"/>
                <a:ea typeface="Calibri" pitchFamily="34" charset="-122"/>
                <a:cs typeface="Calibri" pitchFamily="34" charset="-120"/>
              </a:rPr>
              <a:t>VIF: length &amp; word-count</a:t>
            </a:r>
            <a:endParaRPr lang="en-US" sz="1200" dirty="0"/>
          </a:p>
          <a:p>
            <a:pPr indent="0" marL="0">
              <a:buNone/>
            </a:pPr>
            <a:r>
              <a:rPr lang="en-US" sz="1200" dirty="0">
                <a:solidFill>
                  <a:srgbClr val="95A6AD"/>
                </a:solidFill>
                <a:latin typeface="Calibri" pitchFamily="34" charset="0"/>
                <a:ea typeface="Calibri" pitchFamily="34" charset="-122"/>
                <a:cs typeface="Calibri" pitchFamily="34" charset="-120"/>
              </a:rPr>
              <a:t>repeat each other (&gt;10 = duplicate)</a:t>
            </a:r>
            <a:endParaRPr lang="en-US" sz="1200" dirty="0"/>
          </a:p>
        </p:txBody>
      </p:sp>
      <p:sp>
        <p:nvSpPr>
          <p:cNvPr id="14" name="Shape 11"/>
          <p:cNvSpPr/>
          <p:nvPr/>
        </p:nvSpPr>
        <p:spPr>
          <a:xfrm>
            <a:off x="6858000" y="4892040"/>
            <a:ext cx="4754880" cy="1097280"/>
          </a:xfrm>
          <a:prstGeom prst="roundRect">
            <a:avLst>
              <a:gd name="adj" fmla="val 5833"/>
            </a:avLst>
          </a:prstGeom>
          <a:solidFill>
            <a:srgbClr val="182E38"/>
          </a:solidFill>
          <a:ln/>
        </p:spPr>
      </p:sp>
      <p:sp>
        <p:nvSpPr>
          <p:cNvPr id="15" name="Shape 12"/>
          <p:cNvSpPr/>
          <p:nvPr/>
        </p:nvSpPr>
        <p:spPr>
          <a:xfrm>
            <a:off x="6858000" y="5010912"/>
            <a:ext cx="50292" cy="859536"/>
          </a:xfrm>
          <a:prstGeom prst="rect">
            <a:avLst/>
          </a:prstGeom>
          <a:solidFill>
            <a:srgbClr val="5FA3C0"/>
          </a:solidFill>
          <a:ln/>
        </p:spPr>
      </p:sp>
      <p:sp>
        <p:nvSpPr>
          <p:cNvPr id="16" name="Text 13"/>
          <p:cNvSpPr/>
          <p:nvPr/>
        </p:nvSpPr>
        <p:spPr>
          <a:xfrm>
            <a:off x="7059168" y="5010912"/>
            <a:ext cx="4425696" cy="256032"/>
          </a:xfrm>
          <a:prstGeom prst="rect">
            <a:avLst/>
          </a:prstGeom>
          <a:noFill/>
          <a:ln/>
        </p:spPr>
        <p:txBody>
          <a:bodyPr wrap="square" rtlCol="0" anchor="ctr"/>
          <a:lstStyle/>
          <a:p>
            <a:pPr indent="0" marL="0">
              <a:buNone/>
            </a:pPr>
            <a:r>
              <a:rPr lang="en-US" sz="1000" b="1" spc="100" kern="0" dirty="0">
                <a:solidFill>
                  <a:srgbClr val="5FA3C0"/>
                </a:solidFill>
                <a:latin typeface="Calibri" pitchFamily="34" charset="0"/>
                <a:ea typeface="Calibri" pitchFamily="34" charset="-122"/>
                <a:cs typeface="Calibri" pitchFamily="34" charset="-120"/>
              </a:rPr>
              <a:t>HOW TO READ IT</a:t>
            </a:r>
            <a:endParaRPr lang="en-US" sz="1000" dirty="0"/>
          </a:p>
        </p:txBody>
      </p:sp>
      <p:sp>
        <p:nvSpPr>
          <p:cNvPr id="17" name="Text 14"/>
          <p:cNvSpPr/>
          <p:nvPr/>
        </p:nvSpPr>
        <p:spPr>
          <a:xfrm>
            <a:off x="7059168" y="5294376"/>
            <a:ext cx="4389120" cy="566928"/>
          </a:xfrm>
          <a:prstGeom prst="rect">
            <a:avLst/>
          </a:prstGeom>
          <a:noFill/>
          <a:ln/>
        </p:spPr>
        <p:txBody>
          <a:bodyPr wrap="square" rtlCol="0" anchor="t"/>
          <a:lstStyle/>
          <a:p>
            <a:pPr indent="0" marL="0">
              <a:lnSpc>
                <a:spcPct val="110000"/>
              </a:lnSpc>
              <a:buNone/>
            </a:pPr>
            <a:r>
              <a:rPr lang="en-US" sz="1150" dirty="0">
                <a:solidFill>
                  <a:srgbClr val="EAF0F1"/>
                </a:solidFill>
                <a:latin typeface="Calibri" pitchFamily="34" charset="0"/>
                <a:ea typeface="Calibri" pitchFamily="34" charset="-122"/>
                <a:cs typeface="Calibri" pitchFamily="34" charset="-120"/>
              </a:rPr>
              <a:t>Rank correlation (not Pearson) because the features are skewed — ranks ignore outliers. These meta-features are diagnostics; the real signal is which words appear.</a:t>
            </a:r>
            <a:endParaRPr lang="en-US" sz="1150" dirty="0"/>
          </a:p>
        </p:txBody>
      </p:sp>
      <p:sp>
        <p:nvSpPr>
          <p:cNvPr id="18" name="Text 15"/>
          <p:cNvSpPr/>
          <p:nvPr/>
        </p:nvSpPr>
        <p:spPr>
          <a:xfrm>
            <a:off x="566928" y="6437376"/>
            <a:ext cx="11057839" cy="274320"/>
          </a:xfrm>
          <a:prstGeom prst="rect">
            <a:avLst/>
          </a:prstGeom>
          <a:noFill/>
          <a:ln/>
        </p:spPr>
        <p:txBody>
          <a:bodyPr wrap="square" rtlCol="0" anchor="ctr"/>
          <a:lstStyle/>
          <a:p>
            <a:pPr indent="0" marL="0">
              <a:buNone/>
            </a:pPr>
            <a:r>
              <a:rPr lang="en-US" sz="950" i="1" dirty="0">
                <a:solidFill>
                  <a:srgbClr val="7C8F98"/>
                </a:solidFill>
                <a:latin typeface="Calibri" pitchFamily="34" charset="0"/>
                <a:ea typeface="Calibri" pitchFamily="34" charset="-122"/>
                <a:cs typeface="Calibri" pitchFamily="34" charset="-120"/>
              </a:rPr>
              <a:t>rank statistics · a proper hypothesis test · a redundancy check — standard EDA, applied</a:t>
            </a:r>
            <a:endParaRPr lang="en-US" sz="9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310896"/>
            <a:ext cx="9144000" cy="274320"/>
          </a:xfrm>
          <a:prstGeom prst="rect">
            <a:avLst/>
          </a:prstGeom>
          <a:noFill/>
          <a:ln/>
        </p:spPr>
        <p:txBody>
          <a:bodyPr wrap="square" rtlCol="0" anchor="ctr"/>
          <a:lstStyle/>
          <a:p>
            <a:pPr indent="0" marL="0">
              <a:buNone/>
            </a:pPr>
            <a:r>
              <a:rPr lang="en-US" sz="1100" b="1" spc="200" kern="0" dirty="0">
                <a:solidFill>
                  <a:srgbClr val="3CB6A6"/>
                </a:solidFill>
                <a:latin typeface="Calibri" pitchFamily="34" charset="0"/>
                <a:ea typeface="Calibri" pitchFamily="34" charset="-122"/>
                <a:cs typeface="Calibri" pitchFamily="34" charset="-120"/>
              </a:rPr>
              <a:t>CLEAN RESULTS</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indent="0" marL="0">
              <a:buNone/>
            </a:pPr>
            <a:r>
              <a:rPr lang="en-US" sz="2900" b="1" dirty="0">
                <a:solidFill>
                  <a:srgbClr val="EAF0F1"/>
                </a:solidFill>
                <a:latin typeface="Cambria" pitchFamily="34" charset="0"/>
                <a:ea typeface="Cambria" pitchFamily="34" charset="-122"/>
                <a:cs typeface="Cambria" pitchFamily="34" charset="-120"/>
              </a:rPr>
              <a:t>Near-perfect — and why that's a warning.</a:t>
            </a:r>
            <a:endParaRPr lang="en-US" sz="2900" dirty="0"/>
          </a:p>
        </p:txBody>
      </p:sp>
      <p:sp>
        <p:nvSpPr>
          <p:cNvPr id="4" name="Shape 2"/>
          <p:cNvSpPr/>
          <p:nvPr/>
        </p:nvSpPr>
        <p:spPr>
          <a:xfrm>
            <a:off x="566928" y="1371600"/>
            <a:ext cx="1737360" cy="41148"/>
          </a:xfrm>
          <a:prstGeom prst="rect">
            <a:avLst/>
          </a:prstGeom>
          <a:solidFill>
            <a:srgbClr val="3CB6A6"/>
          </a:solidFill>
          <a:ln/>
        </p:spPr>
      </p:sp>
      <p:sp>
        <p:nvSpPr>
          <p:cNvPr id="5" name="Text 3"/>
          <p:cNvSpPr/>
          <p:nvPr/>
        </p:nvSpPr>
        <p:spPr>
          <a:xfrm>
            <a:off x="10728655" y="310896"/>
            <a:ext cx="914400" cy="274320"/>
          </a:xfrm>
          <a:prstGeom prst="rect">
            <a:avLst/>
          </a:prstGeom>
          <a:noFill/>
          <a:ln/>
        </p:spPr>
        <p:txBody>
          <a:bodyPr wrap="square" rtlCol="0" anchor="ctr"/>
          <a:lstStyle/>
          <a:p>
            <a:pPr algn="r" indent="0" marL="0">
              <a:buNone/>
            </a:pPr>
            <a:r>
              <a:rPr lang="en-US" sz="1100" dirty="0">
                <a:solidFill>
                  <a:srgbClr val="6E7F87"/>
                </a:solidFill>
                <a:latin typeface="Calibri" pitchFamily="34" charset="0"/>
                <a:ea typeface="Calibri" pitchFamily="34" charset="-122"/>
                <a:cs typeface="Calibri" pitchFamily="34" charset="-120"/>
              </a:rPr>
              <a:t>5 / 15</a:t>
            </a:r>
            <a:endParaRPr lang="en-US" sz="1100" dirty="0"/>
          </a:p>
        </p:txBody>
      </p:sp>
      <p:sp>
        <p:nvSpPr>
          <p:cNvPr id="6" name="Text 4"/>
          <p:cNvSpPr/>
          <p:nvPr/>
        </p:nvSpPr>
        <p:spPr>
          <a:xfrm>
            <a:off x="566928" y="1874520"/>
            <a:ext cx="2468880" cy="777240"/>
          </a:xfrm>
          <a:prstGeom prst="rect">
            <a:avLst/>
          </a:prstGeom>
          <a:noFill/>
          <a:ln/>
        </p:spPr>
        <p:txBody>
          <a:bodyPr wrap="square" rtlCol="0" anchor="ctr"/>
          <a:lstStyle/>
          <a:p>
            <a:pPr algn="l" indent="0" marL="0">
              <a:buNone/>
            </a:pPr>
            <a:r>
              <a:rPr lang="en-US" sz="4000" b="1" dirty="0">
                <a:solidFill>
                  <a:srgbClr val="3CB6A6"/>
                </a:solidFill>
                <a:latin typeface="Cambria" pitchFamily="34" charset="0"/>
                <a:ea typeface="Cambria" pitchFamily="34" charset="-122"/>
                <a:cs typeface="Cambria" pitchFamily="34" charset="-120"/>
              </a:rPr>
              <a:t>0.998</a:t>
            </a:r>
            <a:endParaRPr lang="en-US" sz="4000" dirty="0"/>
          </a:p>
        </p:txBody>
      </p:sp>
      <p:sp>
        <p:nvSpPr>
          <p:cNvPr id="7" name="Text 5"/>
          <p:cNvSpPr/>
          <p:nvPr/>
        </p:nvSpPr>
        <p:spPr>
          <a:xfrm>
            <a:off x="566928" y="2624328"/>
            <a:ext cx="2468880" cy="365760"/>
          </a:xfrm>
          <a:prstGeom prst="rect">
            <a:avLst/>
          </a:prstGeom>
          <a:noFill/>
          <a:ln/>
        </p:spPr>
        <p:txBody>
          <a:bodyPr wrap="square" rtlCol="0" anchor="ctr"/>
          <a:lstStyle/>
          <a:p>
            <a:pPr indent="0" marL="0">
              <a:buNone/>
            </a:pPr>
            <a:r>
              <a:rPr lang="en-US" sz="1200" dirty="0">
                <a:solidFill>
                  <a:srgbClr val="95A6AD"/>
                </a:solidFill>
                <a:latin typeface="Calibri" pitchFamily="34" charset="0"/>
                <a:ea typeface="Calibri" pitchFamily="34" charset="-122"/>
                <a:cs typeface="Calibri" pitchFamily="34" charset="-120"/>
              </a:rPr>
              <a:t>F1 score</a:t>
            </a:r>
            <a:endParaRPr lang="en-US" sz="1200" dirty="0"/>
          </a:p>
        </p:txBody>
      </p:sp>
      <p:sp>
        <p:nvSpPr>
          <p:cNvPr id="8" name="Text 6"/>
          <p:cNvSpPr/>
          <p:nvPr/>
        </p:nvSpPr>
        <p:spPr>
          <a:xfrm>
            <a:off x="566928" y="3063240"/>
            <a:ext cx="2468880" cy="777240"/>
          </a:xfrm>
          <a:prstGeom prst="rect">
            <a:avLst/>
          </a:prstGeom>
          <a:noFill/>
          <a:ln/>
        </p:spPr>
        <p:txBody>
          <a:bodyPr wrap="square" rtlCol="0" anchor="ctr"/>
          <a:lstStyle/>
          <a:p>
            <a:pPr algn="l" indent="0" marL="0">
              <a:buNone/>
            </a:pPr>
            <a:r>
              <a:rPr lang="en-US" sz="4000" b="1" dirty="0">
                <a:solidFill>
                  <a:srgbClr val="3CB6A6"/>
                </a:solidFill>
                <a:latin typeface="Cambria" pitchFamily="34" charset="0"/>
                <a:ea typeface="Cambria" pitchFamily="34" charset="-122"/>
                <a:cs typeface="Cambria" pitchFamily="34" charset="-120"/>
              </a:rPr>
              <a:t>0.997</a:t>
            </a:r>
            <a:endParaRPr lang="en-US" sz="4000" dirty="0"/>
          </a:p>
        </p:txBody>
      </p:sp>
      <p:sp>
        <p:nvSpPr>
          <p:cNvPr id="9" name="Text 7"/>
          <p:cNvSpPr/>
          <p:nvPr/>
        </p:nvSpPr>
        <p:spPr>
          <a:xfrm>
            <a:off x="566928" y="3813048"/>
            <a:ext cx="2468880" cy="365760"/>
          </a:xfrm>
          <a:prstGeom prst="rect">
            <a:avLst/>
          </a:prstGeom>
          <a:noFill/>
          <a:ln/>
        </p:spPr>
        <p:txBody>
          <a:bodyPr wrap="square" rtlCol="0" anchor="ctr"/>
          <a:lstStyle/>
          <a:p>
            <a:pPr indent="0" marL="0">
              <a:buNone/>
            </a:pPr>
            <a:r>
              <a:rPr lang="en-US" sz="1200" dirty="0">
                <a:solidFill>
                  <a:srgbClr val="95A6AD"/>
                </a:solidFill>
                <a:latin typeface="Calibri" pitchFamily="34" charset="0"/>
                <a:ea typeface="Calibri" pitchFamily="34" charset="-122"/>
                <a:cs typeface="Calibri" pitchFamily="34" charset="-120"/>
              </a:rPr>
              <a:t>MCC</a:t>
            </a:r>
            <a:endParaRPr lang="en-US" sz="1200" dirty="0"/>
          </a:p>
        </p:txBody>
      </p:sp>
      <p:sp>
        <p:nvSpPr>
          <p:cNvPr id="10" name="Text 8"/>
          <p:cNvSpPr/>
          <p:nvPr/>
        </p:nvSpPr>
        <p:spPr>
          <a:xfrm>
            <a:off x="3063240" y="1874520"/>
            <a:ext cx="2468880" cy="777240"/>
          </a:xfrm>
          <a:prstGeom prst="rect">
            <a:avLst/>
          </a:prstGeom>
          <a:noFill/>
          <a:ln/>
        </p:spPr>
        <p:txBody>
          <a:bodyPr wrap="square" rtlCol="0" anchor="ctr"/>
          <a:lstStyle/>
          <a:p>
            <a:pPr algn="l" indent="0" marL="0">
              <a:buNone/>
            </a:pPr>
            <a:r>
              <a:rPr lang="en-US" sz="4000" b="1" dirty="0">
                <a:solidFill>
                  <a:srgbClr val="3CB6A6"/>
                </a:solidFill>
                <a:latin typeface="Cambria" pitchFamily="34" charset="0"/>
                <a:ea typeface="Cambria" pitchFamily="34" charset="-122"/>
                <a:cs typeface="Cambria" pitchFamily="34" charset="-120"/>
              </a:rPr>
              <a:t>1.00</a:t>
            </a:r>
            <a:endParaRPr lang="en-US" sz="4000" dirty="0"/>
          </a:p>
        </p:txBody>
      </p:sp>
      <p:sp>
        <p:nvSpPr>
          <p:cNvPr id="11" name="Text 9"/>
          <p:cNvSpPr/>
          <p:nvPr/>
        </p:nvSpPr>
        <p:spPr>
          <a:xfrm>
            <a:off x="3063240" y="2624328"/>
            <a:ext cx="2468880" cy="365760"/>
          </a:xfrm>
          <a:prstGeom prst="rect">
            <a:avLst/>
          </a:prstGeom>
          <a:noFill/>
          <a:ln/>
        </p:spPr>
        <p:txBody>
          <a:bodyPr wrap="square" rtlCol="0" anchor="ctr"/>
          <a:lstStyle/>
          <a:p>
            <a:pPr indent="0" marL="0">
              <a:buNone/>
            </a:pPr>
            <a:r>
              <a:rPr lang="en-US" sz="1200" dirty="0">
                <a:solidFill>
                  <a:srgbClr val="95A6AD"/>
                </a:solidFill>
                <a:latin typeface="Calibri" pitchFamily="34" charset="0"/>
                <a:ea typeface="Calibri" pitchFamily="34" charset="-122"/>
                <a:cs typeface="Calibri" pitchFamily="34" charset="-120"/>
              </a:rPr>
              <a:t>AUC</a:t>
            </a:r>
            <a:endParaRPr lang="en-US" sz="1200" dirty="0"/>
          </a:p>
        </p:txBody>
      </p:sp>
      <p:sp>
        <p:nvSpPr>
          <p:cNvPr id="12" name="Text 10"/>
          <p:cNvSpPr/>
          <p:nvPr/>
        </p:nvSpPr>
        <p:spPr>
          <a:xfrm>
            <a:off x="3063240" y="3063240"/>
            <a:ext cx="2468880" cy="777240"/>
          </a:xfrm>
          <a:prstGeom prst="rect">
            <a:avLst/>
          </a:prstGeom>
          <a:noFill/>
          <a:ln/>
        </p:spPr>
        <p:txBody>
          <a:bodyPr wrap="square" rtlCol="0" anchor="ctr"/>
          <a:lstStyle/>
          <a:p>
            <a:pPr algn="l" indent="0" marL="0">
              <a:buNone/>
            </a:pPr>
            <a:r>
              <a:rPr lang="en-US" sz="4000" b="1" dirty="0">
                <a:solidFill>
                  <a:srgbClr val="EAF0F1"/>
                </a:solidFill>
                <a:latin typeface="Cambria" pitchFamily="34" charset="0"/>
                <a:ea typeface="Cambria" pitchFamily="34" charset="-122"/>
                <a:cs typeface="Cambria" pitchFamily="34" charset="-120"/>
              </a:rPr>
              <a:t>4 + 4</a:t>
            </a:r>
            <a:endParaRPr lang="en-US" sz="4000" dirty="0"/>
          </a:p>
        </p:txBody>
      </p:sp>
      <p:sp>
        <p:nvSpPr>
          <p:cNvPr id="13" name="Text 11"/>
          <p:cNvSpPr/>
          <p:nvPr/>
        </p:nvSpPr>
        <p:spPr>
          <a:xfrm>
            <a:off x="3063240" y="3813048"/>
            <a:ext cx="2468880" cy="365760"/>
          </a:xfrm>
          <a:prstGeom prst="rect">
            <a:avLst/>
          </a:prstGeom>
          <a:noFill/>
          <a:ln/>
        </p:spPr>
        <p:txBody>
          <a:bodyPr wrap="square" rtlCol="0" anchor="ctr"/>
          <a:lstStyle/>
          <a:p>
            <a:pPr indent="0" marL="0">
              <a:buNone/>
            </a:pPr>
            <a:r>
              <a:rPr lang="en-US" sz="1200" dirty="0">
                <a:solidFill>
                  <a:srgbClr val="95A6AD"/>
                </a:solidFill>
                <a:latin typeface="Calibri" pitchFamily="34" charset="0"/>
                <a:ea typeface="Calibri" pitchFamily="34" charset="-122"/>
                <a:cs typeface="Calibri" pitchFamily="34" charset="-120"/>
              </a:rPr>
              <a:t>errors in 5,327</a:t>
            </a:r>
            <a:endParaRPr lang="en-US" sz="1200" dirty="0"/>
          </a:p>
        </p:txBody>
      </p:sp>
      <p:sp>
        <p:nvSpPr>
          <p:cNvPr id="14" name="Text 12"/>
          <p:cNvSpPr/>
          <p:nvPr/>
        </p:nvSpPr>
        <p:spPr>
          <a:xfrm>
            <a:off x="566928" y="4160520"/>
            <a:ext cx="5760720" cy="822960"/>
          </a:xfrm>
          <a:prstGeom prst="rect">
            <a:avLst/>
          </a:prstGeom>
          <a:noFill/>
          <a:ln/>
        </p:spPr>
        <p:txBody>
          <a:bodyPr wrap="square" rtlCol="0" anchor="t"/>
          <a:lstStyle/>
          <a:p>
            <a:pPr indent="0" marL="0">
              <a:buNone/>
            </a:pPr>
            <a:r>
              <a:rPr lang="en-US" sz="1050" b="1" dirty="0">
                <a:solidFill>
                  <a:srgbClr val="95A6AD"/>
                </a:solidFill>
                <a:latin typeface="Courier New" pitchFamily="34" charset="0"/>
                <a:ea typeface="Courier New" pitchFamily="34" charset="-122"/>
                <a:cs typeface="Courier New" pitchFamily="34" charset="-120"/>
              </a:rPr>
              <a:t>F1 = 2·precision·recall/(precision+recall)</a:t>
            </a:r>
            <a:pPr indent="0" marL="0">
              <a:buNone/>
            </a:pPr>
            <a:r>
              <a:rPr lang="en-US" sz="1100" dirty="0">
                <a:solidFill>
                  <a:srgbClr val="6E7F87"/>
                </a:solidFill>
                <a:latin typeface="Calibri" pitchFamily="34" charset="0"/>
                <a:ea typeface="Calibri" pitchFamily="34" charset="-122"/>
                <a:cs typeface="Calibri" pitchFamily="34" charset="-120"/>
              </a:rPr>
              <a:t>   ·   beats every baseline; the 'always-legit' baseline scores 65% accuracy but catches 0 phishing (accuracy paradox).</a:t>
            </a:r>
            <a:endParaRPr lang="en-US" sz="1050" dirty="0"/>
          </a:p>
        </p:txBody>
      </p:sp>
      <p:sp>
        <p:nvSpPr>
          <p:cNvPr id="15" name="Text 13"/>
          <p:cNvSpPr/>
          <p:nvPr/>
        </p:nvSpPr>
        <p:spPr>
          <a:xfrm>
            <a:off x="6309360" y="1691640"/>
            <a:ext cx="5486400" cy="274320"/>
          </a:xfrm>
          <a:prstGeom prst="rect">
            <a:avLst/>
          </a:prstGeom>
          <a:noFill/>
          <a:ln/>
        </p:spPr>
        <p:txBody>
          <a:bodyPr wrap="square" rtlCol="0" anchor="ctr"/>
          <a:lstStyle/>
          <a:p>
            <a:pPr indent="0" marL="0">
              <a:buNone/>
            </a:pPr>
            <a:r>
              <a:rPr lang="en-US" sz="1200" i="1" dirty="0">
                <a:solidFill>
                  <a:srgbClr val="95A6AD"/>
                </a:solidFill>
                <a:latin typeface="Calibri" pitchFamily="34" charset="0"/>
                <a:ea typeface="Calibri" pitchFamily="34" charset="-122"/>
                <a:cs typeface="Calibri" pitchFamily="34" charset="-120"/>
              </a:rPr>
              <a:t>confusion matrix — clean test set</a:t>
            </a:r>
            <a:endParaRPr lang="en-US" sz="1200" dirty="0"/>
          </a:p>
        </p:txBody>
      </p:sp>
      <p:sp>
        <p:nvSpPr>
          <p:cNvPr id="16" name="Text 14"/>
          <p:cNvSpPr/>
          <p:nvPr/>
        </p:nvSpPr>
        <p:spPr>
          <a:xfrm>
            <a:off x="7223760" y="2011680"/>
            <a:ext cx="2148840" cy="274320"/>
          </a:xfrm>
          <a:prstGeom prst="rect">
            <a:avLst/>
          </a:prstGeom>
          <a:noFill/>
          <a:ln/>
        </p:spPr>
        <p:txBody>
          <a:bodyPr wrap="square" rtlCol="0" anchor="ctr"/>
          <a:lstStyle/>
          <a:p>
            <a:pPr algn="ctr" indent="0" marL="0">
              <a:buNone/>
            </a:pPr>
            <a:r>
              <a:rPr lang="en-US" sz="1050" dirty="0">
                <a:solidFill>
                  <a:srgbClr val="95A6AD"/>
                </a:solidFill>
                <a:latin typeface="Calibri" pitchFamily="34" charset="0"/>
                <a:ea typeface="Calibri" pitchFamily="34" charset="-122"/>
                <a:cs typeface="Calibri" pitchFamily="34" charset="-120"/>
              </a:rPr>
              <a:t>called legit</a:t>
            </a:r>
            <a:endParaRPr lang="en-US" sz="1050" dirty="0"/>
          </a:p>
        </p:txBody>
      </p:sp>
      <p:sp>
        <p:nvSpPr>
          <p:cNvPr id="17" name="Text 15"/>
          <p:cNvSpPr/>
          <p:nvPr/>
        </p:nvSpPr>
        <p:spPr>
          <a:xfrm>
            <a:off x="9500616" y="2011680"/>
            <a:ext cx="2148840" cy="274320"/>
          </a:xfrm>
          <a:prstGeom prst="rect">
            <a:avLst/>
          </a:prstGeom>
          <a:noFill/>
          <a:ln/>
        </p:spPr>
        <p:txBody>
          <a:bodyPr wrap="square" rtlCol="0" anchor="ctr"/>
          <a:lstStyle/>
          <a:p>
            <a:pPr algn="ctr" indent="0" marL="0">
              <a:buNone/>
            </a:pPr>
            <a:r>
              <a:rPr lang="en-US" sz="1050" dirty="0">
                <a:solidFill>
                  <a:srgbClr val="95A6AD"/>
                </a:solidFill>
                <a:latin typeface="Calibri" pitchFamily="34" charset="0"/>
                <a:ea typeface="Calibri" pitchFamily="34" charset="-122"/>
                <a:cs typeface="Calibri" pitchFamily="34" charset="-120"/>
              </a:rPr>
              <a:t>called phishing</a:t>
            </a:r>
            <a:endParaRPr lang="en-US" sz="1050" dirty="0"/>
          </a:p>
        </p:txBody>
      </p:sp>
      <p:sp>
        <p:nvSpPr>
          <p:cNvPr id="18" name="Text 16"/>
          <p:cNvSpPr/>
          <p:nvPr/>
        </p:nvSpPr>
        <p:spPr>
          <a:xfrm>
            <a:off x="6309360" y="2651760"/>
            <a:ext cx="822960" cy="731520"/>
          </a:xfrm>
          <a:prstGeom prst="rect">
            <a:avLst/>
          </a:prstGeom>
          <a:noFill/>
          <a:ln/>
        </p:spPr>
        <p:txBody>
          <a:bodyPr wrap="square" rtlCol="0" anchor="ctr"/>
          <a:lstStyle/>
          <a:p>
            <a:pPr algn="r" indent="0" marL="0">
              <a:buNone/>
            </a:pPr>
            <a:r>
              <a:rPr lang="en-US" sz="1050" dirty="0">
                <a:solidFill>
                  <a:srgbClr val="95A6AD"/>
                </a:solidFill>
                <a:latin typeface="Calibri" pitchFamily="34" charset="0"/>
                <a:ea typeface="Calibri" pitchFamily="34" charset="-122"/>
                <a:cs typeface="Calibri" pitchFamily="34" charset="-120"/>
              </a:rPr>
              <a:t>actually</a:t>
            </a:r>
            <a:endParaRPr lang="en-US" sz="1050" dirty="0"/>
          </a:p>
          <a:p>
            <a:pPr algn="r" indent="0" marL="0">
              <a:buNone/>
            </a:pPr>
            <a:r>
              <a:rPr lang="en-US" sz="1050" dirty="0">
                <a:solidFill>
                  <a:srgbClr val="95A6AD"/>
                </a:solidFill>
                <a:latin typeface="Calibri" pitchFamily="34" charset="0"/>
                <a:ea typeface="Calibri" pitchFamily="34" charset="-122"/>
                <a:cs typeface="Calibri" pitchFamily="34" charset="-120"/>
              </a:rPr>
              <a:t>legit</a:t>
            </a:r>
            <a:endParaRPr lang="en-US" sz="1050" dirty="0"/>
          </a:p>
        </p:txBody>
      </p:sp>
      <p:sp>
        <p:nvSpPr>
          <p:cNvPr id="19" name="Text 17"/>
          <p:cNvSpPr/>
          <p:nvPr/>
        </p:nvSpPr>
        <p:spPr>
          <a:xfrm>
            <a:off x="6309360" y="4197096"/>
            <a:ext cx="822960" cy="731520"/>
          </a:xfrm>
          <a:prstGeom prst="rect">
            <a:avLst/>
          </a:prstGeom>
          <a:noFill/>
          <a:ln/>
        </p:spPr>
        <p:txBody>
          <a:bodyPr wrap="square" rtlCol="0" anchor="ctr"/>
          <a:lstStyle/>
          <a:p>
            <a:pPr algn="r" indent="0" marL="0">
              <a:buNone/>
            </a:pPr>
            <a:r>
              <a:rPr lang="en-US" sz="1050" dirty="0">
                <a:solidFill>
                  <a:srgbClr val="95A6AD"/>
                </a:solidFill>
                <a:latin typeface="Calibri" pitchFamily="34" charset="0"/>
                <a:ea typeface="Calibri" pitchFamily="34" charset="-122"/>
                <a:cs typeface="Calibri" pitchFamily="34" charset="-120"/>
              </a:rPr>
              <a:t>actually</a:t>
            </a:r>
            <a:endParaRPr lang="en-US" sz="1050" dirty="0"/>
          </a:p>
          <a:p>
            <a:pPr algn="r" indent="0" marL="0">
              <a:buNone/>
            </a:pPr>
            <a:r>
              <a:rPr lang="en-US" sz="1050" dirty="0">
                <a:solidFill>
                  <a:srgbClr val="95A6AD"/>
                </a:solidFill>
                <a:latin typeface="Calibri" pitchFamily="34" charset="0"/>
                <a:ea typeface="Calibri" pitchFamily="34" charset="-122"/>
                <a:cs typeface="Calibri" pitchFamily="34" charset="-120"/>
              </a:rPr>
              <a:t>phishing</a:t>
            </a:r>
            <a:endParaRPr lang="en-US" sz="1050" dirty="0"/>
          </a:p>
        </p:txBody>
      </p:sp>
      <p:sp>
        <p:nvSpPr>
          <p:cNvPr id="20" name="Shape 18"/>
          <p:cNvSpPr/>
          <p:nvPr/>
        </p:nvSpPr>
        <p:spPr>
          <a:xfrm>
            <a:off x="7223760" y="2331720"/>
            <a:ext cx="2148840" cy="1417320"/>
          </a:xfrm>
          <a:prstGeom prst="roundRect">
            <a:avLst>
              <a:gd name="adj" fmla="val 3871"/>
            </a:avLst>
          </a:prstGeom>
          <a:solidFill>
            <a:srgbClr val="1B2B32"/>
          </a:solidFill>
          <a:ln w="15875">
            <a:solidFill>
              <a:srgbClr val="3CB6A6"/>
            </a:solidFill>
            <a:prstDash val="solid"/>
          </a:ln>
        </p:spPr>
      </p:sp>
      <p:sp>
        <p:nvSpPr>
          <p:cNvPr id="21" name="Text 19"/>
          <p:cNvSpPr/>
          <p:nvPr/>
        </p:nvSpPr>
        <p:spPr>
          <a:xfrm>
            <a:off x="7223760" y="2496312"/>
            <a:ext cx="2148840" cy="658368"/>
          </a:xfrm>
          <a:prstGeom prst="rect">
            <a:avLst/>
          </a:prstGeom>
          <a:noFill/>
          <a:ln/>
        </p:spPr>
        <p:txBody>
          <a:bodyPr wrap="square" rtlCol="0" anchor="ctr"/>
          <a:lstStyle/>
          <a:p>
            <a:pPr algn="ctr" indent="0" marL="0">
              <a:buNone/>
            </a:pPr>
            <a:r>
              <a:rPr lang="en-US" sz="2500" b="1" dirty="0">
                <a:solidFill>
                  <a:srgbClr val="3CB6A6"/>
                </a:solidFill>
                <a:latin typeface="Cambria" pitchFamily="34" charset="0"/>
                <a:ea typeface="Cambria" pitchFamily="34" charset="-122"/>
                <a:cs typeface="Cambria" pitchFamily="34" charset="-120"/>
              </a:rPr>
              <a:t>3,459</a:t>
            </a:r>
            <a:endParaRPr lang="en-US" sz="2500" dirty="0"/>
          </a:p>
        </p:txBody>
      </p:sp>
      <p:sp>
        <p:nvSpPr>
          <p:cNvPr id="22" name="Text 20"/>
          <p:cNvSpPr/>
          <p:nvPr/>
        </p:nvSpPr>
        <p:spPr>
          <a:xfrm>
            <a:off x="7223760" y="3172968"/>
            <a:ext cx="2148840" cy="411480"/>
          </a:xfrm>
          <a:prstGeom prst="rect">
            <a:avLst/>
          </a:prstGeom>
          <a:noFill/>
          <a:ln/>
        </p:spPr>
        <p:txBody>
          <a:bodyPr wrap="square" rtlCol="0" anchor="ctr"/>
          <a:lstStyle/>
          <a:p>
            <a:pPr algn="ctr" indent="0" marL="0">
              <a:buNone/>
            </a:pPr>
            <a:r>
              <a:rPr lang="en-US" sz="1050" dirty="0">
                <a:solidFill>
                  <a:srgbClr val="95A6AD"/>
                </a:solidFill>
                <a:latin typeface="Calibri" pitchFamily="34" charset="0"/>
                <a:ea typeface="Calibri" pitchFamily="34" charset="-122"/>
                <a:cs typeface="Calibri" pitchFamily="34" charset="-120"/>
              </a:rPr>
              <a:t>correct</a:t>
            </a:r>
            <a:endParaRPr lang="en-US" sz="1050" dirty="0"/>
          </a:p>
        </p:txBody>
      </p:sp>
      <p:sp>
        <p:nvSpPr>
          <p:cNvPr id="23" name="Shape 21"/>
          <p:cNvSpPr/>
          <p:nvPr/>
        </p:nvSpPr>
        <p:spPr>
          <a:xfrm>
            <a:off x="9500616" y="2331720"/>
            <a:ext cx="2148840" cy="1417320"/>
          </a:xfrm>
          <a:prstGeom prst="roundRect">
            <a:avLst>
              <a:gd name="adj" fmla="val 3871"/>
            </a:avLst>
          </a:prstGeom>
          <a:solidFill>
            <a:srgbClr val="1B2B32"/>
          </a:solidFill>
          <a:ln w="15875">
            <a:solidFill>
              <a:srgbClr val="E97A60"/>
            </a:solidFill>
            <a:prstDash val="solid"/>
          </a:ln>
        </p:spPr>
      </p:sp>
      <p:sp>
        <p:nvSpPr>
          <p:cNvPr id="24" name="Text 22"/>
          <p:cNvSpPr/>
          <p:nvPr/>
        </p:nvSpPr>
        <p:spPr>
          <a:xfrm>
            <a:off x="9500616" y="2496312"/>
            <a:ext cx="2148840" cy="658368"/>
          </a:xfrm>
          <a:prstGeom prst="rect">
            <a:avLst/>
          </a:prstGeom>
          <a:noFill/>
          <a:ln/>
        </p:spPr>
        <p:txBody>
          <a:bodyPr wrap="square" rtlCol="0" anchor="ctr"/>
          <a:lstStyle/>
          <a:p>
            <a:pPr algn="ctr" indent="0" marL="0">
              <a:buNone/>
            </a:pPr>
            <a:r>
              <a:rPr lang="en-US" sz="2500" b="1" dirty="0">
                <a:solidFill>
                  <a:srgbClr val="E97A60"/>
                </a:solidFill>
                <a:latin typeface="Cambria" pitchFamily="34" charset="0"/>
                <a:ea typeface="Cambria" pitchFamily="34" charset="-122"/>
                <a:cs typeface="Cambria" pitchFamily="34" charset="-120"/>
              </a:rPr>
              <a:t>4</a:t>
            </a:r>
            <a:endParaRPr lang="en-US" sz="2500" dirty="0"/>
          </a:p>
        </p:txBody>
      </p:sp>
      <p:sp>
        <p:nvSpPr>
          <p:cNvPr id="25" name="Text 23"/>
          <p:cNvSpPr/>
          <p:nvPr/>
        </p:nvSpPr>
        <p:spPr>
          <a:xfrm>
            <a:off x="9500616" y="3172968"/>
            <a:ext cx="2148840" cy="411480"/>
          </a:xfrm>
          <a:prstGeom prst="rect">
            <a:avLst/>
          </a:prstGeom>
          <a:noFill/>
          <a:ln/>
        </p:spPr>
        <p:txBody>
          <a:bodyPr wrap="square" rtlCol="0" anchor="ctr"/>
          <a:lstStyle/>
          <a:p>
            <a:pPr algn="ctr" indent="0" marL="0">
              <a:buNone/>
            </a:pPr>
            <a:r>
              <a:rPr lang="en-US" sz="1050" dirty="0">
                <a:solidFill>
                  <a:srgbClr val="95A6AD"/>
                </a:solidFill>
                <a:latin typeface="Calibri" pitchFamily="34" charset="0"/>
                <a:ea typeface="Calibri" pitchFamily="34" charset="-122"/>
                <a:cs typeface="Calibri" pitchFamily="34" charset="-120"/>
              </a:rPr>
              <a:t>false alarm</a:t>
            </a:r>
            <a:endParaRPr lang="en-US" sz="1050" dirty="0"/>
          </a:p>
        </p:txBody>
      </p:sp>
      <p:sp>
        <p:nvSpPr>
          <p:cNvPr id="26" name="Shape 24"/>
          <p:cNvSpPr/>
          <p:nvPr/>
        </p:nvSpPr>
        <p:spPr>
          <a:xfrm>
            <a:off x="7223760" y="3877056"/>
            <a:ext cx="2148840" cy="1417320"/>
          </a:xfrm>
          <a:prstGeom prst="roundRect">
            <a:avLst>
              <a:gd name="adj" fmla="val 3871"/>
            </a:avLst>
          </a:prstGeom>
          <a:solidFill>
            <a:srgbClr val="1B2B32"/>
          </a:solidFill>
          <a:ln w="15875">
            <a:solidFill>
              <a:srgbClr val="E97A60"/>
            </a:solidFill>
            <a:prstDash val="solid"/>
          </a:ln>
        </p:spPr>
      </p:sp>
      <p:sp>
        <p:nvSpPr>
          <p:cNvPr id="27" name="Text 25"/>
          <p:cNvSpPr/>
          <p:nvPr/>
        </p:nvSpPr>
        <p:spPr>
          <a:xfrm>
            <a:off x="7223760" y="4041648"/>
            <a:ext cx="2148840" cy="658368"/>
          </a:xfrm>
          <a:prstGeom prst="rect">
            <a:avLst/>
          </a:prstGeom>
          <a:noFill/>
          <a:ln/>
        </p:spPr>
        <p:txBody>
          <a:bodyPr wrap="square" rtlCol="0" anchor="ctr"/>
          <a:lstStyle/>
          <a:p>
            <a:pPr algn="ctr" indent="0" marL="0">
              <a:buNone/>
            </a:pPr>
            <a:r>
              <a:rPr lang="en-US" sz="2500" b="1" dirty="0">
                <a:solidFill>
                  <a:srgbClr val="E97A60"/>
                </a:solidFill>
                <a:latin typeface="Cambria" pitchFamily="34" charset="0"/>
                <a:ea typeface="Cambria" pitchFamily="34" charset="-122"/>
                <a:cs typeface="Cambria" pitchFamily="34" charset="-120"/>
              </a:rPr>
              <a:t>4</a:t>
            </a:r>
            <a:endParaRPr lang="en-US" sz="2500" dirty="0"/>
          </a:p>
        </p:txBody>
      </p:sp>
      <p:sp>
        <p:nvSpPr>
          <p:cNvPr id="28" name="Text 26"/>
          <p:cNvSpPr/>
          <p:nvPr/>
        </p:nvSpPr>
        <p:spPr>
          <a:xfrm>
            <a:off x="7223760" y="4718304"/>
            <a:ext cx="2148840" cy="411480"/>
          </a:xfrm>
          <a:prstGeom prst="rect">
            <a:avLst/>
          </a:prstGeom>
          <a:noFill/>
          <a:ln/>
        </p:spPr>
        <p:txBody>
          <a:bodyPr wrap="square" rtlCol="0" anchor="ctr"/>
          <a:lstStyle/>
          <a:p>
            <a:pPr algn="ctr" indent="0" marL="0">
              <a:buNone/>
            </a:pPr>
            <a:r>
              <a:rPr lang="en-US" sz="1050" dirty="0">
                <a:solidFill>
                  <a:srgbClr val="95A6AD"/>
                </a:solidFill>
                <a:latin typeface="Calibri" pitchFamily="34" charset="0"/>
                <a:ea typeface="Calibri" pitchFamily="34" charset="-122"/>
                <a:cs typeface="Calibri" pitchFamily="34" charset="-120"/>
              </a:rPr>
              <a:t>missed</a:t>
            </a:r>
            <a:endParaRPr lang="en-US" sz="1050" dirty="0"/>
          </a:p>
        </p:txBody>
      </p:sp>
      <p:sp>
        <p:nvSpPr>
          <p:cNvPr id="29" name="Shape 27"/>
          <p:cNvSpPr/>
          <p:nvPr/>
        </p:nvSpPr>
        <p:spPr>
          <a:xfrm>
            <a:off x="9500616" y="3877056"/>
            <a:ext cx="2148840" cy="1417320"/>
          </a:xfrm>
          <a:prstGeom prst="roundRect">
            <a:avLst>
              <a:gd name="adj" fmla="val 3871"/>
            </a:avLst>
          </a:prstGeom>
          <a:solidFill>
            <a:srgbClr val="1B2B32"/>
          </a:solidFill>
          <a:ln w="15875">
            <a:solidFill>
              <a:srgbClr val="3CB6A6"/>
            </a:solidFill>
            <a:prstDash val="solid"/>
          </a:ln>
        </p:spPr>
      </p:sp>
      <p:sp>
        <p:nvSpPr>
          <p:cNvPr id="30" name="Text 28"/>
          <p:cNvSpPr/>
          <p:nvPr/>
        </p:nvSpPr>
        <p:spPr>
          <a:xfrm>
            <a:off x="9500616" y="4041648"/>
            <a:ext cx="2148840" cy="658368"/>
          </a:xfrm>
          <a:prstGeom prst="rect">
            <a:avLst/>
          </a:prstGeom>
          <a:noFill/>
          <a:ln/>
        </p:spPr>
        <p:txBody>
          <a:bodyPr wrap="square" rtlCol="0" anchor="ctr"/>
          <a:lstStyle/>
          <a:p>
            <a:pPr algn="ctr" indent="0" marL="0">
              <a:buNone/>
            </a:pPr>
            <a:r>
              <a:rPr lang="en-US" sz="2500" b="1" dirty="0">
                <a:solidFill>
                  <a:srgbClr val="3CB6A6"/>
                </a:solidFill>
                <a:latin typeface="Cambria" pitchFamily="34" charset="0"/>
                <a:ea typeface="Cambria" pitchFamily="34" charset="-122"/>
                <a:cs typeface="Cambria" pitchFamily="34" charset="-120"/>
              </a:rPr>
              <a:t>1,860</a:t>
            </a:r>
            <a:endParaRPr lang="en-US" sz="2500" dirty="0"/>
          </a:p>
        </p:txBody>
      </p:sp>
      <p:sp>
        <p:nvSpPr>
          <p:cNvPr id="31" name="Text 29"/>
          <p:cNvSpPr/>
          <p:nvPr/>
        </p:nvSpPr>
        <p:spPr>
          <a:xfrm>
            <a:off x="9500616" y="4718304"/>
            <a:ext cx="2148840" cy="411480"/>
          </a:xfrm>
          <a:prstGeom prst="rect">
            <a:avLst/>
          </a:prstGeom>
          <a:noFill/>
          <a:ln/>
        </p:spPr>
        <p:txBody>
          <a:bodyPr wrap="square" rtlCol="0" anchor="ctr"/>
          <a:lstStyle/>
          <a:p>
            <a:pPr algn="ctr" indent="0" marL="0">
              <a:buNone/>
            </a:pPr>
            <a:r>
              <a:rPr lang="en-US" sz="1050" dirty="0">
                <a:solidFill>
                  <a:srgbClr val="95A6AD"/>
                </a:solidFill>
                <a:latin typeface="Calibri" pitchFamily="34" charset="0"/>
                <a:ea typeface="Calibri" pitchFamily="34" charset="-122"/>
                <a:cs typeface="Calibri" pitchFamily="34" charset="-120"/>
              </a:rPr>
              <a:t>caught</a:t>
            </a:r>
            <a:endParaRPr lang="en-US" sz="1050" dirty="0"/>
          </a:p>
        </p:txBody>
      </p:sp>
      <p:sp>
        <p:nvSpPr>
          <p:cNvPr id="32" name="Text 30"/>
          <p:cNvSpPr/>
          <p:nvPr/>
        </p:nvSpPr>
        <p:spPr>
          <a:xfrm>
            <a:off x="566928" y="5257800"/>
            <a:ext cx="11057839" cy="822960"/>
          </a:xfrm>
          <a:prstGeom prst="rect">
            <a:avLst/>
          </a:prstGeom>
          <a:noFill/>
          <a:ln/>
        </p:spPr>
        <p:txBody>
          <a:bodyPr wrap="square" rtlCol="0" anchor="t"/>
          <a:lstStyle/>
          <a:p>
            <a:pPr indent="0" marL="0">
              <a:buNone/>
            </a:pPr>
            <a:r>
              <a:rPr lang="en-US" sz="1500" i="1" dirty="0">
                <a:solidFill>
                  <a:srgbClr val="E97A60"/>
                </a:solidFill>
                <a:latin typeface="Calibri" pitchFamily="34" charset="0"/>
                <a:ea typeface="Calibri" pitchFamily="34" charset="-122"/>
                <a:cs typeface="Calibri" pitchFamily="34" charset="-120"/>
              </a:rPr>
              <a:t>A near-perfect score is a property of clean, single-source data — not proof it works in the wild. From here, I attack my own model.</a:t>
            </a:r>
            <a:endParaRPr lang="en-US" sz="1500" dirty="0"/>
          </a:p>
        </p:txBody>
      </p:sp>
      <p:sp>
        <p:nvSpPr>
          <p:cNvPr id="33" name="Text 31"/>
          <p:cNvSpPr/>
          <p:nvPr/>
        </p:nvSpPr>
        <p:spPr>
          <a:xfrm>
            <a:off x="566928" y="6437376"/>
            <a:ext cx="11057839" cy="274320"/>
          </a:xfrm>
          <a:prstGeom prst="rect">
            <a:avLst/>
          </a:prstGeom>
          <a:noFill/>
          <a:ln/>
        </p:spPr>
        <p:txBody>
          <a:bodyPr wrap="square" rtlCol="0" anchor="ctr"/>
          <a:lstStyle/>
          <a:p>
            <a:pPr indent="0" marL="0">
              <a:buNone/>
            </a:pPr>
            <a:r>
              <a:rPr lang="en-US" sz="950" i="1" dirty="0">
                <a:solidFill>
                  <a:srgbClr val="7C8F98"/>
                </a:solidFill>
                <a:latin typeface="Calibri" pitchFamily="34" charset="0"/>
                <a:ea typeface="Calibri" pitchFamily="34" charset="-122"/>
                <a:cs typeface="Calibri" pitchFamily="34" charset="-120"/>
              </a:rPr>
              <a:t>the accuracy paradox: a model can score 65% and catch zero phishing</a:t>
            </a:r>
            <a:endParaRPr lang="en-US" sz="9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310896"/>
            <a:ext cx="9144000" cy="274320"/>
          </a:xfrm>
          <a:prstGeom prst="rect">
            <a:avLst/>
          </a:prstGeom>
          <a:noFill/>
          <a:ln/>
        </p:spPr>
        <p:txBody>
          <a:bodyPr wrap="square" rtlCol="0" anchor="ctr"/>
          <a:lstStyle/>
          <a:p>
            <a:pPr indent="0" marL="0">
              <a:buNone/>
            </a:pPr>
            <a:r>
              <a:rPr lang="en-US" sz="1100" b="1" spc="200" kern="0" dirty="0">
                <a:solidFill>
                  <a:srgbClr val="3CB6A6"/>
                </a:solidFill>
                <a:latin typeface="Calibri" pitchFamily="34" charset="0"/>
                <a:ea typeface="Calibri" pitchFamily="34" charset="-122"/>
                <a:cs typeface="Calibri" pitchFamily="34" charset="-120"/>
              </a:rPr>
              <a:t>ATTACK 1 · HOMOGLYPHS</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indent="0" marL="0">
              <a:buNone/>
            </a:pPr>
            <a:r>
              <a:rPr lang="en-US" sz="2500" b="1" dirty="0">
                <a:solidFill>
                  <a:srgbClr val="EAF0F1"/>
                </a:solidFill>
                <a:latin typeface="Cambria" pitchFamily="34" charset="0"/>
                <a:ea typeface="Cambria" pitchFamily="34" charset="-122"/>
                <a:cs typeface="Cambria" pitchFamily="34" charset="-120"/>
              </a:rPr>
              <a:t>Invisible letter swaps — and a defence that generalises.</a:t>
            </a:r>
            <a:endParaRPr lang="en-US" sz="2500" dirty="0"/>
          </a:p>
        </p:txBody>
      </p:sp>
      <p:sp>
        <p:nvSpPr>
          <p:cNvPr id="4" name="Shape 2"/>
          <p:cNvSpPr/>
          <p:nvPr/>
        </p:nvSpPr>
        <p:spPr>
          <a:xfrm>
            <a:off x="566928" y="1371600"/>
            <a:ext cx="1737360" cy="41148"/>
          </a:xfrm>
          <a:prstGeom prst="rect">
            <a:avLst/>
          </a:prstGeom>
          <a:solidFill>
            <a:srgbClr val="3CB6A6"/>
          </a:solidFill>
          <a:ln/>
        </p:spPr>
      </p:sp>
      <p:sp>
        <p:nvSpPr>
          <p:cNvPr id="5" name="Text 3"/>
          <p:cNvSpPr/>
          <p:nvPr/>
        </p:nvSpPr>
        <p:spPr>
          <a:xfrm>
            <a:off x="10728655" y="310896"/>
            <a:ext cx="914400" cy="274320"/>
          </a:xfrm>
          <a:prstGeom prst="rect">
            <a:avLst/>
          </a:prstGeom>
          <a:noFill/>
          <a:ln/>
        </p:spPr>
        <p:txBody>
          <a:bodyPr wrap="square" rtlCol="0" anchor="ctr"/>
          <a:lstStyle/>
          <a:p>
            <a:pPr algn="r" indent="0" marL="0">
              <a:buNone/>
            </a:pPr>
            <a:r>
              <a:rPr lang="en-US" sz="1100" dirty="0">
                <a:solidFill>
                  <a:srgbClr val="6E7F87"/>
                </a:solidFill>
                <a:latin typeface="Calibri" pitchFamily="34" charset="0"/>
                <a:ea typeface="Calibri" pitchFamily="34" charset="-122"/>
                <a:cs typeface="Calibri" pitchFamily="34" charset="-120"/>
              </a:rPr>
              <a:t>6 / 15</a:t>
            </a:r>
            <a:endParaRPr lang="en-US" sz="1100" dirty="0"/>
          </a:p>
        </p:txBody>
      </p:sp>
      <p:sp>
        <p:nvSpPr>
          <p:cNvPr id="6" name="Shape 4"/>
          <p:cNvSpPr/>
          <p:nvPr/>
        </p:nvSpPr>
        <p:spPr>
          <a:xfrm>
            <a:off x="566928" y="1600200"/>
            <a:ext cx="5486400" cy="1828800"/>
          </a:xfrm>
          <a:prstGeom prst="roundRect">
            <a:avLst>
              <a:gd name="adj" fmla="val 3500"/>
            </a:avLst>
          </a:prstGeom>
          <a:solidFill>
            <a:srgbClr val="1B2B32"/>
          </a:solidFill>
          <a:ln w="12700">
            <a:solidFill>
              <a:srgbClr val="26363D"/>
            </a:solidFill>
            <a:prstDash val="solid"/>
          </a:ln>
        </p:spPr>
      </p:sp>
      <p:sp>
        <p:nvSpPr>
          <p:cNvPr id="7" name="Shape 5"/>
          <p:cNvSpPr/>
          <p:nvPr/>
        </p:nvSpPr>
        <p:spPr>
          <a:xfrm>
            <a:off x="566928" y="1719072"/>
            <a:ext cx="50292" cy="1591056"/>
          </a:xfrm>
          <a:prstGeom prst="rect">
            <a:avLst/>
          </a:prstGeom>
          <a:solidFill>
            <a:srgbClr val="E97A60"/>
          </a:solidFill>
          <a:ln/>
        </p:spPr>
      </p:sp>
      <p:sp>
        <p:nvSpPr>
          <p:cNvPr id="8" name="Text 6"/>
          <p:cNvSpPr/>
          <p:nvPr/>
        </p:nvSpPr>
        <p:spPr>
          <a:xfrm>
            <a:off x="768096" y="1719072"/>
            <a:ext cx="5157216" cy="256032"/>
          </a:xfrm>
          <a:prstGeom prst="rect">
            <a:avLst/>
          </a:prstGeom>
          <a:noFill/>
          <a:ln/>
        </p:spPr>
        <p:txBody>
          <a:bodyPr wrap="square" rtlCol="0" anchor="ctr"/>
          <a:lstStyle/>
          <a:p>
            <a:pPr indent="0" marL="0">
              <a:buNone/>
            </a:pPr>
            <a:r>
              <a:rPr lang="en-US" sz="1000" b="1" spc="100" kern="0" dirty="0">
                <a:solidFill>
                  <a:srgbClr val="E97A60"/>
                </a:solidFill>
                <a:latin typeface="Calibri" pitchFamily="34" charset="0"/>
                <a:ea typeface="Calibri" pitchFamily="34" charset="-122"/>
                <a:cs typeface="Calibri" pitchFamily="34" charset="-120"/>
              </a:rPr>
              <a:t>THE ATTACK — HOMOGLYPHS</a:t>
            </a:r>
            <a:endParaRPr lang="en-US" sz="1000" dirty="0"/>
          </a:p>
        </p:txBody>
      </p:sp>
      <p:sp>
        <p:nvSpPr>
          <p:cNvPr id="9" name="Text 7"/>
          <p:cNvSpPr/>
          <p:nvPr/>
        </p:nvSpPr>
        <p:spPr>
          <a:xfrm>
            <a:off x="768096" y="2002536"/>
            <a:ext cx="5120640" cy="1298448"/>
          </a:xfrm>
          <a:prstGeom prst="rect">
            <a:avLst/>
          </a:prstGeom>
          <a:noFill/>
          <a:ln/>
        </p:spPr>
        <p:txBody>
          <a:bodyPr wrap="square" rtlCol="0" anchor="t"/>
          <a:lstStyle/>
          <a:p>
            <a:pPr indent="0" marL="0">
              <a:lnSpc>
                <a:spcPct val="110000"/>
              </a:lnSpc>
              <a:buNone/>
            </a:pPr>
            <a:r>
              <a:rPr lang="en-US" sz="1150" b="1" dirty="0">
                <a:solidFill>
                  <a:srgbClr val="EAF0F1"/>
                </a:solidFill>
                <a:latin typeface="Calibri" pitchFamily="34" charset="0"/>
                <a:ea typeface="Calibri" pitchFamily="34" charset="-122"/>
                <a:cs typeface="Calibri" pitchFamily="34" charset="-120"/>
              </a:rPr>
              <a:t>Swap Latin letters for identical-looking Cyrillic. </a:t>
            </a:r>
            <a:pPr indent="0" marL="0">
              <a:lnSpc>
                <a:spcPct val="110000"/>
              </a:lnSpc>
              <a:buNone/>
            </a:pPr>
            <a:r>
              <a:rPr lang="en-US" sz="1150" dirty="0">
                <a:solidFill>
                  <a:srgbClr val="95A6AD"/>
                </a:solidFill>
                <a:latin typeface="Calibri" pitchFamily="34" charset="0"/>
                <a:ea typeface="Calibri" pitchFamily="34" charset="-122"/>
                <a:cs typeface="Calibri" pitchFamily="34" charset="-120"/>
              </a:rPr>
              <a:t>A human reads it unchanged; the model sees new, unknown words, so the phishing words vanish. Nearly free for the attacker (Eger 2019; Boucher 2022).</a:t>
            </a:r>
            <a:endParaRPr lang="en-US" sz="1150" dirty="0"/>
          </a:p>
        </p:txBody>
      </p:sp>
      <p:sp>
        <p:nvSpPr>
          <p:cNvPr id="10" name="Shape 8"/>
          <p:cNvSpPr/>
          <p:nvPr/>
        </p:nvSpPr>
        <p:spPr>
          <a:xfrm>
            <a:off x="566928" y="3566160"/>
            <a:ext cx="5486400" cy="2011680"/>
          </a:xfrm>
          <a:prstGeom prst="roundRect">
            <a:avLst>
              <a:gd name="adj" fmla="val 3182"/>
            </a:avLst>
          </a:prstGeom>
          <a:solidFill>
            <a:srgbClr val="1B2B32"/>
          </a:solidFill>
          <a:ln w="12700">
            <a:solidFill>
              <a:srgbClr val="26363D"/>
            </a:solidFill>
            <a:prstDash val="solid"/>
          </a:ln>
        </p:spPr>
      </p:sp>
      <p:sp>
        <p:nvSpPr>
          <p:cNvPr id="11" name="Shape 9"/>
          <p:cNvSpPr/>
          <p:nvPr/>
        </p:nvSpPr>
        <p:spPr>
          <a:xfrm>
            <a:off x="566928" y="3685032"/>
            <a:ext cx="50292" cy="1773936"/>
          </a:xfrm>
          <a:prstGeom prst="rect">
            <a:avLst/>
          </a:prstGeom>
          <a:solidFill>
            <a:srgbClr val="3CB6A6"/>
          </a:solidFill>
          <a:ln/>
        </p:spPr>
      </p:sp>
      <p:sp>
        <p:nvSpPr>
          <p:cNvPr id="12" name="Text 10"/>
          <p:cNvSpPr/>
          <p:nvPr/>
        </p:nvSpPr>
        <p:spPr>
          <a:xfrm>
            <a:off x="768096" y="3685032"/>
            <a:ext cx="5157216" cy="256032"/>
          </a:xfrm>
          <a:prstGeom prst="rect">
            <a:avLst/>
          </a:prstGeom>
          <a:noFill/>
          <a:ln/>
        </p:spPr>
        <p:txBody>
          <a:bodyPr wrap="square" rtlCol="0" anchor="ctr"/>
          <a:lstStyle/>
          <a:p>
            <a:pPr indent="0" marL="0">
              <a:buNone/>
            </a:pPr>
            <a:r>
              <a:rPr lang="en-US" sz="1000" b="1" spc="100" kern="0" dirty="0">
                <a:solidFill>
                  <a:srgbClr val="3CB6A6"/>
                </a:solidFill>
                <a:latin typeface="Calibri" pitchFamily="34" charset="0"/>
                <a:ea typeface="Calibri" pitchFamily="34" charset="-122"/>
                <a:cs typeface="Calibri" pitchFamily="34" charset="-120"/>
              </a:rPr>
              <a:t>THE FIX — NORMALISE + CHAR N-GRAMS</a:t>
            </a:r>
            <a:endParaRPr lang="en-US" sz="1000" dirty="0"/>
          </a:p>
        </p:txBody>
      </p:sp>
      <p:sp>
        <p:nvSpPr>
          <p:cNvPr id="13" name="Text 11"/>
          <p:cNvSpPr/>
          <p:nvPr/>
        </p:nvSpPr>
        <p:spPr>
          <a:xfrm>
            <a:off x="768096" y="3968496"/>
            <a:ext cx="5120640" cy="1481328"/>
          </a:xfrm>
          <a:prstGeom prst="rect">
            <a:avLst/>
          </a:prstGeom>
          <a:noFill/>
          <a:ln/>
        </p:spPr>
        <p:txBody>
          <a:bodyPr wrap="square" rtlCol="0" anchor="t"/>
          <a:lstStyle/>
          <a:p>
            <a:pPr indent="0" marL="0">
              <a:lnSpc>
                <a:spcPct val="110000"/>
              </a:lnSpc>
              <a:buNone/>
            </a:pPr>
            <a:r>
              <a:rPr lang="en-US" sz="1150" b="1" dirty="0">
                <a:solidFill>
                  <a:srgbClr val="EAF0F1"/>
                </a:solidFill>
                <a:latin typeface="Calibri" pitchFamily="34" charset="0"/>
                <a:ea typeface="Calibri" pitchFamily="34" charset="-122"/>
                <a:cs typeface="Calibri" pitchFamily="34" charset="-120"/>
              </a:rPr>
              <a:t>Fold look-alikes back to plain letters before classifying. </a:t>
            </a:r>
            <a:pPr indent="0" marL="0">
              <a:lnSpc>
                <a:spcPct val="110000"/>
              </a:lnSpc>
              <a:buNone/>
            </a:pPr>
            <a:r>
              <a:rPr lang="en-US" sz="1150" dirty="0">
                <a:solidFill>
                  <a:srgbClr val="95A6AD"/>
                </a:solidFill>
                <a:latin typeface="Calibri" pitchFamily="34" charset="0"/>
                <a:ea typeface="Calibri" pitchFamily="34" charset="-122"/>
                <a:cs typeface="Calibri" pitchFamily="34" charset="-120"/>
              </a:rPr>
              <a:t>It even repairs an unseen attack (full-width) via generic Unicode folding — a principled defence generalises; adversarial training only memorises what it saw.</a:t>
            </a:r>
            <a:endParaRPr lang="en-US" sz="1150" dirty="0"/>
          </a:p>
        </p:txBody>
      </p:sp>
      <p:sp>
        <p:nvSpPr>
          <p:cNvPr id="14" name="Text 12"/>
          <p:cNvSpPr/>
          <p:nvPr/>
        </p:nvSpPr>
        <p:spPr>
          <a:xfrm>
            <a:off x="6675120" y="1828800"/>
            <a:ext cx="4937760" cy="640080"/>
          </a:xfrm>
          <a:prstGeom prst="rect">
            <a:avLst/>
          </a:prstGeom>
          <a:noFill/>
          <a:ln/>
        </p:spPr>
        <p:txBody>
          <a:bodyPr wrap="square" rtlCol="0" anchor="ctr"/>
          <a:lstStyle/>
          <a:p>
            <a:pPr algn="ctr" indent="0" marL="0">
              <a:buNone/>
            </a:pPr>
            <a:r>
              <a:rPr lang="en-US" sz="2700" dirty="0">
                <a:solidFill>
                  <a:srgbClr val="EAF0F1"/>
                </a:solidFill>
                <a:latin typeface="Cambria" pitchFamily="34" charset="0"/>
                <a:ea typeface="Cambria" pitchFamily="34" charset="-122"/>
                <a:cs typeface="Cambria" pitchFamily="34" charset="-120"/>
              </a:rPr>
              <a:t>V</a:t>
            </a:r>
            <a:pPr algn="ctr" indent="0" marL="0">
              <a:buNone/>
            </a:pPr>
            <a:r>
              <a:rPr lang="en-US" sz="2700" dirty="0">
                <a:solidFill>
                  <a:srgbClr val="E97A60"/>
                </a:solidFill>
                <a:latin typeface="Cambria" pitchFamily="34" charset="0"/>
                <a:ea typeface="Cambria" pitchFamily="34" charset="-122"/>
                <a:cs typeface="Cambria" pitchFamily="34" charset="-120"/>
              </a:rPr>
              <a:t>е</a:t>
            </a:r>
            <a:pPr algn="ctr" indent="0" marL="0">
              <a:buNone/>
            </a:pPr>
            <a:r>
              <a:rPr lang="en-US" sz="2700" dirty="0">
                <a:solidFill>
                  <a:srgbClr val="EAF0F1"/>
                </a:solidFill>
                <a:latin typeface="Cambria" pitchFamily="34" charset="0"/>
                <a:ea typeface="Cambria" pitchFamily="34" charset="-122"/>
                <a:cs typeface="Cambria" pitchFamily="34" charset="-120"/>
              </a:rPr>
              <a:t>rify your </a:t>
            </a:r>
            <a:pPr algn="ctr" indent="0" marL="0">
              <a:buNone/>
            </a:pPr>
            <a:r>
              <a:rPr lang="en-US" sz="2700" dirty="0">
                <a:solidFill>
                  <a:srgbClr val="E97A60"/>
                </a:solidFill>
                <a:latin typeface="Cambria" pitchFamily="34" charset="0"/>
                <a:ea typeface="Cambria" pitchFamily="34" charset="-122"/>
                <a:cs typeface="Cambria" pitchFamily="34" charset="-120"/>
              </a:rPr>
              <a:t>а</a:t>
            </a:r>
            <a:pPr algn="ctr" indent="0" marL="0">
              <a:buNone/>
            </a:pPr>
            <a:r>
              <a:rPr lang="en-US" sz="2700" dirty="0">
                <a:solidFill>
                  <a:srgbClr val="EAF0F1"/>
                </a:solidFill>
                <a:latin typeface="Cambria" pitchFamily="34" charset="0"/>
                <a:ea typeface="Cambria" pitchFamily="34" charset="-122"/>
                <a:cs typeface="Cambria" pitchFamily="34" charset="-120"/>
              </a:rPr>
              <a:t>cc</a:t>
            </a:r>
            <a:pPr algn="ctr" indent="0" marL="0">
              <a:buNone/>
            </a:pPr>
            <a:r>
              <a:rPr lang="en-US" sz="2700" dirty="0">
                <a:solidFill>
                  <a:srgbClr val="E97A60"/>
                </a:solidFill>
                <a:latin typeface="Cambria" pitchFamily="34" charset="0"/>
                <a:ea typeface="Cambria" pitchFamily="34" charset="-122"/>
                <a:cs typeface="Cambria" pitchFamily="34" charset="-120"/>
              </a:rPr>
              <a:t>о</a:t>
            </a:r>
            <a:pPr algn="ctr" indent="0" marL="0">
              <a:buNone/>
            </a:pPr>
            <a:r>
              <a:rPr lang="en-US" sz="2700" dirty="0">
                <a:solidFill>
                  <a:srgbClr val="EAF0F1"/>
                </a:solidFill>
                <a:latin typeface="Cambria" pitchFamily="34" charset="0"/>
                <a:ea typeface="Cambria" pitchFamily="34" charset="-122"/>
                <a:cs typeface="Cambria" pitchFamily="34" charset="-120"/>
              </a:rPr>
              <a:t>unt</a:t>
            </a:r>
            <a:endParaRPr lang="en-US" sz="2700" dirty="0"/>
          </a:p>
        </p:txBody>
      </p:sp>
      <p:sp>
        <p:nvSpPr>
          <p:cNvPr id="15" name="Text 13"/>
          <p:cNvSpPr/>
          <p:nvPr/>
        </p:nvSpPr>
        <p:spPr>
          <a:xfrm>
            <a:off x="6675120" y="2468880"/>
            <a:ext cx="4937760" cy="274320"/>
          </a:xfrm>
          <a:prstGeom prst="rect">
            <a:avLst/>
          </a:prstGeom>
          <a:noFill/>
          <a:ln/>
        </p:spPr>
        <p:txBody>
          <a:bodyPr wrap="square" rtlCol="0" anchor="ctr"/>
          <a:lstStyle/>
          <a:p>
            <a:pPr algn="ctr" indent="0" marL="0">
              <a:buNone/>
            </a:pPr>
            <a:r>
              <a:rPr lang="en-US" sz="1200" b="1" dirty="0">
                <a:solidFill>
                  <a:srgbClr val="E97A60"/>
                </a:solidFill>
                <a:latin typeface="Calibri" pitchFamily="34" charset="0"/>
                <a:ea typeface="Calibri" pitchFamily="34" charset="-122"/>
                <a:cs typeface="Calibri" pitchFamily="34" charset="-120"/>
              </a:rPr>
              <a:t>looks the same → evades</a:t>
            </a:r>
            <a:endParaRPr lang="en-US" sz="1200" dirty="0"/>
          </a:p>
        </p:txBody>
      </p:sp>
      <p:graphicFrame>
        <p:nvGraphicFramePr>
          <p:cNvPr id="16" name="Chart 0" descr=""/>
          <p:cNvGraphicFramePr/>
          <p:nvPr/>
        </p:nvGraphicFramePr>
        <p:xfrm>
          <a:off x="6675120" y="2926080"/>
          <a:ext cx="4937760" cy="265176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566928" y="6437376"/>
            <a:ext cx="11057839" cy="274320"/>
          </a:xfrm>
          <a:prstGeom prst="rect">
            <a:avLst/>
          </a:prstGeom>
          <a:noFill/>
          <a:ln/>
        </p:spPr>
        <p:txBody>
          <a:bodyPr wrap="square" rtlCol="0" anchor="ctr"/>
          <a:lstStyle/>
          <a:p>
            <a:pPr indent="0" marL="0">
              <a:buNone/>
            </a:pPr>
            <a:r>
              <a:rPr lang="en-US" sz="950" i="1" dirty="0">
                <a:solidFill>
                  <a:srgbClr val="7C8F98"/>
                </a:solidFill>
                <a:latin typeface="Calibri" pitchFamily="34" charset="0"/>
                <a:ea typeface="Calibri" pitchFamily="34" charset="-122"/>
                <a:cs typeface="Calibri" pitchFamily="34" charset="-120"/>
              </a:rPr>
              <a:t>phishing caught (recall) · a human reads the same word; the model sees a different one</a:t>
            </a:r>
            <a:endParaRPr lang="en-US" sz="9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310896"/>
            <a:ext cx="9144000" cy="274320"/>
          </a:xfrm>
          <a:prstGeom prst="rect">
            <a:avLst/>
          </a:prstGeom>
          <a:noFill/>
          <a:ln/>
        </p:spPr>
        <p:txBody>
          <a:bodyPr wrap="square" rtlCol="0" anchor="ctr"/>
          <a:lstStyle/>
          <a:p>
            <a:pPr indent="0" marL="0">
              <a:buNone/>
            </a:pPr>
            <a:r>
              <a:rPr lang="en-US" sz="1100" b="1" spc="200" kern="0" dirty="0">
                <a:solidFill>
                  <a:srgbClr val="3CB6A6"/>
                </a:solidFill>
                <a:latin typeface="Calibri" pitchFamily="34" charset="0"/>
                <a:ea typeface="Calibri" pitchFamily="34" charset="-122"/>
                <a:cs typeface="Calibri" pitchFamily="34" charset="-120"/>
              </a:rPr>
              <a:t>ATTACK 2 · ADAPTIVE → CERTIFICATE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indent="0" marL="0">
              <a:buNone/>
            </a:pPr>
            <a:r>
              <a:rPr lang="en-US" sz="2500" b="1" dirty="0">
                <a:solidFill>
                  <a:srgbClr val="EAF0F1"/>
                </a:solidFill>
                <a:latin typeface="Cambria" pitchFamily="34" charset="0"/>
                <a:ea typeface="Cambria" pitchFamily="34" charset="-122"/>
                <a:cs typeface="Cambria" pitchFamily="34" charset="-120"/>
              </a:rPr>
              <a:t>A smarter attacker — closed with a proof.</a:t>
            </a:r>
            <a:endParaRPr lang="en-US" sz="2500" dirty="0"/>
          </a:p>
        </p:txBody>
      </p:sp>
      <p:sp>
        <p:nvSpPr>
          <p:cNvPr id="4" name="Shape 2"/>
          <p:cNvSpPr/>
          <p:nvPr/>
        </p:nvSpPr>
        <p:spPr>
          <a:xfrm>
            <a:off x="566928" y="1371600"/>
            <a:ext cx="1737360" cy="41148"/>
          </a:xfrm>
          <a:prstGeom prst="rect">
            <a:avLst/>
          </a:prstGeom>
          <a:solidFill>
            <a:srgbClr val="3CB6A6"/>
          </a:solidFill>
          <a:ln/>
        </p:spPr>
      </p:sp>
      <p:sp>
        <p:nvSpPr>
          <p:cNvPr id="5" name="Text 3"/>
          <p:cNvSpPr/>
          <p:nvPr/>
        </p:nvSpPr>
        <p:spPr>
          <a:xfrm>
            <a:off x="10728655" y="310896"/>
            <a:ext cx="914400" cy="274320"/>
          </a:xfrm>
          <a:prstGeom prst="rect">
            <a:avLst/>
          </a:prstGeom>
          <a:noFill/>
          <a:ln/>
        </p:spPr>
        <p:txBody>
          <a:bodyPr wrap="square" rtlCol="0" anchor="ctr"/>
          <a:lstStyle/>
          <a:p>
            <a:pPr algn="r" indent="0" marL="0">
              <a:buNone/>
            </a:pPr>
            <a:r>
              <a:rPr lang="en-US" sz="1100" dirty="0">
                <a:solidFill>
                  <a:srgbClr val="6E7F87"/>
                </a:solidFill>
                <a:latin typeface="Calibri" pitchFamily="34" charset="0"/>
                <a:ea typeface="Calibri" pitchFamily="34" charset="-122"/>
                <a:cs typeface="Calibri" pitchFamily="34" charset="-120"/>
              </a:rPr>
              <a:t>7 / 15</a:t>
            </a:r>
            <a:endParaRPr lang="en-US" sz="1100" dirty="0"/>
          </a:p>
        </p:txBody>
      </p:sp>
      <p:sp>
        <p:nvSpPr>
          <p:cNvPr id="6" name="Shape 4"/>
          <p:cNvSpPr/>
          <p:nvPr/>
        </p:nvSpPr>
        <p:spPr>
          <a:xfrm>
            <a:off x="566928" y="1600200"/>
            <a:ext cx="5486400" cy="1965960"/>
          </a:xfrm>
          <a:prstGeom prst="roundRect">
            <a:avLst>
              <a:gd name="adj" fmla="val 3256"/>
            </a:avLst>
          </a:prstGeom>
          <a:solidFill>
            <a:srgbClr val="1B2B32"/>
          </a:solidFill>
          <a:ln w="12700">
            <a:solidFill>
              <a:srgbClr val="26363D"/>
            </a:solidFill>
            <a:prstDash val="solid"/>
          </a:ln>
        </p:spPr>
      </p:sp>
      <p:sp>
        <p:nvSpPr>
          <p:cNvPr id="7" name="Shape 5"/>
          <p:cNvSpPr/>
          <p:nvPr/>
        </p:nvSpPr>
        <p:spPr>
          <a:xfrm>
            <a:off x="566928" y="1719072"/>
            <a:ext cx="50292" cy="1728216"/>
          </a:xfrm>
          <a:prstGeom prst="rect">
            <a:avLst/>
          </a:prstGeom>
          <a:solidFill>
            <a:srgbClr val="E97A60"/>
          </a:solidFill>
          <a:ln/>
        </p:spPr>
      </p:sp>
      <p:sp>
        <p:nvSpPr>
          <p:cNvPr id="8" name="Text 6"/>
          <p:cNvSpPr/>
          <p:nvPr/>
        </p:nvSpPr>
        <p:spPr>
          <a:xfrm>
            <a:off x="768096" y="1719072"/>
            <a:ext cx="5157216" cy="256032"/>
          </a:xfrm>
          <a:prstGeom prst="rect">
            <a:avLst/>
          </a:prstGeom>
          <a:noFill/>
          <a:ln/>
        </p:spPr>
        <p:txBody>
          <a:bodyPr wrap="square" rtlCol="0" anchor="ctr"/>
          <a:lstStyle/>
          <a:p>
            <a:pPr indent="0" marL="0">
              <a:buNone/>
            </a:pPr>
            <a:r>
              <a:rPr lang="en-US" sz="1000" b="1" spc="100" kern="0" dirty="0">
                <a:solidFill>
                  <a:srgbClr val="E97A60"/>
                </a:solidFill>
                <a:latin typeface="Calibri" pitchFamily="34" charset="0"/>
                <a:ea typeface="Calibri" pitchFamily="34" charset="-122"/>
                <a:cs typeface="Calibri" pitchFamily="34" charset="-120"/>
              </a:rPr>
              <a:t>THE ATTACK — IMPORTANCE-GUIDED</a:t>
            </a:r>
            <a:endParaRPr lang="en-US" sz="1000" dirty="0"/>
          </a:p>
        </p:txBody>
      </p:sp>
      <p:sp>
        <p:nvSpPr>
          <p:cNvPr id="9" name="Text 7"/>
          <p:cNvSpPr/>
          <p:nvPr/>
        </p:nvSpPr>
        <p:spPr>
          <a:xfrm>
            <a:off x="768096" y="2002536"/>
            <a:ext cx="5120640" cy="1435608"/>
          </a:xfrm>
          <a:prstGeom prst="rect">
            <a:avLst/>
          </a:prstGeom>
          <a:noFill/>
          <a:ln/>
        </p:spPr>
        <p:txBody>
          <a:bodyPr wrap="square" rtlCol="0" anchor="t"/>
          <a:lstStyle/>
          <a:p>
            <a:pPr indent="0" marL="0">
              <a:lnSpc>
                <a:spcPct val="110000"/>
              </a:lnSpc>
              <a:buNone/>
            </a:pPr>
            <a:r>
              <a:rPr lang="en-US" sz="1150" b="1" dirty="0">
                <a:solidFill>
                  <a:srgbClr val="EAF0F1"/>
                </a:solidFill>
                <a:latin typeface="Calibri" pitchFamily="34" charset="0"/>
                <a:ea typeface="Calibri" pitchFamily="34" charset="-122"/>
                <a:cs typeface="Calibri" pitchFamily="34" charset="-120"/>
              </a:rPr>
              <a:t>Disguise only the model's highest-weight words, with look-alikes my hand-list missed. </a:t>
            </a:r>
            <a:pPr indent="0" marL="0">
              <a:lnSpc>
                <a:spcPct val="110000"/>
              </a:lnSpc>
              <a:buNone/>
            </a:pPr>
            <a:r>
              <a:rPr lang="en-US" sz="1150" dirty="0">
                <a:solidFill>
                  <a:srgbClr val="95A6AD"/>
                </a:solidFill>
                <a:latin typeface="Calibri" pitchFamily="34" charset="0"/>
                <a:ea typeface="Calibri" pitchFamily="34" charset="-122"/>
                <a:cs typeface="Calibri" pitchFamily="34" charset="-120"/>
              </a:rPr>
              <a:t>Same 8 edits, aimed, cut recall 0.98 → 0.74; a typical email flips at edit (Levenshtein) distance ≈ 9. Even the defended model drops to 0.88.</a:t>
            </a:r>
            <a:endParaRPr lang="en-US" sz="1150" dirty="0"/>
          </a:p>
        </p:txBody>
      </p:sp>
      <p:sp>
        <p:nvSpPr>
          <p:cNvPr id="10" name="Shape 8"/>
          <p:cNvSpPr/>
          <p:nvPr/>
        </p:nvSpPr>
        <p:spPr>
          <a:xfrm>
            <a:off x="566928" y="3703320"/>
            <a:ext cx="5486400" cy="1920240"/>
          </a:xfrm>
          <a:prstGeom prst="roundRect">
            <a:avLst>
              <a:gd name="adj" fmla="val 3333"/>
            </a:avLst>
          </a:prstGeom>
          <a:solidFill>
            <a:srgbClr val="1B2B32"/>
          </a:solidFill>
          <a:ln w="12700">
            <a:solidFill>
              <a:srgbClr val="26363D"/>
            </a:solidFill>
            <a:prstDash val="solid"/>
          </a:ln>
        </p:spPr>
      </p:sp>
      <p:sp>
        <p:nvSpPr>
          <p:cNvPr id="11" name="Shape 9"/>
          <p:cNvSpPr/>
          <p:nvPr/>
        </p:nvSpPr>
        <p:spPr>
          <a:xfrm>
            <a:off x="566928" y="3822192"/>
            <a:ext cx="50292" cy="1682496"/>
          </a:xfrm>
          <a:prstGeom prst="rect">
            <a:avLst/>
          </a:prstGeom>
          <a:solidFill>
            <a:srgbClr val="3CB6A6"/>
          </a:solidFill>
          <a:ln/>
        </p:spPr>
      </p:sp>
      <p:sp>
        <p:nvSpPr>
          <p:cNvPr id="12" name="Text 10"/>
          <p:cNvSpPr/>
          <p:nvPr/>
        </p:nvSpPr>
        <p:spPr>
          <a:xfrm>
            <a:off x="768096" y="3822192"/>
            <a:ext cx="5157216" cy="256032"/>
          </a:xfrm>
          <a:prstGeom prst="rect">
            <a:avLst/>
          </a:prstGeom>
          <a:noFill/>
          <a:ln/>
        </p:spPr>
        <p:txBody>
          <a:bodyPr wrap="square" rtlCol="0" anchor="ctr"/>
          <a:lstStyle/>
          <a:p>
            <a:pPr indent="0" marL="0">
              <a:buNone/>
            </a:pPr>
            <a:r>
              <a:rPr lang="en-US" sz="1000" b="1" spc="100" kern="0" dirty="0">
                <a:solidFill>
                  <a:srgbClr val="3CB6A6"/>
                </a:solidFill>
                <a:latin typeface="Calibri" pitchFamily="34" charset="0"/>
                <a:ea typeface="Calibri" pitchFamily="34" charset="-122"/>
                <a:cs typeface="Calibri" pitchFamily="34" charset="-120"/>
              </a:rPr>
              <a:t>THE FIX — UTS-39 CERTIFICATE</a:t>
            </a:r>
            <a:endParaRPr lang="en-US" sz="1000" dirty="0"/>
          </a:p>
        </p:txBody>
      </p:sp>
      <p:sp>
        <p:nvSpPr>
          <p:cNvPr id="13" name="Text 11"/>
          <p:cNvSpPr/>
          <p:nvPr/>
        </p:nvSpPr>
        <p:spPr>
          <a:xfrm>
            <a:off x="768096" y="4105656"/>
            <a:ext cx="5120640" cy="1389888"/>
          </a:xfrm>
          <a:prstGeom prst="rect">
            <a:avLst/>
          </a:prstGeom>
          <a:noFill/>
          <a:ln/>
        </p:spPr>
        <p:txBody>
          <a:bodyPr wrap="square" rtlCol="0" anchor="t"/>
          <a:lstStyle/>
          <a:p>
            <a:pPr indent="0" marL="0">
              <a:lnSpc>
                <a:spcPct val="110000"/>
              </a:lnSpc>
              <a:buNone/>
            </a:pPr>
            <a:r>
              <a:rPr lang="en-US" sz="1150" b="1" dirty="0">
                <a:solidFill>
                  <a:srgbClr val="EAF0F1"/>
                </a:solidFill>
                <a:latin typeface="Calibri" pitchFamily="34" charset="0"/>
                <a:ea typeface="Calibri" pitchFamily="34" charset="-122"/>
                <a:cs typeface="Calibri" pitchFamily="34" charset="-120"/>
              </a:rPr>
              <a:t>Swap the hand-list for the full official confusables list (Unicode UTS #39), as browsers use. </a:t>
            </a:r>
            <a:pPr indent="0" marL="0">
              <a:lnSpc>
                <a:spcPct val="110000"/>
              </a:lnSpc>
              <a:buNone/>
            </a:pPr>
            <a:r>
              <a:rPr lang="en-US" sz="1150" dirty="0">
                <a:solidFill>
                  <a:srgbClr val="95A6AD"/>
                </a:solidFill>
                <a:latin typeface="Calibri" pitchFamily="34" charset="0"/>
                <a:ea typeface="Calibri" pitchFamily="34" charset="-122"/>
                <a:cs typeface="Calibri" pitchFamily="34" charset="-120"/>
              </a:rPr>
              <a:t>Recall back to 0.998, and a proof: cleaning restores the exact original for 100% of phishing — the decision provably cannot change.</a:t>
            </a:r>
            <a:endParaRPr lang="en-US" sz="1150" dirty="0"/>
          </a:p>
        </p:txBody>
      </p:sp>
      <p:sp>
        <p:nvSpPr>
          <p:cNvPr id="14" name="Text 12"/>
          <p:cNvSpPr/>
          <p:nvPr/>
        </p:nvSpPr>
        <p:spPr>
          <a:xfrm>
            <a:off x="6675120" y="1828800"/>
            <a:ext cx="4937760" cy="1280160"/>
          </a:xfrm>
          <a:prstGeom prst="rect">
            <a:avLst/>
          </a:prstGeom>
          <a:noFill/>
          <a:ln/>
        </p:spPr>
        <p:txBody>
          <a:bodyPr wrap="square" rtlCol="0" anchor="ctr"/>
          <a:lstStyle/>
          <a:p>
            <a:pPr algn="ctr" indent="0" marL="0">
              <a:buNone/>
            </a:pPr>
            <a:r>
              <a:rPr lang="en-US" sz="8800" b="1" dirty="0">
                <a:solidFill>
                  <a:srgbClr val="D4AB4E"/>
                </a:solidFill>
                <a:latin typeface="Cambria" pitchFamily="34" charset="0"/>
                <a:ea typeface="Cambria" pitchFamily="34" charset="-122"/>
                <a:cs typeface="Cambria" pitchFamily="34" charset="-120"/>
              </a:rPr>
              <a:t>100%</a:t>
            </a:r>
            <a:endParaRPr lang="en-US" sz="8800" dirty="0"/>
          </a:p>
        </p:txBody>
      </p:sp>
      <p:sp>
        <p:nvSpPr>
          <p:cNvPr id="15" name="Text 13"/>
          <p:cNvSpPr/>
          <p:nvPr/>
        </p:nvSpPr>
        <p:spPr>
          <a:xfrm>
            <a:off x="6675120" y="3108960"/>
            <a:ext cx="4937760" cy="822960"/>
          </a:xfrm>
          <a:prstGeom prst="rect">
            <a:avLst/>
          </a:prstGeom>
          <a:noFill/>
          <a:ln/>
        </p:spPr>
        <p:txBody>
          <a:bodyPr wrap="square" rtlCol="0" anchor="t"/>
          <a:lstStyle/>
          <a:p>
            <a:pPr algn="ctr" indent="0" marL="0">
              <a:buNone/>
            </a:pPr>
            <a:r>
              <a:rPr lang="en-US" sz="1300" dirty="0">
                <a:solidFill>
                  <a:srgbClr val="EAF0F1"/>
                </a:solidFill>
                <a:latin typeface="Calibri" pitchFamily="34" charset="0"/>
                <a:ea typeface="Calibri" pitchFamily="34" charset="-122"/>
                <a:cs typeface="Calibri" pitchFamily="34" charset="-120"/>
              </a:rPr>
              <a:t>of phishing provably unchanged by the whole family of look-alike letters  (0% with the old list)</a:t>
            </a:r>
            <a:endParaRPr lang="en-US" sz="1300" dirty="0"/>
          </a:p>
        </p:txBody>
      </p:sp>
      <p:graphicFrame>
        <p:nvGraphicFramePr>
          <p:cNvPr id="16" name="Chart 0" descr=""/>
          <p:cNvGraphicFramePr/>
          <p:nvPr/>
        </p:nvGraphicFramePr>
        <p:xfrm>
          <a:off x="7223760" y="4023360"/>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566928" y="6437376"/>
            <a:ext cx="11057839" cy="274320"/>
          </a:xfrm>
          <a:prstGeom prst="rect">
            <a:avLst/>
          </a:prstGeom>
          <a:noFill/>
          <a:ln/>
        </p:spPr>
        <p:txBody>
          <a:bodyPr wrap="square" rtlCol="0" anchor="ctr"/>
          <a:lstStyle/>
          <a:p>
            <a:pPr indent="0" marL="0">
              <a:buNone/>
            </a:pPr>
            <a:r>
              <a:rPr lang="en-US" sz="950" i="1" dirty="0">
                <a:solidFill>
                  <a:srgbClr val="7C8F98"/>
                </a:solidFill>
                <a:latin typeface="Calibri" pitchFamily="34" charset="0"/>
                <a:ea typeface="Calibri" pitchFamily="34" charset="-122"/>
                <a:cs typeface="Calibri" pitchFamily="34" charset="-120"/>
              </a:rPr>
              <a:t>the arms race ends by raising the cost of attack, not by a lucky score</a:t>
            </a:r>
            <a:endParaRPr lang="en-US" sz="9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310896"/>
            <a:ext cx="9144000" cy="274320"/>
          </a:xfrm>
          <a:prstGeom prst="rect">
            <a:avLst/>
          </a:prstGeom>
          <a:noFill/>
          <a:ln/>
        </p:spPr>
        <p:txBody>
          <a:bodyPr wrap="square" rtlCol="0" anchor="ctr"/>
          <a:lstStyle/>
          <a:p>
            <a:pPr indent="0" marL="0">
              <a:buNone/>
            </a:pPr>
            <a:r>
              <a:rPr lang="en-US" sz="1100" b="1" spc="200" kern="0" dirty="0">
                <a:solidFill>
                  <a:srgbClr val="3CB6A6"/>
                </a:solidFill>
                <a:latin typeface="Calibri" pitchFamily="34" charset="0"/>
                <a:ea typeface="Calibri" pitchFamily="34" charset="-122"/>
                <a:cs typeface="Calibri" pitchFamily="34" charset="-120"/>
              </a:rPr>
              <a:t>ATTACK 3 · DILUTION → CERTIFICATE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indent="0" marL="0">
              <a:buNone/>
            </a:pPr>
            <a:r>
              <a:rPr lang="en-US" sz="2500" b="1" dirty="0">
                <a:solidFill>
                  <a:srgbClr val="EAF0F1"/>
                </a:solidFill>
                <a:latin typeface="Cambria" pitchFamily="34" charset="0"/>
                <a:ea typeface="Cambria" pitchFamily="34" charset="-122"/>
                <a:cs typeface="Cambria" pitchFamily="34" charset="-120"/>
              </a:rPr>
              <a:t>Hack the words — and a model that can't be diluted.</a:t>
            </a:r>
            <a:endParaRPr lang="en-US" sz="2500" dirty="0"/>
          </a:p>
        </p:txBody>
      </p:sp>
      <p:sp>
        <p:nvSpPr>
          <p:cNvPr id="4" name="Shape 2"/>
          <p:cNvSpPr/>
          <p:nvPr/>
        </p:nvSpPr>
        <p:spPr>
          <a:xfrm>
            <a:off x="566928" y="1371600"/>
            <a:ext cx="1737360" cy="41148"/>
          </a:xfrm>
          <a:prstGeom prst="rect">
            <a:avLst/>
          </a:prstGeom>
          <a:solidFill>
            <a:srgbClr val="3CB6A6"/>
          </a:solidFill>
          <a:ln/>
        </p:spPr>
      </p:sp>
      <p:sp>
        <p:nvSpPr>
          <p:cNvPr id="5" name="Text 3"/>
          <p:cNvSpPr/>
          <p:nvPr/>
        </p:nvSpPr>
        <p:spPr>
          <a:xfrm>
            <a:off x="10728655" y="310896"/>
            <a:ext cx="914400" cy="274320"/>
          </a:xfrm>
          <a:prstGeom prst="rect">
            <a:avLst/>
          </a:prstGeom>
          <a:noFill/>
          <a:ln/>
        </p:spPr>
        <p:txBody>
          <a:bodyPr wrap="square" rtlCol="0" anchor="ctr"/>
          <a:lstStyle/>
          <a:p>
            <a:pPr algn="r" indent="0" marL="0">
              <a:buNone/>
            </a:pPr>
            <a:r>
              <a:rPr lang="en-US" sz="1100" dirty="0">
                <a:solidFill>
                  <a:srgbClr val="6E7F87"/>
                </a:solidFill>
                <a:latin typeface="Calibri" pitchFamily="34" charset="0"/>
                <a:ea typeface="Calibri" pitchFamily="34" charset="-122"/>
                <a:cs typeface="Calibri" pitchFamily="34" charset="-120"/>
              </a:rPr>
              <a:t>8 / 15</a:t>
            </a:r>
            <a:endParaRPr lang="en-US" sz="1100" dirty="0"/>
          </a:p>
        </p:txBody>
      </p:sp>
      <p:graphicFrame>
        <p:nvGraphicFramePr>
          <p:cNvPr id="6" name="Chart 0" descr=""/>
          <p:cNvGraphicFramePr/>
          <p:nvPr/>
        </p:nvGraphicFramePr>
        <p:xfrm>
          <a:off x="566928" y="1828800"/>
          <a:ext cx="6583680" cy="38404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66928" y="5760720"/>
            <a:ext cx="6583680" cy="274320"/>
          </a:xfrm>
          <a:prstGeom prst="rect">
            <a:avLst/>
          </a:prstGeom>
          <a:noFill/>
          <a:ln/>
        </p:spPr>
        <p:txBody>
          <a:bodyPr wrap="square" rtlCol="0" anchor="ctr"/>
          <a:lstStyle/>
          <a:p>
            <a:pPr algn="ctr" indent="0" marL="0">
              <a:buNone/>
            </a:pPr>
            <a:r>
              <a:rPr lang="en-US" sz="1100" i="1" dirty="0">
                <a:solidFill>
                  <a:srgbClr val="95A6AD"/>
                </a:solidFill>
                <a:latin typeface="Calibri" pitchFamily="34" charset="0"/>
                <a:ea typeface="Calibri" pitchFamily="34" charset="-122"/>
                <a:cs typeface="Calibri" pitchFamily="34" charset="-120"/>
              </a:rPr>
              <a:t>innocent filler words added  →</a:t>
            </a:r>
            <a:endParaRPr lang="en-US" sz="1100" dirty="0"/>
          </a:p>
        </p:txBody>
      </p:sp>
      <p:sp>
        <p:nvSpPr>
          <p:cNvPr id="8" name="Shape 5"/>
          <p:cNvSpPr/>
          <p:nvPr/>
        </p:nvSpPr>
        <p:spPr>
          <a:xfrm>
            <a:off x="7406640" y="1828800"/>
            <a:ext cx="4206240" cy="1783080"/>
          </a:xfrm>
          <a:prstGeom prst="roundRect">
            <a:avLst>
              <a:gd name="adj" fmla="val 3590"/>
            </a:avLst>
          </a:prstGeom>
          <a:solidFill>
            <a:srgbClr val="1B2B32"/>
          </a:solidFill>
          <a:ln w="12700">
            <a:solidFill>
              <a:srgbClr val="26363D"/>
            </a:solidFill>
            <a:prstDash val="solid"/>
          </a:ln>
        </p:spPr>
      </p:sp>
      <p:sp>
        <p:nvSpPr>
          <p:cNvPr id="9" name="Shape 6"/>
          <p:cNvSpPr/>
          <p:nvPr/>
        </p:nvSpPr>
        <p:spPr>
          <a:xfrm>
            <a:off x="7406640" y="1947672"/>
            <a:ext cx="50292" cy="1545336"/>
          </a:xfrm>
          <a:prstGeom prst="rect">
            <a:avLst/>
          </a:prstGeom>
          <a:solidFill>
            <a:srgbClr val="E97A60"/>
          </a:solidFill>
          <a:ln/>
        </p:spPr>
      </p:sp>
      <p:sp>
        <p:nvSpPr>
          <p:cNvPr id="10" name="Text 7"/>
          <p:cNvSpPr/>
          <p:nvPr/>
        </p:nvSpPr>
        <p:spPr>
          <a:xfrm>
            <a:off x="7607808" y="1947672"/>
            <a:ext cx="3877056" cy="256032"/>
          </a:xfrm>
          <a:prstGeom prst="rect">
            <a:avLst/>
          </a:prstGeom>
          <a:noFill/>
          <a:ln/>
        </p:spPr>
        <p:txBody>
          <a:bodyPr wrap="square" rtlCol="0" anchor="ctr"/>
          <a:lstStyle/>
          <a:p>
            <a:pPr indent="0" marL="0">
              <a:buNone/>
            </a:pPr>
            <a:r>
              <a:rPr lang="en-US" sz="1000" b="1" spc="100" kern="0" dirty="0">
                <a:solidFill>
                  <a:srgbClr val="E97A60"/>
                </a:solidFill>
                <a:latin typeface="Calibri" pitchFamily="34" charset="0"/>
                <a:ea typeface="Calibri" pitchFamily="34" charset="-122"/>
                <a:cs typeface="Calibri" pitchFamily="34" charset="-120"/>
              </a:rPr>
              <a:t>THE ATTACK — DILUTION</a:t>
            </a:r>
            <a:endParaRPr lang="en-US" sz="1000" dirty="0"/>
          </a:p>
        </p:txBody>
      </p:sp>
      <p:sp>
        <p:nvSpPr>
          <p:cNvPr id="11" name="Text 8"/>
          <p:cNvSpPr/>
          <p:nvPr/>
        </p:nvSpPr>
        <p:spPr>
          <a:xfrm>
            <a:off x="7607808" y="2231136"/>
            <a:ext cx="3840480" cy="1252728"/>
          </a:xfrm>
          <a:prstGeom prst="rect">
            <a:avLst/>
          </a:prstGeom>
          <a:noFill/>
          <a:ln/>
        </p:spPr>
        <p:txBody>
          <a:bodyPr wrap="square" rtlCol="0" anchor="t"/>
          <a:lstStyle/>
          <a:p>
            <a:pPr indent="0" marL="0">
              <a:lnSpc>
                <a:spcPct val="110000"/>
              </a:lnSpc>
              <a:buNone/>
            </a:pPr>
            <a:r>
              <a:rPr lang="en-US" sz="1150" b="1" dirty="0">
                <a:solidFill>
                  <a:srgbClr val="EAF0F1"/>
                </a:solidFill>
                <a:latin typeface="Calibri" pitchFamily="34" charset="0"/>
                <a:ea typeface="Calibri" pitchFamily="34" charset="-122"/>
                <a:cs typeface="Calibri" pitchFamily="34" charset="-120"/>
              </a:rPr>
              <a:t>Bury the scam in innocent filler (good-word attack, Lowd &amp; Meek 2005). </a:t>
            </a:r>
            <a:pPr indent="0" marL="0">
              <a:lnSpc>
                <a:spcPct val="110000"/>
              </a:lnSpc>
              <a:buNone/>
            </a:pPr>
            <a:r>
              <a:rPr lang="en-US" sz="1150" dirty="0">
                <a:solidFill>
                  <a:srgbClr val="95A6AD"/>
                </a:solidFill>
                <a:latin typeface="Calibri" pitchFamily="34" charset="0"/>
                <a:ea typeface="Calibri" pitchFamily="34" charset="-122"/>
                <a:cs typeface="Calibri" pitchFamily="34" charset="-120"/>
              </a:rPr>
              <a:t>A bag-of-words just adds up evidence, so enough legit words out-vote the scam: recall 0.998 → 0.13.</a:t>
            </a:r>
            <a:endParaRPr lang="en-US" sz="1150" dirty="0"/>
          </a:p>
        </p:txBody>
      </p:sp>
      <p:sp>
        <p:nvSpPr>
          <p:cNvPr id="12" name="Shape 9"/>
          <p:cNvSpPr/>
          <p:nvPr/>
        </p:nvSpPr>
        <p:spPr>
          <a:xfrm>
            <a:off x="7406640" y="3749040"/>
            <a:ext cx="4206240" cy="1920240"/>
          </a:xfrm>
          <a:prstGeom prst="roundRect">
            <a:avLst>
              <a:gd name="adj" fmla="val 3333"/>
            </a:avLst>
          </a:prstGeom>
          <a:solidFill>
            <a:srgbClr val="1B2B32"/>
          </a:solidFill>
          <a:ln w="12700">
            <a:solidFill>
              <a:srgbClr val="26363D"/>
            </a:solidFill>
            <a:prstDash val="solid"/>
          </a:ln>
        </p:spPr>
      </p:sp>
      <p:sp>
        <p:nvSpPr>
          <p:cNvPr id="13" name="Shape 10"/>
          <p:cNvSpPr/>
          <p:nvPr/>
        </p:nvSpPr>
        <p:spPr>
          <a:xfrm>
            <a:off x="7406640" y="3867912"/>
            <a:ext cx="50292" cy="1682496"/>
          </a:xfrm>
          <a:prstGeom prst="rect">
            <a:avLst/>
          </a:prstGeom>
          <a:solidFill>
            <a:srgbClr val="3CB6A6"/>
          </a:solidFill>
          <a:ln/>
        </p:spPr>
      </p:sp>
      <p:sp>
        <p:nvSpPr>
          <p:cNvPr id="14" name="Text 11"/>
          <p:cNvSpPr/>
          <p:nvPr/>
        </p:nvSpPr>
        <p:spPr>
          <a:xfrm>
            <a:off x="7607808" y="3867912"/>
            <a:ext cx="3877056" cy="256032"/>
          </a:xfrm>
          <a:prstGeom prst="rect">
            <a:avLst/>
          </a:prstGeom>
          <a:noFill/>
          <a:ln/>
        </p:spPr>
        <p:txBody>
          <a:bodyPr wrap="square" rtlCol="0" anchor="ctr"/>
          <a:lstStyle/>
          <a:p>
            <a:pPr indent="0" marL="0">
              <a:buNone/>
            </a:pPr>
            <a:r>
              <a:rPr lang="en-US" sz="1000" b="1" spc="100" kern="0" dirty="0">
                <a:solidFill>
                  <a:srgbClr val="3CB6A6"/>
                </a:solidFill>
                <a:latin typeface="Calibri" pitchFamily="34" charset="0"/>
                <a:ea typeface="Calibri" pitchFamily="34" charset="-122"/>
                <a:cs typeface="Calibri" pitchFamily="34" charset="-120"/>
              </a:rPr>
              <a:t>THE FIX — ONE-WAY (MONOTONE)</a:t>
            </a:r>
            <a:endParaRPr lang="en-US" sz="1000" dirty="0"/>
          </a:p>
        </p:txBody>
      </p:sp>
      <p:sp>
        <p:nvSpPr>
          <p:cNvPr id="15" name="Text 12"/>
          <p:cNvSpPr/>
          <p:nvPr/>
        </p:nvSpPr>
        <p:spPr>
          <a:xfrm>
            <a:off x="7607808" y="4151376"/>
            <a:ext cx="3840480" cy="1389888"/>
          </a:xfrm>
          <a:prstGeom prst="rect">
            <a:avLst/>
          </a:prstGeom>
          <a:noFill/>
          <a:ln/>
        </p:spPr>
        <p:txBody>
          <a:bodyPr wrap="square" rtlCol="0" anchor="t"/>
          <a:lstStyle/>
          <a:p>
            <a:pPr indent="0" marL="0">
              <a:lnSpc>
                <a:spcPct val="110000"/>
              </a:lnSpc>
              <a:buNone/>
            </a:pPr>
            <a:r>
              <a:rPr lang="en-US" sz="1150" b="1" dirty="0">
                <a:solidFill>
                  <a:srgbClr val="EAF0F1"/>
                </a:solidFill>
                <a:latin typeface="Calibri" pitchFamily="34" charset="0"/>
                <a:ea typeface="Calibri" pitchFamily="34" charset="-122"/>
                <a:cs typeface="Calibri" pitchFamily="34" charset="-120"/>
              </a:rPr>
              <a:t>Every word can only ADD suspicion, never remove it. </a:t>
            </a:r>
            <a:pPr indent="0" marL="0">
              <a:lnSpc>
                <a:spcPct val="110000"/>
              </a:lnSpc>
              <a:buNone/>
            </a:pPr>
            <a:r>
              <a:rPr lang="en-US" sz="1150" dirty="0">
                <a:solidFill>
                  <a:srgbClr val="95A6AD"/>
                </a:solidFill>
                <a:latin typeface="Calibri" pitchFamily="34" charset="0"/>
                <a:ea typeface="Calibri" pitchFamily="34" charset="-122"/>
                <a:cs typeface="Calibri" pitchFamily="34" charset="-120"/>
              </a:rPr>
              <a:t>So padding can only push the score up — it provably can't clear a scam. Floor 0.87; price: clean F1 0.998 → 0.91. A safety net, not a replacement.</a:t>
            </a:r>
            <a:endParaRPr lang="en-US" sz="1150" dirty="0"/>
          </a:p>
        </p:txBody>
      </p:sp>
      <p:sp>
        <p:nvSpPr>
          <p:cNvPr id="16" name="Text 13"/>
          <p:cNvSpPr/>
          <p:nvPr/>
        </p:nvSpPr>
        <p:spPr>
          <a:xfrm>
            <a:off x="566928" y="6437376"/>
            <a:ext cx="11057839" cy="274320"/>
          </a:xfrm>
          <a:prstGeom prst="rect">
            <a:avLst/>
          </a:prstGeom>
          <a:noFill/>
          <a:ln/>
        </p:spPr>
        <p:txBody>
          <a:bodyPr wrap="square" rtlCol="0" anchor="ctr"/>
          <a:lstStyle/>
          <a:p>
            <a:pPr indent="0" marL="0">
              <a:buNone/>
            </a:pPr>
            <a:r>
              <a:rPr lang="en-US" sz="950" i="1" dirty="0">
                <a:solidFill>
                  <a:srgbClr val="7C8F98"/>
                </a:solidFill>
                <a:latin typeface="Calibri" pitchFamily="34" charset="0"/>
                <a:ea typeface="Calibri" pitchFamily="34" charset="-122"/>
                <a:cs typeface="Calibri" pitchFamily="34" charset="-120"/>
              </a:rPr>
              <a:t>two attack classes now closed by proof: letter tricks, and word-padding</a:t>
            </a:r>
            <a:endParaRPr lang="en-US" sz="9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310896"/>
            <a:ext cx="9144000" cy="274320"/>
          </a:xfrm>
          <a:prstGeom prst="rect">
            <a:avLst/>
          </a:prstGeom>
          <a:noFill/>
          <a:ln/>
        </p:spPr>
        <p:txBody>
          <a:bodyPr wrap="square" rtlCol="0" anchor="ctr"/>
          <a:lstStyle/>
          <a:p>
            <a:pPr indent="0" marL="0">
              <a:buNone/>
            </a:pPr>
            <a:r>
              <a:rPr lang="en-US" sz="1100" b="1" spc="200" kern="0" dirty="0">
                <a:solidFill>
                  <a:srgbClr val="3CB6A6"/>
                </a:solidFill>
                <a:latin typeface="Calibri" pitchFamily="34" charset="0"/>
                <a:ea typeface="Calibri" pitchFamily="34" charset="-122"/>
                <a:cs typeface="Calibri" pitchFamily="34" charset="-120"/>
              </a:rPr>
              <a:t>THE ARC</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indent="0" marL="0">
              <a:buNone/>
            </a:pPr>
            <a:r>
              <a:rPr lang="en-US" sz="2900" b="1" dirty="0">
                <a:solidFill>
                  <a:srgbClr val="EAF0F1"/>
                </a:solidFill>
                <a:latin typeface="Cambria" pitchFamily="34" charset="0"/>
                <a:ea typeface="Cambria" pitchFamily="34" charset="-122"/>
                <a:cs typeface="Cambria" pitchFamily="34" charset="-120"/>
              </a:rPr>
              <a:t>The whole arms race, in one line.</a:t>
            </a:r>
            <a:endParaRPr lang="en-US" sz="2900" dirty="0"/>
          </a:p>
        </p:txBody>
      </p:sp>
      <p:sp>
        <p:nvSpPr>
          <p:cNvPr id="4" name="Shape 2"/>
          <p:cNvSpPr/>
          <p:nvPr/>
        </p:nvSpPr>
        <p:spPr>
          <a:xfrm>
            <a:off x="566928" y="1371600"/>
            <a:ext cx="1737360" cy="41148"/>
          </a:xfrm>
          <a:prstGeom prst="rect">
            <a:avLst/>
          </a:prstGeom>
          <a:solidFill>
            <a:srgbClr val="3CB6A6"/>
          </a:solidFill>
          <a:ln/>
        </p:spPr>
      </p:sp>
      <p:sp>
        <p:nvSpPr>
          <p:cNvPr id="5" name="Text 3"/>
          <p:cNvSpPr/>
          <p:nvPr/>
        </p:nvSpPr>
        <p:spPr>
          <a:xfrm>
            <a:off x="10728655" y="310896"/>
            <a:ext cx="914400" cy="274320"/>
          </a:xfrm>
          <a:prstGeom prst="rect">
            <a:avLst/>
          </a:prstGeom>
          <a:noFill/>
          <a:ln/>
        </p:spPr>
        <p:txBody>
          <a:bodyPr wrap="square" rtlCol="0" anchor="ctr"/>
          <a:lstStyle/>
          <a:p>
            <a:pPr algn="r" indent="0" marL="0">
              <a:buNone/>
            </a:pPr>
            <a:r>
              <a:rPr lang="en-US" sz="1100" dirty="0">
                <a:solidFill>
                  <a:srgbClr val="6E7F87"/>
                </a:solidFill>
                <a:latin typeface="Calibri" pitchFamily="34" charset="0"/>
                <a:ea typeface="Calibri" pitchFamily="34" charset="-122"/>
                <a:cs typeface="Calibri" pitchFamily="34" charset="-120"/>
              </a:rPr>
              <a:t>9 / 15</a:t>
            </a:r>
            <a:endParaRPr lang="en-US" sz="1100" dirty="0"/>
          </a:p>
        </p:txBody>
      </p:sp>
      <p:graphicFrame>
        <p:nvGraphicFramePr>
          <p:cNvPr id="6" name="Chart 0" descr=""/>
          <p:cNvGraphicFramePr/>
          <p:nvPr/>
        </p:nvGraphicFramePr>
        <p:xfrm>
          <a:off x="640080" y="1828800"/>
          <a:ext cx="10972800" cy="38404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40080" y="5806440"/>
            <a:ext cx="10972800" cy="457200"/>
          </a:xfrm>
          <a:prstGeom prst="rect">
            <a:avLst/>
          </a:prstGeom>
          <a:noFill/>
          <a:ln/>
        </p:spPr>
        <p:txBody>
          <a:bodyPr wrap="square" rtlCol="0" anchor="ctr"/>
          <a:lstStyle/>
          <a:p>
            <a:pPr algn="ctr" indent="0" marL="0">
              <a:buNone/>
            </a:pPr>
            <a:r>
              <a:rPr lang="en-US" sz="1300" i="1" dirty="0">
                <a:solidFill>
                  <a:srgbClr val="95A6AD"/>
                </a:solidFill>
                <a:latin typeface="Calibri" pitchFamily="34" charset="0"/>
                <a:ea typeface="Calibri" pitchFamily="34" charset="-122"/>
                <a:cs typeface="Calibri" pitchFamily="34" charset="-120"/>
              </a:rPr>
              <a:t>Each dip is an attack; each recovery is a defence. Two recoveries (UTS-39, monotone) are guaranteed, not just measured. The open frontier — full rewording — is why fusion matters.</a:t>
            </a:r>
            <a:endParaRPr lang="en-US" sz="1300" dirty="0"/>
          </a:p>
        </p:txBody>
      </p:sp>
      <p:sp>
        <p:nvSpPr>
          <p:cNvPr id="8" name="Text 5"/>
          <p:cNvSpPr/>
          <p:nvPr/>
        </p:nvSpPr>
        <p:spPr>
          <a:xfrm>
            <a:off x="566928" y="6437376"/>
            <a:ext cx="11057839" cy="274320"/>
          </a:xfrm>
          <a:prstGeom prst="rect">
            <a:avLst/>
          </a:prstGeom>
          <a:noFill/>
          <a:ln/>
        </p:spPr>
        <p:txBody>
          <a:bodyPr wrap="square" rtlCol="0" anchor="ctr"/>
          <a:lstStyle/>
          <a:p>
            <a:pPr indent="0" marL="0">
              <a:buNone/>
            </a:pPr>
            <a:r>
              <a:rPr lang="en-US" sz="950" i="1" dirty="0">
                <a:solidFill>
                  <a:srgbClr val="7C8F98"/>
                </a:solidFill>
                <a:latin typeface="Calibri" pitchFamily="34" charset="0"/>
                <a:ea typeface="Calibri" pitchFamily="34" charset="-122"/>
                <a:cs typeface="Calibri" pitchFamily="34" charset="-120"/>
              </a:rPr>
              <a:t>every fix provoked a smarter attack — two are now closed by proof</a:t>
            </a:r>
            <a:endParaRPr lang="en-US" sz="9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310896"/>
            <a:ext cx="9144000" cy="274320"/>
          </a:xfrm>
          <a:prstGeom prst="rect">
            <a:avLst/>
          </a:prstGeom>
          <a:noFill/>
          <a:ln/>
        </p:spPr>
        <p:txBody>
          <a:bodyPr wrap="square" rtlCol="0" anchor="ctr"/>
          <a:lstStyle/>
          <a:p>
            <a:pPr indent="0" marL="0">
              <a:buNone/>
            </a:pPr>
            <a:r>
              <a:rPr lang="en-US" sz="1100" b="1" spc="200" kern="0" dirty="0">
                <a:solidFill>
                  <a:srgbClr val="3CB6A6"/>
                </a:solidFill>
                <a:latin typeface="Calibri" pitchFamily="34" charset="0"/>
                <a:ea typeface="Calibri" pitchFamily="34" charset="-122"/>
                <a:cs typeface="Calibri" pitchFamily="34" charset="-120"/>
              </a:rPr>
              <a:t>REALITY CHECK · SPACE &amp; TIME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indent="0" marL="0">
              <a:buNone/>
            </a:pPr>
            <a:r>
              <a:rPr lang="en-US" sz="2900" b="1" dirty="0">
                <a:solidFill>
                  <a:srgbClr val="EAF0F1"/>
                </a:solidFill>
                <a:latin typeface="Cambria" pitchFamily="34" charset="0"/>
                <a:ea typeface="Cambria" pitchFamily="34" charset="-122"/>
                <a:cs typeface="Cambria" pitchFamily="34" charset="-120"/>
              </a:rPr>
              <a:t>A different inbox, and a different year.</a:t>
            </a:r>
            <a:endParaRPr lang="en-US" sz="2900" dirty="0"/>
          </a:p>
        </p:txBody>
      </p:sp>
      <p:sp>
        <p:nvSpPr>
          <p:cNvPr id="4" name="Shape 2"/>
          <p:cNvSpPr/>
          <p:nvPr/>
        </p:nvSpPr>
        <p:spPr>
          <a:xfrm>
            <a:off x="566928" y="1371600"/>
            <a:ext cx="1737360" cy="41148"/>
          </a:xfrm>
          <a:prstGeom prst="rect">
            <a:avLst/>
          </a:prstGeom>
          <a:solidFill>
            <a:srgbClr val="3CB6A6"/>
          </a:solidFill>
          <a:ln/>
        </p:spPr>
      </p:sp>
      <p:sp>
        <p:nvSpPr>
          <p:cNvPr id="5" name="Text 3"/>
          <p:cNvSpPr/>
          <p:nvPr/>
        </p:nvSpPr>
        <p:spPr>
          <a:xfrm>
            <a:off x="10728655" y="310896"/>
            <a:ext cx="914400" cy="274320"/>
          </a:xfrm>
          <a:prstGeom prst="rect">
            <a:avLst/>
          </a:prstGeom>
          <a:noFill/>
          <a:ln/>
        </p:spPr>
        <p:txBody>
          <a:bodyPr wrap="square" rtlCol="0" anchor="ctr"/>
          <a:lstStyle/>
          <a:p>
            <a:pPr algn="r" indent="0" marL="0">
              <a:buNone/>
            </a:pPr>
            <a:r>
              <a:rPr lang="en-US" sz="1100" dirty="0">
                <a:solidFill>
                  <a:srgbClr val="6E7F87"/>
                </a:solidFill>
                <a:latin typeface="Calibri" pitchFamily="34" charset="0"/>
                <a:ea typeface="Calibri" pitchFamily="34" charset="-122"/>
                <a:cs typeface="Calibri" pitchFamily="34" charset="-120"/>
              </a:rPr>
              <a:t>10 / 15</a:t>
            </a:r>
            <a:endParaRPr lang="en-US" sz="1100" dirty="0"/>
          </a:p>
        </p:txBody>
      </p:sp>
      <p:sp>
        <p:nvSpPr>
          <p:cNvPr id="6" name="Text 4"/>
          <p:cNvSpPr/>
          <p:nvPr/>
        </p:nvSpPr>
        <p:spPr>
          <a:xfrm>
            <a:off x="566928" y="1600200"/>
            <a:ext cx="5486400" cy="274320"/>
          </a:xfrm>
          <a:prstGeom prst="rect">
            <a:avLst/>
          </a:prstGeom>
          <a:noFill/>
          <a:ln/>
        </p:spPr>
        <p:txBody>
          <a:bodyPr wrap="square" rtlCol="0" anchor="ctr"/>
          <a:lstStyle/>
          <a:p>
            <a:pPr indent="0" marL="0">
              <a:buNone/>
            </a:pPr>
            <a:r>
              <a:rPr lang="en-US" sz="1200" b="1" spc="100" kern="0" dirty="0">
                <a:solidFill>
                  <a:srgbClr val="5FA3C0"/>
                </a:solidFill>
                <a:latin typeface="Calibri" pitchFamily="34" charset="0"/>
                <a:ea typeface="Calibri" pitchFamily="34" charset="-122"/>
                <a:cs typeface="Calibri" pitchFamily="34" charset="-120"/>
              </a:rPr>
              <a:t>SPACE — a different inbox</a:t>
            </a:r>
            <a:endParaRPr lang="en-US" sz="1200" dirty="0"/>
          </a:p>
        </p:txBody>
      </p:sp>
      <p:sp>
        <p:nvSpPr>
          <p:cNvPr id="7" name="Text 5"/>
          <p:cNvSpPr/>
          <p:nvPr/>
        </p:nvSpPr>
        <p:spPr>
          <a:xfrm>
            <a:off x="566928" y="1965960"/>
            <a:ext cx="5486400" cy="822960"/>
          </a:xfrm>
          <a:prstGeom prst="rect">
            <a:avLst/>
          </a:prstGeom>
          <a:noFill/>
          <a:ln/>
        </p:spPr>
        <p:txBody>
          <a:bodyPr wrap="square" rtlCol="0" anchor="ctr"/>
          <a:lstStyle/>
          <a:p>
            <a:pPr indent="0" marL="0">
              <a:buNone/>
            </a:pPr>
            <a:r>
              <a:rPr lang="en-US" sz="3400" b="1" dirty="0">
                <a:solidFill>
                  <a:srgbClr val="3CB6A6"/>
                </a:solidFill>
                <a:latin typeface="Cambria" pitchFamily="34" charset="0"/>
                <a:ea typeface="Cambria" pitchFamily="34" charset="-122"/>
                <a:cs typeface="Cambria" pitchFamily="34" charset="-120"/>
              </a:rPr>
              <a:t>0.998</a:t>
            </a:r>
            <a:pPr indent="0" marL="0">
              <a:buNone/>
            </a:pPr>
            <a:r>
              <a:rPr lang="en-US" sz="2600" dirty="0">
                <a:solidFill>
                  <a:srgbClr val="6E7F87"/>
                </a:solidFill>
                <a:latin typeface="Cambria" pitchFamily="34" charset="0"/>
                <a:ea typeface="Cambria" pitchFamily="34" charset="-122"/>
                <a:cs typeface="Cambria" pitchFamily="34" charset="-120"/>
              </a:rPr>
              <a:t>  →  </a:t>
            </a:r>
            <a:pPr indent="0" marL="0">
              <a:buNone/>
            </a:pPr>
            <a:r>
              <a:rPr lang="en-US" sz="3400" b="1" dirty="0">
                <a:solidFill>
                  <a:srgbClr val="E97A60"/>
                </a:solidFill>
                <a:latin typeface="Cambria" pitchFamily="34" charset="0"/>
                <a:ea typeface="Cambria" pitchFamily="34" charset="-122"/>
                <a:cs typeface="Cambria" pitchFamily="34" charset="-120"/>
              </a:rPr>
              <a:t>0.37</a:t>
            </a:r>
            <a:endParaRPr lang="en-US" sz="3400" dirty="0"/>
          </a:p>
        </p:txBody>
      </p:sp>
      <p:sp>
        <p:nvSpPr>
          <p:cNvPr id="8" name="Shape 6"/>
          <p:cNvSpPr/>
          <p:nvPr/>
        </p:nvSpPr>
        <p:spPr>
          <a:xfrm>
            <a:off x="566928" y="2880360"/>
            <a:ext cx="5486400" cy="2743200"/>
          </a:xfrm>
          <a:prstGeom prst="roundRect">
            <a:avLst>
              <a:gd name="adj" fmla="val 2333"/>
            </a:avLst>
          </a:prstGeom>
          <a:solidFill>
            <a:srgbClr val="182E38"/>
          </a:solidFill>
          <a:ln/>
        </p:spPr>
      </p:sp>
      <p:sp>
        <p:nvSpPr>
          <p:cNvPr id="9" name="Shape 7"/>
          <p:cNvSpPr/>
          <p:nvPr/>
        </p:nvSpPr>
        <p:spPr>
          <a:xfrm>
            <a:off x="566928" y="2999232"/>
            <a:ext cx="50292" cy="2505456"/>
          </a:xfrm>
          <a:prstGeom prst="rect">
            <a:avLst/>
          </a:prstGeom>
          <a:solidFill>
            <a:srgbClr val="5FA3C0"/>
          </a:solidFill>
          <a:ln/>
        </p:spPr>
      </p:sp>
      <p:sp>
        <p:nvSpPr>
          <p:cNvPr id="10" name="Text 8"/>
          <p:cNvSpPr/>
          <p:nvPr/>
        </p:nvSpPr>
        <p:spPr>
          <a:xfrm>
            <a:off x="768096" y="2999232"/>
            <a:ext cx="5157216" cy="256032"/>
          </a:xfrm>
          <a:prstGeom prst="rect">
            <a:avLst/>
          </a:prstGeom>
          <a:noFill/>
          <a:ln/>
        </p:spPr>
        <p:txBody>
          <a:bodyPr wrap="square" rtlCol="0" anchor="ctr"/>
          <a:lstStyle/>
          <a:p>
            <a:pPr indent="0" marL="0">
              <a:buNone/>
            </a:pPr>
            <a:r>
              <a:rPr lang="en-US" sz="1000" b="1" spc="100" kern="0" dirty="0">
                <a:solidFill>
                  <a:srgbClr val="5FA3C0"/>
                </a:solidFill>
                <a:latin typeface="Calibri" pitchFamily="34" charset="0"/>
                <a:ea typeface="Calibri" pitchFamily="34" charset="-122"/>
                <a:cs typeface="Calibri" pitchFamily="34" charset="-120"/>
              </a:rPr>
              <a:t>DIAGNOSED, NOT JUST REPORTED</a:t>
            </a:r>
            <a:endParaRPr lang="en-US" sz="1000" dirty="0"/>
          </a:p>
        </p:txBody>
      </p:sp>
      <p:sp>
        <p:nvSpPr>
          <p:cNvPr id="11" name="Text 9"/>
          <p:cNvSpPr/>
          <p:nvPr/>
        </p:nvSpPr>
        <p:spPr>
          <a:xfrm>
            <a:off x="768096" y="3282696"/>
            <a:ext cx="5120640" cy="2212848"/>
          </a:xfrm>
          <a:prstGeom prst="rect">
            <a:avLst/>
          </a:prstGeom>
          <a:noFill/>
          <a:ln/>
        </p:spPr>
        <p:txBody>
          <a:bodyPr wrap="square" rtlCol="0" anchor="t"/>
          <a:lstStyle/>
          <a:p>
            <a:pPr indent="0" marL="0">
              <a:lnSpc>
                <a:spcPct val="110000"/>
              </a:lnSpc>
              <a:buNone/>
            </a:pPr>
            <a:r>
              <a:rPr lang="en-US" sz="1150" b="1" dirty="0">
                <a:solidFill>
                  <a:srgbClr val="EAF0F1"/>
                </a:solidFill>
                <a:latin typeface="Calibri" pitchFamily="34" charset="0"/>
                <a:ea typeface="Calibri" pitchFamily="34" charset="-122"/>
                <a:cs typeface="Calibri" pitchFamily="34" charset="-120"/>
              </a:rPr>
              <a:t>F1 falls when tested on OTHER datasets (Nazario, Enron…) — clean emails, not attacks; this is distribution shift. </a:t>
            </a:r>
            <a:pPr indent="0" marL="0">
              <a:lnSpc>
                <a:spcPct val="110000"/>
              </a:lnSpc>
              <a:buNone/>
            </a:pPr>
            <a:r>
              <a:rPr lang="en-US" sz="1150" dirty="0">
                <a:solidFill>
                  <a:srgbClr val="95A6AD"/>
                </a:solidFill>
                <a:latin typeface="Calibri" pitchFamily="34" charset="0"/>
                <a:ea typeface="Calibri" pitchFamily="34" charset="-122"/>
                <a:cs typeface="Calibri" pitchFamily="34" charset="-120"/>
              </a:rPr>
              <a:t>But it's recoverable: out-of-distribution AUC is still 0.78, so re-tuning the threshold recovers F1 to 0.75. The real gap left is vocabulary — out-of-vocabulary words rise 7% → 20%.</a:t>
            </a:r>
            <a:endParaRPr lang="en-US" sz="1150" dirty="0"/>
          </a:p>
        </p:txBody>
      </p:sp>
      <p:sp>
        <p:nvSpPr>
          <p:cNvPr id="12" name="Text 10"/>
          <p:cNvSpPr/>
          <p:nvPr/>
        </p:nvSpPr>
        <p:spPr>
          <a:xfrm>
            <a:off x="6400800" y="1600200"/>
            <a:ext cx="5486400" cy="274320"/>
          </a:xfrm>
          <a:prstGeom prst="rect">
            <a:avLst/>
          </a:prstGeom>
          <a:noFill/>
          <a:ln/>
        </p:spPr>
        <p:txBody>
          <a:bodyPr wrap="square" rtlCol="0" anchor="ctr"/>
          <a:lstStyle/>
          <a:p>
            <a:pPr indent="0" marL="0">
              <a:buNone/>
            </a:pPr>
            <a:r>
              <a:rPr lang="en-US" sz="1200" b="1" spc="100" kern="0" dirty="0">
                <a:solidFill>
                  <a:srgbClr val="D4AB4E"/>
                </a:solidFill>
                <a:latin typeface="Calibri" pitchFamily="34" charset="0"/>
                <a:ea typeface="Calibri" pitchFamily="34" charset="-122"/>
                <a:cs typeface="Calibri" pitchFamily="34" charset="-120"/>
              </a:rPr>
              <a:t>TIME — a different year</a:t>
            </a:r>
            <a:endParaRPr lang="en-US" sz="1200" dirty="0"/>
          </a:p>
        </p:txBody>
      </p:sp>
      <p:sp>
        <p:nvSpPr>
          <p:cNvPr id="13" name="Text 11"/>
          <p:cNvSpPr/>
          <p:nvPr/>
        </p:nvSpPr>
        <p:spPr>
          <a:xfrm>
            <a:off x="6400800" y="1874520"/>
            <a:ext cx="5212080" cy="1188720"/>
          </a:xfrm>
          <a:prstGeom prst="rect">
            <a:avLst/>
          </a:prstGeom>
          <a:noFill/>
          <a:ln/>
        </p:spPr>
        <p:txBody>
          <a:bodyPr wrap="square" rtlCol="0" anchor="ctr"/>
          <a:lstStyle/>
          <a:p>
            <a:pPr algn="l" indent="0" marL="0">
              <a:buNone/>
            </a:pPr>
            <a:r>
              <a:rPr lang="en-US" sz="7400" b="1" dirty="0">
                <a:solidFill>
                  <a:srgbClr val="E97A60"/>
                </a:solidFill>
                <a:latin typeface="Cambria" pitchFamily="34" charset="0"/>
                <a:ea typeface="Cambria" pitchFamily="34" charset="-122"/>
                <a:cs typeface="Cambria" pitchFamily="34" charset="-120"/>
              </a:rPr>
              <a:t>14%</a:t>
            </a:r>
            <a:endParaRPr lang="en-US" sz="7400" dirty="0"/>
          </a:p>
        </p:txBody>
      </p:sp>
      <p:sp>
        <p:nvSpPr>
          <p:cNvPr id="14" name="Shape 12"/>
          <p:cNvSpPr/>
          <p:nvPr/>
        </p:nvSpPr>
        <p:spPr>
          <a:xfrm>
            <a:off x="6400800" y="3291840"/>
            <a:ext cx="5212080" cy="2331720"/>
          </a:xfrm>
          <a:prstGeom prst="roundRect">
            <a:avLst>
              <a:gd name="adj" fmla="val 2745"/>
            </a:avLst>
          </a:prstGeom>
          <a:solidFill>
            <a:srgbClr val="302A19"/>
          </a:solidFill>
          <a:ln/>
        </p:spPr>
      </p:sp>
      <p:sp>
        <p:nvSpPr>
          <p:cNvPr id="15" name="Shape 13"/>
          <p:cNvSpPr/>
          <p:nvPr/>
        </p:nvSpPr>
        <p:spPr>
          <a:xfrm>
            <a:off x="6400800" y="3410712"/>
            <a:ext cx="50292" cy="2093976"/>
          </a:xfrm>
          <a:prstGeom prst="rect">
            <a:avLst/>
          </a:prstGeom>
          <a:solidFill>
            <a:srgbClr val="D4AB4E"/>
          </a:solidFill>
          <a:ln/>
        </p:spPr>
      </p:sp>
      <p:sp>
        <p:nvSpPr>
          <p:cNvPr id="16" name="Text 14"/>
          <p:cNvSpPr/>
          <p:nvPr/>
        </p:nvSpPr>
        <p:spPr>
          <a:xfrm>
            <a:off x="6601968" y="3410712"/>
            <a:ext cx="4882896" cy="256032"/>
          </a:xfrm>
          <a:prstGeom prst="rect">
            <a:avLst/>
          </a:prstGeom>
          <a:noFill/>
          <a:ln/>
        </p:spPr>
        <p:txBody>
          <a:bodyPr wrap="square" rtlCol="0" anchor="ctr"/>
          <a:lstStyle/>
          <a:p>
            <a:pPr indent="0" marL="0">
              <a:buNone/>
            </a:pPr>
            <a:r>
              <a:rPr lang="en-US" sz="1000" b="1" spc="100" kern="0" dirty="0">
                <a:solidFill>
                  <a:srgbClr val="D4AB4E"/>
                </a:solidFill>
                <a:latin typeface="Calibri" pitchFamily="34" charset="0"/>
                <a:ea typeface="Calibri" pitchFamily="34" charset="-122"/>
                <a:cs typeface="Calibri" pitchFamily="34" charset="-120"/>
              </a:rPr>
              <a:t>CONCEPT DRIFT IS REAL</a:t>
            </a:r>
            <a:endParaRPr lang="en-US" sz="1000" dirty="0"/>
          </a:p>
        </p:txBody>
      </p:sp>
      <p:sp>
        <p:nvSpPr>
          <p:cNvPr id="17" name="Text 15"/>
          <p:cNvSpPr/>
          <p:nvPr/>
        </p:nvSpPr>
        <p:spPr>
          <a:xfrm>
            <a:off x="6601968" y="3694176"/>
            <a:ext cx="4846320" cy="1801368"/>
          </a:xfrm>
          <a:prstGeom prst="rect">
            <a:avLst/>
          </a:prstGeom>
          <a:noFill/>
          <a:ln/>
        </p:spPr>
        <p:txBody>
          <a:bodyPr wrap="square" rtlCol="0" anchor="t"/>
          <a:lstStyle/>
          <a:p>
            <a:pPr indent="0" marL="0">
              <a:lnSpc>
                <a:spcPct val="110000"/>
              </a:lnSpc>
              <a:buNone/>
            </a:pPr>
            <a:r>
              <a:rPr lang="en-US" sz="1150" b="1" dirty="0">
                <a:solidFill>
                  <a:srgbClr val="EAF0F1"/>
                </a:solidFill>
                <a:latin typeface="Calibri" pitchFamily="34" charset="0"/>
                <a:ea typeface="Calibri" pitchFamily="34" charset="-122"/>
                <a:cs typeface="Calibri" pitchFamily="34" charset="-120"/>
              </a:rPr>
              <a:t>Of real 2023–2025 phishing, the 2008 model catches only 14% — the scams aged. </a:t>
            </a:r>
            <a:pPr indent="0" marL="0">
              <a:lnSpc>
                <a:spcPct val="110000"/>
              </a:lnSpc>
              <a:buNone/>
            </a:pPr>
            <a:r>
              <a:rPr lang="en-US" sz="1150" dirty="0">
                <a:solidFill>
                  <a:srgbClr val="95A6AD"/>
                </a:solidFill>
                <a:latin typeface="Calibri" pitchFamily="34" charset="0"/>
                <a:ea typeface="Calibri" pitchFamily="34" charset="-122"/>
                <a:cs typeface="Calibri" pitchFamily="34" charset="-120"/>
              </a:rPr>
              <a:t>And the tricks I defend against are emerging: homoglyph / zero-width obfuscation is ≈0% in 2008 but 1.8% / 4.0% in modern phishing. A frozen detector goes blind.</a:t>
            </a:r>
            <a:endParaRPr lang="en-US" sz="1150" dirty="0"/>
          </a:p>
        </p:txBody>
      </p:sp>
      <p:sp>
        <p:nvSpPr>
          <p:cNvPr id="18" name="Text 16"/>
          <p:cNvSpPr/>
          <p:nvPr/>
        </p:nvSpPr>
        <p:spPr>
          <a:xfrm>
            <a:off x="566928" y="6437376"/>
            <a:ext cx="11057839" cy="274320"/>
          </a:xfrm>
          <a:prstGeom prst="rect">
            <a:avLst/>
          </a:prstGeom>
          <a:noFill/>
          <a:ln/>
        </p:spPr>
        <p:txBody>
          <a:bodyPr wrap="square" rtlCol="0" anchor="ctr"/>
          <a:lstStyle/>
          <a:p>
            <a:pPr indent="0" marL="0">
              <a:buNone/>
            </a:pPr>
            <a:r>
              <a:rPr lang="en-US" sz="950" i="1" dirty="0">
                <a:solidFill>
                  <a:srgbClr val="7C8F98"/>
                </a:solidFill>
                <a:latin typeface="Calibri" pitchFamily="34" charset="0"/>
                <a:ea typeface="Calibri" pitchFamily="34" charset="-122"/>
                <a:cs typeface="Calibri" pitchFamily="34" charset="-120"/>
              </a:rPr>
              <a:t>the honest number for the wild is the cross-source one — not the flattering 0.998</a:t>
            </a:r>
            <a:endParaRPr lang="en-US" sz="9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310896"/>
            <a:ext cx="9144000" cy="274320"/>
          </a:xfrm>
          <a:prstGeom prst="rect">
            <a:avLst/>
          </a:prstGeom>
          <a:noFill/>
          <a:ln/>
        </p:spPr>
        <p:txBody>
          <a:bodyPr wrap="square" rtlCol="0" anchor="ctr"/>
          <a:lstStyle/>
          <a:p>
            <a:pPr indent="0" marL="0">
              <a:buNone/>
            </a:pPr>
            <a:r>
              <a:rPr lang="en-US" sz="1100" b="1" spc="200" kern="0" dirty="0">
                <a:solidFill>
                  <a:srgbClr val="3CB6A6"/>
                </a:solidFill>
                <a:latin typeface="Calibri" pitchFamily="34" charset="0"/>
                <a:ea typeface="Calibri" pitchFamily="34" charset="-122"/>
                <a:cs typeface="Calibri" pitchFamily="34" charset="-120"/>
              </a:rPr>
              <a:t>KEEP IT WORKING</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indent="0" marL="0">
              <a:buNone/>
            </a:pPr>
            <a:r>
              <a:rPr lang="en-US" sz="2500" b="1" dirty="0">
                <a:solidFill>
                  <a:srgbClr val="EAF0F1"/>
                </a:solidFill>
                <a:latin typeface="Cambria" pitchFamily="34" charset="0"/>
                <a:ea typeface="Cambria" pitchFamily="34" charset="-122"/>
                <a:cs typeface="Cambria" pitchFamily="34" charset="-120"/>
              </a:rPr>
              <a:t>Retrain it, and let people help.</a:t>
            </a:r>
            <a:endParaRPr lang="en-US" sz="2500" dirty="0"/>
          </a:p>
        </p:txBody>
      </p:sp>
      <p:sp>
        <p:nvSpPr>
          <p:cNvPr id="4" name="Shape 2"/>
          <p:cNvSpPr/>
          <p:nvPr/>
        </p:nvSpPr>
        <p:spPr>
          <a:xfrm>
            <a:off x="566928" y="1371600"/>
            <a:ext cx="1737360" cy="41148"/>
          </a:xfrm>
          <a:prstGeom prst="rect">
            <a:avLst/>
          </a:prstGeom>
          <a:solidFill>
            <a:srgbClr val="3CB6A6"/>
          </a:solidFill>
          <a:ln/>
        </p:spPr>
      </p:sp>
      <p:sp>
        <p:nvSpPr>
          <p:cNvPr id="5" name="Text 3"/>
          <p:cNvSpPr/>
          <p:nvPr/>
        </p:nvSpPr>
        <p:spPr>
          <a:xfrm>
            <a:off x="10728655" y="310896"/>
            <a:ext cx="914400" cy="274320"/>
          </a:xfrm>
          <a:prstGeom prst="rect">
            <a:avLst/>
          </a:prstGeom>
          <a:noFill/>
          <a:ln/>
        </p:spPr>
        <p:txBody>
          <a:bodyPr wrap="square" rtlCol="0" anchor="ctr"/>
          <a:lstStyle/>
          <a:p>
            <a:pPr algn="r" indent="0" marL="0">
              <a:buNone/>
            </a:pPr>
            <a:r>
              <a:rPr lang="en-US" sz="1100" dirty="0">
                <a:solidFill>
                  <a:srgbClr val="6E7F87"/>
                </a:solidFill>
                <a:latin typeface="Calibri" pitchFamily="34" charset="0"/>
                <a:ea typeface="Calibri" pitchFamily="34" charset="-122"/>
                <a:cs typeface="Calibri" pitchFamily="34" charset="-120"/>
              </a:rPr>
              <a:t>11 / 15</a:t>
            </a:r>
            <a:endParaRPr lang="en-US" sz="1100" dirty="0"/>
          </a:p>
        </p:txBody>
      </p:sp>
      <p:sp>
        <p:nvSpPr>
          <p:cNvPr id="6" name="Text 4"/>
          <p:cNvSpPr/>
          <p:nvPr/>
        </p:nvSpPr>
        <p:spPr>
          <a:xfrm>
            <a:off x="566928" y="1600200"/>
            <a:ext cx="5486400" cy="274320"/>
          </a:xfrm>
          <a:prstGeom prst="rect">
            <a:avLst/>
          </a:prstGeom>
          <a:noFill/>
          <a:ln/>
        </p:spPr>
        <p:txBody>
          <a:bodyPr wrap="square" rtlCol="0" anchor="ctr"/>
          <a:lstStyle/>
          <a:p>
            <a:pPr indent="0" marL="0">
              <a:buNone/>
            </a:pPr>
            <a:r>
              <a:rPr lang="en-US" sz="1250" b="1" dirty="0">
                <a:solidFill>
                  <a:srgbClr val="3CB6A6"/>
                </a:solidFill>
                <a:latin typeface="Calibri" pitchFamily="34" charset="0"/>
                <a:ea typeface="Calibri" pitchFamily="34" charset="-122"/>
                <a:cs typeface="Calibri" pitchFamily="34" charset="-120"/>
              </a:rPr>
              <a:t>Retrain on modern scams</a:t>
            </a:r>
            <a:endParaRPr lang="en-US" sz="1250" dirty="0"/>
          </a:p>
        </p:txBody>
      </p:sp>
      <p:graphicFrame>
        <p:nvGraphicFramePr>
          <p:cNvPr id="7" name="Chart 0" descr=""/>
          <p:cNvGraphicFramePr/>
          <p:nvPr/>
        </p:nvGraphicFramePr>
        <p:xfrm>
          <a:off x="566928" y="1920240"/>
          <a:ext cx="5394960" cy="28346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66928" y="4800600"/>
            <a:ext cx="5394960" cy="548640"/>
          </a:xfrm>
          <a:prstGeom prst="rect">
            <a:avLst/>
          </a:prstGeom>
          <a:noFill/>
          <a:ln/>
        </p:spPr>
        <p:txBody>
          <a:bodyPr wrap="square" rtlCol="0" anchor="t"/>
          <a:lstStyle/>
          <a:p>
            <a:pPr indent="0" marL="0">
              <a:buNone/>
            </a:pPr>
            <a:r>
              <a:rPr lang="en-US" sz="1100" i="1" dirty="0">
                <a:solidFill>
                  <a:srgbClr val="95A6AD"/>
                </a:solidFill>
                <a:latin typeface="Calibri" pitchFamily="34" charset="0"/>
                <a:ea typeface="Calibri" pitchFamily="34" charset="-122"/>
                <a:cs typeface="Calibri" pitchFamily="34" charset="-120"/>
              </a:rPr>
              <a:t>recall · 0.15 → 0.98 on modern scams, no forgetting, false alarms stay &lt; 1%</a:t>
            </a:r>
            <a:endParaRPr lang="en-US" sz="1100" dirty="0"/>
          </a:p>
        </p:txBody>
      </p:sp>
      <p:sp>
        <p:nvSpPr>
          <p:cNvPr id="9" name="Text 6"/>
          <p:cNvSpPr/>
          <p:nvPr/>
        </p:nvSpPr>
        <p:spPr>
          <a:xfrm>
            <a:off x="6309360" y="1600200"/>
            <a:ext cx="5486400" cy="274320"/>
          </a:xfrm>
          <a:prstGeom prst="rect">
            <a:avLst/>
          </a:prstGeom>
          <a:noFill/>
          <a:ln/>
        </p:spPr>
        <p:txBody>
          <a:bodyPr wrap="square" rtlCol="0" anchor="ctr"/>
          <a:lstStyle/>
          <a:p>
            <a:pPr indent="0" marL="0">
              <a:buNone/>
            </a:pPr>
            <a:r>
              <a:rPr lang="en-US" sz="1250" b="1" dirty="0">
                <a:solidFill>
                  <a:srgbClr val="5FA3C0"/>
                </a:solidFill>
                <a:latin typeface="Calibri" pitchFamily="34" charset="0"/>
                <a:ea typeface="Calibri" pitchFamily="34" charset="-122"/>
                <a:cs typeface="Calibri" pitchFamily="34" charset="-120"/>
              </a:rPr>
              <a:t>One report protects the campaign</a:t>
            </a:r>
            <a:endParaRPr lang="en-US" sz="1250" dirty="0"/>
          </a:p>
        </p:txBody>
      </p:sp>
      <p:graphicFrame>
        <p:nvGraphicFramePr>
          <p:cNvPr id="10" name="Chart 1" descr=""/>
          <p:cNvGraphicFramePr/>
          <p:nvPr/>
        </p:nvGraphicFramePr>
        <p:xfrm>
          <a:off x="6309360" y="1920240"/>
          <a:ext cx="5303520" cy="283464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6309360" y="4800600"/>
            <a:ext cx="5303520" cy="548640"/>
          </a:xfrm>
          <a:prstGeom prst="rect">
            <a:avLst/>
          </a:prstGeom>
          <a:noFill/>
          <a:ln/>
        </p:spPr>
        <p:txBody>
          <a:bodyPr wrap="square" rtlCol="0" anchor="t"/>
          <a:lstStyle/>
          <a:p>
            <a:pPr indent="0" marL="0">
              <a:buNone/>
            </a:pPr>
            <a:r>
              <a:rPr lang="en-US" sz="1100" i="1" dirty="0">
                <a:solidFill>
                  <a:srgbClr val="95A6AD"/>
                </a:solidFill>
                <a:latin typeface="Calibri" pitchFamily="34" charset="0"/>
                <a:ea typeface="Calibri" pitchFamily="34" charset="-122"/>
                <a:cs typeface="Calibri" pitchFamily="34" charset="-120"/>
              </a:rPr>
              <a:t>one person reports → near-duplicates blocked in every inbox (15% → 100%)</a:t>
            </a:r>
            <a:endParaRPr lang="en-US" sz="1100" dirty="0"/>
          </a:p>
        </p:txBody>
      </p:sp>
      <p:sp>
        <p:nvSpPr>
          <p:cNvPr id="12" name="Shape 8"/>
          <p:cNvSpPr/>
          <p:nvPr/>
        </p:nvSpPr>
        <p:spPr>
          <a:xfrm>
            <a:off x="566928" y="5440680"/>
            <a:ext cx="11057839" cy="777240"/>
          </a:xfrm>
          <a:prstGeom prst="roundRect">
            <a:avLst>
              <a:gd name="adj" fmla="val 8235"/>
            </a:avLst>
          </a:prstGeom>
          <a:solidFill>
            <a:srgbClr val="302A19"/>
          </a:solidFill>
          <a:ln/>
        </p:spPr>
      </p:sp>
      <p:sp>
        <p:nvSpPr>
          <p:cNvPr id="13" name="Shape 9"/>
          <p:cNvSpPr/>
          <p:nvPr/>
        </p:nvSpPr>
        <p:spPr>
          <a:xfrm>
            <a:off x="566928" y="5559552"/>
            <a:ext cx="50292" cy="539496"/>
          </a:xfrm>
          <a:prstGeom prst="rect">
            <a:avLst/>
          </a:prstGeom>
          <a:solidFill>
            <a:srgbClr val="D4AB4E"/>
          </a:solidFill>
          <a:ln/>
        </p:spPr>
      </p:sp>
      <p:sp>
        <p:nvSpPr>
          <p:cNvPr id="14" name="Text 10"/>
          <p:cNvSpPr/>
          <p:nvPr/>
        </p:nvSpPr>
        <p:spPr>
          <a:xfrm>
            <a:off x="768096" y="5559552"/>
            <a:ext cx="10728655" cy="256032"/>
          </a:xfrm>
          <a:prstGeom prst="rect">
            <a:avLst/>
          </a:prstGeom>
          <a:noFill/>
          <a:ln/>
        </p:spPr>
        <p:txBody>
          <a:bodyPr wrap="square" rtlCol="0" anchor="ctr"/>
          <a:lstStyle/>
          <a:p>
            <a:pPr indent="0" marL="0">
              <a:buNone/>
            </a:pPr>
            <a:r>
              <a:rPr lang="en-US" sz="1000" b="1" spc="100" kern="0" dirty="0">
                <a:solidFill>
                  <a:srgbClr val="D4AB4E"/>
                </a:solidFill>
                <a:latin typeface="Calibri" pitchFamily="34" charset="0"/>
                <a:ea typeface="Calibri" pitchFamily="34" charset="-122"/>
                <a:cs typeface="Calibri" pitchFamily="34" charset="-120"/>
              </a:rPr>
              <a:t>WHY CONTENT MATTERS EVEN MORE NOW</a:t>
            </a:r>
            <a:endParaRPr lang="en-US" sz="1000" dirty="0"/>
          </a:p>
        </p:txBody>
      </p:sp>
      <p:sp>
        <p:nvSpPr>
          <p:cNvPr id="15" name="Text 11"/>
          <p:cNvSpPr/>
          <p:nvPr/>
        </p:nvSpPr>
        <p:spPr>
          <a:xfrm>
            <a:off x="768096" y="5843016"/>
            <a:ext cx="10692079" cy="246888"/>
          </a:xfrm>
          <a:prstGeom prst="rect">
            <a:avLst/>
          </a:prstGeom>
          <a:noFill/>
          <a:ln/>
        </p:spPr>
        <p:txBody>
          <a:bodyPr wrap="square" rtlCol="0" anchor="t"/>
          <a:lstStyle/>
          <a:p>
            <a:pPr indent="0" marL="0">
              <a:lnSpc>
                <a:spcPct val="110000"/>
              </a:lnSpc>
              <a:buNone/>
            </a:pPr>
            <a:r>
              <a:rPr lang="en-US" sz="1150" dirty="0">
                <a:solidFill>
                  <a:srgbClr val="EAF0F1"/>
                </a:solidFill>
                <a:latin typeface="Calibri" pitchFamily="34" charset="0"/>
                <a:ea typeface="Calibri" pitchFamily="34" charset="-122"/>
                <a:cs typeface="Calibri" pitchFamily="34" charset="-120"/>
              </a:rPr>
              <a:t>Attackers hijack a real, trusted account and send from a legitimate address — a filter that trusts the sender is fooled, but reading the words still sees something wrong. (Needs normalisation first, or homoglyphs disable the matching.)</a:t>
            </a:r>
            <a:endParaRPr lang="en-US" sz="1150" dirty="0"/>
          </a:p>
        </p:txBody>
      </p:sp>
      <p:sp>
        <p:nvSpPr>
          <p:cNvPr id="16" name="Text 12"/>
          <p:cNvSpPr/>
          <p:nvPr/>
        </p:nvSpPr>
        <p:spPr>
          <a:xfrm>
            <a:off x="566928" y="6437376"/>
            <a:ext cx="11057839" cy="274320"/>
          </a:xfrm>
          <a:prstGeom prst="rect">
            <a:avLst/>
          </a:prstGeom>
          <a:noFill/>
          <a:ln/>
        </p:spPr>
        <p:txBody>
          <a:bodyPr wrap="square" rtlCol="0" anchor="ctr"/>
          <a:lstStyle/>
          <a:p>
            <a:pPr indent="0" marL="0">
              <a:buNone/>
            </a:pPr>
            <a:r>
              <a:rPr lang="en-US" sz="950" i="1" dirty="0">
                <a:solidFill>
                  <a:srgbClr val="7C8F98"/>
                </a:solidFill>
                <a:latin typeface="Calibri" pitchFamily="34" charset="0"/>
                <a:ea typeface="Calibri" pitchFamily="34" charset="-122"/>
                <a:cs typeface="Calibri" pitchFamily="34" charset="-120"/>
              </a:rPr>
              <a:t>a detector kept current works; a frozen one goes blind · content survives a stolen account</a:t>
            </a:r>
            <a:endParaRPr lang="en-US" sz="9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310896"/>
            <a:ext cx="9144000" cy="274320"/>
          </a:xfrm>
          <a:prstGeom prst="rect">
            <a:avLst/>
          </a:prstGeom>
          <a:noFill/>
          <a:ln/>
        </p:spPr>
        <p:txBody>
          <a:bodyPr wrap="square" rtlCol="0" anchor="ctr"/>
          <a:lstStyle/>
          <a:p>
            <a:pPr indent="0" marL="0">
              <a:buNone/>
            </a:pPr>
            <a:r>
              <a:rPr lang="en-US" sz="1100" b="1" spc="200" kern="0" dirty="0">
                <a:solidFill>
                  <a:srgbClr val="3CB6A6"/>
                </a:solidFill>
                <a:latin typeface="Calibri" pitchFamily="34" charset="0"/>
                <a:ea typeface="Calibri" pitchFamily="34" charset="-122"/>
                <a:cs typeface="Calibri" pitchFamily="34" charset="-120"/>
              </a:rPr>
              <a:t>ADDITIONAL IDEAS</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indent="0" marL="0">
              <a:buNone/>
            </a:pPr>
            <a:r>
              <a:rPr lang="en-US" sz="2500" b="1" dirty="0">
                <a:solidFill>
                  <a:srgbClr val="EAF0F1"/>
                </a:solidFill>
                <a:latin typeface="Cambria" pitchFamily="34" charset="0"/>
                <a:ea typeface="Cambria" pitchFamily="34" charset="-122"/>
                <a:cs typeface="Cambria" pitchFamily="34" charset="-120"/>
              </a:rPr>
              <a:t>Three ideas I explored around the model.</a:t>
            </a:r>
            <a:endParaRPr lang="en-US" sz="2500" dirty="0"/>
          </a:p>
        </p:txBody>
      </p:sp>
      <p:sp>
        <p:nvSpPr>
          <p:cNvPr id="4" name="Shape 2"/>
          <p:cNvSpPr/>
          <p:nvPr/>
        </p:nvSpPr>
        <p:spPr>
          <a:xfrm>
            <a:off x="566928" y="1371600"/>
            <a:ext cx="1737360" cy="41148"/>
          </a:xfrm>
          <a:prstGeom prst="rect">
            <a:avLst/>
          </a:prstGeom>
          <a:solidFill>
            <a:srgbClr val="3CB6A6"/>
          </a:solidFill>
          <a:ln/>
        </p:spPr>
      </p:sp>
      <p:sp>
        <p:nvSpPr>
          <p:cNvPr id="5" name="Text 3"/>
          <p:cNvSpPr/>
          <p:nvPr/>
        </p:nvSpPr>
        <p:spPr>
          <a:xfrm>
            <a:off x="10728655" y="310896"/>
            <a:ext cx="914400" cy="274320"/>
          </a:xfrm>
          <a:prstGeom prst="rect">
            <a:avLst/>
          </a:prstGeom>
          <a:noFill/>
          <a:ln/>
        </p:spPr>
        <p:txBody>
          <a:bodyPr wrap="square" rtlCol="0" anchor="ctr"/>
          <a:lstStyle/>
          <a:p>
            <a:pPr algn="r" indent="0" marL="0">
              <a:buNone/>
            </a:pPr>
            <a:r>
              <a:rPr lang="en-US" sz="1100" dirty="0">
                <a:solidFill>
                  <a:srgbClr val="6E7F87"/>
                </a:solidFill>
                <a:latin typeface="Calibri" pitchFamily="34" charset="0"/>
                <a:ea typeface="Calibri" pitchFamily="34" charset="-122"/>
                <a:cs typeface="Calibri" pitchFamily="34" charset="-120"/>
              </a:rPr>
              <a:t>12 / 15</a:t>
            </a:r>
            <a:endParaRPr lang="en-US" sz="1100" dirty="0"/>
          </a:p>
        </p:txBody>
      </p:sp>
      <p:sp>
        <p:nvSpPr>
          <p:cNvPr id="6" name="Shape 4"/>
          <p:cNvSpPr/>
          <p:nvPr/>
        </p:nvSpPr>
        <p:spPr>
          <a:xfrm>
            <a:off x="566928" y="1828800"/>
            <a:ext cx="3520440" cy="3291840"/>
          </a:xfrm>
          <a:prstGeom prst="roundRect">
            <a:avLst>
              <a:gd name="adj" fmla="val 1944"/>
            </a:avLst>
          </a:prstGeom>
          <a:solidFill>
            <a:srgbClr val="182E38"/>
          </a:solidFill>
          <a:ln/>
        </p:spPr>
      </p:sp>
      <p:sp>
        <p:nvSpPr>
          <p:cNvPr id="7" name="Shape 5"/>
          <p:cNvSpPr/>
          <p:nvPr/>
        </p:nvSpPr>
        <p:spPr>
          <a:xfrm>
            <a:off x="566928" y="1947672"/>
            <a:ext cx="50292" cy="3054096"/>
          </a:xfrm>
          <a:prstGeom prst="rect">
            <a:avLst/>
          </a:prstGeom>
          <a:solidFill>
            <a:srgbClr val="5FA3C0"/>
          </a:solidFill>
          <a:ln/>
        </p:spPr>
      </p:sp>
      <p:sp>
        <p:nvSpPr>
          <p:cNvPr id="8" name="Text 6"/>
          <p:cNvSpPr/>
          <p:nvPr/>
        </p:nvSpPr>
        <p:spPr>
          <a:xfrm>
            <a:off x="768096" y="1947672"/>
            <a:ext cx="3191256" cy="256032"/>
          </a:xfrm>
          <a:prstGeom prst="rect">
            <a:avLst/>
          </a:prstGeom>
          <a:noFill/>
          <a:ln/>
        </p:spPr>
        <p:txBody>
          <a:bodyPr wrap="square" rtlCol="0" anchor="ctr"/>
          <a:lstStyle/>
          <a:p>
            <a:pPr indent="0" marL="0">
              <a:buNone/>
            </a:pPr>
            <a:r>
              <a:rPr lang="en-US" sz="1000" b="1" spc="100" kern="0" dirty="0">
                <a:solidFill>
                  <a:srgbClr val="5FA3C0"/>
                </a:solidFill>
                <a:latin typeface="Calibri" pitchFamily="34" charset="0"/>
                <a:ea typeface="Calibri" pitchFamily="34" charset="-122"/>
                <a:cs typeface="Calibri" pitchFamily="34" charset="-120"/>
              </a:rPr>
              <a:t>LLM PARAPHRASE ATTACK</a:t>
            </a:r>
            <a:endParaRPr lang="en-US" sz="1000" dirty="0"/>
          </a:p>
        </p:txBody>
      </p:sp>
      <p:sp>
        <p:nvSpPr>
          <p:cNvPr id="9" name="Text 7"/>
          <p:cNvSpPr/>
          <p:nvPr/>
        </p:nvSpPr>
        <p:spPr>
          <a:xfrm>
            <a:off x="768096" y="2231136"/>
            <a:ext cx="3154680" cy="2761488"/>
          </a:xfrm>
          <a:prstGeom prst="rect">
            <a:avLst/>
          </a:prstGeom>
          <a:noFill/>
          <a:ln/>
        </p:spPr>
        <p:txBody>
          <a:bodyPr wrap="square" rtlCol="0" anchor="t"/>
          <a:lstStyle/>
          <a:p>
            <a:pPr indent="0" marL="0">
              <a:lnSpc>
                <a:spcPct val="110000"/>
              </a:lnSpc>
              <a:buNone/>
            </a:pPr>
            <a:r>
              <a:rPr lang="en-US" sz="1150" b="1" dirty="0">
                <a:solidFill>
                  <a:srgbClr val="EAF0F1"/>
                </a:solidFill>
                <a:latin typeface="Calibri" pitchFamily="34" charset="0"/>
                <a:ea typeface="Calibri" pitchFamily="34" charset="-122"/>
                <a:cs typeface="Calibri" pitchFamily="34" charset="-120"/>
              </a:rPr>
              <a:t>An LLM rewrites the scam in new words; a second LLM judges it's still phishing (‘LLM-as-a-judge’, kept 24/30). </a:t>
            </a:r>
            <a:pPr indent="0" marL="0">
              <a:lnSpc>
                <a:spcPct val="110000"/>
              </a:lnSpc>
              <a:buNone/>
            </a:pPr>
            <a:r>
              <a:rPr lang="en-US" sz="1150" dirty="0">
                <a:solidFill>
                  <a:srgbClr val="95A6AD"/>
                </a:solidFill>
                <a:latin typeface="Calibri" pitchFamily="34" charset="0"/>
                <a:ea typeface="Calibri" pitchFamily="34" charset="-122"/>
                <a:cs typeface="Calibri" pitchFamily="34" charset="-120"/>
              </a:rPr>
              <a:t>The main model shrugs it off (recall 1.0); the monotone model gives a little (0.75→0.71). Rewording is the one class both certificates leave open.</a:t>
            </a:r>
            <a:endParaRPr lang="en-US" sz="1150" dirty="0"/>
          </a:p>
        </p:txBody>
      </p:sp>
      <p:sp>
        <p:nvSpPr>
          <p:cNvPr id="10" name="Shape 8"/>
          <p:cNvSpPr/>
          <p:nvPr/>
        </p:nvSpPr>
        <p:spPr>
          <a:xfrm>
            <a:off x="4261104" y="1828800"/>
            <a:ext cx="3520440" cy="3291840"/>
          </a:xfrm>
          <a:prstGeom prst="roundRect">
            <a:avLst>
              <a:gd name="adj" fmla="val 1944"/>
            </a:avLst>
          </a:prstGeom>
          <a:solidFill>
            <a:srgbClr val="302A19"/>
          </a:solidFill>
          <a:ln/>
        </p:spPr>
      </p:sp>
      <p:sp>
        <p:nvSpPr>
          <p:cNvPr id="11" name="Shape 9"/>
          <p:cNvSpPr/>
          <p:nvPr/>
        </p:nvSpPr>
        <p:spPr>
          <a:xfrm>
            <a:off x="4261104" y="1947672"/>
            <a:ext cx="50292" cy="3054096"/>
          </a:xfrm>
          <a:prstGeom prst="rect">
            <a:avLst/>
          </a:prstGeom>
          <a:solidFill>
            <a:srgbClr val="D4AB4E"/>
          </a:solidFill>
          <a:ln/>
        </p:spPr>
      </p:sp>
      <p:sp>
        <p:nvSpPr>
          <p:cNvPr id="12" name="Text 10"/>
          <p:cNvSpPr/>
          <p:nvPr/>
        </p:nvSpPr>
        <p:spPr>
          <a:xfrm>
            <a:off x="4462272" y="1947672"/>
            <a:ext cx="3191256" cy="256032"/>
          </a:xfrm>
          <a:prstGeom prst="rect">
            <a:avLst/>
          </a:prstGeom>
          <a:noFill/>
          <a:ln/>
        </p:spPr>
        <p:txBody>
          <a:bodyPr wrap="square" rtlCol="0" anchor="ctr"/>
          <a:lstStyle/>
          <a:p>
            <a:pPr indent="0" marL="0">
              <a:buNone/>
            </a:pPr>
            <a:r>
              <a:rPr lang="en-US" sz="1000" b="1" spc="100" kern="0" dirty="0">
                <a:solidFill>
                  <a:srgbClr val="D4AB4E"/>
                </a:solidFill>
                <a:latin typeface="Calibri" pitchFamily="34" charset="0"/>
                <a:ea typeface="Calibri" pitchFamily="34" charset="-122"/>
                <a:cs typeface="Calibri" pitchFamily="34" charset="-120"/>
              </a:rPr>
              <a:t>SENTIMENT AS A FEATURE</a:t>
            </a:r>
            <a:endParaRPr lang="en-US" sz="1000" dirty="0"/>
          </a:p>
        </p:txBody>
      </p:sp>
      <p:sp>
        <p:nvSpPr>
          <p:cNvPr id="13" name="Text 11"/>
          <p:cNvSpPr/>
          <p:nvPr/>
        </p:nvSpPr>
        <p:spPr>
          <a:xfrm>
            <a:off x="4462272" y="2231136"/>
            <a:ext cx="3154680" cy="2761488"/>
          </a:xfrm>
          <a:prstGeom prst="rect">
            <a:avLst/>
          </a:prstGeom>
          <a:noFill/>
          <a:ln/>
        </p:spPr>
        <p:txBody>
          <a:bodyPr wrap="square" rtlCol="0" anchor="t"/>
          <a:lstStyle/>
          <a:p>
            <a:pPr indent="0" marL="0">
              <a:lnSpc>
                <a:spcPct val="110000"/>
              </a:lnSpc>
              <a:buNone/>
            </a:pPr>
            <a:r>
              <a:rPr lang="en-US" sz="1150" b="1" dirty="0">
                <a:solidFill>
                  <a:srgbClr val="EAF0F1"/>
                </a:solidFill>
                <a:latin typeface="Calibri" pitchFamily="34" charset="0"/>
                <a:ea typeface="Calibri" pitchFamily="34" charset="-122"/>
                <a:cs typeface="Calibri" pitchFamily="34" charset="-120"/>
              </a:rPr>
              <a:t>Considered — a hand-crafted emotion feature: score urgency / fear / reward cues (LLM or a VADER lexicon). </a:t>
            </a:r>
            <a:pPr indent="0" marL="0">
              <a:lnSpc>
                <a:spcPct val="110000"/>
              </a:lnSpc>
              <a:buNone/>
            </a:pPr>
            <a:r>
              <a:rPr lang="en-US" sz="1150" dirty="0">
                <a:solidFill>
                  <a:srgbClr val="95A6AD"/>
                </a:solidFill>
                <a:latin typeface="Calibri" pitchFamily="34" charset="0"/>
                <a:ea typeface="Calibri" pitchFamily="34" charset="-122"/>
                <a:cs typeface="Calibri" pitchFamily="34" charset="-120"/>
              </a:rPr>
              <a:t>Kept as future work: likely overlaps with TF-IDF, which already learns the emotional words; best aimed at urgency, not raw polarity, and after normalisation.</a:t>
            </a:r>
            <a:endParaRPr lang="en-US" sz="1150" dirty="0"/>
          </a:p>
        </p:txBody>
      </p:sp>
      <p:sp>
        <p:nvSpPr>
          <p:cNvPr id="14" name="Shape 12"/>
          <p:cNvSpPr/>
          <p:nvPr/>
        </p:nvSpPr>
        <p:spPr>
          <a:xfrm>
            <a:off x="7607808" y="1828800"/>
            <a:ext cx="4005072" cy="3291840"/>
          </a:xfrm>
          <a:prstGeom prst="roundRect">
            <a:avLst>
              <a:gd name="adj" fmla="val 1944"/>
            </a:avLst>
          </a:prstGeom>
          <a:solidFill>
            <a:srgbClr val="16302C"/>
          </a:solidFill>
          <a:ln/>
        </p:spPr>
      </p:sp>
      <p:sp>
        <p:nvSpPr>
          <p:cNvPr id="15" name="Shape 13"/>
          <p:cNvSpPr/>
          <p:nvPr/>
        </p:nvSpPr>
        <p:spPr>
          <a:xfrm>
            <a:off x="7607808" y="1947672"/>
            <a:ext cx="50292" cy="3054096"/>
          </a:xfrm>
          <a:prstGeom prst="rect">
            <a:avLst/>
          </a:prstGeom>
          <a:solidFill>
            <a:srgbClr val="3CB6A6"/>
          </a:solidFill>
          <a:ln/>
        </p:spPr>
      </p:sp>
      <p:sp>
        <p:nvSpPr>
          <p:cNvPr id="16" name="Text 14"/>
          <p:cNvSpPr/>
          <p:nvPr/>
        </p:nvSpPr>
        <p:spPr>
          <a:xfrm>
            <a:off x="7808976" y="1947672"/>
            <a:ext cx="3675888" cy="256032"/>
          </a:xfrm>
          <a:prstGeom prst="rect">
            <a:avLst/>
          </a:prstGeom>
          <a:noFill/>
          <a:ln/>
        </p:spPr>
        <p:txBody>
          <a:bodyPr wrap="square" rtlCol="0" anchor="ctr"/>
          <a:lstStyle/>
          <a:p>
            <a:pPr indent="0" marL="0">
              <a:buNone/>
            </a:pPr>
            <a:r>
              <a:rPr lang="en-US" sz="1000" b="1" spc="100" kern="0" dirty="0">
                <a:solidFill>
                  <a:srgbClr val="3CB6A6"/>
                </a:solidFill>
                <a:latin typeface="Calibri" pitchFamily="34" charset="0"/>
                <a:ea typeface="Calibri" pitchFamily="34" charset="-122"/>
                <a:cs typeface="Calibri" pitchFamily="34" charset="-120"/>
              </a:rPr>
              <a:t>SELF-UPDATING ATTACK DB</a:t>
            </a:r>
            <a:endParaRPr lang="en-US" sz="1000" dirty="0"/>
          </a:p>
        </p:txBody>
      </p:sp>
      <p:sp>
        <p:nvSpPr>
          <p:cNvPr id="17" name="Text 15"/>
          <p:cNvSpPr/>
          <p:nvPr/>
        </p:nvSpPr>
        <p:spPr>
          <a:xfrm>
            <a:off x="7808976" y="2231136"/>
            <a:ext cx="3639312" cy="2761488"/>
          </a:xfrm>
          <a:prstGeom prst="rect">
            <a:avLst/>
          </a:prstGeom>
          <a:noFill/>
          <a:ln/>
        </p:spPr>
        <p:txBody>
          <a:bodyPr wrap="square" rtlCol="0" anchor="t"/>
          <a:lstStyle/>
          <a:p>
            <a:pPr indent="0" marL="0">
              <a:lnSpc>
                <a:spcPct val="110000"/>
              </a:lnSpc>
              <a:buNone/>
            </a:pPr>
            <a:r>
              <a:rPr lang="en-US" sz="1150" b="1" dirty="0">
                <a:solidFill>
                  <a:srgbClr val="EAF0F1"/>
                </a:solidFill>
                <a:latin typeface="Calibri" pitchFamily="34" charset="0"/>
                <a:ea typeface="Calibri" pitchFamily="34" charset="-122"/>
                <a:cs typeface="Calibri" pitchFamily="34" charset="-120"/>
              </a:rPr>
              <a:t>New attack → validate → store → retrain (~30 s) → ready for the next. </a:t>
            </a:r>
            <a:pPr indent="0" marL="0">
              <a:lnSpc>
                <a:spcPct val="110000"/>
              </a:lnSpc>
              <a:buNone/>
            </a:pPr>
            <a:r>
              <a:rPr lang="en-US" sz="1150" dirty="0">
                <a:solidFill>
                  <a:srgbClr val="95A6AD"/>
                </a:solidFill>
                <a:latin typeface="Calibri" pitchFamily="34" charset="0"/>
                <a:ea typeface="Calibri" pitchFamily="34" charset="-122"/>
                <a:cs typeface="Calibri" pitchFamily="34" charset="-120"/>
              </a:rPr>
              <a:t>Grounded: retraining already lifts recall 0.15 → 0.98 and is cheap. The hard part is trust — unvetted input can be poisoned, so every entry is judged before it's learned.</a:t>
            </a:r>
            <a:endParaRPr lang="en-US" sz="1150" dirty="0"/>
          </a:p>
        </p:txBody>
      </p:sp>
      <p:sp>
        <p:nvSpPr>
          <p:cNvPr id="18" name="Text 16"/>
          <p:cNvSpPr/>
          <p:nvPr/>
        </p:nvSpPr>
        <p:spPr>
          <a:xfrm>
            <a:off x="566928" y="6437376"/>
            <a:ext cx="11057839" cy="274320"/>
          </a:xfrm>
          <a:prstGeom prst="rect">
            <a:avLst/>
          </a:prstGeom>
          <a:noFill/>
          <a:ln/>
        </p:spPr>
        <p:txBody>
          <a:bodyPr wrap="square" rtlCol="0" anchor="ctr"/>
          <a:lstStyle/>
          <a:p>
            <a:pPr indent="0" marL="0">
              <a:buNone/>
            </a:pPr>
            <a:r>
              <a:rPr lang="en-US" sz="950" i="1" dirty="0">
                <a:solidFill>
                  <a:srgbClr val="7C8F98"/>
                </a:solidFill>
                <a:latin typeface="Calibri" pitchFamily="34" charset="0"/>
                <a:ea typeface="Calibri" pitchFamily="34" charset="-122"/>
                <a:cs typeface="Calibri" pitchFamily="34" charset="-120"/>
              </a:rPr>
              <a:t>extensions around the core detector — one open attack, one candidate feature, one living process</a:t>
            </a:r>
            <a:endParaRPr lang="en-US" sz="95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310896"/>
            <a:ext cx="9144000" cy="274320"/>
          </a:xfrm>
          <a:prstGeom prst="rect">
            <a:avLst/>
          </a:prstGeom>
          <a:noFill/>
          <a:ln/>
        </p:spPr>
        <p:txBody>
          <a:bodyPr wrap="square" rtlCol="0" anchor="ctr"/>
          <a:lstStyle/>
          <a:p>
            <a:pPr indent="0" marL="0">
              <a:buNone/>
            </a:pPr>
            <a:r>
              <a:rPr lang="en-US" sz="1100" b="1" spc="200" kern="0" dirty="0">
                <a:solidFill>
                  <a:srgbClr val="3CB6A6"/>
                </a:solidFill>
                <a:latin typeface="Calibri" pitchFamily="34" charset="0"/>
                <a:ea typeface="Calibri" pitchFamily="34" charset="-122"/>
                <a:cs typeface="Calibri" pitchFamily="34" charset="-120"/>
              </a:rPr>
              <a:t>DEPLOYMENT &amp; THE CORE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indent="0" marL="0">
              <a:buNone/>
            </a:pPr>
            <a:r>
              <a:rPr lang="en-US" sz="2500" b="1" dirty="0">
                <a:solidFill>
                  <a:srgbClr val="EAF0F1"/>
                </a:solidFill>
                <a:latin typeface="Cambria" pitchFamily="34" charset="0"/>
                <a:ea typeface="Cambria" pitchFamily="34" charset="-122"/>
                <a:cs typeface="Cambria" pitchFamily="34" charset="-120"/>
              </a:rPr>
              <a:t>Small, fast, one layer — and what it all shows.</a:t>
            </a:r>
            <a:endParaRPr lang="en-US" sz="2500" dirty="0"/>
          </a:p>
        </p:txBody>
      </p:sp>
      <p:sp>
        <p:nvSpPr>
          <p:cNvPr id="4" name="Shape 2"/>
          <p:cNvSpPr/>
          <p:nvPr/>
        </p:nvSpPr>
        <p:spPr>
          <a:xfrm>
            <a:off x="566928" y="1371600"/>
            <a:ext cx="1737360" cy="41148"/>
          </a:xfrm>
          <a:prstGeom prst="rect">
            <a:avLst/>
          </a:prstGeom>
          <a:solidFill>
            <a:srgbClr val="3CB6A6"/>
          </a:solidFill>
          <a:ln/>
        </p:spPr>
      </p:sp>
      <p:sp>
        <p:nvSpPr>
          <p:cNvPr id="5" name="Text 3"/>
          <p:cNvSpPr/>
          <p:nvPr/>
        </p:nvSpPr>
        <p:spPr>
          <a:xfrm>
            <a:off x="10728655" y="310896"/>
            <a:ext cx="914400" cy="274320"/>
          </a:xfrm>
          <a:prstGeom prst="rect">
            <a:avLst/>
          </a:prstGeom>
          <a:noFill/>
          <a:ln/>
        </p:spPr>
        <p:txBody>
          <a:bodyPr wrap="square" rtlCol="0" anchor="ctr"/>
          <a:lstStyle/>
          <a:p>
            <a:pPr algn="r" indent="0" marL="0">
              <a:buNone/>
            </a:pPr>
            <a:r>
              <a:rPr lang="en-US" sz="1100" dirty="0">
                <a:solidFill>
                  <a:srgbClr val="6E7F87"/>
                </a:solidFill>
                <a:latin typeface="Calibri" pitchFamily="34" charset="0"/>
                <a:ea typeface="Calibri" pitchFamily="34" charset="-122"/>
                <a:cs typeface="Calibri" pitchFamily="34" charset="-120"/>
              </a:rPr>
              <a:t>13 / 15</a:t>
            </a:r>
            <a:endParaRPr lang="en-US" sz="1100" dirty="0"/>
          </a:p>
        </p:txBody>
      </p:sp>
      <p:sp>
        <p:nvSpPr>
          <p:cNvPr id="6" name="Shape 4"/>
          <p:cNvSpPr/>
          <p:nvPr/>
        </p:nvSpPr>
        <p:spPr>
          <a:xfrm>
            <a:off x="566928" y="1691640"/>
            <a:ext cx="3291840" cy="1417320"/>
          </a:xfrm>
          <a:prstGeom prst="roundRect">
            <a:avLst>
              <a:gd name="adj" fmla="val 5161"/>
            </a:avLst>
          </a:prstGeom>
          <a:solidFill>
            <a:srgbClr val="1B2B32"/>
          </a:solidFill>
          <a:ln w="12700">
            <a:solidFill>
              <a:srgbClr val="26363D"/>
            </a:solidFill>
            <a:prstDash val="solid"/>
          </a:ln>
        </p:spPr>
      </p:sp>
      <p:sp>
        <p:nvSpPr>
          <p:cNvPr id="7" name="Text 5"/>
          <p:cNvSpPr/>
          <p:nvPr/>
        </p:nvSpPr>
        <p:spPr>
          <a:xfrm>
            <a:off x="566928" y="1874520"/>
            <a:ext cx="3291840" cy="685800"/>
          </a:xfrm>
          <a:prstGeom prst="rect">
            <a:avLst/>
          </a:prstGeom>
          <a:noFill/>
          <a:ln/>
        </p:spPr>
        <p:txBody>
          <a:bodyPr wrap="square" rtlCol="0" anchor="ctr"/>
          <a:lstStyle/>
          <a:p>
            <a:pPr algn="ctr" indent="0" marL="0">
              <a:buNone/>
            </a:pPr>
            <a:r>
              <a:rPr lang="en-US" sz="3200" b="1" dirty="0">
                <a:solidFill>
                  <a:srgbClr val="3CB6A6"/>
                </a:solidFill>
                <a:latin typeface="Cambria" pitchFamily="34" charset="0"/>
                <a:ea typeface="Cambria" pitchFamily="34" charset="-122"/>
                <a:cs typeface="Cambria" pitchFamily="34" charset="-120"/>
              </a:rPr>
              <a:t>~3 ms</a:t>
            </a:r>
            <a:endParaRPr lang="en-US" sz="3200" dirty="0"/>
          </a:p>
        </p:txBody>
      </p:sp>
      <p:sp>
        <p:nvSpPr>
          <p:cNvPr id="8" name="Text 6"/>
          <p:cNvSpPr/>
          <p:nvPr/>
        </p:nvSpPr>
        <p:spPr>
          <a:xfrm>
            <a:off x="566928" y="2578608"/>
            <a:ext cx="3291840" cy="457200"/>
          </a:xfrm>
          <a:prstGeom prst="rect">
            <a:avLst/>
          </a:prstGeom>
          <a:noFill/>
          <a:ln/>
        </p:spPr>
        <p:txBody>
          <a:bodyPr wrap="square" rtlCol="0" anchor="ctr"/>
          <a:lstStyle/>
          <a:p>
            <a:pPr algn="ctr" indent="0" marL="0">
              <a:buNone/>
            </a:pPr>
            <a:r>
              <a:rPr lang="en-US" sz="1200" dirty="0">
                <a:solidFill>
                  <a:srgbClr val="95A6AD"/>
                </a:solidFill>
                <a:latin typeface="Calibri" pitchFamily="34" charset="0"/>
                <a:ea typeface="Calibri" pitchFamily="34" charset="-122"/>
                <a:cs typeface="Calibri" pitchFamily="34" charset="-120"/>
              </a:rPr>
              <a:t>per email</a:t>
            </a:r>
            <a:endParaRPr lang="en-US" sz="1200" dirty="0"/>
          </a:p>
        </p:txBody>
      </p:sp>
      <p:sp>
        <p:nvSpPr>
          <p:cNvPr id="9" name="Shape 7"/>
          <p:cNvSpPr/>
          <p:nvPr/>
        </p:nvSpPr>
        <p:spPr>
          <a:xfrm>
            <a:off x="4443984" y="1691640"/>
            <a:ext cx="3291840" cy="1417320"/>
          </a:xfrm>
          <a:prstGeom prst="roundRect">
            <a:avLst>
              <a:gd name="adj" fmla="val 5161"/>
            </a:avLst>
          </a:prstGeom>
          <a:solidFill>
            <a:srgbClr val="1B2B32"/>
          </a:solidFill>
          <a:ln w="12700">
            <a:solidFill>
              <a:srgbClr val="26363D"/>
            </a:solidFill>
            <a:prstDash val="solid"/>
          </a:ln>
        </p:spPr>
      </p:sp>
      <p:sp>
        <p:nvSpPr>
          <p:cNvPr id="10" name="Text 8"/>
          <p:cNvSpPr/>
          <p:nvPr/>
        </p:nvSpPr>
        <p:spPr>
          <a:xfrm>
            <a:off x="4443984" y="1874520"/>
            <a:ext cx="3291840" cy="685800"/>
          </a:xfrm>
          <a:prstGeom prst="rect">
            <a:avLst/>
          </a:prstGeom>
          <a:noFill/>
          <a:ln/>
        </p:spPr>
        <p:txBody>
          <a:bodyPr wrap="square" rtlCol="0" anchor="ctr"/>
          <a:lstStyle/>
          <a:p>
            <a:pPr algn="ctr" indent="0" marL="0">
              <a:buNone/>
            </a:pPr>
            <a:r>
              <a:rPr lang="en-US" sz="3200" b="1" dirty="0">
                <a:solidFill>
                  <a:srgbClr val="3CB6A6"/>
                </a:solidFill>
                <a:latin typeface="Cambria" pitchFamily="34" charset="0"/>
                <a:ea typeface="Cambria" pitchFamily="34" charset="-122"/>
                <a:cs typeface="Cambria" pitchFamily="34" charset="-120"/>
              </a:rPr>
              <a:t>2.7 MB</a:t>
            </a:r>
            <a:endParaRPr lang="en-US" sz="3200" dirty="0"/>
          </a:p>
        </p:txBody>
      </p:sp>
      <p:sp>
        <p:nvSpPr>
          <p:cNvPr id="11" name="Text 9"/>
          <p:cNvSpPr/>
          <p:nvPr/>
        </p:nvSpPr>
        <p:spPr>
          <a:xfrm>
            <a:off x="4443984" y="2578608"/>
            <a:ext cx="3291840" cy="457200"/>
          </a:xfrm>
          <a:prstGeom prst="rect">
            <a:avLst/>
          </a:prstGeom>
          <a:noFill/>
          <a:ln/>
        </p:spPr>
        <p:txBody>
          <a:bodyPr wrap="square" rtlCol="0" anchor="ctr"/>
          <a:lstStyle/>
          <a:p>
            <a:pPr algn="ctr" indent="0" marL="0">
              <a:buNone/>
            </a:pPr>
            <a:r>
              <a:rPr lang="en-US" sz="1200" dirty="0">
                <a:solidFill>
                  <a:srgbClr val="95A6AD"/>
                </a:solidFill>
                <a:latin typeface="Calibri" pitchFamily="34" charset="0"/>
                <a:ea typeface="Calibri" pitchFamily="34" charset="-122"/>
                <a:cs typeface="Calibri" pitchFamily="34" charset="-120"/>
              </a:rPr>
              <a:t>on disk</a:t>
            </a:r>
            <a:endParaRPr lang="en-US" sz="1200" dirty="0"/>
          </a:p>
        </p:txBody>
      </p:sp>
      <p:sp>
        <p:nvSpPr>
          <p:cNvPr id="12" name="Shape 10"/>
          <p:cNvSpPr/>
          <p:nvPr/>
        </p:nvSpPr>
        <p:spPr>
          <a:xfrm>
            <a:off x="8321040" y="1691640"/>
            <a:ext cx="3291840" cy="1417320"/>
          </a:xfrm>
          <a:prstGeom prst="roundRect">
            <a:avLst>
              <a:gd name="adj" fmla="val 5161"/>
            </a:avLst>
          </a:prstGeom>
          <a:solidFill>
            <a:srgbClr val="1B2B32"/>
          </a:solidFill>
          <a:ln w="12700">
            <a:solidFill>
              <a:srgbClr val="26363D"/>
            </a:solidFill>
            <a:prstDash val="solid"/>
          </a:ln>
        </p:spPr>
      </p:sp>
      <p:sp>
        <p:nvSpPr>
          <p:cNvPr id="13" name="Text 11"/>
          <p:cNvSpPr/>
          <p:nvPr/>
        </p:nvSpPr>
        <p:spPr>
          <a:xfrm>
            <a:off x="8321040" y="1874520"/>
            <a:ext cx="3291840" cy="685800"/>
          </a:xfrm>
          <a:prstGeom prst="rect">
            <a:avLst/>
          </a:prstGeom>
          <a:noFill/>
          <a:ln/>
        </p:spPr>
        <p:txBody>
          <a:bodyPr wrap="square" rtlCol="0" anchor="ctr"/>
          <a:lstStyle/>
          <a:p>
            <a:pPr algn="ctr" indent="0" marL="0">
              <a:buNone/>
            </a:pPr>
            <a:r>
              <a:rPr lang="en-US" sz="3200" b="1" dirty="0">
                <a:solidFill>
                  <a:srgbClr val="3CB6A6"/>
                </a:solidFill>
                <a:latin typeface="Cambria" pitchFamily="34" charset="0"/>
                <a:ea typeface="Cambria" pitchFamily="34" charset="-122"/>
                <a:cs typeface="Cambria" pitchFamily="34" charset="-120"/>
              </a:rPr>
              <a:t>~25 s</a:t>
            </a:r>
            <a:endParaRPr lang="en-US" sz="3200" dirty="0"/>
          </a:p>
        </p:txBody>
      </p:sp>
      <p:sp>
        <p:nvSpPr>
          <p:cNvPr id="14" name="Text 12"/>
          <p:cNvSpPr/>
          <p:nvPr/>
        </p:nvSpPr>
        <p:spPr>
          <a:xfrm>
            <a:off x="8321040" y="2578608"/>
            <a:ext cx="3291840" cy="457200"/>
          </a:xfrm>
          <a:prstGeom prst="rect">
            <a:avLst/>
          </a:prstGeom>
          <a:noFill/>
          <a:ln/>
        </p:spPr>
        <p:txBody>
          <a:bodyPr wrap="square" rtlCol="0" anchor="ctr"/>
          <a:lstStyle/>
          <a:p>
            <a:pPr algn="ctr" indent="0" marL="0">
              <a:buNone/>
            </a:pPr>
            <a:r>
              <a:rPr lang="en-US" sz="1200" dirty="0">
                <a:solidFill>
                  <a:srgbClr val="95A6AD"/>
                </a:solidFill>
                <a:latin typeface="Calibri" pitchFamily="34" charset="0"/>
                <a:ea typeface="Calibri" pitchFamily="34" charset="-122"/>
                <a:cs typeface="Calibri" pitchFamily="34" charset="-120"/>
              </a:rPr>
              <a:t>full retrain</a:t>
            </a:r>
            <a:endParaRPr lang="en-US" sz="1200" dirty="0"/>
          </a:p>
        </p:txBody>
      </p:sp>
      <p:sp>
        <p:nvSpPr>
          <p:cNvPr id="15" name="Text 13"/>
          <p:cNvSpPr/>
          <p:nvPr/>
        </p:nvSpPr>
        <p:spPr>
          <a:xfrm>
            <a:off x="566928" y="3291840"/>
            <a:ext cx="11057839" cy="640080"/>
          </a:xfrm>
          <a:prstGeom prst="rect">
            <a:avLst/>
          </a:prstGeom>
          <a:noFill/>
          <a:ln/>
        </p:spPr>
        <p:txBody>
          <a:bodyPr wrap="square" rtlCol="0" anchor="t"/>
          <a:lstStyle/>
          <a:p>
            <a:pPr indent="0" marL="0">
              <a:buNone/>
            </a:pPr>
            <a:r>
              <a:rPr lang="en-US" sz="1300" dirty="0">
                <a:solidFill>
                  <a:srgbClr val="95A6AD"/>
                </a:solidFill>
                <a:latin typeface="Calibri" pitchFamily="34" charset="0"/>
                <a:ea typeface="Calibri" pitchFamily="34" charset="-122"/>
                <a:cs typeface="Calibri" pitchFamily="34" charset="-120"/>
              </a:rPr>
              <a:t>Small enough to run on the device → content never leaves it. And it is deliberately one layer of many (SPF/DKIM, link reputation, sandboxing, and Gilad's detector around it).</a:t>
            </a:r>
            <a:endParaRPr lang="en-US" sz="1300" dirty="0"/>
          </a:p>
        </p:txBody>
      </p:sp>
      <p:sp>
        <p:nvSpPr>
          <p:cNvPr id="16" name="Shape 14"/>
          <p:cNvSpPr/>
          <p:nvPr/>
        </p:nvSpPr>
        <p:spPr>
          <a:xfrm>
            <a:off x="566928" y="4114800"/>
            <a:ext cx="3657600" cy="1737360"/>
          </a:xfrm>
          <a:prstGeom prst="roundRect">
            <a:avLst>
              <a:gd name="adj" fmla="val 3684"/>
            </a:avLst>
          </a:prstGeom>
          <a:solidFill>
            <a:srgbClr val="16302C"/>
          </a:solidFill>
          <a:ln/>
        </p:spPr>
      </p:sp>
      <p:sp>
        <p:nvSpPr>
          <p:cNvPr id="17" name="Shape 15"/>
          <p:cNvSpPr/>
          <p:nvPr/>
        </p:nvSpPr>
        <p:spPr>
          <a:xfrm>
            <a:off x="566928" y="4233672"/>
            <a:ext cx="50292" cy="1499616"/>
          </a:xfrm>
          <a:prstGeom prst="rect">
            <a:avLst/>
          </a:prstGeom>
          <a:solidFill>
            <a:srgbClr val="3CB6A6"/>
          </a:solidFill>
          <a:ln/>
        </p:spPr>
      </p:sp>
      <p:sp>
        <p:nvSpPr>
          <p:cNvPr id="18" name="Text 16"/>
          <p:cNvSpPr/>
          <p:nvPr/>
        </p:nvSpPr>
        <p:spPr>
          <a:xfrm>
            <a:off x="768096" y="4233672"/>
            <a:ext cx="3328416" cy="256032"/>
          </a:xfrm>
          <a:prstGeom prst="rect">
            <a:avLst/>
          </a:prstGeom>
          <a:noFill/>
          <a:ln/>
        </p:spPr>
        <p:txBody>
          <a:bodyPr wrap="square" rtlCol="0" anchor="ctr"/>
          <a:lstStyle/>
          <a:p>
            <a:pPr indent="0" marL="0">
              <a:buNone/>
            </a:pPr>
            <a:r>
              <a:rPr lang="en-US" sz="1000" b="1" spc="100" kern="0" dirty="0">
                <a:solidFill>
                  <a:srgbClr val="3CB6A6"/>
                </a:solidFill>
                <a:latin typeface="Calibri" pitchFamily="34" charset="0"/>
                <a:ea typeface="Calibri" pitchFamily="34" charset="-122"/>
                <a:cs typeface="Calibri" pitchFamily="34" charset="-120"/>
              </a:rPr>
              <a:t>IT WORKS, HONESTLY</a:t>
            </a:r>
            <a:endParaRPr lang="en-US" sz="1000" dirty="0"/>
          </a:p>
        </p:txBody>
      </p:sp>
      <p:sp>
        <p:nvSpPr>
          <p:cNvPr id="19" name="Text 17"/>
          <p:cNvSpPr/>
          <p:nvPr/>
        </p:nvSpPr>
        <p:spPr>
          <a:xfrm>
            <a:off x="768096" y="4517136"/>
            <a:ext cx="3291840" cy="1207008"/>
          </a:xfrm>
          <a:prstGeom prst="rect">
            <a:avLst/>
          </a:prstGeom>
          <a:noFill/>
          <a:ln/>
        </p:spPr>
        <p:txBody>
          <a:bodyPr wrap="square" rtlCol="0" anchor="t"/>
          <a:lstStyle/>
          <a:p>
            <a:pPr indent="0" marL="0">
              <a:lnSpc>
                <a:spcPct val="110000"/>
              </a:lnSpc>
              <a:buNone/>
            </a:pPr>
            <a:r>
              <a:rPr lang="en-US" sz="1150" dirty="0">
                <a:solidFill>
                  <a:srgbClr val="EAF0F1"/>
                </a:solidFill>
                <a:latin typeface="Calibri" pitchFamily="34" charset="0"/>
                <a:ea typeface="Calibri" pitchFamily="34" charset="-122"/>
                <a:cs typeface="Calibri" pitchFamily="34" charset="-120"/>
              </a:rPr>
              <a:t>Near-perfect on clean mail (F1 0.998) — and every claim tested against an attacker who fights back.</a:t>
            </a:r>
            <a:endParaRPr lang="en-US" sz="1150" dirty="0"/>
          </a:p>
        </p:txBody>
      </p:sp>
      <p:sp>
        <p:nvSpPr>
          <p:cNvPr id="20" name="Shape 18"/>
          <p:cNvSpPr/>
          <p:nvPr/>
        </p:nvSpPr>
        <p:spPr>
          <a:xfrm>
            <a:off x="4261104" y="4114800"/>
            <a:ext cx="3657600" cy="1737360"/>
          </a:xfrm>
          <a:prstGeom prst="roundRect">
            <a:avLst>
              <a:gd name="adj" fmla="val 3684"/>
            </a:avLst>
          </a:prstGeom>
          <a:solidFill>
            <a:srgbClr val="302A19"/>
          </a:solidFill>
          <a:ln/>
        </p:spPr>
      </p:sp>
      <p:sp>
        <p:nvSpPr>
          <p:cNvPr id="21" name="Shape 19"/>
          <p:cNvSpPr/>
          <p:nvPr/>
        </p:nvSpPr>
        <p:spPr>
          <a:xfrm>
            <a:off x="4261104" y="4233672"/>
            <a:ext cx="50292" cy="1499616"/>
          </a:xfrm>
          <a:prstGeom prst="rect">
            <a:avLst/>
          </a:prstGeom>
          <a:solidFill>
            <a:srgbClr val="D4AB4E"/>
          </a:solidFill>
          <a:ln/>
        </p:spPr>
      </p:sp>
      <p:sp>
        <p:nvSpPr>
          <p:cNvPr id="22" name="Text 20"/>
          <p:cNvSpPr/>
          <p:nvPr/>
        </p:nvSpPr>
        <p:spPr>
          <a:xfrm>
            <a:off x="4462272" y="4233672"/>
            <a:ext cx="3328416" cy="256032"/>
          </a:xfrm>
          <a:prstGeom prst="rect">
            <a:avLst/>
          </a:prstGeom>
          <a:noFill/>
          <a:ln/>
        </p:spPr>
        <p:txBody>
          <a:bodyPr wrap="square" rtlCol="0" anchor="ctr"/>
          <a:lstStyle/>
          <a:p>
            <a:pPr indent="0" marL="0">
              <a:buNone/>
            </a:pPr>
            <a:r>
              <a:rPr lang="en-US" sz="1000" b="1" spc="100" kern="0" dirty="0">
                <a:solidFill>
                  <a:srgbClr val="D4AB4E"/>
                </a:solidFill>
                <a:latin typeface="Calibri" pitchFamily="34" charset="0"/>
                <a:ea typeface="Calibri" pitchFamily="34" charset="-122"/>
                <a:cs typeface="Calibri" pitchFamily="34" charset="-120"/>
              </a:rPr>
              <a:t>TWO ATTACKS SHUT BY PROOF</a:t>
            </a:r>
            <a:endParaRPr lang="en-US" sz="1000" dirty="0"/>
          </a:p>
        </p:txBody>
      </p:sp>
      <p:sp>
        <p:nvSpPr>
          <p:cNvPr id="23" name="Text 21"/>
          <p:cNvSpPr/>
          <p:nvPr/>
        </p:nvSpPr>
        <p:spPr>
          <a:xfrm>
            <a:off x="4462272" y="4517136"/>
            <a:ext cx="3291840" cy="1207008"/>
          </a:xfrm>
          <a:prstGeom prst="rect">
            <a:avLst/>
          </a:prstGeom>
          <a:noFill/>
          <a:ln/>
        </p:spPr>
        <p:txBody>
          <a:bodyPr wrap="square" rtlCol="0" anchor="t"/>
          <a:lstStyle/>
          <a:p>
            <a:pPr indent="0" marL="0">
              <a:lnSpc>
                <a:spcPct val="110000"/>
              </a:lnSpc>
              <a:buNone/>
            </a:pPr>
            <a:r>
              <a:rPr lang="en-US" sz="1150" dirty="0">
                <a:solidFill>
                  <a:srgbClr val="EAF0F1"/>
                </a:solidFill>
                <a:latin typeface="Calibri" pitchFamily="34" charset="0"/>
                <a:ea typeface="Calibri" pitchFamily="34" charset="-122"/>
                <a:cs typeface="Calibri" pitchFamily="34" charset="-120"/>
              </a:rPr>
              <a:t>Look-alike letters and padding provably cannot slip a scam past the detector. A guarantee, not a lucky number.</a:t>
            </a:r>
            <a:endParaRPr lang="en-US" sz="1150" dirty="0"/>
          </a:p>
        </p:txBody>
      </p:sp>
      <p:sp>
        <p:nvSpPr>
          <p:cNvPr id="24" name="Shape 22"/>
          <p:cNvSpPr/>
          <p:nvPr/>
        </p:nvSpPr>
        <p:spPr>
          <a:xfrm>
            <a:off x="7973568" y="4114800"/>
            <a:ext cx="3657600" cy="1737360"/>
          </a:xfrm>
          <a:prstGeom prst="roundRect">
            <a:avLst>
              <a:gd name="adj" fmla="val 3684"/>
            </a:avLst>
          </a:prstGeom>
          <a:solidFill>
            <a:srgbClr val="34231D"/>
          </a:solidFill>
          <a:ln/>
        </p:spPr>
      </p:sp>
      <p:sp>
        <p:nvSpPr>
          <p:cNvPr id="25" name="Shape 23"/>
          <p:cNvSpPr/>
          <p:nvPr/>
        </p:nvSpPr>
        <p:spPr>
          <a:xfrm>
            <a:off x="7973568" y="4233672"/>
            <a:ext cx="50292" cy="1499616"/>
          </a:xfrm>
          <a:prstGeom prst="rect">
            <a:avLst/>
          </a:prstGeom>
          <a:solidFill>
            <a:srgbClr val="E97A60"/>
          </a:solidFill>
          <a:ln/>
        </p:spPr>
      </p:sp>
      <p:sp>
        <p:nvSpPr>
          <p:cNvPr id="26" name="Text 24"/>
          <p:cNvSpPr/>
          <p:nvPr/>
        </p:nvSpPr>
        <p:spPr>
          <a:xfrm>
            <a:off x="8174736" y="4233672"/>
            <a:ext cx="3328416" cy="256032"/>
          </a:xfrm>
          <a:prstGeom prst="rect">
            <a:avLst/>
          </a:prstGeom>
          <a:noFill/>
          <a:ln/>
        </p:spPr>
        <p:txBody>
          <a:bodyPr wrap="square" rtlCol="0" anchor="ctr"/>
          <a:lstStyle/>
          <a:p>
            <a:pPr indent="0" marL="0">
              <a:buNone/>
            </a:pPr>
            <a:r>
              <a:rPr lang="en-US" sz="1000" b="1" spc="100" kern="0" dirty="0">
                <a:solidFill>
                  <a:srgbClr val="E97A60"/>
                </a:solidFill>
                <a:latin typeface="Calibri" pitchFamily="34" charset="0"/>
                <a:ea typeface="Calibri" pitchFamily="34" charset="-122"/>
                <a:cs typeface="Calibri" pitchFamily="34" charset="-120"/>
              </a:rPr>
              <a:t>IT KNOWS ITS LIMITS</a:t>
            </a:r>
            <a:endParaRPr lang="en-US" sz="1000" dirty="0"/>
          </a:p>
        </p:txBody>
      </p:sp>
      <p:sp>
        <p:nvSpPr>
          <p:cNvPr id="27" name="Text 25"/>
          <p:cNvSpPr/>
          <p:nvPr/>
        </p:nvSpPr>
        <p:spPr>
          <a:xfrm>
            <a:off x="8174736" y="4517136"/>
            <a:ext cx="3291840" cy="1207008"/>
          </a:xfrm>
          <a:prstGeom prst="rect">
            <a:avLst/>
          </a:prstGeom>
          <a:noFill/>
          <a:ln/>
        </p:spPr>
        <p:txBody>
          <a:bodyPr wrap="square" rtlCol="0" anchor="t"/>
          <a:lstStyle/>
          <a:p>
            <a:pPr indent="0" marL="0">
              <a:lnSpc>
                <a:spcPct val="110000"/>
              </a:lnSpc>
              <a:buNone/>
            </a:pPr>
            <a:r>
              <a:rPr lang="en-US" sz="1150" dirty="0">
                <a:solidFill>
                  <a:srgbClr val="EAF0F1"/>
                </a:solidFill>
                <a:latin typeface="Calibri" pitchFamily="34" charset="0"/>
                <a:ea typeface="Calibri" pitchFamily="34" charset="-122"/>
                <a:cs typeface="Calibri" pitchFamily="34" charset="-120"/>
              </a:rPr>
              <a:t>Words alone can't catch everything — exactly why it fuses with a detector that reads links and sender.</a:t>
            </a:r>
            <a:endParaRPr lang="en-US" sz="1150" dirty="0"/>
          </a:p>
        </p:txBody>
      </p:sp>
      <p:sp>
        <p:nvSpPr>
          <p:cNvPr id="28" name="Text 26"/>
          <p:cNvSpPr/>
          <p:nvPr/>
        </p:nvSpPr>
        <p:spPr>
          <a:xfrm>
            <a:off x="566928" y="5989320"/>
            <a:ext cx="11057839" cy="365760"/>
          </a:xfrm>
          <a:prstGeom prst="rect">
            <a:avLst/>
          </a:prstGeom>
          <a:noFill/>
          <a:ln/>
        </p:spPr>
        <p:txBody>
          <a:bodyPr wrap="square" rtlCol="0" anchor="ctr"/>
          <a:lstStyle/>
          <a:p>
            <a:pPr algn="ctr" indent="0" marL="0">
              <a:buNone/>
            </a:pPr>
            <a:r>
              <a:rPr lang="en-US" sz="1500" b="1" dirty="0">
                <a:solidFill>
                  <a:srgbClr val="EAF0F1"/>
                </a:solidFill>
                <a:latin typeface="Calibri" pitchFamily="34" charset="0"/>
                <a:ea typeface="Calibri" pitchFamily="34" charset="-122"/>
                <a:cs typeface="Calibri" pitchFamily="34" charset="-120"/>
              </a:rPr>
              <a:t>The core, in one line:  a near-perfect score is not the same as a safe detector.</a:t>
            </a:r>
            <a:endParaRPr lang="en-US" sz="1500" dirty="0"/>
          </a:p>
        </p:txBody>
      </p:sp>
      <p:sp>
        <p:nvSpPr>
          <p:cNvPr id="29" name="Text 27"/>
          <p:cNvSpPr/>
          <p:nvPr/>
        </p:nvSpPr>
        <p:spPr>
          <a:xfrm>
            <a:off x="566928" y="6437376"/>
            <a:ext cx="11057839" cy="274320"/>
          </a:xfrm>
          <a:prstGeom prst="rect">
            <a:avLst/>
          </a:prstGeom>
          <a:noFill/>
          <a:ln/>
        </p:spPr>
        <p:txBody>
          <a:bodyPr wrap="square" rtlCol="0" anchor="ctr"/>
          <a:lstStyle/>
          <a:p>
            <a:pPr indent="0" marL="0">
              <a:buNone/>
            </a:pPr>
            <a:r>
              <a:rPr lang="en-US" sz="950" i="1" dirty="0">
                <a:solidFill>
                  <a:srgbClr val="7C8F98"/>
                </a:solidFill>
                <a:latin typeface="Calibri" pitchFamily="34" charset="0"/>
                <a:ea typeface="Calibri" pitchFamily="34" charset="-122"/>
                <a:cs typeface="Calibri" pitchFamily="34" charset="-120"/>
              </a:rPr>
              <a:t>measured, not guessed · a perfect-looking score, stress-tested until it earns trust</a:t>
            </a:r>
            <a:endParaRPr lang="en-US" sz="9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310896"/>
            <a:ext cx="9144000" cy="274320"/>
          </a:xfrm>
          <a:prstGeom prst="rect">
            <a:avLst/>
          </a:prstGeom>
          <a:noFill/>
          <a:ln/>
        </p:spPr>
        <p:txBody>
          <a:bodyPr wrap="square" rtlCol="0" anchor="ctr"/>
          <a:lstStyle/>
          <a:p>
            <a:pPr indent="0" marL="0">
              <a:buNone/>
            </a:pPr>
            <a:r>
              <a:rPr lang="en-US" sz="1100" b="1" spc="200" kern="0" dirty="0">
                <a:solidFill>
                  <a:srgbClr val="3CB6A6"/>
                </a:solidFill>
                <a:latin typeface="Calibri" pitchFamily="34" charset="0"/>
                <a:ea typeface="Calibri" pitchFamily="34" charset="-122"/>
                <a:cs typeface="Calibri" pitchFamily="34" charset="-120"/>
              </a:rPr>
              <a:t>GROUNDED IN THE COURSE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indent="0" marL="0">
              <a:buNone/>
            </a:pPr>
            <a:r>
              <a:rPr lang="en-US" sz="2500" b="1" dirty="0">
                <a:solidFill>
                  <a:srgbClr val="EAF0F1"/>
                </a:solidFill>
                <a:latin typeface="Cambria" pitchFamily="34" charset="0"/>
                <a:ea typeface="Cambria" pitchFamily="34" charset="-122"/>
                <a:cs typeface="Cambria" pitchFamily="34" charset="-120"/>
              </a:rPr>
              <a:t>The course pipeline, and its methods — applied.</a:t>
            </a:r>
            <a:endParaRPr lang="en-US" sz="2500" dirty="0"/>
          </a:p>
        </p:txBody>
      </p:sp>
      <p:sp>
        <p:nvSpPr>
          <p:cNvPr id="4" name="Shape 2"/>
          <p:cNvSpPr/>
          <p:nvPr/>
        </p:nvSpPr>
        <p:spPr>
          <a:xfrm>
            <a:off x="566928" y="1371600"/>
            <a:ext cx="1737360" cy="41148"/>
          </a:xfrm>
          <a:prstGeom prst="rect">
            <a:avLst/>
          </a:prstGeom>
          <a:solidFill>
            <a:srgbClr val="3CB6A6"/>
          </a:solidFill>
          <a:ln/>
        </p:spPr>
      </p:sp>
      <p:sp>
        <p:nvSpPr>
          <p:cNvPr id="5" name="Text 3"/>
          <p:cNvSpPr/>
          <p:nvPr/>
        </p:nvSpPr>
        <p:spPr>
          <a:xfrm>
            <a:off x="10728655" y="310896"/>
            <a:ext cx="914400" cy="274320"/>
          </a:xfrm>
          <a:prstGeom prst="rect">
            <a:avLst/>
          </a:prstGeom>
          <a:noFill/>
          <a:ln/>
        </p:spPr>
        <p:txBody>
          <a:bodyPr wrap="square" rtlCol="0" anchor="ctr"/>
          <a:lstStyle/>
          <a:p>
            <a:pPr algn="r" indent="0" marL="0">
              <a:buNone/>
            </a:pPr>
            <a:r>
              <a:rPr lang="en-US" sz="1100" dirty="0">
                <a:solidFill>
                  <a:srgbClr val="6E7F87"/>
                </a:solidFill>
                <a:latin typeface="Calibri" pitchFamily="34" charset="0"/>
                <a:ea typeface="Calibri" pitchFamily="34" charset="-122"/>
                <a:cs typeface="Calibri" pitchFamily="34" charset="-120"/>
              </a:rPr>
              <a:t>14 / 15</a:t>
            </a:r>
            <a:endParaRPr lang="en-US" sz="1100" dirty="0"/>
          </a:p>
        </p:txBody>
      </p:sp>
      <p:sp>
        <p:nvSpPr>
          <p:cNvPr id="6" name="Shape 4"/>
          <p:cNvSpPr/>
          <p:nvPr/>
        </p:nvSpPr>
        <p:spPr>
          <a:xfrm>
            <a:off x="566928" y="1600200"/>
            <a:ext cx="1627632" cy="640080"/>
          </a:xfrm>
          <a:prstGeom prst="roundRect">
            <a:avLst>
              <a:gd name="adj" fmla="val 11429"/>
            </a:avLst>
          </a:prstGeom>
          <a:solidFill>
            <a:srgbClr val="16302C"/>
          </a:solidFill>
          <a:ln/>
        </p:spPr>
      </p:sp>
      <p:sp>
        <p:nvSpPr>
          <p:cNvPr id="7" name="Text 5"/>
          <p:cNvSpPr/>
          <p:nvPr/>
        </p:nvSpPr>
        <p:spPr>
          <a:xfrm>
            <a:off x="566928" y="1600200"/>
            <a:ext cx="1627632" cy="640080"/>
          </a:xfrm>
          <a:prstGeom prst="rect">
            <a:avLst/>
          </a:prstGeom>
          <a:noFill/>
          <a:ln/>
        </p:spPr>
        <p:txBody>
          <a:bodyPr wrap="square" rtlCol="0" anchor="ctr"/>
          <a:lstStyle/>
          <a:p>
            <a:pPr algn="ctr" indent="0" marL="0">
              <a:buNone/>
            </a:pPr>
            <a:r>
              <a:rPr lang="en-US" sz="1250" b="1" dirty="0">
                <a:solidFill>
                  <a:srgbClr val="3CB6A6"/>
                </a:solidFill>
                <a:latin typeface="Calibri" pitchFamily="34" charset="0"/>
                <a:ea typeface="Calibri" pitchFamily="34" charset="-122"/>
                <a:cs typeface="Calibri" pitchFamily="34" charset="-120"/>
              </a:rPr>
              <a:t>Data &amp; EDA</a:t>
            </a:r>
            <a:endParaRPr lang="en-US" sz="1250" dirty="0"/>
          </a:p>
        </p:txBody>
      </p:sp>
      <p:sp>
        <p:nvSpPr>
          <p:cNvPr id="8" name="Text 6"/>
          <p:cNvSpPr/>
          <p:nvPr/>
        </p:nvSpPr>
        <p:spPr>
          <a:xfrm>
            <a:off x="2167128" y="1645920"/>
            <a:ext cx="310896" cy="548640"/>
          </a:xfrm>
          <a:prstGeom prst="rect">
            <a:avLst/>
          </a:prstGeom>
          <a:noFill/>
          <a:ln/>
        </p:spPr>
        <p:txBody>
          <a:bodyPr wrap="square" rtlCol="0" anchor="ctr"/>
          <a:lstStyle/>
          <a:p>
            <a:pPr algn="ctr" indent="0" marL="0">
              <a:buNone/>
            </a:pPr>
            <a:r>
              <a:rPr lang="en-US" sz="1500" dirty="0">
                <a:solidFill>
                  <a:srgbClr val="6E7F87"/>
                </a:solidFill>
                <a:latin typeface="Calibri" pitchFamily="34" charset="0"/>
                <a:ea typeface="Calibri" pitchFamily="34" charset="-122"/>
                <a:cs typeface="Calibri" pitchFamily="34" charset="-120"/>
              </a:rPr>
              <a:t>→</a:t>
            </a:r>
            <a:endParaRPr lang="en-US" sz="1500" dirty="0"/>
          </a:p>
        </p:txBody>
      </p:sp>
      <p:sp>
        <p:nvSpPr>
          <p:cNvPr id="9" name="Shape 7"/>
          <p:cNvSpPr/>
          <p:nvPr/>
        </p:nvSpPr>
        <p:spPr>
          <a:xfrm>
            <a:off x="2450592" y="1600200"/>
            <a:ext cx="1627632" cy="640080"/>
          </a:xfrm>
          <a:prstGeom prst="roundRect">
            <a:avLst>
              <a:gd name="adj" fmla="val 11429"/>
            </a:avLst>
          </a:prstGeom>
          <a:solidFill>
            <a:srgbClr val="16302C"/>
          </a:solidFill>
          <a:ln/>
        </p:spPr>
      </p:sp>
      <p:sp>
        <p:nvSpPr>
          <p:cNvPr id="10" name="Text 8"/>
          <p:cNvSpPr/>
          <p:nvPr/>
        </p:nvSpPr>
        <p:spPr>
          <a:xfrm>
            <a:off x="2450592" y="1600200"/>
            <a:ext cx="1627632" cy="640080"/>
          </a:xfrm>
          <a:prstGeom prst="rect">
            <a:avLst/>
          </a:prstGeom>
          <a:noFill/>
          <a:ln/>
        </p:spPr>
        <p:txBody>
          <a:bodyPr wrap="square" rtlCol="0" anchor="ctr"/>
          <a:lstStyle/>
          <a:p>
            <a:pPr algn="ctr" indent="0" marL="0">
              <a:buNone/>
            </a:pPr>
            <a:r>
              <a:rPr lang="en-US" sz="1250" b="1" dirty="0">
                <a:solidFill>
                  <a:srgbClr val="3CB6A6"/>
                </a:solidFill>
                <a:latin typeface="Calibri" pitchFamily="34" charset="0"/>
                <a:ea typeface="Calibri" pitchFamily="34" charset="-122"/>
                <a:cs typeface="Calibri" pitchFamily="34" charset="-120"/>
              </a:rPr>
              <a:t>Clustering</a:t>
            </a:r>
            <a:endParaRPr lang="en-US" sz="1250" dirty="0"/>
          </a:p>
        </p:txBody>
      </p:sp>
      <p:sp>
        <p:nvSpPr>
          <p:cNvPr id="11" name="Text 9"/>
          <p:cNvSpPr/>
          <p:nvPr/>
        </p:nvSpPr>
        <p:spPr>
          <a:xfrm>
            <a:off x="4050792" y="1645920"/>
            <a:ext cx="310896" cy="548640"/>
          </a:xfrm>
          <a:prstGeom prst="rect">
            <a:avLst/>
          </a:prstGeom>
          <a:noFill/>
          <a:ln/>
        </p:spPr>
        <p:txBody>
          <a:bodyPr wrap="square" rtlCol="0" anchor="ctr"/>
          <a:lstStyle/>
          <a:p>
            <a:pPr algn="ctr" indent="0" marL="0">
              <a:buNone/>
            </a:pPr>
            <a:r>
              <a:rPr lang="en-US" sz="1500" dirty="0">
                <a:solidFill>
                  <a:srgbClr val="6E7F87"/>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4334256" y="1600200"/>
            <a:ext cx="1627632" cy="640080"/>
          </a:xfrm>
          <a:prstGeom prst="roundRect">
            <a:avLst>
              <a:gd name="adj" fmla="val 11429"/>
            </a:avLst>
          </a:prstGeom>
          <a:solidFill>
            <a:srgbClr val="16302C"/>
          </a:solidFill>
          <a:ln/>
        </p:spPr>
      </p:sp>
      <p:sp>
        <p:nvSpPr>
          <p:cNvPr id="13" name="Text 11"/>
          <p:cNvSpPr/>
          <p:nvPr/>
        </p:nvSpPr>
        <p:spPr>
          <a:xfrm>
            <a:off x="4334256" y="1600200"/>
            <a:ext cx="1627632" cy="640080"/>
          </a:xfrm>
          <a:prstGeom prst="rect">
            <a:avLst/>
          </a:prstGeom>
          <a:noFill/>
          <a:ln/>
        </p:spPr>
        <p:txBody>
          <a:bodyPr wrap="square" rtlCol="0" anchor="ctr"/>
          <a:lstStyle/>
          <a:p>
            <a:pPr algn="ctr" indent="0" marL="0">
              <a:buNone/>
            </a:pPr>
            <a:r>
              <a:rPr lang="en-US" sz="1250" b="1" dirty="0">
                <a:solidFill>
                  <a:srgbClr val="3CB6A6"/>
                </a:solidFill>
                <a:latin typeface="Calibri" pitchFamily="34" charset="0"/>
                <a:ea typeface="Calibri" pitchFamily="34" charset="-122"/>
                <a:cs typeface="Calibri" pitchFamily="34" charset="-120"/>
              </a:rPr>
              <a:t>Temporal</a:t>
            </a:r>
            <a:endParaRPr lang="en-US" sz="1250" dirty="0"/>
          </a:p>
        </p:txBody>
      </p:sp>
      <p:sp>
        <p:nvSpPr>
          <p:cNvPr id="14" name="Text 12"/>
          <p:cNvSpPr/>
          <p:nvPr/>
        </p:nvSpPr>
        <p:spPr>
          <a:xfrm>
            <a:off x="5934456" y="1645920"/>
            <a:ext cx="310896" cy="548640"/>
          </a:xfrm>
          <a:prstGeom prst="rect">
            <a:avLst/>
          </a:prstGeom>
          <a:noFill/>
          <a:ln/>
        </p:spPr>
        <p:txBody>
          <a:bodyPr wrap="square" rtlCol="0" anchor="ctr"/>
          <a:lstStyle/>
          <a:p>
            <a:pPr algn="ctr" indent="0" marL="0">
              <a:buNone/>
            </a:pPr>
            <a:r>
              <a:rPr lang="en-US" sz="1500" dirty="0">
                <a:solidFill>
                  <a:srgbClr val="6E7F87"/>
                </a:solidFill>
                <a:latin typeface="Calibri" pitchFamily="34" charset="0"/>
                <a:ea typeface="Calibri" pitchFamily="34" charset="-122"/>
                <a:cs typeface="Calibri" pitchFamily="34" charset="-120"/>
              </a:rPr>
              <a:t>→</a:t>
            </a:r>
            <a:endParaRPr lang="en-US" sz="1500" dirty="0"/>
          </a:p>
        </p:txBody>
      </p:sp>
      <p:sp>
        <p:nvSpPr>
          <p:cNvPr id="15" name="Shape 13"/>
          <p:cNvSpPr/>
          <p:nvPr/>
        </p:nvSpPr>
        <p:spPr>
          <a:xfrm>
            <a:off x="6217920" y="1600200"/>
            <a:ext cx="1627632" cy="640080"/>
          </a:xfrm>
          <a:prstGeom prst="roundRect">
            <a:avLst>
              <a:gd name="adj" fmla="val 11429"/>
            </a:avLst>
          </a:prstGeom>
          <a:solidFill>
            <a:srgbClr val="302A19"/>
          </a:solidFill>
          <a:ln/>
        </p:spPr>
      </p:sp>
      <p:sp>
        <p:nvSpPr>
          <p:cNvPr id="16" name="Text 14"/>
          <p:cNvSpPr/>
          <p:nvPr/>
        </p:nvSpPr>
        <p:spPr>
          <a:xfrm>
            <a:off x="6217920" y="1600200"/>
            <a:ext cx="1627632" cy="640080"/>
          </a:xfrm>
          <a:prstGeom prst="rect">
            <a:avLst/>
          </a:prstGeom>
          <a:noFill/>
          <a:ln/>
        </p:spPr>
        <p:txBody>
          <a:bodyPr wrap="square" rtlCol="0" anchor="ctr"/>
          <a:lstStyle/>
          <a:p>
            <a:pPr algn="ctr" indent="0" marL="0">
              <a:buNone/>
            </a:pPr>
            <a:r>
              <a:rPr lang="en-US" sz="1250" b="1" dirty="0">
                <a:solidFill>
                  <a:srgbClr val="D4AB4E"/>
                </a:solidFill>
                <a:latin typeface="Calibri" pitchFamily="34" charset="0"/>
                <a:ea typeface="Calibri" pitchFamily="34" charset="-122"/>
                <a:cs typeface="Calibri" pitchFamily="34" charset="-120"/>
              </a:rPr>
              <a:t>NLP</a:t>
            </a:r>
            <a:endParaRPr lang="en-US" sz="1250" dirty="0"/>
          </a:p>
        </p:txBody>
      </p:sp>
      <p:sp>
        <p:nvSpPr>
          <p:cNvPr id="17" name="Text 15"/>
          <p:cNvSpPr/>
          <p:nvPr/>
        </p:nvSpPr>
        <p:spPr>
          <a:xfrm>
            <a:off x="7818120" y="1645920"/>
            <a:ext cx="310896" cy="548640"/>
          </a:xfrm>
          <a:prstGeom prst="rect">
            <a:avLst/>
          </a:prstGeom>
          <a:noFill/>
          <a:ln/>
        </p:spPr>
        <p:txBody>
          <a:bodyPr wrap="square" rtlCol="0" anchor="ctr"/>
          <a:lstStyle/>
          <a:p>
            <a:pPr algn="ctr" indent="0" marL="0">
              <a:buNone/>
            </a:pPr>
            <a:r>
              <a:rPr lang="en-US" sz="1500" dirty="0">
                <a:solidFill>
                  <a:srgbClr val="6E7F87"/>
                </a:solidFill>
                <a:latin typeface="Calibri" pitchFamily="34" charset="0"/>
                <a:ea typeface="Calibri" pitchFamily="34" charset="-122"/>
                <a:cs typeface="Calibri" pitchFamily="34" charset="-120"/>
              </a:rPr>
              <a:t>→</a:t>
            </a:r>
            <a:endParaRPr lang="en-US" sz="1500" dirty="0"/>
          </a:p>
        </p:txBody>
      </p:sp>
      <p:sp>
        <p:nvSpPr>
          <p:cNvPr id="18" name="Shape 16"/>
          <p:cNvSpPr/>
          <p:nvPr/>
        </p:nvSpPr>
        <p:spPr>
          <a:xfrm>
            <a:off x="8101584" y="1600200"/>
            <a:ext cx="1627632" cy="640080"/>
          </a:xfrm>
          <a:prstGeom prst="roundRect">
            <a:avLst>
              <a:gd name="adj" fmla="val 11429"/>
            </a:avLst>
          </a:prstGeom>
          <a:solidFill>
            <a:srgbClr val="302A19"/>
          </a:solidFill>
          <a:ln/>
        </p:spPr>
      </p:sp>
      <p:sp>
        <p:nvSpPr>
          <p:cNvPr id="19" name="Text 17"/>
          <p:cNvSpPr/>
          <p:nvPr/>
        </p:nvSpPr>
        <p:spPr>
          <a:xfrm>
            <a:off x="8101584" y="1600200"/>
            <a:ext cx="1627632" cy="640080"/>
          </a:xfrm>
          <a:prstGeom prst="rect">
            <a:avLst/>
          </a:prstGeom>
          <a:noFill/>
          <a:ln/>
        </p:spPr>
        <p:txBody>
          <a:bodyPr wrap="square" rtlCol="0" anchor="ctr"/>
          <a:lstStyle/>
          <a:p>
            <a:pPr algn="ctr" indent="0" marL="0">
              <a:buNone/>
            </a:pPr>
            <a:r>
              <a:rPr lang="en-US" sz="1250" b="1" dirty="0">
                <a:solidFill>
                  <a:srgbClr val="D4AB4E"/>
                </a:solidFill>
                <a:latin typeface="Calibri" pitchFamily="34" charset="0"/>
                <a:ea typeface="Calibri" pitchFamily="34" charset="-122"/>
                <a:cs typeface="Calibri" pitchFamily="34" charset="-120"/>
              </a:rPr>
              <a:t>Models</a:t>
            </a:r>
            <a:endParaRPr lang="en-US" sz="1250" dirty="0"/>
          </a:p>
        </p:txBody>
      </p:sp>
      <p:sp>
        <p:nvSpPr>
          <p:cNvPr id="20" name="Text 18"/>
          <p:cNvSpPr/>
          <p:nvPr/>
        </p:nvSpPr>
        <p:spPr>
          <a:xfrm>
            <a:off x="9701784" y="1645920"/>
            <a:ext cx="310896" cy="548640"/>
          </a:xfrm>
          <a:prstGeom prst="rect">
            <a:avLst/>
          </a:prstGeom>
          <a:noFill/>
          <a:ln/>
        </p:spPr>
        <p:txBody>
          <a:bodyPr wrap="square" rtlCol="0" anchor="ctr"/>
          <a:lstStyle/>
          <a:p>
            <a:pPr algn="ctr" indent="0" marL="0">
              <a:buNone/>
            </a:pPr>
            <a:r>
              <a:rPr lang="en-US" sz="1500" dirty="0">
                <a:solidFill>
                  <a:srgbClr val="6E7F87"/>
                </a:solidFill>
                <a:latin typeface="Calibri" pitchFamily="34" charset="0"/>
                <a:ea typeface="Calibri" pitchFamily="34" charset="-122"/>
                <a:cs typeface="Calibri" pitchFamily="34" charset="-120"/>
              </a:rPr>
              <a:t>→</a:t>
            </a:r>
            <a:endParaRPr lang="en-US" sz="1500" dirty="0"/>
          </a:p>
        </p:txBody>
      </p:sp>
      <p:sp>
        <p:nvSpPr>
          <p:cNvPr id="21" name="Shape 19"/>
          <p:cNvSpPr/>
          <p:nvPr/>
        </p:nvSpPr>
        <p:spPr>
          <a:xfrm>
            <a:off x="9985248" y="1600200"/>
            <a:ext cx="1627632" cy="640080"/>
          </a:xfrm>
          <a:prstGeom prst="roundRect">
            <a:avLst>
              <a:gd name="adj" fmla="val 11429"/>
            </a:avLst>
          </a:prstGeom>
          <a:solidFill>
            <a:srgbClr val="16302C"/>
          </a:solidFill>
          <a:ln/>
        </p:spPr>
      </p:sp>
      <p:sp>
        <p:nvSpPr>
          <p:cNvPr id="22" name="Text 20"/>
          <p:cNvSpPr/>
          <p:nvPr/>
        </p:nvSpPr>
        <p:spPr>
          <a:xfrm>
            <a:off x="9985248" y="1600200"/>
            <a:ext cx="1627632" cy="640080"/>
          </a:xfrm>
          <a:prstGeom prst="rect">
            <a:avLst/>
          </a:prstGeom>
          <a:noFill/>
          <a:ln/>
        </p:spPr>
        <p:txBody>
          <a:bodyPr wrap="square" rtlCol="0" anchor="ctr"/>
          <a:lstStyle/>
          <a:p>
            <a:pPr algn="ctr" indent="0" marL="0">
              <a:buNone/>
            </a:pPr>
            <a:r>
              <a:rPr lang="en-US" sz="1250" b="1" dirty="0">
                <a:solidFill>
                  <a:srgbClr val="3CB6A6"/>
                </a:solidFill>
                <a:latin typeface="Calibri" pitchFamily="34" charset="0"/>
                <a:ea typeface="Calibri" pitchFamily="34" charset="-122"/>
                <a:cs typeface="Calibri" pitchFamily="34" charset="-120"/>
              </a:rPr>
              <a:t>Improve</a:t>
            </a:r>
            <a:endParaRPr lang="en-US" sz="1250" dirty="0"/>
          </a:p>
        </p:txBody>
      </p:sp>
      <p:sp>
        <p:nvSpPr>
          <p:cNvPr id="23" name="Text 21"/>
          <p:cNvSpPr/>
          <p:nvPr/>
        </p:nvSpPr>
        <p:spPr>
          <a:xfrm>
            <a:off x="566928" y="2377440"/>
            <a:ext cx="11057839" cy="502920"/>
          </a:xfrm>
          <a:prstGeom prst="rect">
            <a:avLst/>
          </a:prstGeom>
          <a:noFill/>
          <a:ln/>
        </p:spPr>
        <p:txBody>
          <a:bodyPr wrap="square" rtlCol="0" anchor="t"/>
          <a:lstStyle/>
          <a:p>
            <a:pPr indent="0" marL="0">
              <a:buNone/>
            </a:pPr>
            <a:r>
              <a:rPr lang="en-US" sz="1250" dirty="0">
                <a:solidFill>
                  <a:srgbClr val="95A6AD"/>
                </a:solidFill>
                <a:latin typeface="Calibri" pitchFamily="34" charset="0"/>
                <a:ea typeface="Calibri" pitchFamily="34" charset="-122"/>
                <a:cs typeface="Calibri" pitchFamily="34" charset="-120"/>
              </a:rPr>
              <a:t>My project is a deep dive into NLP + Models + Improve (gold), touching every earlier stage. The one box left open — ‘separate components’ — is the fusion with Gilad.</a:t>
            </a:r>
            <a:endParaRPr lang="en-US" sz="1250" dirty="0"/>
          </a:p>
        </p:txBody>
      </p:sp>
      <p:sp>
        <p:nvSpPr>
          <p:cNvPr id="24" name="Shape 22"/>
          <p:cNvSpPr/>
          <p:nvPr/>
        </p:nvSpPr>
        <p:spPr>
          <a:xfrm>
            <a:off x="566928" y="3063240"/>
            <a:ext cx="5486400" cy="1371600"/>
          </a:xfrm>
          <a:prstGeom prst="roundRect">
            <a:avLst>
              <a:gd name="adj" fmla="val 4667"/>
            </a:avLst>
          </a:prstGeom>
          <a:solidFill>
            <a:srgbClr val="182E38"/>
          </a:solidFill>
          <a:ln/>
        </p:spPr>
      </p:sp>
      <p:sp>
        <p:nvSpPr>
          <p:cNvPr id="25" name="Shape 23"/>
          <p:cNvSpPr/>
          <p:nvPr/>
        </p:nvSpPr>
        <p:spPr>
          <a:xfrm>
            <a:off x="566928" y="3182112"/>
            <a:ext cx="50292" cy="1133856"/>
          </a:xfrm>
          <a:prstGeom prst="rect">
            <a:avLst/>
          </a:prstGeom>
          <a:solidFill>
            <a:srgbClr val="5FA3C0"/>
          </a:solidFill>
          <a:ln/>
        </p:spPr>
      </p:sp>
      <p:sp>
        <p:nvSpPr>
          <p:cNvPr id="26" name="Text 24"/>
          <p:cNvSpPr/>
          <p:nvPr/>
        </p:nvSpPr>
        <p:spPr>
          <a:xfrm>
            <a:off x="768096" y="3182112"/>
            <a:ext cx="5157216" cy="256032"/>
          </a:xfrm>
          <a:prstGeom prst="rect">
            <a:avLst/>
          </a:prstGeom>
          <a:noFill/>
          <a:ln/>
        </p:spPr>
        <p:txBody>
          <a:bodyPr wrap="square" rtlCol="0" anchor="ctr"/>
          <a:lstStyle/>
          <a:p>
            <a:pPr indent="0" marL="0">
              <a:buNone/>
            </a:pPr>
            <a:r>
              <a:rPr lang="en-US" sz="1000" b="1" spc="100" kern="0" dirty="0">
                <a:solidFill>
                  <a:srgbClr val="5FA3C0"/>
                </a:solidFill>
                <a:latin typeface="Calibri" pitchFamily="34" charset="0"/>
                <a:ea typeface="Calibri" pitchFamily="34" charset="-122"/>
                <a:cs typeface="Calibri" pitchFamily="34" charset="-120"/>
              </a:rPr>
              <a:t>METRICS &amp; THE ACCURACY PARADOX</a:t>
            </a:r>
            <a:endParaRPr lang="en-US" sz="1000" dirty="0"/>
          </a:p>
        </p:txBody>
      </p:sp>
      <p:sp>
        <p:nvSpPr>
          <p:cNvPr id="27" name="Text 25"/>
          <p:cNvSpPr/>
          <p:nvPr/>
        </p:nvSpPr>
        <p:spPr>
          <a:xfrm>
            <a:off x="768096" y="3465576"/>
            <a:ext cx="5120640" cy="841248"/>
          </a:xfrm>
          <a:prstGeom prst="rect">
            <a:avLst/>
          </a:prstGeom>
          <a:noFill/>
          <a:ln/>
        </p:spPr>
        <p:txBody>
          <a:bodyPr wrap="square" rtlCol="0" anchor="t"/>
          <a:lstStyle/>
          <a:p>
            <a:pPr indent="0" marL="0">
              <a:lnSpc>
                <a:spcPct val="110000"/>
              </a:lnSpc>
              <a:buNone/>
            </a:pPr>
            <a:r>
              <a:rPr lang="en-US" sz="1150" dirty="0">
                <a:solidFill>
                  <a:srgbClr val="EAF0F1"/>
                </a:solidFill>
                <a:latin typeface="Calibri" pitchFamily="34" charset="0"/>
                <a:ea typeface="Calibri" pitchFamily="34" charset="-122"/>
                <a:cs typeface="Calibri" pitchFamily="34" charset="-120"/>
              </a:rPr>
              <a:t>Report F2 / MCC / AUC, not accuracy — a high-accuracy model can catch zero phishing (the majority baseline is in the deck).</a:t>
            </a:r>
            <a:endParaRPr lang="en-US" sz="1150" dirty="0"/>
          </a:p>
        </p:txBody>
      </p:sp>
      <p:sp>
        <p:nvSpPr>
          <p:cNvPr id="28" name="Shape 26"/>
          <p:cNvSpPr/>
          <p:nvPr/>
        </p:nvSpPr>
        <p:spPr>
          <a:xfrm>
            <a:off x="6126480" y="3063240"/>
            <a:ext cx="5486400" cy="1371600"/>
          </a:xfrm>
          <a:prstGeom prst="roundRect">
            <a:avLst>
              <a:gd name="adj" fmla="val 4667"/>
            </a:avLst>
          </a:prstGeom>
          <a:solidFill>
            <a:srgbClr val="16302C"/>
          </a:solidFill>
          <a:ln/>
        </p:spPr>
      </p:sp>
      <p:sp>
        <p:nvSpPr>
          <p:cNvPr id="29" name="Shape 27"/>
          <p:cNvSpPr/>
          <p:nvPr/>
        </p:nvSpPr>
        <p:spPr>
          <a:xfrm>
            <a:off x="6126480" y="3182112"/>
            <a:ext cx="50292" cy="1133856"/>
          </a:xfrm>
          <a:prstGeom prst="rect">
            <a:avLst/>
          </a:prstGeom>
          <a:solidFill>
            <a:srgbClr val="3CB6A6"/>
          </a:solidFill>
          <a:ln/>
        </p:spPr>
      </p:sp>
      <p:sp>
        <p:nvSpPr>
          <p:cNvPr id="30" name="Text 28"/>
          <p:cNvSpPr/>
          <p:nvPr/>
        </p:nvSpPr>
        <p:spPr>
          <a:xfrm>
            <a:off x="6327648" y="3182112"/>
            <a:ext cx="5157216" cy="256032"/>
          </a:xfrm>
          <a:prstGeom prst="rect">
            <a:avLst/>
          </a:prstGeom>
          <a:noFill/>
          <a:ln/>
        </p:spPr>
        <p:txBody>
          <a:bodyPr wrap="square" rtlCol="0" anchor="ctr"/>
          <a:lstStyle/>
          <a:p>
            <a:pPr indent="0" marL="0">
              <a:buNone/>
            </a:pPr>
            <a:r>
              <a:rPr lang="en-US" sz="1000" b="1" spc="100" kern="0" dirty="0">
                <a:solidFill>
                  <a:srgbClr val="3CB6A6"/>
                </a:solidFill>
                <a:latin typeface="Calibri" pitchFamily="34" charset="0"/>
                <a:ea typeface="Calibri" pitchFamily="34" charset="-122"/>
                <a:cs typeface="Calibri" pitchFamily="34" charset="-120"/>
              </a:rPr>
              <a:t>SPLIT · LEAKAGE · TEMPORAL</a:t>
            </a:r>
            <a:endParaRPr lang="en-US" sz="1000" dirty="0"/>
          </a:p>
        </p:txBody>
      </p:sp>
      <p:sp>
        <p:nvSpPr>
          <p:cNvPr id="31" name="Text 29"/>
          <p:cNvSpPr/>
          <p:nvPr/>
        </p:nvSpPr>
        <p:spPr>
          <a:xfrm>
            <a:off x="6327648" y="3465576"/>
            <a:ext cx="5120640" cy="841248"/>
          </a:xfrm>
          <a:prstGeom prst="rect">
            <a:avLst/>
          </a:prstGeom>
          <a:noFill/>
          <a:ln/>
        </p:spPr>
        <p:txBody>
          <a:bodyPr wrap="square" rtlCol="0" anchor="t"/>
          <a:lstStyle/>
          <a:p>
            <a:pPr indent="0" marL="0">
              <a:lnSpc>
                <a:spcPct val="110000"/>
              </a:lnSpc>
              <a:buNone/>
            </a:pPr>
            <a:r>
              <a:rPr lang="en-US" sz="1150" dirty="0">
                <a:solidFill>
                  <a:srgbClr val="EAF0F1"/>
                </a:solidFill>
                <a:latin typeface="Calibri" pitchFamily="34" charset="0"/>
                <a:ea typeface="Calibri" pitchFamily="34" charset="-122"/>
                <a:cs typeface="Calibri" pitchFamily="34" charset="-120"/>
              </a:rPr>
              <a:t>Stratified 60/20/20 (seed 42), dedupe-before-split, vectoriser fit on train only, ‘no email from the future’.</a:t>
            </a:r>
            <a:endParaRPr lang="en-US" sz="1150" dirty="0"/>
          </a:p>
        </p:txBody>
      </p:sp>
      <p:sp>
        <p:nvSpPr>
          <p:cNvPr id="32" name="Shape 30"/>
          <p:cNvSpPr/>
          <p:nvPr/>
        </p:nvSpPr>
        <p:spPr>
          <a:xfrm>
            <a:off x="566928" y="4572000"/>
            <a:ext cx="5486400" cy="1371600"/>
          </a:xfrm>
          <a:prstGeom prst="roundRect">
            <a:avLst>
              <a:gd name="adj" fmla="val 4667"/>
            </a:avLst>
          </a:prstGeom>
          <a:solidFill>
            <a:srgbClr val="302A19"/>
          </a:solidFill>
          <a:ln/>
        </p:spPr>
      </p:sp>
      <p:sp>
        <p:nvSpPr>
          <p:cNvPr id="33" name="Shape 31"/>
          <p:cNvSpPr/>
          <p:nvPr/>
        </p:nvSpPr>
        <p:spPr>
          <a:xfrm>
            <a:off x="566928" y="4690872"/>
            <a:ext cx="50292" cy="1133856"/>
          </a:xfrm>
          <a:prstGeom prst="rect">
            <a:avLst/>
          </a:prstGeom>
          <a:solidFill>
            <a:srgbClr val="D4AB4E"/>
          </a:solidFill>
          <a:ln/>
        </p:spPr>
      </p:sp>
      <p:sp>
        <p:nvSpPr>
          <p:cNvPr id="34" name="Text 32"/>
          <p:cNvSpPr/>
          <p:nvPr/>
        </p:nvSpPr>
        <p:spPr>
          <a:xfrm>
            <a:off x="768096" y="4690872"/>
            <a:ext cx="5157216" cy="256032"/>
          </a:xfrm>
          <a:prstGeom prst="rect">
            <a:avLst/>
          </a:prstGeom>
          <a:noFill/>
          <a:ln/>
        </p:spPr>
        <p:txBody>
          <a:bodyPr wrap="square" rtlCol="0" anchor="ctr"/>
          <a:lstStyle/>
          <a:p>
            <a:pPr indent="0" marL="0">
              <a:buNone/>
            </a:pPr>
            <a:r>
              <a:rPr lang="en-US" sz="1000" b="1" spc="100" kern="0" dirty="0">
                <a:solidFill>
                  <a:srgbClr val="D4AB4E"/>
                </a:solidFill>
                <a:latin typeface="Calibri" pitchFamily="34" charset="0"/>
                <a:ea typeface="Calibri" pitchFamily="34" charset="-122"/>
                <a:cs typeface="Calibri" pitchFamily="34" charset="-120"/>
              </a:rPr>
              <a:t>EDA STATISTICS</a:t>
            </a:r>
            <a:endParaRPr lang="en-US" sz="1000" dirty="0"/>
          </a:p>
        </p:txBody>
      </p:sp>
      <p:sp>
        <p:nvSpPr>
          <p:cNvPr id="35" name="Text 33"/>
          <p:cNvSpPr/>
          <p:nvPr/>
        </p:nvSpPr>
        <p:spPr>
          <a:xfrm>
            <a:off x="768096" y="4974336"/>
            <a:ext cx="5120640" cy="841248"/>
          </a:xfrm>
          <a:prstGeom prst="rect">
            <a:avLst/>
          </a:prstGeom>
          <a:noFill/>
          <a:ln/>
        </p:spPr>
        <p:txBody>
          <a:bodyPr wrap="square" rtlCol="0" anchor="t"/>
          <a:lstStyle/>
          <a:p>
            <a:pPr indent="0" marL="0">
              <a:lnSpc>
                <a:spcPct val="110000"/>
              </a:lnSpc>
              <a:buNone/>
            </a:pPr>
            <a:r>
              <a:rPr lang="en-US" sz="1150" dirty="0">
                <a:solidFill>
                  <a:srgbClr val="EAF0F1"/>
                </a:solidFill>
                <a:latin typeface="Calibri" pitchFamily="34" charset="0"/>
                <a:ea typeface="Calibri" pitchFamily="34" charset="-122"/>
                <a:cs typeface="Calibri" pitchFamily="34" charset="-120"/>
              </a:rPr>
              <a:t>Spearman/Kendall, skew &amp; kurtosis, median/MAD/IQR, Mann–Whitney, VIF — applied to real features.</a:t>
            </a:r>
            <a:endParaRPr lang="en-US" sz="1150" dirty="0"/>
          </a:p>
        </p:txBody>
      </p:sp>
      <p:sp>
        <p:nvSpPr>
          <p:cNvPr id="36" name="Shape 34"/>
          <p:cNvSpPr/>
          <p:nvPr/>
        </p:nvSpPr>
        <p:spPr>
          <a:xfrm>
            <a:off x="6126480" y="4572000"/>
            <a:ext cx="5486400" cy="1371600"/>
          </a:xfrm>
          <a:prstGeom prst="roundRect">
            <a:avLst>
              <a:gd name="adj" fmla="val 4667"/>
            </a:avLst>
          </a:prstGeom>
          <a:solidFill>
            <a:srgbClr val="232B30"/>
          </a:solidFill>
          <a:ln/>
        </p:spPr>
      </p:sp>
      <p:sp>
        <p:nvSpPr>
          <p:cNvPr id="37" name="Shape 35"/>
          <p:cNvSpPr/>
          <p:nvPr/>
        </p:nvSpPr>
        <p:spPr>
          <a:xfrm>
            <a:off x="6126480" y="4690872"/>
            <a:ext cx="50292" cy="1133856"/>
          </a:xfrm>
          <a:prstGeom prst="rect">
            <a:avLst/>
          </a:prstGeom>
          <a:solidFill>
            <a:srgbClr val="7D919B"/>
          </a:solidFill>
          <a:ln/>
        </p:spPr>
      </p:sp>
      <p:sp>
        <p:nvSpPr>
          <p:cNvPr id="38" name="Text 36"/>
          <p:cNvSpPr/>
          <p:nvPr/>
        </p:nvSpPr>
        <p:spPr>
          <a:xfrm>
            <a:off x="6327648" y="4690872"/>
            <a:ext cx="5157216" cy="256032"/>
          </a:xfrm>
          <a:prstGeom prst="rect">
            <a:avLst/>
          </a:prstGeom>
          <a:noFill/>
          <a:ln/>
        </p:spPr>
        <p:txBody>
          <a:bodyPr wrap="square" rtlCol="0" anchor="ctr"/>
          <a:lstStyle/>
          <a:p>
            <a:pPr indent="0" marL="0">
              <a:buNone/>
            </a:pPr>
            <a:r>
              <a:rPr lang="en-US" sz="1000" b="1" spc="100" kern="0" dirty="0">
                <a:solidFill>
                  <a:srgbClr val="7D919B"/>
                </a:solidFill>
                <a:latin typeface="Calibri" pitchFamily="34" charset="0"/>
                <a:ea typeface="Calibri" pitchFamily="34" charset="-122"/>
                <a:cs typeface="Calibri" pitchFamily="34" charset="-120"/>
              </a:rPr>
              <a:t>EXPLAINABILITY, THREE LEVELS</a:t>
            </a:r>
            <a:endParaRPr lang="en-US" sz="1000" dirty="0"/>
          </a:p>
        </p:txBody>
      </p:sp>
      <p:sp>
        <p:nvSpPr>
          <p:cNvPr id="39" name="Text 37"/>
          <p:cNvSpPr/>
          <p:nvPr/>
        </p:nvSpPr>
        <p:spPr>
          <a:xfrm>
            <a:off x="6327648" y="4974336"/>
            <a:ext cx="5120640" cy="841248"/>
          </a:xfrm>
          <a:prstGeom prst="rect">
            <a:avLst/>
          </a:prstGeom>
          <a:noFill/>
          <a:ln/>
        </p:spPr>
        <p:txBody>
          <a:bodyPr wrap="square" rtlCol="0" anchor="t"/>
          <a:lstStyle/>
          <a:p>
            <a:pPr indent="0" marL="0">
              <a:lnSpc>
                <a:spcPct val="110000"/>
              </a:lnSpc>
              <a:buNone/>
            </a:pPr>
            <a:r>
              <a:rPr lang="en-US" sz="1150" dirty="0">
                <a:solidFill>
                  <a:srgbClr val="EAF0F1"/>
                </a:solidFill>
                <a:latin typeface="Calibri" pitchFamily="34" charset="0"/>
                <a:ea typeface="Calibri" pitchFamily="34" charset="-122"/>
                <a:cs typeface="Calibri" pitchFamily="34" charset="-120"/>
              </a:rPr>
              <a:t>Model / feature / instance — global weights, coef×tfidf, per-email contributions. Trust-vs-performance is RQ4.</a:t>
            </a:r>
            <a:endParaRPr lang="en-US" sz="1150" dirty="0"/>
          </a:p>
        </p:txBody>
      </p:sp>
      <p:sp>
        <p:nvSpPr>
          <p:cNvPr id="40" name="Text 38"/>
          <p:cNvSpPr/>
          <p:nvPr/>
        </p:nvSpPr>
        <p:spPr>
          <a:xfrm>
            <a:off x="566928" y="6437376"/>
            <a:ext cx="11057839" cy="274320"/>
          </a:xfrm>
          <a:prstGeom prst="rect">
            <a:avLst/>
          </a:prstGeom>
          <a:noFill/>
          <a:ln/>
        </p:spPr>
        <p:txBody>
          <a:bodyPr wrap="square" rtlCol="0" anchor="ctr"/>
          <a:lstStyle/>
          <a:p>
            <a:pPr indent="0" marL="0">
              <a:buNone/>
            </a:pPr>
            <a:r>
              <a:rPr lang="en-US" sz="950" i="1" dirty="0">
                <a:solidFill>
                  <a:srgbClr val="7C8F98"/>
                </a:solidFill>
                <a:latin typeface="Calibri" pitchFamily="34" charset="0"/>
                <a:ea typeface="Calibri" pitchFamily="34" charset="-122"/>
                <a:cs typeface="Calibri" pitchFamily="34" charset="-120"/>
              </a:rPr>
              <a:t>the syllabus, executed end-to-end on phishing text</a:t>
            </a:r>
            <a:endParaRPr lang="en-US" sz="9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310896"/>
            <a:ext cx="9144000" cy="274320"/>
          </a:xfrm>
          <a:prstGeom prst="rect">
            <a:avLst/>
          </a:prstGeom>
          <a:noFill/>
          <a:ln/>
        </p:spPr>
        <p:txBody>
          <a:bodyPr wrap="square" rtlCol="0" anchor="ctr"/>
          <a:lstStyle/>
          <a:p>
            <a:pPr indent="0" marL="0">
              <a:buNone/>
            </a:pPr>
            <a:r>
              <a:rPr lang="en-US" sz="1100" b="1" spc="200" kern="0" dirty="0">
                <a:solidFill>
                  <a:srgbClr val="3CB6A6"/>
                </a:solidFill>
                <a:latin typeface="Calibri" pitchFamily="34" charset="0"/>
                <a:ea typeface="Calibri" pitchFamily="34" charset="-122"/>
                <a:cs typeface="Calibri" pitchFamily="34" charset="-120"/>
              </a:rPr>
              <a:t>GROUNDED &amp; FUTURE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indent="0" marL="0">
              <a:buNone/>
            </a:pPr>
            <a:r>
              <a:rPr lang="en-US" sz="2500" b="1" dirty="0">
                <a:solidFill>
                  <a:srgbClr val="EAF0F1"/>
                </a:solidFill>
                <a:latin typeface="Cambria" pitchFamily="34" charset="0"/>
                <a:ea typeface="Cambria" pitchFamily="34" charset="-122"/>
                <a:cs typeface="Cambria" pitchFamily="34" charset="-120"/>
              </a:rPr>
              <a:t>Attacks from the taxonomy — and what's next.</a:t>
            </a:r>
            <a:endParaRPr lang="en-US" sz="2500" dirty="0"/>
          </a:p>
        </p:txBody>
      </p:sp>
      <p:sp>
        <p:nvSpPr>
          <p:cNvPr id="4" name="Shape 2"/>
          <p:cNvSpPr/>
          <p:nvPr/>
        </p:nvSpPr>
        <p:spPr>
          <a:xfrm>
            <a:off x="566928" y="1371600"/>
            <a:ext cx="1737360" cy="41148"/>
          </a:xfrm>
          <a:prstGeom prst="rect">
            <a:avLst/>
          </a:prstGeom>
          <a:solidFill>
            <a:srgbClr val="3CB6A6"/>
          </a:solidFill>
          <a:ln/>
        </p:spPr>
      </p:sp>
      <p:sp>
        <p:nvSpPr>
          <p:cNvPr id="5" name="Text 3"/>
          <p:cNvSpPr/>
          <p:nvPr/>
        </p:nvSpPr>
        <p:spPr>
          <a:xfrm>
            <a:off x="10728655" y="310896"/>
            <a:ext cx="914400" cy="274320"/>
          </a:xfrm>
          <a:prstGeom prst="rect">
            <a:avLst/>
          </a:prstGeom>
          <a:noFill/>
          <a:ln/>
        </p:spPr>
        <p:txBody>
          <a:bodyPr wrap="square" rtlCol="0" anchor="ctr"/>
          <a:lstStyle/>
          <a:p>
            <a:pPr algn="r" indent="0" marL="0">
              <a:buNone/>
            </a:pPr>
            <a:r>
              <a:rPr lang="en-US" sz="1100" dirty="0">
                <a:solidFill>
                  <a:srgbClr val="6E7F87"/>
                </a:solidFill>
                <a:latin typeface="Calibri" pitchFamily="34" charset="0"/>
                <a:ea typeface="Calibri" pitchFamily="34" charset="-122"/>
                <a:cs typeface="Calibri" pitchFamily="34" charset="-120"/>
              </a:rPr>
              <a:t>15 / 15</a:t>
            </a:r>
            <a:endParaRPr lang="en-US" sz="1100" dirty="0"/>
          </a:p>
        </p:txBody>
      </p:sp>
      <p:sp>
        <p:nvSpPr>
          <p:cNvPr id="6" name="Shape 4"/>
          <p:cNvSpPr/>
          <p:nvPr/>
        </p:nvSpPr>
        <p:spPr>
          <a:xfrm>
            <a:off x="566928" y="1600200"/>
            <a:ext cx="5486400" cy="1600200"/>
          </a:xfrm>
          <a:prstGeom prst="roundRect">
            <a:avLst>
              <a:gd name="adj" fmla="val 4000"/>
            </a:avLst>
          </a:prstGeom>
          <a:solidFill>
            <a:srgbClr val="34231D"/>
          </a:solidFill>
          <a:ln/>
        </p:spPr>
      </p:sp>
      <p:sp>
        <p:nvSpPr>
          <p:cNvPr id="7" name="Shape 5"/>
          <p:cNvSpPr/>
          <p:nvPr/>
        </p:nvSpPr>
        <p:spPr>
          <a:xfrm>
            <a:off x="566928" y="1719072"/>
            <a:ext cx="50292" cy="1362456"/>
          </a:xfrm>
          <a:prstGeom prst="rect">
            <a:avLst/>
          </a:prstGeom>
          <a:solidFill>
            <a:srgbClr val="E97A60"/>
          </a:solidFill>
          <a:ln/>
        </p:spPr>
      </p:sp>
      <p:sp>
        <p:nvSpPr>
          <p:cNvPr id="8" name="Text 6"/>
          <p:cNvSpPr/>
          <p:nvPr/>
        </p:nvSpPr>
        <p:spPr>
          <a:xfrm>
            <a:off x="768096" y="1719072"/>
            <a:ext cx="5157216" cy="256032"/>
          </a:xfrm>
          <a:prstGeom prst="rect">
            <a:avLst/>
          </a:prstGeom>
          <a:noFill/>
          <a:ln/>
        </p:spPr>
        <p:txBody>
          <a:bodyPr wrap="square" rtlCol="0" anchor="ctr"/>
          <a:lstStyle/>
          <a:p>
            <a:pPr indent="0" marL="0">
              <a:buNone/>
            </a:pPr>
            <a:r>
              <a:rPr lang="en-US" sz="1000" b="1" spc="100" kern="0" dirty="0">
                <a:solidFill>
                  <a:srgbClr val="E97A60"/>
                </a:solidFill>
                <a:latin typeface="Calibri" pitchFamily="34" charset="0"/>
                <a:ea typeface="Calibri" pitchFamily="34" charset="-122"/>
                <a:cs typeface="Calibri" pitchFamily="34" charset="-120"/>
              </a:rPr>
              <a:t>THE ATTACK TAXONOMY</a:t>
            </a:r>
            <a:endParaRPr lang="en-US" sz="1000" dirty="0"/>
          </a:p>
        </p:txBody>
      </p:sp>
      <p:sp>
        <p:nvSpPr>
          <p:cNvPr id="9" name="Text 7"/>
          <p:cNvSpPr/>
          <p:nvPr/>
        </p:nvSpPr>
        <p:spPr>
          <a:xfrm>
            <a:off x="768096" y="2002536"/>
            <a:ext cx="5120640" cy="1069848"/>
          </a:xfrm>
          <a:prstGeom prst="rect">
            <a:avLst/>
          </a:prstGeom>
          <a:noFill/>
          <a:ln/>
        </p:spPr>
        <p:txBody>
          <a:bodyPr wrap="square" rtlCol="0" anchor="t"/>
          <a:lstStyle/>
          <a:p>
            <a:pPr indent="0" marL="0">
              <a:lnSpc>
                <a:spcPct val="110000"/>
              </a:lnSpc>
              <a:buNone/>
            </a:pPr>
            <a:r>
              <a:rPr lang="en-US" sz="1150" dirty="0">
                <a:solidFill>
                  <a:srgbClr val="EAF0F1"/>
                </a:solidFill>
                <a:latin typeface="Calibri" pitchFamily="34" charset="0"/>
                <a:ea typeface="Calibri" pitchFamily="34" charset="-122"/>
                <a:cs typeface="Calibri" pitchFamily="34" charset="-120"/>
              </a:rPr>
              <a:t>Homoglyphs = evasion; importance-guided = targeted grey-box; false reports = poisoning; DistilBERT = transfer. Char attacks (‘Get r1ch qu1ck’, Cyrillic ‘paypal’) are the lecture's own examples.</a:t>
            </a:r>
            <a:endParaRPr lang="en-US" sz="1150" dirty="0"/>
          </a:p>
        </p:txBody>
      </p:sp>
      <p:sp>
        <p:nvSpPr>
          <p:cNvPr id="10" name="Shape 8"/>
          <p:cNvSpPr/>
          <p:nvPr/>
        </p:nvSpPr>
        <p:spPr>
          <a:xfrm>
            <a:off x="6126480" y="1600200"/>
            <a:ext cx="5486400" cy="1600200"/>
          </a:xfrm>
          <a:prstGeom prst="roundRect">
            <a:avLst>
              <a:gd name="adj" fmla="val 4000"/>
            </a:avLst>
          </a:prstGeom>
          <a:solidFill>
            <a:srgbClr val="16302C"/>
          </a:solidFill>
          <a:ln/>
        </p:spPr>
      </p:sp>
      <p:sp>
        <p:nvSpPr>
          <p:cNvPr id="11" name="Shape 9"/>
          <p:cNvSpPr/>
          <p:nvPr/>
        </p:nvSpPr>
        <p:spPr>
          <a:xfrm>
            <a:off x="6126480" y="1719072"/>
            <a:ext cx="50292" cy="1362456"/>
          </a:xfrm>
          <a:prstGeom prst="rect">
            <a:avLst/>
          </a:prstGeom>
          <a:solidFill>
            <a:srgbClr val="3CB6A6"/>
          </a:solidFill>
          <a:ln/>
        </p:spPr>
      </p:sp>
      <p:sp>
        <p:nvSpPr>
          <p:cNvPr id="12" name="Text 10"/>
          <p:cNvSpPr/>
          <p:nvPr/>
        </p:nvSpPr>
        <p:spPr>
          <a:xfrm>
            <a:off x="6327648" y="1719072"/>
            <a:ext cx="5157216" cy="256032"/>
          </a:xfrm>
          <a:prstGeom prst="rect">
            <a:avLst/>
          </a:prstGeom>
          <a:noFill/>
          <a:ln/>
        </p:spPr>
        <p:txBody>
          <a:bodyPr wrap="square" rtlCol="0" anchor="ctr"/>
          <a:lstStyle/>
          <a:p>
            <a:pPr indent="0" marL="0">
              <a:buNone/>
            </a:pPr>
            <a:r>
              <a:rPr lang="en-US" sz="1000" b="1" spc="100" kern="0" dirty="0">
                <a:solidFill>
                  <a:srgbClr val="3CB6A6"/>
                </a:solidFill>
                <a:latin typeface="Calibri" pitchFamily="34" charset="0"/>
                <a:ea typeface="Calibri" pitchFamily="34" charset="-122"/>
                <a:cs typeface="Calibri" pitchFamily="34" charset="-120"/>
              </a:rPr>
              <a:t>DEFENCES NAMED IN CLASS</a:t>
            </a:r>
            <a:endParaRPr lang="en-US" sz="1000" dirty="0"/>
          </a:p>
        </p:txBody>
      </p:sp>
      <p:sp>
        <p:nvSpPr>
          <p:cNvPr id="13" name="Text 11"/>
          <p:cNvSpPr/>
          <p:nvPr/>
        </p:nvSpPr>
        <p:spPr>
          <a:xfrm>
            <a:off x="6327648" y="2002536"/>
            <a:ext cx="5120640" cy="1069848"/>
          </a:xfrm>
          <a:prstGeom prst="rect">
            <a:avLst/>
          </a:prstGeom>
          <a:noFill/>
          <a:ln/>
        </p:spPr>
        <p:txBody>
          <a:bodyPr wrap="square" rtlCol="0" anchor="t"/>
          <a:lstStyle/>
          <a:p>
            <a:pPr indent="0" marL="0">
              <a:lnSpc>
                <a:spcPct val="110000"/>
              </a:lnSpc>
              <a:buNone/>
            </a:pPr>
            <a:r>
              <a:rPr lang="en-US" sz="1150" dirty="0">
                <a:solidFill>
                  <a:srgbClr val="EAF0F1"/>
                </a:solidFill>
                <a:latin typeface="Calibri" pitchFamily="34" charset="0"/>
                <a:ea typeface="Calibri" pitchFamily="34" charset="-122"/>
                <a:cs typeface="Calibri" pitchFamily="34" charset="-120"/>
              </a:rPr>
              <a:t>Canonicalising homoglyphs + adversarial training = my UTS-39 certificate + adversarial training, measured per attack tier.</a:t>
            </a:r>
            <a:endParaRPr lang="en-US" sz="1150" dirty="0"/>
          </a:p>
        </p:txBody>
      </p:sp>
      <p:sp>
        <p:nvSpPr>
          <p:cNvPr id="14" name="Text 12"/>
          <p:cNvSpPr/>
          <p:nvPr/>
        </p:nvSpPr>
        <p:spPr>
          <a:xfrm>
            <a:off x="566928" y="3429000"/>
            <a:ext cx="9144000" cy="274320"/>
          </a:xfrm>
          <a:prstGeom prst="rect">
            <a:avLst/>
          </a:prstGeom>
          <a:noFill/>
          <a:ln/>
        </p:spPr>
        <p:txBody>
          <a:bodyPr wrap="square" rtlCol="0" anchor="ctr"/>
          <a:lstStyle/>
          <a:p>
            <a:pPr indent="0" marL="0">
              <a:buNone/>
            </a:pPr>
            <a:r>
              <a:rPr lang="en-US" sz="1100" b="1" spc="100" kern="0" dirty="0">
                <a:solidFill>
                  <a:srgbClr val="D4AB4E"/>
                </a:solidFill>
                <a:latin typeface="Calibri" pitchFamily="34" charset="0"/>
                <a:ea typeface="Calibri" pitchFamily="34" charset="-122"/>
                <a:cs typeface="Calibri" pitchFamily="34" charset="-120"/>
              </a:rPr>
              <a:t>WHAT THE PAPERS SAY COULD COME NEXT</a:t>
            </a:r>
            <a:endParaRPr lang="en-US" sz="1100" dirty="0"/>
          </a:p>
        </p:txBody>
      </p:sp>
      <p:sp>
        <p:nvSpPr>
          <p:cNvPr id="15" name="Shape 13"/>
          <p:cNvSpPr/>
          <p:nvPr/>
        </p:nvSpPr>
        <p:spPr>
          <a:xfrm>
            <a:off x="566928" y="3749040"/>
            <a:ext cx="5486400" cy="1234440"/>
          </a:xfrm>
          <a:prstGeom prst="roundRect">
            <a:avLst>
              <a:gd name="adj" fmla="val 5185"/>
            </a:avLst>
          </a:prstGeom>
          <a:solidFill>
            <a:srgbClr val="302A19"/>
          </a:solidFill>
          <a:ln/>
        </p:spPr>
      </p:sp>
      <p:sp>
        <p:nvSpPr>
          <p:cNvPr id="16" name="Shape 14"/>
          <p:cNvSpPr/>
          <p:nvPr/>
        </p:nvSpPr>
        <p:spPr>
          <a:xfrm>
            <a:off x="566928" y="3867912"/>
            <a:ext cx="50292" cy="996696"/>
          </a:xfrm>
          <a:prstGeom prst="rect">
            <a:avLst/>
          </a:prstGeom>
          <a:solidFill>
            <a:srgbClr val="D4AB4E"/>
          </a:solidFill>
          <a:ln/>
        </p:spPr>
      </p:sp>
      <p:sp>
        <p:nvSpPr>
          <p:cNvPr id="17" name="Text 15"/>
          <p:cNvSpPr/>
          <p:nvPr/>
        </p:nvSpPr>
        <p:spPr>
          <a:xfrm>
            <a:off x="768096" y="3867912"/>
            <a:ext cx="5157216" cy="256032"/>
          </a:xfrm>
          <a:prstGeom prst="rect">
            <a:avLst/>
          </a:prstGeom>
          <a:noFill/>
          <a:ln/>
        </p:spPr>
        <p:txBody>
          <a:bodyPr wrap="square" rtlCol="0" anchor="ctr"/>
          <a:lstStyle/>
          <a:p>
            <a:pPr indent="0" marL="0">
              <a:buNone/>
            </a:pPr>
            <a:r>
              <a:rPr lang="en-US" sz="1000" b="1" spc="100" kern="0" dirty="0">
                <a:solidFill>
                  <a:srgbClr val="D4AB4E"/>
                </a:solidFill>
                <a:latin typeface="Calibri" pitchFamily="34" charset="0"/>
                <a:ea typeface="Calibri" pitchFamily="34" charset="-122"/>
                <a:cs typeface="Calibri" pitchFamily="34" charset="-120"/>
              </a:rPr>
              <a:t>BEAT DILUTION &amp; ANOMALY DETECTION</a:t>
            </a:r>
            <a:endParaRPr lang="en-US" sz="1000" dirty="0"/>
          </a:p>
        </p:txBody>
      </p:sp>
      <p:sp>
        <p:nvSpPr>
          <p:cNvPr id="18" name="Text 16"/>
          <p:cNvSpPr/>
          <p:nvPr/>
        </p:nvSpPr>
        <p:spPr>
          <a:xfrm>
            <a:off x="768096" y="4151376"/>
            <a:ext cx="5120640" cy="704088"/>
          </a:xfrm>
          <a:prstGeom prst="rect">
            <a:avLst/>
          </a:prstGeom>
          <a:noFill/>
          <a:ln/>
        </p:spPr>
        <p:txBody>
          <a:bodyPr wrap="square" rtlCol="0" anchor="t"/>
          <a:lstStyle/>
          <a:p>
            <a:pPr indent="0" marL="0">
              <a:lnSpc>
                <a:spcPct val="110000"/>
              </a:lnSpc>
              <a:buNone/>
            </a:pPr>
            <a:r>
              <a:rPr lang="en-US" sz="1150" dirty="0">
                <a:solidFill>
                  <a:srgbClr val="EAF0F1"/>
                </a:solidFill>
                <a:latin typeface="Calibri" pitchFamily="34" charset="0"/>
                <a:ea typeface="Calibri" pitchFamily="34" charset="-122"/>
                <a:cs typeface="Calibri" pitchFamily="34" charset="-120"/>
              </a:rPr>
              <a:t>Fleshman 2018 non-negative nets → keep the guarantee without the F1 cost; Isolation Forest / One-Class SVM → flag obfuscated mail as anomalous.</a:t>
            </a:r>
            <a:endParaRPr lang="en-US" sz="1150" dirty="0"/>
          </a:p>
        </p:txBody>
      </p:sp>
      <p:sp>
        <p:nvSpPr>
          <p:cNvPr id="19" name="Shape 17"/>
          <p:cNvSpPr/>
          <p:nvPr/>
        </p:nvSpPr>
        <p:spPr>
          <a:xfrm>
            <a:off x="6126480" y="3749040"/>
            <a:ext cx="5486400" cy="1234440"/>
          </a:xfrm>
          <a:prstGeom prst="roundRect">
            <a:avLst>
              <a:gd name="adj" fmla="val 5185"/>
            </a:avLst>
          </a:prstGeom>
          <a:solidFill>
            <a:srgbClr val="182E38"/>
          </a:solidFill>
          <a:ln/>
        </p:spPr>
      </p:sp>
      <p:sp>
        <p:nvSpPr>
          <p:cNvPr id="20" name="Shape 18"/>
          <p:cNvSpPr/>
          <p:nvPr/>
        </p:nvSpPr>
        <p:spPr>
          <a:xfrm>
            <a:off x="6126480" y="3867912"/>
            <a:ext cx="50292" cy="996696"/>
          </a:xfrm>
          <a:prstGeom prst="rect">
            <a:avLst/>
          </a:prstGeom>
          <a:solidFill>
            <a:srgbClr val="5FA3C0"/>
          </a:solidFill>
          <a:ln/>
        </p:spPr>
      </p:sp>
      <p:sp>
        <p:nvSpPr>
          <p:cNvPr id="21" name="Text 19"/>
          <p:cNvSpPr/>
          <p:nvPr/>
        </p:nvSpPr>
        <p:spPr>
          <a:xfrm>
            <a:off x="6327648" y="3867912"/>
            <a:ext cx="5157216" cy="256032"/>
          </a:xfrm>
          <a:prstGeom prst="rect">
            <a:avLst/>
          </a:prstGeom>
          <a:noFill/>
          <a:ln/>
        </p:spPr>
        <p:txBody>
          <a:bodyPr wrap="square" rtlCol="0" anchor="ctr"/>
          <a:lstStyle/>
          <a:p>
            <a:pPr indent="0" marL="0">
              <a:buNone/>
            </a:pPr>
            <a:r>
              <a:rPr lang="en-US" sz="1000" b="1" spc="100" kern="0" dirty="0">
                <a:solidFill>
                  <a:srgbClr val="5FA3C0"/>
                </a:solidFill>
                <a:latin typeface="Calibri" pitchFamily="34" charset="0"/>
                <a:ea typeface="Calibri" pitchFamily="34" charset="-122"/>
                <a:cs typeface="Calibri" pitchFamily="34" charset="-120"/>
              </a:rPr>
              <a:t>STRONGER ATTACKER &amp; CERTIFIED TYPOS</a:t>
            </a:r>
            <a:endParaRPr lang="en-US" sz="1000" dirty="0"/>
          </a:p>
        </p:txBody>
      </p:sp>
      <p:sp>
        <p:nvSpPr>
          <p:cNvPr id="22" name="Text 20"/>
          <p:cNvSpPr/>
          <p:nvPr/>
        </p:nvSpPr>
        <p:spPr>
          <a:xfrm>
            <a:off x="6327648" y="4151376"/>
            <a:ext cx="5120640" cy="704088"/>
          </a:xfrm>
          <a:prstGeom prst="rect">
            <a:avLst/>
          </a:prstGeom>
          <a:noFill/>
          <a:ln/>
        </p:spPr>
        <p:txBody>
          <a:bodyPr wrap="square" rtlCol="0" anchor="t"/>
          <a:lstStyle/>
          <a:p>
            <a:pPr indent="0" marL="0">
              <a:lnSpc>
                <a:spcPct val="110000"/>
              </a:lnSpc>
              <a:buNone/>
            </a:pPr>
            <a:r>
              <a:rPr lang="en-US" sz="1150" dirty="0">
                <a:solidFill>
                  <a:srgbClr val="EAF0F1"/>
                </a:solidFill>
                <a:latin typeface="Calibri" pitchFamily="34" charset="0"/>
                <a:ea typeface="Calibri" pitchFamily="34" charset="-122"/>
                <a:cs typeface="Calibri" pitchFamily="34" charset="-120"/>
              </a:rPr>
              <a:t>Li 2019 (TextBugger) → a neural paraphrase attacker at scale; Pruthi 2019 → extend the certificate to typos. And the fusion with Gilad.</a:t>
            </a:r>
            <a:endParaRPr lang="en-US" sz="1150" dirty="0"/>
          </a:p>
        </p:txBody>
      </p:sp>
      <p:sp>
        <p:nvSpPr>
          <p:cNvPr id="23" name="Text 21"/>
          <p:cNvSpPr/>
          <p:nvPr/>
        </p:nvSpPr>
        <p:spPr>
          <a:xfrm>
            <a:off x="566928" y="5212080"/>
            <a:ext cx="11057839" cy="457200"/>
          </a:xfrm>
          <a:prstGeom prst="rect">
            <a:avLst/>
          </a:prstGeom>
          <a:noFill/>
          <a:ln/>
        </p:spPr>
        <p:txBody>
          <a:bodyPr wrap="square" rtlCol="0" anchor="t"/>
          <a:lstStyle/>
          <a:p>
            <a:pPr indent="0" marL="0">
              <a:buNone/>
            </a:pPr>
            <a:r>
              <a:rPr lang="en-US" sz="1350" i="1" dirty="0">
                <a:solidFill>
                  <a:srgbClr val="95A6AD"/>
                </a:solidFill>
                <a:latin typeface="Calibri" pitchFamily="34" charset="0"/>
                <a:ea typeface="Calibri" pitchFamily="34" charset="-122"/>
                <a:cs typeface="Calibri" pitchFamily="34" charset="-120"/>
              </a:rPr>
              <a:t>Framing for drift, from the course:  </a:t>
            </a:r>
            <a:pPr indent="0" marL="0">
              <a:buNone/>
            </a:pPr>
            <a:r>
              <a:rPr lang="en-US" sz="1350" b="1" i="1" dirty="0">
                <a:solidFill>
                  <a:srgbClr val="D4AB4E"/>
                </a:solidFill>
                <a:latin typeface="Calibri" pitchFamily="34" charset="0"/>
                <a:ea typeface="Calibri" pitchFamily="34" charset="-122"/>
                <a:cs typeface="Calibri" pitchFamily="34" charset="-120"/>
              </a:rPr>
              <a:t>my 2008 model is Taleb's turkey</a:t>
            </a:r>
            <a:pPr indent="0" marL="0">
              <a:buNone/>
            </a:pPr>
            <a:r>
              <a:rPr lang="en-US" sz="1350" i="1" dirty="0">
                <a:solidFill>
                  <a:srgbClr val="95A6AD"/>
                </a:solidFill>
                <a:latin typeface="Calibri" pitchFamily="34" charset="0"/>
                <a:ea typeface="Calibri" pitchFamily="34" charset="-122"/>
                <a:cs typeface="Calibri" pitchFamily="34" charset="-120"/>
              </a:rPr>
              <a:t> — confident right up to Thanksgiving.</a:t>
            </a:r>
            <a:endParaRPr lang="en-US" sz="1350" dirty="0"/>
          </a:p>
        </p:txBody>
      </p:sp>
      <p:sp>
        <p:nvSpPr>
          <p:cNvPr id="24" name="Text 22"/>
          <p:cNvSpPr/>
          <p:nvPr/>
        </p:nvSpPr>
        <p:spPr>
          <a:xfrm>
            <a:off x="566928" y="6437376"/>
            <a:ext cx="11057839" cy="274320"/>
          </a:xfrm>
          <a:prstGeom prst="rect">
            <a:avLst/>
          </a:prstGeom>
          <a:noFill/>
          <a:ln/>
        </p:spPr>
        <p:txBody>
          <a:bodyPr wrap="square" rtlCol="0" anchor="ctr"/>
          <a:lstStyle/>
          <a:p>
            <a:pPr indent="0" marL="0">
              <a:buNone/>
            </a:pPr>
            <a:r>
              <a:rPr lang="en-US" sz="950" i="1" dirty="0">
                <a:solidFill>
                  <a:srgbClr val="7C8F98"/>
                </a:solidFill>
                <a:latin typeface="Calibri" pitchFamily="34" charset="0"/>
                <a:ea typeface="Calibri" pitchFamily="34" charset="-122"/>
                <a:cs typeface="Calibri" pitchFamily="34" charset="-120"/>
              </a:rPr>
              <a:t>evasion · poisoning · transfer · normalisation — the syllabus; and the open problems, named with papers</a:t>
            </a:r>
            <a:endParaRPr lang="en-US" sz="9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A20"/>
        </a:solidFill>
      </p:bgPr>
    </p:bg>
    <p:spTree>
      <p:nvGrpSpPr>
        <p:cNvPr id="1" name=""/>
        <p:cNvGrpSpPr/>
        <p:nvPr/>
      </p:nvGrpSpPr>
      <p:grpSpPr>
        <a:xfrm>
          <a:off x="0" y="0"/>
          <a:ext cx="0" cy="0"/>
          <a:chOff x="0" y="0"/>
          <a:chExt cx="0" cy="0"/>
        </a:xfrm>
      </p:grpSpPr>
      <p:sp>
        <p:nvSpPr>
          <p:cNvPr id="2" name="Text 0"/>
          <p:cNvSpPr/>
          <p:nvPr/>
        </p:nvSpPr>
        <p:spPr>
          <a:xfrm>
            <a:off x="566928" y="1920240"/>
            <a:ext cx="10058400" cy="365760"/>
          </a:xfrm>
          <a:prstGeom prst="rect">
            <a:avLst/>
          </a:prstGeom>
          <a:noFill/>
          <a:ln/>
        </p:spPr>
        <p:txBody>
          <a:bodyPr wrap="square" rtlCol="0" anchor="ctr"/>
          <a:lstStyle/>
          <a:p>
            <a:pPr indent="0" marL="0">
              <a:buNone/>
            </a:pPr>
            <a:r>
              <a:rPr lang="en-US" sz="1300" b="1" spc="300" kern="0" dirty="0">
                <a:solidFill>
                  <a:srgbClr val="3CB6A6"/>
                </a:solidFill>
                <a:latin typeface="Calibri" pitchFamily="34" charset="0"/>
                <a:ea typeface="Calibri" pitchFamily="34" charset="-122"/>
                <a:cs typeface="Calibri" pitchFamily="34" charset="-120"/>
              </a:rPr>
              <a:t>THANK YOU</a:t>
            </a:r>
            <a:endParaRPr lang="en-US" sz="1300" dirty="0"/>
          </a:p>
        </p:txBody>
      </p:sp>
      <p:sp>
        <p:nvSpPr>
          <p:cNvPr id="3" name="Text 1"/>
          <p:cNvSpPr/>
          <p:nvPr/>
        </p:nvSpPr>
        <p:spPr>
          <a:xfrm>
            <a:off x="566928" y="2377440"/>
            <a:ext cx="10972800" cy="1737360"/>
          </a:xfrm>
          <a:prstGeom prst="rect">
            <a:avLst/>
          </a:prstGeom>
          <a:noFill/>
          <a:ln/>
        </p:spPr>
        <p:txBody>
          <a:bodyPr wrap="square" rtlCol="0" anchor="ctr"/>
          <a:lstStyle/>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A near-perfect detector</a:t>
            </a:r>
            <a:endParaRPr lang="en-US" sz="4600" dirty="0"/>
          </a:p>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can still be fragile.</a:t>
            </a:r>
            <a:endParaRPr lang="en-US" sz="4600" dirty="0"/>
          </a:p>
        </p:txBody>
      </p:sp>
      <p:sp>
        <p:nvSpPr>
          <p:cNvPr id="4" name="Text 2"/>
          <p:cNvSpPr/>
          <p:nvPr/>
        </p:nvSpPr>
        <p:spPr>
          <a:xfrm>
            <a:off x="566928" y="4297680"/>
            <a:ext cx="9601200" cy="822960"/>
          </a:xfrm>
          <a:prstGeom prst="rect">
            <a:avLst/>
          </a:prstGeom>
          <a:noFill/>
          <a:ln/>
        </p:spPr>
        <p:txBody>
          <a:bodyPr wrap="square" rtlCol="0" anchor="ctr"/>
          <a:lstStyle/>
          <a:p>
            <a:pPr indent="0" marL="0">
              <a:buNone/>
            </a:pPr>
            <a:r>
              <a:rPr lang="en-US" sz="1800" dirty="0">
                <a:solidFill>
                  <a:srgbClr val="C7D3D9"/>
                </a:solidFill>
                <a:latin typeface="Calibri" pitchFamily="34" charset="0"/>
                <a:ea typeface="Calibri" pitchFamily="34" charset="-122"/>
                <a:cs typeface="Calibri" pitchFamily="34" charset="-120"/>
              </a:rPr>
              <a:t>The contribution isn't the score — it's proving where it breaks, and hardening it until two attack classes are closed for good.</a:t>
            </a:r>
            <a:endParaRPr lang="en-US" sz="1800" dirty="0"/>
          </a:p>
        </p:txBody>
      </p:sp>
      <p:sp>
        <p:nvSpPr>
          <p:cNvPr id="5" name="Shape 3"/>
          <p:cNvSpPr/>
          <p:nvPr/>
        </p:nvSpPr>
        <p:spPr>
          <a:xfrm>
            <a:off x="566928" y="5257800"/>
            <a:ext cx="2011680" cy="45720"/>
          </a:xfrm>
          <a:prstGeom prst="rect">
            <a:avLst/>
          </a:prstGeom>
          <a:solidFill>
            <a:srgbClr val="D4AB4E"/>
          </a:solidFill>
          <a:ln/>
        </p:spPr>
      </p:sp>
      <p:sp>
        <p:nvSpPr>
          <p:cNvPr id="6" name="Text 4"/>
          <p:cNvSpPr/>
          <p:nvPr/>
        </p:nvSpPr>
        <p:spPr>
          <a:xfrm>
            <a:off x="566928" y="5486400"/>
            <a:ext cx="9144000" cy="82296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Lia Bercovitz</a:t>
            </a:r>
            <a:endParaRPr lang="en-US" sz="2000" dirty="0"/>
          </a:p>
          <a:p>
            <a:pPr indent="0" marL="0">
              <a:buNone/>
            </a:pPr>
            <a:r>
              <a:rPr lang="en-US" sz="1300" dirty="0">
                <a:solidFill>
                  <a:srgbClr val="9FB2BB"/>
                </a:solidFill>
                <a:latin typeface="Calibri" pitchFamily="34" charset="0"/>
                <a:ea typeface="Calibri" pitchFamily="34" charset="-122"/>
                <a:cs typeface="Calibri" pitchFamily="34" charset="-120"/>
              </a:rPr>
              <a:t>PhishFusion · content detector · questions welcome</a:t>
            </a:r>
            <a:endParaRPr lang="en-US" sz="2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PhishFusion — Content-Based Phishing Detection (short)</dc:title>
  <dc:subject>PptxGenJS Presentation</dc:subject>
  <dc:creator>Lia Bercovitz</dc:creator>
  <cp:lastModifiedBy>Lia Bercovitz</cp:lastModifiedBy>
  <cp:revision>1</cp:revision>
  <dcterms:created xsi:type="dcterms:W3CDTF">2026-07-22T01:55:16Z</dcterms:created>
  <dcterms:modified xsi:type="dcterms:W3CDTF">2026-07-22T01:55:16Z</dcterms:modified>
</cp:coreProperties>
</file>